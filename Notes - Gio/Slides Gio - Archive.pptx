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8"/>
  </p:sldMasterIdLst>
  <p:notesMasterIdLst>
    <p:notesMasterId r:id="rId24"/>
  </p:notesMasterIdLst>
  <p:handoutMasterIdLst>
    <p:handoutMasterId r:id="rId25"/>
  </p:handoutMasterIdLst>
  <p:sldIdLst>
    <p:sldId id="299" r:id="rId9"/>
    <p:sldId id="302" r:id="rId10"/>
    <p:sldId id="307" r:id="rId11"/>
    <p:sldId id="306" r:id="rId12"/>
    <p:sldId id="309" r:id="rId13"/>
    <p:sldId id="310" r:id="rId14"/>
    <p:sldId id="313" r:id="rId15"/>
    <p:sldId id="304" r:id="rId16"/>
    <p:sldId id="305" r:id="rId17"/>
    <p:sldId id="311" r:id="rId18"/>
    <p:sldId id="308" r:id="rId19"/>
    <p:sldId id="317" r:id="rId20"/>
    <p:sldId id="314" r:id="rId21"/>
    <p:sldId id="318" r:id="rId22"/>
    <p:sldId id="316" r:id="rId23"/>
  </p:sldIdLst>
  <p:sldSz cx="9144000" cy="5143500" type="screen16x9"/>
  <p:notesSz cx="6858000" cy="9144000"/>
  <p:custDataLst>
    <p:tags r:id="rId26"/>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DFCB"/>
    <a:srgbClr val="E31C3D"/>
    <a:srgbClr val="F46A01"/>
    <a:srgbClr val="00802F"/>
    <a:srgbClr val="E1D7C3"/>
    <a:srgbClr val="FFF6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877EB5-E803-4FC8-8091-A624CE05C0AE}" v="195" dt="2026-03-11T10:28:53.106"/>
    <p1510:client id="{7608A30A-B4C5-F4BB-A67A-4B1A7810024C}" v="14" dt="2026-03-11T11:50:34.202"/>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7" autoAdjust="0"/>
    <p:restoredTop sz="94651" autoAdjust="0"/>
  </p:normalViewPr>
  <p:slideViewPr>
    <p:cSldViewPr snapToGrid="0" showGuides="1">
      <p:cViewPr>
        <p:scale>
          <a:sx n="138" d="100"/>
          <a:sy n="138" d="100"/>
        </p:scale>
        <p:origin x="832" y="216"/>
      </p:cViewPr>
      <p:guideLst>
        <p:guide orient="horz" pos="1643"/>
        <p:guide pos="2880"/>
      </p:guideLst>
    </p:cSldViewPr>
  </p:slideViewPr>
  <p:notesTextViewPr>
    <p:cViewPr>
      <p:scale>
        <a:sx n="3" d="2"/>
        <a:sy n="3" d="2"/>
      </p:scale>
      <p:origin x="0" y="0"/>
    </p:cViewPr>
  </p:notesTextViewPr>
  <p:notesViewPr>
    <p:cSldViewPr snapToGrid="0" showGuides="1">
      <p:cViewPr varScale="1">
        <p:scale>
          <a:sx n="84" d="100"/>
          <a:sy n="84" d="100"/>
        </p:scale>
        <p:origin x="273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45CE27-0FC1-4345-A9D1-813E9F3C96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a:extLst>
              <a:ext uri="{FF2B5EF4-FFF2-40B4-BE49-F238E27FC236}">
                <a16:creationId xmlns:a16="http://schemas.microsoft.com/office/drawing/2014/main" id="{04FAFF02-ADA2-494F-92F2-18E0CD47E8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F4C96F-5C6D-48ED-8D42-B768302B23AD}" type="datetimeFigureOut">
              <a:rPr lang="de-CH" smtClean="0"/>
              <a:t>11.03.26</a:t>
            </a:fld>
            <a:endParaRPr lang="de-CH"/>
          </a:p>
        </p:txBody>
      </p:sp>
      <p:sp>
        <p:nvSpPr>
          <p:cNvPr id="4" name="Footer Placeholder 3">
            <a:extLst>
              <a:ext uri="{FF2B5EF4-FFF2-40B4-BE49-F238E27FC236}">
                <a16:creationId xmlns:a16="http://schemas.microsoft.com/office/drawing/2014/main" id="{84D7311C-885A-4219-9687-E8E9C81D34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Slide Number Placeholder 4">
            <a:extLst>
              <a:ext uri="{FF2B5EF4-FFF2-40B4-BE49-F238E27FC236}">
                <a16:creationId xmlns:a16="http://schemas.microsoft.com/office/drawing/2014/main" id="{88755352-F100-4DC1-827B-1EFA0F247A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6BEFE-BF9F-47C0-9B2B-37E6860B00C1}" type="slidenum">
              <a:rPr lang="de-CH" smtClean="0"/>
              <a:t>‹#›</a:t>
            </a:fld>
            <a:endParaRPr lang="de-CH"/>
          </a:p>
        </p:txBody>
      </p:sp>
    </p:spTree>
    <p:extLst>
      <p:ext uri="{BB962C8B-B14F-4D97-AF65-F5344CB8AC3E}">
        <p14:creationId xmlns:p14="http://schemas.microsoft.com/office/powerpoint/2010/main" val="1245436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3A44-FA09-4C0A-99A6-1BA009890161}" type="datetimeFigureOut">
              <a:rPr lang="de-CH" smtClean="0"/>
              <a:t>11.03.26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E3F1-1C0D-4780-BCDC-4F7033F6C9E1}" type="slidenum">
              <a:rPr lang="de-CH" smtClean="0"/>
              <a:t>‹#›</a:t>
            </a:fld>
            <a:endParaRPr lang="de-CH"/>
          </a:p>
        </p:txBody>
      </p:sp>
    </p:spTree>
    <p:extLst>
      <p:ext uri="{BB962C8B-B14F-4D97-AF65-F5344CB8AC3E}">
        <p14:creationId xmlns:p14="http://schemas.microsoft.com/office/powerpoint/2010/main" val="88721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Slide 1">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skating, building, ramp, board&#10;&#10;Description automatically generated">
            <a:extLst>
              <a:ext uri="{FF2B5EF4-FFF2-40B4-BE49-F238E27FC236}">
                <a16:creationId xmlns:a16="http://schemas.microsoft.com/office/drawing/2014/main" id="{9F7E1813-5682-4AAE-8DC8-5A613DE12B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479" r="7910" b="19850"/>
          <a:stretch/>
        </p:blipFill>
        <p:spPr>
          <a:xfrm>
            <a:off x="0" y="0"/>
            <a:ext cx="9136420" cy="5143500"/>
          </a:xfrm>
          <a:prstGeom prst="rect">
            <a:avLst/>
          </a:prstGeom>
        </p:spPr>
      </p:pic>
      <p:sp>
        <p:nvSpPr>
          <p:cNvPr id="11" name="Freeform: Shape 10">
            <a:extLst>
              <a:ext uri="{FF2B5EF4-FFF2-40B4-BE49-F238E27FC236}">
                <a16:creationId xmlns:a16="http://schemas.microsoft.com/office/drawing/2014/main" id="{43D7A234-EBF8-4A9A-ACFF-4329BD747ADC}"/>
              </a:ext>
            </a:extLst>
          </p:cNvPr>
          <p:cNvSpPr>
            <a:spLocks noChangeAspect="1"/>
          </p:cNvSpPr>
          <p:nvPr userDrawn="1"/>
        </p:nvSpPr>
        <p:spPr>
          <a:xfrm>
            <a:off x="4575791" y="3166310"/>
            <a:ext cx="456821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69B6FC2A-29C4-4742-B32D-604659C0CB22}"/>
              </a:ext>
            </a:extLst>
          </p:cNvPr>
          <p:cNvSpPr txBox="1"/>
          <p:nvPr userDrawn="1"/>
        </p:nvSpPr>
        <p:spPr>
          <a:xfrm>
            <a:off x="6789318" y="4613375"/>
            <a:ext cx="1995907" cy="153888"/>
          </a:xfrm>
          <a:prstGeom prst="rect">
            <a:avLst/>
          </a:prstGeom>
          <a:noFill/>
        </p:spPr>
        <p:txBody>
          <a:bodyPr wrap="square" lIns="0" tIns="0" rIns="0" bIns="0" rtlCol="0">
            <a:spAutoFit/>
          </a:bodyPr>
          <a:lstStyle/>
          <a:p>
            <a:pPr algn="r"/>
            <a:r>
              <a:rPr lang="en-GB" sz="1000" dirty="0">
                <a:solidFill>
                  <a:schemeClr val="bg2"/>
                </a:solidFill>
              </a:rPr>
              <a:t>From insight to impact.</a:t>
            </a:r>
          </a:p>
        </p:txBody>
      </p:sp>
      <p:pic>
        <p:nvPicPr>
          <p:cNvPr id="1703305363" name="Rectangle 2" descr="{&quot;templafy&quot;:{&quot;id&quot;:&quot;e71f292f-c887-405d-8ce7-c2554695bcfc&quot;}}"/>
          <p:cNvPicPr>
            <a:picLocks noChangeAspect="1"/>
          </p:cNvPicPr>
          <p:nvPr/>
        </p:nvPicPr>
        <p:blipFill>
          <a:blip r:embed="rId3"/>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098178"/>
            <a:ext cx="7958210" cy="1792800"/>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p:nvPr>
        </p:nvSpPr>
        <p:spPr>
          <a:xfrm>
            <a:off x="831027" y="3123868"/>
            <a:ext cx="3650486" cy="135605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Tree>
    <p:extLst>
      <p:ext uri="{BB962C8B-B14F-4D97-AF65-F5344CB8AC3E}">
        <p14:creationId xmlns:p14="http://schemas.microsoft.com/office/powerpoint/2010/main" val="1505765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userDrawn="1"/>
        </p:nvSpPr>
        <p:spPr>
          <a:xfrm>
            <a:off x="828000" y="4613375"/>
            <a:ext cx="1997563" cy="153888"/>
          </a:xfrm>
          <a:prstGeom prst="rect">
            <a:avLst/>
          </a:prstGeom>
          <a:noFill/>
        </p:spPr>
        <p:txBody>
          <a:bodyPr wrap="square" lIns="0" tIns="0" rIns="0" bIns="0" rtlCol="0">
            <a:spAutoFit/>
          </a:bodyPr>
          <a:lstStyle/>
          <a:p>
            <a:pPr algn="l"/>
            <a:r>
              <a:rPr lang="en-GB" sz="1000" dirty="0">
                <a:solidFill>
                  <a:schemeClr val="tx1"/>
                </a:solidFill>
              </a:rPr>
              <a:t>From </a:t>
            </a:r>
            <a:r>
              <a:rPr lang="en-GB" sz="1000" dirty="0" err="1">
                <a:solidFill>
                  <a:schemeClr val="tx1"/>
                </a:solidFill>
              </a:rPr>
              <a:t>insight</a:t>
            </a:r>
            <a:r>
              <a:rPr lang="en-GB" sz="1000" dirty="0">
                <a:solidFill>
                  <a:schemeClr val="tx1"/>
                </a:solidFill>
              </a:rPr>
              <a:t> </a:t>
            </a:r>
            <a:r>
              <a:rPr lang="en-GB" sz="1000" dirty="0" err="1">
                <a:solidFill>
                  <a:schemeClr val="tx1"/>
                </a:solidFill>
              </a:rPr>
              <a:t>to</a:t>
            </a:r>
            <a:r>
              <a:rPr lang="en-GB" sz="1000" dirty="0">
                <a:solidFill>
                  <a:schemeClr val="tx1"/>
                </a:solidFill>
              </a:rPr>
              <a:t> </a:t>
            </a:r>
            <a:r>
              <a:rPr lang="en-GB" sz="1000" dirty="0" err="1">
                <a:solidFill>
                  <a:schemeClr val="tx1"/>
                </a:solidFill>
              </a:rPr>
              <a:t>impact</a:t>
            </a:r>
            <a:r>
              <a:rPr lang="en-GB" sz="1000" dirty="0">
                <a:solidFill>
                  <a:schemeClr val="tx1"/>
                </a:solidFill>
              </a:rPr>
              <a: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p:nvPr>
        </p:nvSpPr>
        <p:spPr>
          <a:xfrm>
            <a:off x="5965200" y="0"/>
            <a:ext cx="3178800" cy="5143500"/>
          </a:xfrm>
        </p:spPr>
        <p:txBody>
          <a:bodyPr/>
          <a:lstStyle/>
          <a:p>
            <a:r>
              <a:rPr lang="en-GB"/>
              <a:t>Click icon to add picture</a:t>
            </a:r>
          </a:p>
        </p:txBody>
      </p:sp>
      <p:pic>
        <p:nvPicPr>
          <p:cNvPr id="1311272286" name="Rectangle 8" descr="{&quot;templafy&quot;:{&quot;id&quot;:&quot;51713646-4b5d-4189-98b0-0b0bb394ba3a&quot;}}"/>
          <p:cNvPicPr>
            <a:picLocks noChangeAspect="1"/>
          </p:cNvPicPr>
          <p:nvPr/>
        </p:nvPicPr>
        <p:blipFill>
          <a:blip r:embed="rId2"/>
          <a:stretch>
            <a:fillRect/>
          </a:stretch>
        </p:blipFill>
        <p:spPr>
          <a:xfrm>
            <a:off x="358775" y="313025"/>
            <a:ext cx="2221200" cy="460800"/>
          </a:xfrm>
          <a:prstGeom prst="rect">
            <a:avLst/>
          </a:prstGeom>
        </p:spPr>
      </p:pic>
      <p:sp>
        <p:nvSpPr>
          <p:cNvPr id="10" name="Title 4">
            <a:extLst>
              <a:ext uri="{FF2B5EF4-FFF2-40B4-BE49-F238E27FC236}">
                <a16:creationId xmlns:a16="http://schemas.microsoft.com/office/drawing/2014/main" id="{80E529E2-449E-41BE-B0F7-70294EC17C81}"/>
              </a:ext>
            </a:extLst>
          </p:cNvPr>
          <p:cNvSpPr>
            <a:spLocks noGrp="1"/>
          </p:cNvSpPr>
          <p:nvPr>
            <p:ph type="title"/>
          </p:nvPr>
        </p:nvSpPr>
        <p:spPr>
          <a:xfrm>
            <a:off x="827013" y="1276350"/>
            <a:ext cx="4764489" cy="1942874"/>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11" name="Text Placeholder 6">
            <a:extLst>
              <a:ext uri="{FF2B5EF4-FFF2-40B4-BE49-F238E27FC236}">
                <a16:creationId xmlns:a16="http://schemas.microsoft.com/office/drawing/2014/main" id="{3CEDF5E3-A68C-469F-902C-69F694A0D4F6}"/>
              </a:ext>
            </a:extLst>
          </p:cNvPr>
          <p:cNvSpPr>
            <a:spLocks noGrp="1"/>
          </p:cNvSpPr>
          <p:nvPr>
            <p:ph type="body" sz="quarter" idx="11"/>
          </p:nvPr>
        </p:nvSpPr>
        <p:spPr>
          <a:xfrm>
            <a:off x="831027" y="3452115"/>
            <a:ext cx="3034391"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endParaRPr lang="en-GB" dirty="0"/>
          </a:p>
        </p:txBody>
      </p:sp>
    </p:spTree>
    <p:extLst>
      <p:ext uri="{BB962C8B-B14F-4D97-AF65-F5344CB8AC3E}">
        <p14:creationId xmlns:p14="http://schemas.microsoft.com/office/powerpoint/2010/main" val="12790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Slide 3">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100237-7431-49D0-8F7C-9E1F2717B96C}"/>
              </a:ext>
            </a:extLst>
          </p:cNvPr>
          <p:cNvSpPr/>
          <p:nvPr userDrawn="1"/>
        </p:nvSpPr>
        <p:spPr>
          <a:xfrm>
            <a:off x="5761585" y="1624745"/>
            <a:ext cx="2419577" cy="2689737"/>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9714C5-06E3-4370-A728-9DC7B080DE43}"/>
              </a:ext>
            </a:extLst>
          </p:cNvPr>
          <p:cNvSpPr txBox="1"/>
          <p:nvPr userDrawn="1"/>
        </p:nvSpPr>
        <p:spPr>
          <a:xfrm>
            <a:off x="6787662" y="4613375"/>
            <a:ext cx="1997563" cy="153888"/>
          </a:xfrm>
          <a:prstGeom prst="rect">
            <a:avLst/>
          </a:prstGeom>
          <a:noFill/>
        </p:spPr>
        <p:txBody>
          <a:bodyPr wrap="square" lIns="0" tIns="0" rIns="0" bIns="0" rtlCol="0">
            <a:spAutoFit/>
          </a:bodyPr>
          <a:lstStyle/>
          <a:p>
            <a:pPr algn="r"/>
            <a:r>
              <a:rPr lang="en-GB" sz="1000" dirty="0">
                <a:solidFill>
                  <a:schemeClr val="tx1"/>
                </a:solidFill>
              </a:rPr>
              <a:t>From </a:t>
            </a:r>
            <a:r>
              <a:rPr lang="en-GB" sz="1000" dirty="0" err="1">
                <a:solidFill>
                  <a:schemeClr val="tx1"/>
                </a:solidFill>
              </a:rPr>
              <a:t>insight</a:t>
            </a:r>
            <a:r>
              <a:rPr lang="en-GB" sz="1000" dirty="0">
                <a:solidFill>
                  <a:schemeClr val="tx1"/>
                </a:solidFill>
              </a:rPr>
              <a:t> </a:t>
            </a:r>
            <a:r>
              <a:rPr lang="en-GB" sz="1000" dirty="0" err="1">
                <a:solidFill>
                  <a:schemeClr val="tx1"/>
                </a:solidFill>
              </a:rPr>
              <a:t>to</a:t>
            </a:r>
            <a:r>
              <a:rPr lang="en-GB" sz="1000" dirty="0">
                <a:solidFill>
                  <a:schemeClr val="tx1"/>
                </a:solidFill>
              </a:rPr>
              <a:t> </a:t>
            </a:r>
            <a:r>
              <a:rPr lang="en-GB" sz="1000" dirty="0" err="1">
                <a:solidFill>
                  <a:schemeClr val="tx1"/>
                </a:solidFill>
              </a:rPr>
              <a:t>impact</a:t>
            </a:r>
            <a:r>
              <a:rPr lang="en-GB" sz="1000" dirty="0">
                <a:solidFill>
                  <a:schemeClr val="tx1"/>
                </a:solidFill>
              </a:rPr>
              <a:t>.</a:t>
            </a:r>
          </a:p>
        </p:txBody>
      </p:sp>
      <p:pic>
        <p:nvPicPr>
          <p:cNvPr id="1057249515" name="Rectangle 7" descr="{&quot;templafy&quot;:{&quot;id&quot;:&quot;5cce6515-ac04-4d9a-8376-12efa4e71373&quot;}}"/>
          <p:cNvPicPr>
            <a:picLocks noChangeAspect="1"/>
          </p:cNvPicPr>
          <p:nvPr/>
        </p:nvPicPr>
        <p:blipFill>
          <a:blip r:embed="rId2"/>
          <a:stretch>
            <a:fillRect/>
          </a:stretch>
        </p:blipFill>
        <p:spPr>
          <a:xfrm>
            <a:off x="358775" y="313025"/>
            <a:ext cx="2221200" cy="460800"/>
          </a:xfrm>
          <a:prstGeom prst="rect">
            <a:avLst/>
          </a:prstGeom>
        </p:spPr>
      </p:pic>
      <p:sp>
        <p:nvSpPr>
          <p:cNvPr id="13" name="Title 4">
            <a:extLst>
              <a:ext uri="{FF2B5EF4-FFF2-40B4-BE49-F238E27FC236}">
                <a16:creationId xmlns:a16="http://schemas.microsoft.com/office/drawing/2014/main" id="{77013848-41F0-44AD-9301-BEF9A1A4878E}"/>
              </a:ext>
            </a:extLst>
          </p:cNvPr>
          <p:cNvSpPr>
            <a:spLocks noGrp="1"/>
          </p:cNvSpPr>
          <p:nvPr>
            <p:ph type="title"/>
          </p:nvPr>
        </p:nvSpPr>
        <p:spPr>
          <a:xfrm>
            <a:off x="827013" y="1276350"/>
            <a:ext cx="4503600" cy="1942874"/>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14" name="Text Placeholder 6">
            <a:extLst>
              <a:ext uri="{FF2B5EF4-FFF2-40B4-BE49-F238E27FC236}">
                <a16:creationId xmlns:a16="http://schemas.microsoft.com/office/drawing/2014/main" id="{8245421C-670F-4227-B79D-994FE547F9A2}"/>
              </a:ext>
            </a:extLst>
          </p:cNvPr>
          <p:cNvSpPr>
            <a:spLocks noGrp="1"/>
          </p:cNvSpPr>
          <p:nvPr>
            <p:ph type="body" sz="quarter" idx="11"/>
          </p:nvPr>
        </p:nvSpPr>
        <p:spPr>
          <a:xfrm>
            <a:off x="831027" y="3452115"/>
            <a:ext cx="3650486"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endParaRPr lang="en-GB" dirty="0"/>
          </a:p>
        </p:txBody>
      </p:sp>
      <p:sp>
        <p:nvSpPr>
          <p:cNvPr id="3" name="Bildplatzhalter 2">
            <a:extLst>
              <a:ext uri="{FF2B5EF4-FFF2-40B4-BE49-F238E27FC236}">
                <a16:creationId xmlns:a16="http://schemas.microsoft.com/office/drawing/2014/main" id="{A334A812-F883-AF52-F92E-916B48E7D3E0}"/>
              </a:ext>
            </a:extLst>
          </p:cNvPr>
          <p:cNvSpPr>
            <a:spLocks noGrp="1"/>
          </p:cNvSpPr>
          <p:nvPr>
            <p:ph type="pic" sz="quarter" idx="12"/>
          </p:nvPr>
        </p:nvSpPr>
        <p:spPr>
          <a:xfrm>
            <a:off x="5752800" y="447950"/>
            <a:ext cx="3404886" cy="3798786"/>
          </a:xfrm>
          <a:custGeom>
            <a:avLst/>
            <a:gdLst>
              <a:gd name="connsiteX0" fmla="*/ 0 w 3392932"/>
              <a:gd name="connsiteY0" fmla="*/ 0 h 3804762"/>
              <a:gd name="connsiteX1" fmla="*/ 3392932 w 3392932"/>
              <a:gd name="connsiteY1" fmla="*/ 0 h 3804762"/>
              <a:gd name="connsiteX2" fmla="*/ 3392932 w 3392932"/>
              <a:gd name="connsiteY2" fmla="*/ 3804762 h 3804762"/>
              <a:gd name="connsiteX3" fmla="*/ 0 w 3392932"/>
              <a:gd name="connsiteY3" fmla="*/ 3804762 h 3804762"/>
              <a:gd name="connsiteX4" fmla="*/ 0 w 3392932"/>
              <a:gd name="connsiteY4" fmla="*/ 0 h 3804762"/>
              <a:gd name="connsiteX0" fmla="*/ 741082 w 3392932"/>
              <a:gd name="connsiteY0" fmla="*/ 753035 h 3804762"/>
              <a:gd name="connsiteX1" fmla="*/ 3392932 w 3392932"/>
              <a:gd name="connsiteY1" fmla="*/ 0 h 3804762"/>
              <a:gd name="connsiteX2" fmla="*/ 3392932 w 3392932"/>
              <a:gd name="connsiteY2" fmla="*/ 3804762 h 3804762"/>
              <a:gd name="connsiteX3" fmla="*/ 0 w 3392932"/>
              <a:gd name="connsiteY3" fmla="*/ 3804762 h 3804762"/>
              <a:gd name="connsiteX4" fmla="*/ 741082 w 3392932"/>
              <a:gd name="connsiteY4" fmla="*/ 753035 h 3804762"/>
              <a:gd name="connsiteX0" fmla="*/ 0 w 2651850"/>
              <a:gd name="connsiteY0" fmla="*/ 753035 h 3804762"/>
              <a:gd name="connsiteX1" fmla="*/ 2651850 w 2651850"/>
              <a:gd name="connsiteY1" fmla="*/ 0 h 3804762"/>
              <a:gd name="connsiteX2" fmla="*/ 2651850 w 2651850"/>
              <a:gd name="connsiteY2" fmla="*/ 3804762 h 3804762"/>
              <a:gd name="connsiteX3" fmla="*/ 29883 w 2651850"/>
              <a:gd name="connsiteY3" fmla="*/ 3380433 h 3804762"/>
              <a:gd name="connsiteX4" fmla="*/ 0 w 2651850"/>
              <a:gd name="connsiteY4" fmla="*/ 753035 h 3804762"/>
              <a:gd name="connsiteX0" fmla="*/ 239058 w 2890908"/>
              <a:gd name="connsiteY0" fmla="*/ 753035 h 3804762"/>
              <a:gd name="connsiteX1" fmla="*/ 2890908 w 2890908"/>
              <a:gd name="connsiteY1" fmla="*/ 0 h 3804762"/>
              <a:gd name="connsiteX2" fmla="*/ 2890908 w 2890908"/>
              <a:gd name="connsiteY2" fmla="*/ 3804762 h 3804762"/>
              <a:gd name="connsiteX3" fmla="*/ 0 w 2890908"/>
              <a:gd name="connsiteY3" fmla="*/ 3517892 h 3804762"/>
              <a:gd name="connsiteX4" fmla="*/ 239058 w 2890908"/>
              <a:gd name="connsiteY4" fmla="*/ 753035 h 3804762"/>
              <a:gd name="connsiteX0" fmla="*/ 0 w 3410862"/>
              <a:gd name="connsiteY0" fmla="*/ 842682 h 3804762"/>
              <a:gd name="connsiteX1" fmla="*/ 3410862 w 3410862"/>
              <a:gd name="connsiteY1" fmla="*/ 0 h 3804762"/>
              <a:gd name="connsiteX2" fmla="*/ 3410862 w 3410862"/>
              <a:gd name="connsiteY2" fmla="*/ 3804762 h 3804762"/>
              <a:gd name="connsiteX3" fmla="*/ 519954 w 3410862"/>
              <a:gd name="connsiteY3" fmla="*/ 3517892 h 3804762"/>
              <a:gd name="connsiteX4" fmla="*/ 0 w 3410862"/>
              <a:gd name="connsiteY4" fmla="*/ 842682 h 3804762"/>
              <a:gd name="connsiteX0" fmla="*/ 0 w 3410862"/>
              <a:gd name="connsiteY0" fmla="*/ 842682 h 3517892"/>
              <a:gd name="connsiteX1" fmla="*/ 3410862 w 3410862"/>
              <a:gd name="connsiteY1" fmla="*/ 0 h 3517892"/>
              <a:gd name="connsiteX2" fmla="*/ 3034344 w 3410862"/>
              <a:gd name="connsiteY2" fmla="*/ 3398362 h 3517892"/>
              <a:gd name="connsiteX3" fmla="*/ 519954 w 3410862"/>
              <a:gd name="connsiteY3" fmla="*/ 3517892 h 3517892"/>
              <a:gd name="connsiteX4" fmla="*/ 0 w 3410862"/>
              <a:gd name="connsiteY4" fmla="*/ 842682 h 3517892"/>
              <a:gd name="connsiteX0" fmla="*/ 0 w 3410862"/>
              <a:gd name="connsiteY0" fmla="*/ 842682 h 3774879"/>
              <a:gd name="connsiteX1" fmla="*/ 3410862 w 3410862"/>
              <a:gd name="connsiteY1" fmla="*/ 0 h 3774879"/>
              <a:gd name="connsiteX2" fmla="*/ 3410862 w 3410862"/>
              <a:gd name="connsiteY2" fmla="*/ 3774879 h 3774879"/>
              <a:gd name="connsiteX3" fmla="*/ 519954 w 3410862"/>
              <a:gd name="connsiteY3" fmla="*/ 3517892 h 3774879"/>
              <a:gd name="connsiteX4" fmla="*/ 0 w 3410862"/>
              <a:gd name="connsiteY4" fmla="*/ 842682 h 3774879"/>
              <a:gd name="connsiteX0" fmla="*/ 0 w 3410862"/>
              <a:gd name="connsiteY0" fmla="*/ 842682 h 3810738"/>
              <a:gd name="connsiteX1" fmla="*/ 3410862 w 3410862"/>
              <a:gd name="connsiteY1" fmla="*/ 0 h 3810738"/>
              <a:gd name="connsiteX2" fmla="*/ 3404886 w 3410862"/>
              <a:gd name="connsiteY2" fmla="*/ 3810738 h 3810738"/>
              <a:gd name="connsiteX3" fmla="*/ 519954 w 3410862"/>
              <a:gd name="connsiteY3" fmla="*/ 3517892 h 3810738"/>
              <a:gd name="connsiteX4" fmla="*/ 0 w 3410862"/>
              <a:gd name="connsiteY4" fmla="*/ 842682 h 3810738"/>
              <a:gd name="connsiteX0" fmla="*/ 0 w 3404886"/>
              <a:gd name="connsiteY0" fmla="*/ 280894 h 3248950"/>
              <a:gd name="connsiteX1" fmla="*/ 3135945 w 3404886"/>
              <a:gd name="connsiteY1" fmla="*/ 0 h 3248950"/>
              <a:gd name="connsiteX2" fmla="*/ 3404886 w 3404886"/>
              <a:gd name="connsiteY2" fmla="*/ 3248950 h 3248950"/>
              <a:gd name="connsiteX3" fmla="*/ 519954 w 3404886"/>
              <a:gd name="connsiteY3" fmla="*/ 2956104 h 3248950"/>
              <a:gd name="connsiteX4" fmla="*/ 0 w 3404886"/>
              <a:gd name="connsiteY4" fmla="*/ 280894 h 3248950"/>
              <a:gd name="connsiteX0" fmla="*/ 0 w 3404886"/>
              <a:gd name="connsiteY0" fmla="*/ 830730 h 3798786"/>
              <a:gd name="connsiteX1" fmla="*/ 3404886 w 3404886"/>
              <a:gd name="connsiteY1" fmla="*/ 0 h 3798786"/>
              <a:gd name="connsiteX2" fmla="*/ 3404886 w 3404886"/>
              <a:gd name="connsiteY2" fmla="*/ 3798786 h 3798786"/>
              <a:gd name="connsiteX3" fmla="*/ 519954 w 3404886"/>
              <a:gd name="connsiteY3" fmla="*/ 3505940 h 3798786"/>
              <a:gd name="connsiteX4" fmla="*/ 0 w 3404886"/>
              <a:gd name="connsiteY4" fmla="*/ 830730 h 379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886" h="3798786">
                <a:moveTo>
                  <a:pt x="0" y="830730"/>
                </a:moveTo>
                <a:lnTo>
                  <a:pt x="3404886" y="0"/>
                </a:lnTo>
                <a:lnTo>
                  <a:pt x="3404886" y="3798786"/>
                </a:lnTo>
                <a:lnTo>
                  <a:pt x="519954" y="3505940"/>
                </a:lnTo>
                <a:lnTo>
                  <a:pt x="0" y="830730"/>
                </a:lnTo>
                <a:close/>
              </a:path>
            </a:pathLst>
          </a:custGeom>
          <a:solidFill>
            <a:schemeClr val="accent2"/>
          </a:solidFill>
          <a:ln>
            <a:noFill/>
          </a:ln>
        </p:spPr>
        <p:txBody>
          <a:bodyPr/>
          <a:lstStyle/>
          <a:p>
            <a:endParaRPr lang="en-GB" dirty="0"/>
          </a:p>
        </p:txBody>
      </p:sp>
    </p:spTree>
    <p:extLst>
      <p:ext uri="{BB962C8B-B14F-4D97-AF65-F5344CB8AC3E}">
        <p14:creationId xmlns:p14="http://schemas.microsoft.com/office/powerpoint/2010/main" val="13445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mit Bild">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8763"/>
          <a:stretch/>
        </p:blipFill>
        <p:spPr>
          <a:xfrm>
            <a:off x="5963683" y="0"/>
            <a:ext cx="3180318" cy="5143500"/>
          </a:xfrm>
          <a:prstGeom prst="rect">
            <a:avLst/>
          </a:prstGeom>
        </p:spPr>
      </p:pic>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a:xfrm>
            <a:off x="358775" y="376238"/>
            <a:ext cx="5464509" cy="675727"/>
          </a:xfrm>
        </p:spPr>
        <p:txBody>
          <a:bodyPr/>
          <a:lstStyle>
            <a:lvl1pPr>
              <a:lnSpc>
                <a:spcPts val="4400"/>
              </a:lnSpc>
              <a:defRPr sz="4000">
                <a:latin typeface="Gill Sans Nova Light" panose="020B0302020104020203" pitchFamily="34" charset="0"/>
              </a:defRPr>
            </a:lvl1pPr>
          </a:lstStyle>
          <a:p>
            <a:r>
              <a:rPr lang="en-GB" dirty="0"/>
              <a:t>Click to edit Master title style</a:t>
            </a:r>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hasCustomPrompt="1"/>
          </p:nvPr>
        </p:nvSpPr>
        <p:spPr>
          <a:xfrm>
            <a:off x="358775" y="1276350"/>
            <a:ext cx="5000404" cy="3203575"/>
          </a:xfrm>
        </p:spPr>
        <p:txBody>
          <a:bodyPr>
            <a:normAutofit/>
          </a:bodyPr>
          <a:lstStyle>
            <a:lvl1pPr marL="396000" indent="-396000">
              <a:spcAft>
                <a:spcPts val="600"/>
              </a:spcAft>
              <a:buFont typeface="+mj-lt"/>
              <a:buAutoNum type="arabicPeriod"/>
              <a:defRPr sz="1600"/>
            </a:lvl1pPr>
            <a:lvl2pPr marL="720000" indent="-288000">
              <a:spcAft>
                <a:spcPts val="400"/>
              </a:spcAft>
              <a:buFont typeface="Arial" panose="020B0604020202020204" pitchFamily="34" charset="0"/>
              <a:buChar char="‒"/>
              <a:defRPr sz="1600"/>
            </a:lvl2pPr>
            <a:lvl3pPr marL="1008000" indent="-288000">
              <a:spcAft>
                <a:spcPts val="400"/>
              </a:spcAft>
              <a:buSzPct val="110000"/>
              <a:buFont typeface="Arial" panose="020B0604020202020204" pitchFamily="34" charset="0"/>
              <a:buChar char="•"/>
              <a:defRPr sz="1600"/>
            </a:lvl3pPr>
            <a:lvl4pPr marL="1296000" indent="-288000">
              <a:spcAft>
                <a:spcPts val="400"/>
              </a:spcAft>
              <a:buFont typeface="Arial" panose="020B0604020202020204" pitchFamily="34" charset="0"/>
              <a:buChar char="◦"/>
              <a:defRPr sz="1600"/>
            </a:lvl4pPr>
            <a:lvl5pPr marL="1296000" indent="-288000">
              <a:spcAft>
                <a:spcPts val="400"/>
              </a:spcAft>
              <a:buFont typeface="Arial" panose="020B0604020202020204" pitchFamily="34" charset="0"/>
              <a:buChar char="◦"/>
              <a:defRPr sz="1600"/>
            </a:lvl5pPr>
            <a:lvl6pPr marL="1296000" indent="-288000">
              <a:defRPr sz="1600"/>
            </a:lvl6pPr>
            <a:lvl7pPr marL="1296000" indent="-288000">
              <a:defRPr sz="1600"/>
            </a:lvl7pPr>
            <a:lvl8pPr marL="1296000" indent="-288000">
              <a:defRPr sz="1600"/>
            </a:lvl8pPr>
            <a:lvl9pPr marL="1296000" indent="-288000">
              <a:defRPr sz="1600"/>
            </a:lvl9pPr>
          </a:lstStyle>
          <a:p>
            <a:pPr lvl="0"/>
            <a:r>
              <a:rPr lang="en-GB" dirty="0"/>
              <a:t>Click to edit Master text styles</a:t>
            </a:r>
            <a:endParaRPr lang="en-GB"/>
          </a:p>
          <a:p>
            <a:pPr lvl="1"/>
            <a:r>
              <a:rPr lang="en-GB" dirty="0" err="1"/>
              <a:t>Zweite</a:t>
            </a:r>
            <a:r>
              <a:rPr lang="en-GB" dirty="0"/>
              <a:t> Ebene</a:t>
            </a:r>
            <a:endParaRPr lang="en-GB"/>
          </a:p>
          <a:p>
            <a:pPr lvl="2"/>
            <a:r>
              <a:rPr lang="en-GB" dirty="0" err="1"/>
              <a:t>Dritte</a:t>
            </a:r>
            <a:r>
              <a:rPr lang="en-GB" dirty="0"/>
              <a:t> Ebene</a:t>
            </a:r>
            <a:endParaRPr lang="en-GB"/>
          </a:p>
          <a:p>
            <a:pPr lvl="3"/>
            <a:r>
              <a:rPr lang="en-GB" dirty="0" err="1"/>
              <a:t>Vierte</a:t>
            </a:r>
            <a:r>
              <a:rPr lang="en-GB" dirty="0"/>
              <a:t> Ebene</a:t>
            </a:r>
            <a:endParaRPr lang="en-GB"/>
          </a:p>
          <a:p>
            <a:pPr lvl="4"/>
            <a:r>
              <a:rPr lang="en-GB" dirty="0" err="1"/>
              <a:t>Fünfte</a:t>
            </a:r>
            <a:r>
              <a:rPr lang="en-GB" dirty="0"/>
              <a:t> Ebene</a:t>
            </a:r>
            <a:endParaRPr lang="en-GB"/>
          </a:p>
          <a:p>
            <a:pPr lvl="5"/>
            <a:r>
              <a:rPr lang="en-GB" dirty="0" err="1"/>
              <a:t>Sechste</a:t>
            </a:r>
            <a:r>
              <a:rPr lang="en-GB" dirty="0"/>
              <a:t> Ebene</a:t>
            </a:r>
            <a:endParaRPr lang="en-GB"/>
          </a:p>
          <a:p>
            <a:pPr lvl="6"/>
            <a:r>
              <a:rPr lang="en-GB" dirty="0" err="1"/>
              <a:t>Siebte</a:t>
            </a:r>
            <a:r>
              <a:rPr lang="en-GB" dirty="0"/>
              <a:t> Ebene</a:t>
            </a:r>
            <a:endParaRPr lang="en-GB"/>
          </a:p>
          <a:p>
            <a:pPr lvl="7"/>
            <a:r>
              <a:rPr lang="en-GB" dirty="0" err="1"/>
              <a:t>Achte</a:t>
            </a:r>
            <a:r>
              <a:rPr lang="en-GB" dirty="0"/>
              <a:t> Ebene</a:t>
            </a:r>
            <a:endParaRPr lang="en-GB"/>
          </a:p>
          <a:p>
            <a:pPr lvl="8"/>
            <a:r>
              <a:rPr lang="en-GB" dirty="0" err="1"/>
              <a:t>Neunte</a:t>
            </a:r>
            <a:r>
              <a:rPr lang="en-GB" dirty="0"/>
              <a:t> Ebene</a:t>
            </a:r>
            <a:endParaRPr lang="en-GB"/>
          </a:p>
        </p:txBody>
      </p:sp>
      <p:sp>
        <p:nvSpPr>
          <p:cNvPr id="13" name="Rectangle 12" descr="{&quot;templafy&quot;:{&quot;id&quot;:&quot;57fa69e2-e601-4bd0-9df7-d22060b419e4&quot;}}" hidden="1">
            <a:extLst>
              <a:ext uri="{FF2B5EF4-FFF2-40B4-BE49-F238E27FC236}">
                <a16:creationId xmlns:a16="http://schemas.microsoft.com/office/drawing/2014/main" id="{829DC8B1-9D54-4E8C-B174-7B9355FD57F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3" name="Freeform: Shape 2">
            <a:extLst>
              <a:ext uri="{FF2B5EF4-FFF2-40B4-BE49-F238E27FC236}">
                <a16:creationId xmlns:a16="http://schemas.microsoft.com/office/drawing/2014/main" id="{0996A659-F272-FD50-65D2-285E28569550}"/>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4">
            <a:extLst>
              <a:ext uri="{FF2B5EF4-FFF2-40B4-BE49-F238E27FC236}">
                <a16:creationId xmlns:a16="http://schemas.microsoft.com/office/drawing/2014/main" id="{49C4DE21-6B1C-1D32-611F-A475D0674D31}"/>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9" name="Rectangle 9" descr="{&quot;templafy&quot;:{&quot;id&quot;:&quot;a686ddd6-f847-45d7-8410-5ee4c6292e19&quot;}}">
            <a:extLst>
              <a:ext uri="{FF2B5EF4-FFF2-40B4-BE49-F238E27FC236}">
                <a16:creationId xmlns:a16="http://schemas.microsoft.com/office/drawing/2014/main" id="{0C5F4D98-1367-F2BD-57DF-11531683912B}"/>
              </a:ext>
            </a:extLst>
          </p:cNvPr>
          <p:cNvPicPr>
            <a:picLocks noChangeAspect="1"/>
          </p:cNvPicPr>
          <p:nvPr userDrawn="1"/>
        </p:nvPicPr>
        <p:blipFill>
          <a:blip r:embed="rId3"/>
          <a:stretch>
            <a:fillRect/>
          </a:stretch>
        </p:blipFill>
        <p:spPr>
          <a:xfrm>
            <a:off x="358775" y="4668427"/>
            <a:ext cx="1026000" cy="212400"/>
          </a:xfrm>
          <a:prstGeom prst="rect">
            <a:avLst/>
          </a:prstGeom>
        </p:spPr>
      </p:pic>
      <p:sp>
        <p:nvSpPr>
          <p:cNvPr id="11" name="Rectangle 10" descr="{&quot;templafy&quot;:{&quot;id&quot;:&quot;72a3a3be-e050-47d5-94d9-e6cb5f8c7f03&quot;}}">
            <a:extLst>
              <a:ext uri="{FF2B5EF4-FFF2-40B4-BE49-F238E27FC236}">
                <a16:creationId xmlns:a16="http://schemas.microsoft.com/office/drawing/2014/main" id="{649014B4-8A96-0B64-4ABB-963D239BD6E9}"/>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4FFF5A03-CA94-2A40-1138-F49CF1EE9231}"/>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234139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Freeform: Shape 3">
            <a:extLst>
              <a:ext uri="{FF2B5EF4-FFF2-40B4-BE49-F238E27FC236}">
                <a16:creationId xmlns:a16="http://schemas.microsoft.com/office/drawing/2014/main" id="{AA3A5247-554A-42FF-BCCF-A11D65465AA4}"/>
              </a:ext>
            </a:extLst>
          </p:cNvPr>
          <p:cNvSpPr>
            <a:spLocks noChangeAspect="1"/>
          </p:cNvSpPr>
          <p:nvPr userDrawn="1"/>
        </p:nvSpPr>
        <p:spPr>
          <a:xfrm>
            <a:off x="4572001" y="3166310"/>
            <a:ext cx="457200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p:nvPr>
        </p:nvSpPr>
        <p:spPr>
          <a:xfrm>
            <a:off x="0" y="0"/>
            <a:ext cx="9144000" cy="5143500"/>
          </a:xfrm>
        </p:spPr>
        <p:txBody>
          <a:bodyPr/>
          <a:lstStyle/>
          <a:p>
            <a:r>
              <a:rPr lang="en-GB"/>
              <a:t>Click icon to add picture</a:t>
            </a:r>
          </a:p>
        </p:txBody>
      </p:sp>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5113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zwei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Rectangle 6" descr="{&quot;templafy&quot;:{&quot;id&quot;:&quot;2f4be301-7db5-44d0-ae7c-4ec34c731e7b&quot;}}" hidden="1">
            <a:extLst>
              <a:ext uri="{FF2B5EF4-FFF2-40B4-BE49-F238E27FC236}">
                <a16:creationId xmlns:a16="http://schemas.microsoft.com/office/drawing/2014/main" id="{B915E154-BDC4-452C-BDE7-882BE349B50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6" name="Freeform: Shape 5">
            <a:extLst>
              <a:ext uri="{FF2B5EF4-FFF2-40B4-BE49-F238E27FC236}">
                <a16:creationId xmlns:a16="http://schemas.microsoft.com/office/drawing/2014/main" id="{D1DC7FD6-78B5-D37D-A962-B78595D23753}"/>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4">
            <a:extLst>
              <a:ext uri="{FF2B5EF4-FFF2-40B4-BE49-F238E27FC236}">
                <a16:creationId xmlns:a16="http://schemas.microsoft.com/office/drawing/2014/main" id="{1ACBBA7C-1793-BDDC-FE22-C995AF3936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12" name="Rectangle 9" descr="{&quot;templafy&quot;:{&quot;id&quot;:&quot;a686ddd6-f847-45d7-8410-5ee4c6292e19&quot;}}">
            <a:extLst>
              <a:ext uri="{FF2B5EF4-FFF2-40B4-BE49-F238E27FC236}">
                <a16:creationId xmlns:a16="http://schemas.microsoft.com/office/drawing/2014/main" id="{AD8275D9-1FE2-A52D-09BD-FF0D016C4129}"/>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4" name="Rectangle 13" descr="{&quot;templafy&quot;:{&quot;id&quot;:&quot;72a3a3be-e050-47d5-94d9-e6cb5f8c7f03&quot;}}">
            <a:extLst>
              <a:ext uri="{FF2B5EF4-FFF2-40B4-BE49-F238E27FC236}">
                <a16:creationId xmlns:a16="http://schemas.microsoft.com/office/drawing/2014/main" id="{2D774627-C965-756D-B30B-E10E54C17F8B}"/>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5" name="Rectangle 14" descr="{&quot;templafy&quot;:{&quot;id&quot;:&quot;8b77cfe1-601f-4616-9ce4-864cfa8534fd&quot;}}">
            <a:extLst>
              <a:ext uri="{FF2B5EF4-FFF2-40B4-BE49-F238E27FC236}">
                <a16:creationId xmlns:a16="http://schemas.microsoft.com/office/drawing/2014/main" id="{81A0655A-9E62-C06F-FD70-9D47055CFC90}"/>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85054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9" name="Rectangle 8" descr="{&quot;templafy&quot;:{&quot;id&quot;:&quot;41d8c364-9428-4db7-aa0c-4eaa985a9522&quot;}}" hidden="1">
            <a:extLst>
              <a:ext uri="{FF2B5EF4-FFF2-40B4-BE49-F238E27FC236}">
                <a16:creationId xmlns:a16="http://schemas.microsoft.com/office/drawing/2014/main" id="{2B2F7145-7DCA-4B3F-A8AE-07622CB5DF8E}"/>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4" name="Freeform: Shape 3">
            <a:extLst>
              <a:ext uri="{FF2B5EF4-FFF2-40B4-BE49-F238E27FC236}">
                <a16:creationId xmlns:a16="http://schemas.microsoft.com/office/drawing/2014/main" id="{93A8DF6F-0F56-3257-EBDA-56E41644FAFB}"/>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40D0BE63-4096-A535-D71C-3CEE24B4115B}"/>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BDB8732E-F13D-603A-B3F8-83C12A4E6D6F}"/>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0" name="Rectangle 9" descr="{&quot;templafy&quot;:{&quot;id&quot;:&quot;72a3a3be-e050-47d5-94d9-e6cb5f8c7f03&quot;}}">
            <a:extLst>
              <a:ext uri="{FF2B5EF4-FFF2-40B4-BE49-F238E27FC236}">
                <a16:creationId xmlns:a16="http://schemas.microsoft.com/office/drawing/2014/main" id="{A4AF5C95-C949-81DC-D669-38210C0547DB}"/>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A2D82699-381C-3AE9-44CD-10F0582A2BBA}"/>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4154111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zwei Bil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358774" y="1276350"/>
            <a:ext cx="4213225" cy="3203576"/>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1276350"/>
            <a:ext cx="4213225" cy="3203575"/>
          </a:xfrm>
        </p:spPr>
        <p:txBody>
          <a:bodyPr/>
          <a:lstStyle/>
          <a:p>
            <a:r>
              <a:rPr lang="en-GB"/>
              <a:t>Click icon to add picture</a:t>
            </a:r>
          </a:p>
        </p:txBody>
      </p:sp>
      <p:sp>
        <p:nvSpPr>
          <p:cNvPr id="15" name="Rectangle 14" descr="{&quot;templafy&quot;:{&quot;id&quot;:&quot;0ff56024-4d1f-4773-bfc1-9ba6a6a51b39&quot;}}" hidden="1">
            <a:extLst>
              <a:ext uri="{FF2B5EF4-FFF2-40B4-BE49-F238E27FC236}">
                <a16:creationId xmlns:a16="http://schemas.microsoft.com/office/drawing/2014/main" id="{544AC9A2-9666-4133-BC67-BE44B6459332}"/>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3" name="Freeform: Shape 2">
            <a:extLst>
              <a:ext uri="{FF2B5EF4-FFF2-40B4-BE49-F238E27FC236}">
                <a16:creationId xmlns:a16="http://schemas.microsoft.com/office/drawing/2014/main" id="{6828AA86-4257-6F97-61D5-8126E02D1F1E}"/>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4">
            <a:extLst>
              <a:ext uri="{FF2B5EF4-FFF2-40B4-BE49-F238E27FC236}">
                <a16:creationId xmlns:a16="http://schemas.microsoft.com/office/drawing/2014/main" id="{BE3CB348-12A7-965A-4290-4B67ED162B8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53B0BF2C-A6C0-9504-CEE9-C1C1C729EFE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9" name="Rectangle 8" descr="{&quot;templafy&quot;:{&quot;id&quot;:&quot;72a3a3be-e050-47d5-94d9-e6cb5f8c7f03&quot;}}">
            <a:extLst>
              <a:ext uri="{FF2B5EF4-FFF2-40B4-BE49-F238E27FC236}">
                <a16:creationId xmlns:a16="http://schemas.microsoft.com/office/drawing/2014/main" id="{4ADBBC90-46EC-30E2-B8CC-509E30071567}"/>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BA02F510-AE6D-4051-C6F9-2B2B39A47E41}"/>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347967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Bilder mit Legen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0" y="0"/>
            <a:ext cx="4571999" cy="3887599"/>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0"/>
            <a:ext cx="4572000" cy="3887599"/>
          </a:xfrm>
        </p:spPr>
        <p:txBody>
          <a:bodyPr/>
          <a:lstStyle/>
          <a:p>
            <a:r>
              <a:rPr lang="en-GB"/>
              <a:t>Click icon to add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p:nvPr>
        </p:nvSpPr>
        <p:spPr>
          <a:xfrm>
            <a:off x="358775" y="3989388"/>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p:nvPr>
        </p:nvSpPr>
        <p:spPr>
          <a:xfrm>
            <a:off x="4662487" y="3989387"/>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6" name="Rectangle 15" descr="{&quot;templafy&quot;:{&quot;id&quot;:&quot;4780b9c7-75d7-49af-995d-3035d682835c&quot;}}" hidden="1">
            <a:extLst>
              <a:ext uri="{FF2B5EF4-FFF2-40B4-BE49-F238E27FC236}">
                <a16:creationId xmlns:a16="http://schemas.microsoft.com/office/drawing/2014/main" id="{97ACC166-7757-4B59-A180-1D797D03E7B1}"/>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2" name="Freeform: Shape 1">
            <a:extLst>
              <a:ext uri="{FF2B5EF4-FFF2-40B4-BE49-F238E27FC236}">
                <a16:creationId xmlns:a16="http://schemas.microsoft.com/office/drawing/2014/main" id="{B6076EB4-F755-4C21-00F7-8A448E1EF3B1}"/>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4">
            <a:extLst>
              <a:ext uri="{FF2B5EF4-FFF2-40B4-BE49-F238E27FC236}">
                <a16:creationId xmlns:a16="http://schemas.microsoft.com/office/drawing/2014/main" id="{C51B7B72-6F46-8B5E-CFCE-2C40E7C6EA1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DD865BEC-A047-C82E-38E0-D8C2ED5B759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9" name="Rectangle 8" descr="{&quot;templafy&quot;:{&quot;id&quot;:&quot;72a3a3be-e050-47d5-94d9-e6cb5f8c7f03&quot;}}">
            <a:extLst>
              <a:ext uri="{FF2B5EF4-FFF2-40B4-BE49-F238E27FC236}">
                <a16:creationId xmlns:a16="http://schemas.microsoft.com/office/drawing/2014/main" id="{F6ED04CD-52C8-47E2-CA03-951B59EA3E9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5" name="Rectangle 14" descr="{&quot;templafy&quot;:{&quot;id&quot;:&quot;8b77cfe1-601f-4616-9ce4-864cfa8534fd&quot;}}">
            <a:extLst>
              <a:ext uri="{FF2B5EF4-FFF2-40B4-BE49-F238E27FC236}">
                <a16:creationId xmlns:a16="http://schemas.microsoft.com/office/drawing/2014/main" id="{41661903-13D9-9366-C1BF-B6B35F6F471C}"/>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208120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F4CC-30A2-4B7B-BA9D-1A66D47649F5}"/>
              </a:ext>
            </a:extLst>
          </p:cNvPr>
          <p:cNvSpPr>
            <a:spLocks noGrp="1"/>
          </p:cNvSpPr>
          <p:nvPr>
            <p:ph type="title"/>
          </p:nvPr>
        </p:nvSpPr>
        <p:spPr/>
        <p:txBody>
          <a:bodyPr/>
          <a:lstStyle/>
          <a:p>
            <a:r>
              <a:rPr lang="en-GB"/>
              <a:t>Click to edit Master title style</a:t>
            </a:r>
            <a:endParaRPr lang="en-GB" dirty="0"/>
          </a:p>
        </p:txBody>
      </p:sp>
      <p:sp>
        <p:nvSpPr>
          <p:cNvPr id="12" name="Rectangle 11" descr="{&quot;templafy&quot;:{&quot;id&quot;:&quot;0bfa71f2-5450-4936-a878-527a7ee69f0e&quot;}}" hidden="1">
            <a:extLst>
              <a:ext uri="{FF2B5EF4-FFF2-40B4-BE49-F238E27FC236}">
                <a16:creationId xmlns:a16="http://schemas.microsoft.com/office/drawing/2014/main" id="{87F7EA06-4518-4086-9E1C-ACD1F4782ADD}"/>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Finance (SoF-HSG)</a:t>
            </a:r>
          </a:p>
        </p:txBody>
      </p:sp>
      <p:sp>
        <p:nvSpPr>
          <p:cNvPr id="6" name="Freeform: Shape 5">
            <a:extLst>
              <a:ext uri="{FF2B5EF4-FFF2-40B4-BE49-F238E27FC236}">
                <a16:creationId xmlns:a16="http://schemas.microsoft.com/office/drawing/2014/main" id="{679255CD-4FAC-0CAA-FA66-EB78CF3B2035}"/>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4">
            <a:extLst>
              <a:ext uri="{FF2B5EF4-FFF2-40B4-BE49-F238E27FC236}">
                <a16:creationId xmlns:a16="http://schemas.microsoft.com/office/drawing/2014/main" id="{82C844E2-E511-DBF7-1CE7-0E81BA8CD65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9" name="Rectangle 9" descr="{&quot;templafy&quot;:{&quot;id&quot;:&quot;a686ddd6-f847-45d7-8410-5ee4c6292e19&quot;}}">
            <a:extLst>
              <a:ext uri="{FF2B5EF4-FFF2-40B4-BE49-F238E27FC236}">
                <a16:creationId xmlns:a16="http://schemas.microsoft.com/office/drawing/2014/main" id="{53F0B1EF-F75C-BF03-BFD4-332298EE5AD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0" name="Rectangle 9" descr="{&quot;templafy&quot;:{&quot;id&quot;:&quot;72a3a3be-e050-47d5-94d9-e6cb5f8c7f03&quot;}}">
            <a:extLst>
              <a:ext uri="{FF2B5EF4-FFF2-40B4-BE49-F238E27FC236}">
                <a16:creationId xmlns:a16="http://schemas.microsoft.com/office/drawing/2014/main" id="{D9B2BCF8-92A1-2BD3-C63A-5384BE781D81}"/>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March 2026</a:t>
            </a:r>
          </a:p>
        </p:txBody>
      </p:sp>
      <p:sp>
        <p:nvSpPr>
          <p:cNvPr id="11" name="Rectangle 10" descr="{&quot;templafy&quot;:{&quot;id&quot;:&quot;8b77cfe1-601f-4616-9ce4-864cfa8534fd&quot;}}">
            <a:extLst>
              <a:ext uri="{FF2B5EF4-FFF2-40B4-BE49-F238E27FC236}">
                <a16:creationId xmlns:a16="http://schemas.microsoft.com/office/drawing/2014/main" id="{50828103-FA40-77BE-B71E-489AFDE8121C}"/>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Research Seminar – Topic Discussion</a:t>
            </a:r>
          </a:p>
        </p:txBody>
      </p:sp>
    </p:spTree>
    <p:extLst>
      <p:ext uri="{BB962C8B-B14F-4D97-AF65-F5344CB8AC3E}">
        <p14:creationId xmlns:p14="http://schemas.microsoft.com/office/powerpoint/2010/main" val="385140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p:nvPr>
        </p:nvSpPr>
        <p:spPr>
          <a:xfrm>
            <a:off x="0" y="0"/>
            <a:ext cx="9144000" cy="5143500"/>
          </a:xfrm>
        </p:spPr>
        <p:txBody>
          <a:bodyPr/>
          <a:lstStyle/>
          <a:p>
            <a:r>
              <a:rPr lang="en-GB"/>
              <a:t>Click icon to add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dirty="0"/>
              <a:t>Click to edit Master text styles</a:t>
            </a:r>
            <a:endParaRPr lang="en-GB"/>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1104120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itat weisse Schrift">
    <p:bg>
      <p:bgPr>
        <a:solidFill>
          <a:schemeClr val="accent3"/>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dirty="0"/>
              <a:t>Click to edit Master text styles</a:t>
            </a:r>
            <a:endParaRPr lang="en-GB"/>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solidFill>
                  <a:schemeClr val="tx1"/>
                </a:solidFill>
              </a:defRPr>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3818851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GB"/>
              <a:t>Click to edit Master title style</a:t>
            </a:r>
            <a:endParaRPr lang="en-GB" dirty="0"/>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8558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7998"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GB"/>
              <a:t>Click to edit Master title style</a:t>
            </a:r>
            <a:endParaRPr lang="en-GB" dirty="0"/>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902494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02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en-GB"/>
              <a:t>Click to edit Master title style</a:t>
            </a:r>
            <a:endParaRPr lang="en-GB" dirty="0"/>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pic>
        <p:nvPicPr>
          <p:cNvPr id="822201520" name="Rectangle 10" descr="{&quot;templafy&quot;:{&quot;id&quot;:&quot;83a1c2a2-c5ce-461f-94a3-7bf4eb5a6a7a&quot;}}"/>
          <p:cNvPicPr>
            <a:picLocks noChangeAspect="1"/>
          </p:cNvPicPr>
          <p:nvPr/>
        </p:nvPicPr>
        <p:blipFill>
          <a:blip r:embed="rId2"/>
          <a:stretch>
            <a:fillRect/>
          </a:stretch>
        </p:blipFill>
        <p:spPr>
          <a:xfrm>
            <a:off x="798816" y="4048055"/>
            <a:ext cx="2221200" cy="460800"/>
          </a:xfrm>
          <a:prstGeom prst="rect">
            <a:avLst/>
          </a:prstGeom>
        </p:spPr>
      </p:pic>
      <p:sp>
        <p:nvSpPr>
          <p:cNvPr id="3" name="Rectangle 2" descr="{&quot;templafy&quot;:{&quot;id&quot;:&quot;6b7dbdc9-b930-48a1-b054-0486b079e669&quot;}}">
            <a:extLst>
              <a:ext uri="{FF2B5EF4-FFF2-40B4-BE49-F238E27FC236}">
                <a16:creationId xmlns:a16="http://schemas.microsoft.com/office/drawing/2014/main" id="{36F02173-B0F5-4193-B6FF-8607454762B4}"/>
              </a:ext>
            </a:extLst>
          </p:cNvPr>
          <p:cNvSpPr/>
          <p:nvPr userDrawn="1"/>
        </p:nvSpPr>
        <p:spPr>
          <a:xfrm>
            <a:off x="4945930" y="3515014"/>
            <a:ext cx="2038450"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dirty="0">
                <a:solidFill>
                  <a:schemeClr val="tx1"/>
                </a:solidFill>
              </a:rPr>
              <a:t>School of Finance (SoF-HSG) 
Unterer Graben 21 
9000 St.Gallen 
unisg.ch/universitaet/schools/finance</a:t>
            </a:r>
          </a:p>
        </p:txBody>
      </p:sp>
    </p:spTree>
    <p:extLst>
      <p:ext uri="{BB962C8B-B14F-4D97-AF65-F5344CB8AC3E}">
        <p14:creationId xmlns:p14="http://schemas.microsoft.com/office/powerpoint/2010/main" val="518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72C7-786E-4CDF-B498-A0E43C94C17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27AB401-27B1-4459-8033-ADE495ECDDC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63339B70-EA91-4D1E-AD6F-9A1F4FF36CD8}"/>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879ad7e6-7cb7-4494-9174-c3323cc290b2&quot;}}">
            <a:extLst>
              <a:ext uri="{FF2B5EF4-FFF2-40B4-BE49-F238E27FC236}">
                <a16:creationId xmlns:a16="http://schemas.microsoft.com/office/drawing/2014/main" id="{BB3C8683-B834-4D63-9D68-06A85DD6080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Dezember 2025</a:t>
            </a:r>
          </a:p>
        </p:txBody>
      </p:sp>
    </p:spTree>
    <p:extLst>
      <p:ext uri="{BB962C8B-B14F-4D97-AF65-F5344CB8AC3E}">
        <p14:creationId xmlns:p14="http://schemas.microsoft.com/office/powerpoint/2010/main" val="1837207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27F37-4AAD-450C-8838-DE5B9F07D8B8}"/>
              </a:ext>
            </a:extLst>
          </p:cNvPr>
          <p:cNvSpPr>
            <a:spLocks noGrp="1"/>
          </p:cNvSpPr>
          <p:nvPr>
            <p:ph type="title" orient="vert"/>
          </p:nvPr>
        </p:nvSpPr>
        <p:spPr>
          <a:xfrm>
            <a:off x="6543675" y="273844"/>
            <a:ext cx="1971675" cy="4358879"/>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9286A52-83BF-4684-B707-32690AD3C036}"/>
              </a:ext>
            </a:extLst>
          </p:cNvPr>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BC25666C-0F9A-44A4-B3AC-35B212491C34}"/>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9ce69437-fe7b-4dee-8cfc-9988023a4741&quot;}}">
            <a:extLst>
              <a:ext uri="{FF2B5EF4-FFF2-40B4-BE49-F238E27FC236}">
                <a16:creationId xmlns:a16="http://schemas.microsoft.com/office/drawing/2014/main" id="{D21A4773-433D-4BA4-8284-587A192E038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Dezember 2025</a:t>
            </a:r>
          </a:p>
        </p:txBody>
      </p:sp>
    </p:spTree>
    <p:extLst>
      <p:ext uri="{BB962C8B-B14F-4D97-AF65-F5344CB8AC3E}">
        <p14:creationId xmlns:p14="http://schemas.microsoft.com/office/powerpoint/2010/main" val="85152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8526C4E-7639-88E6-EA4D-E7C5D11716BD}"/>
              </a:ext>
            </a:extLst>
          </p:cNvPr>
          <p:cNvGraphicFramePr>
            <a:graphicFrameLocks/>
          </p:cNvGraphicFramePr>
          <p:nvPr userDrawn="1">
            <p:custDataLst>
              <p:tags r:id="rId22"/>
            </p:custDataLst>
            <p:extLst>
              <p:ext uri="{D42A27DB-BD31-4B8C-83A1-F6EECF244321}">
                <p14:modId xmlns:p14="http://schemas.microsoft.com/office/powerpoint/2010/main" val="6545954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25" imgH="424" progId="TCLayout.ActiveDocument.1">
                  <p:embed/>
                </p:oleObj>
              </mc:Choice>
              <mc:Fallback>
                <p:oleObj name="think-cell Slide" r:id="rId23" imgW="425" imgH="424" progId="TCLayout.ActiveDocument.1">
                  <p:embed/>
                  <p:pic>
                    <p:nvPicPr>
                      <p:cNvPr id="8" name="think-cell data - do not delete" hidden="1">
                        <a:extLst>
                          <a:ext uri="{FF2B5EF4-FFF2-40B4-BE49-F238E27FC236}">
                            <a16:creationId xmlns:a16="http://schemas.microsoft.com/office/drawing/2014/main" id="{98526C4E-7639-88E6-EA4D-E7C5D11716BD}"/>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2501321-794C-47B8-ABDC-7DAF88C9DC68}"/>
              </a:ext>
            </a:extLst>
          </p:cNvPr>
          <p:cNvSpPr>
            <a:spLocks noGrp="1"/>
          </p:cNvSpPr>
          <p:nvPr>
            <p:ph type="title"/>
          </p:nvPr>
        </p:nvSpPr>
        <p:spPr>
          <a:xfrm>
            <a:off x="358775" y="376238"/>
            <a:ext cx="8426450" cy="609662"/>
          </a:xfrm>
          <a:prstGeom prst="rect">
            <a:avLst/>
          </a:prstGeom>
        </p:spPr>
        <p:txBody>
          <a:bodyPr vert="horz" lIns="0" tIns="0" rIns="0" bIns="0" rtlCol="0" anchor="t">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76F94A2-50F8-430F-B46C-2D50472D7A69}"/>
              </a:ext>
            </a:extLst>
          </p:cNvPr>
          <p:cNvSpPr>
            <a:spLocks noGrp="1"/>
          </p:cNvSpPr>
          <p:nvPr>
            <p:ph type="body" idx="1"/>
          </p:nvPr>
        </p:nvSpPr>
        <p:spPr>
          <a:xfrm>
            <a:off x="358775" y="1276350"/>
            <a:ext cx="8426450" cy="3203575"/>
          </a:xfrm>
          <a:prstGeom prst="rect">
            <a:avLst/>
          </a:prstGeom>
        </p:spPr>
        <p:txBody>
          <a:bodyPr vert="horz" lIns="0" tIns="0" rIns="0" bIns="0" rtlCol="0">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4" name="Date Placeholder 3">
            <a:extLst>
              <a:ext uri="{FF2B5EF4-FFF2-40B4-BE49-F238E27FC236}">
                <a16:creationId xmlns:a16="http://schemas.microsoft.com/office/drawing/2014/main" id="{A01CEDF7-309C-40F3-8700-9F4DBE766E2C}"/>
              </a:ext>
            </a:extLst>
          </p:cNvPr>
          <p:cNvSpPr>
            <a:spLocks noGrp="1"/>
          </p:cNvSpPr>
          <p:nvPr>
            <p:ph type="dt" sz="half" idx="2"/>
          </p:nvPr>
        </p:nvSpPr>
        <p:spPr>
          <a:xfrm>
            <a:off x="6804000" y="4770375"/>
            <a:ext cx="1177196" cy="184336"/>
          </a:xfrm>
          <a:prstGeom prst="rect">
            <a:avLst/>
          </a:prstGeom>
        </p:spPr>
        <p:txBody>
          <a:bodyPr vert="horz" lIns="0" tIns="0" rIns="0" bIns="0" rtlCol="0" anchor="t"/>
          <a:lstStyle>
            <a:lvl1pPr algn="l">
              <a:defRPr sz="800">
                <a:solidFill>
                  <a:schemeClr val="tx1"/>
                </a:solidFill>
              </a:defRPr>
            </a:lvl1pPr>
          </a:lstStyle>
          <a:p>
            <a:fld id="{ED8FFC02-F414-406A-9AF9-AE6E7846E736}" type="datetime4">
              <a:rPr lang="en-GB" smtClean="0"/>
              <a:t>11 March 2026</a:t>
            </a:fld>
            <a:endParaRPr lang="en-GB" dirty="0"/>
          </a:p>
        </p:txBody>
      </p:sp>
      <p:sp>
        <p:nvSpPr>
          <p:cNvPr id="5" name="Footer Placeholder 4">
            <a:extLst>
              <a:ext uri="{FF2B5EF4-FFF2-40B4-BE49-F238E27FC236}">
                <a16:creationId xmlns:a16="http://schemas.microsoft.com/office/drawing/2014/main" id="{867B08D8-7EDB-4388-A7EE-8AB294EA7887}"/>
              </a:ext>
            </a:extLst>
          </p:cNvPr>
          <p:cNvSpPr>
            <a:spLocks noGrp="1"/>
          </p:cNvSpPr>
          <p:nvPr>
            <p:ph type="ftr" sz="quarter" idx="3"/>
          </p:nvPr>
        </p:nvSpPr>
        <p:spPr>
          <a:xfrm>
            <a:off x="2519999" y="4770374"/>
            <a:ext cx="3086100" cy="184335"/>
          </a:xfrm>
          <a:prstGeom prst="rect">
            <a:avLst/>
          </a:prstGeom>
        </p:spPr>
        <p:txBody>
          <a:bodyPr vert="horz" lIns="0" tIns="0" rIns="0" bIns="0" rtlCol="0" anchor="t"/>
          <a:lstStyle>
            <a:lvl1pPr algn="l">
              <a:defRPr sz="800">
                <a:solidFill>
                  <a:schemeClr val="tx1"/>
                </a:solidFill>
              </a:defRPr>
            </a:lvl1pPr>
          </a:lstStyle>
          <a:p>
            <a:r>
              <a:rPr lang="en-GB"/>
              <a:t>Corporate Design - Power Point Master</a:t>
            </a:r>
            <a:endParaRPr lang="en-GB" dirty="0"/>
          </a:p>
        </p:txBody>
      </p:sp>
      <p:sp>
        <p:nvSpPr>
          <p:cNvPr id="6" name="Slide Number Placeholder 5">
            <a:extLst>
              <a:ext uri="{FF2B5EF4-FFF2-40B4-BE49-F238E27FC236}">
                <a16:creationId xmlns:a16="http://schemas.microsoft.com/office/drawing/2014/main" id="{7A26C2A0-BCAA-4FD2-BD67-F5225215B65D}"/>
              </a:ext>
            </a:extLst>
          </p:cNvPr>
          <p:cNvSpPr>
            <a:spLocks noGrp="1"/>
          </p:cNvSpPr>
          <p:nvPr>
            <p:ph type="sldNum" sz="quarter" idx="4"/>
          </p:nvPr>
        </p:nvSpPr>
        <p:spPr>
          <a:xfrm>
            <a:off x="8571600" y="4767263"/>
            <a:ext cx="216000" cy="273844"/>
          </a:xfrm>
          <a:prstGeom prst="rect">
            <a:avLst/>
          </a:prstGeom>
        </p:spPr>
        <p:txBody>
          <a:bodyPr vert="horz" lIns="0" tIns="0" rIns="0" bIns="0" rtlCol="0" anchor="t"/>
          <a:lstStyle>
            <a:lvl1pPr algn="ctr">
              <a:defRPr sz="800" spc="-30" baseline="0">
                <a:solidFill>
                  <a:schemeClr val="bg2"/>
                </a:solidFill>
              </a:defRPr>
            </a:lvl1pPr>
          </a:lstStyle>
          <a:p>
            <a:fld id="{7559FC98-AF75-4A00-A03C-DF9FEBF6BCB9}" type="slidenum">
              <a:rPr lang="en-GB" smtClean="0"/>
              <a:pPr/>
              <a:t>‹#›</a:t>
            </a:fld>
            <a:endParaRPr lang="en-GB" dirty="0"/>
          </a:p>
        </p:txBody>
      </p:sp>
    </p:spTree>
    <p:extLst>
      <p:ext uri="{BB962C8B-B14F-4D97-AF65-F5344CB8AC3E}">
        <p14:creationId xmlns:p14="http://schemas.microsoft.com/office/powerpoint/2010/main" val="4246037650"/>
      </p:ext>
    </p:extLst>
  </p:cSld>
  <p:clrMap bg1="lt1" tx1="dk1" bg2="lt2" tx2="dk2" accent1="accent1" accent2="accent2" accent3="accent3" accent4="accent4" accent5="accent5" accent6="accent6" hlink="hlink" folHlink="folHlink"/>
  <p:sldLayoutIdLst>
    <p:sldLayoutId id="2147483661" r:id="rId1"/>
    <p:sldLayoutId id="2147483688" r:id="rId2"/>
    <p:sldLayoutId id="2147483689" r:id="rId3"/>
    <p:sldLayoutId id="2147483677" r:id="rId4"/>
    <p:sldLayoutId id="2147483663" r:id="rId5"/>
    <p:sldLayoutId id="2147483686" r:id="rId6"/>
    <p:sldLayoutId id="2147483664" r:id="rId7"/>
    <p:sldLayoutId id="2147483662" r:id="rId8"/>
    <p:sldLayoutId id="2147483672" r:id="rId9"/>
    <p:sldLayoutId id="2147483673" r:id="rId10"/>
    <p:sldLayoutId id="2147483666" r:id="rId11"/>
    <p:sldLayoutId id="2147483680" r:id="rId12"/>
    <p:sldLayoutId id="2147483678" r:id="rId13"/>
    <p:sldLayoutId id="2147483679" r:id="rId14"/>
    <p:sldLayoutId id="2147483675" r:id="rId15"/>
    <p:sldLayoutId id="2147483683" r:id="rId16"/>
    <p:sldLayoutId id="2147483667" r:id="rId17"/>
    <p:sldLayoutId id="2147483681" r:id="rId18"/>
    <p:sldLayoutId id="2147483670" r:id="rId19"/>
    <p:sldLayoutId id="2147483671" r:id="rId20"/>
  </p:sldLayoutIdLst>
  <p:hf hdr="0"/>
  <p:txStyles>
    <p:titleStyle>
      <a:lvl1pPr algn="l" defTabSz="6858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3">
          <p15:clr>
            <a:srgbClr val="F26B43"/>
          </p15:clr>
        </p15:guide>
        <p15:guide id="3" pos="226">
          <p15:clr>
            <a:srgbClr val="F26B43"/>
          </p15:clr>
        </p15:guide>
        <p15:guide id="4" pos="5534">
          <p15:clr>
            <a:srgbClr val="F26B43"/>
          </p15:clr>
        </p15:guide>
        <p15:guide id="5" orient="horz" pos="237">
          <p15:clr>
            <a:srgbClr val="F26B43"/>
          </p15:clr>
        </p15:guide>
        <p15:guide id="6" orient="horz" pos="804" userDrawn="1">
          <p15:clr>
            <a:srgbClr val="F26B43"/>
          </p15:clr>
        </p15:guide>
        <p15:guide id="7" orient="horz" pos="2822">
          <p15:clr>
            <a:srgbClr val="F26B43"/>
          </p15:clr>
        </p15:guide>
        <p15:guide id="8" pos="2823">
          <p15:clr>
            <a:srgbClr val="F26B43"/>
          </p15:clr>
        </p15:guide>
        <p15:guide id="9" pos="2937">
          <p15:clr>
            <a:srgbClr val="F26B43"/>
          </p15:clr>
        </p15:guide>
        <p15:guide id="10" orient="horz" pos="4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customXml" Target="../../customXml/item7.xml"/><Relationship Id="rId1" Type="http://schemas.openxmlformats.org/officeDocument/2006/relationships/customXml" Target="../../customXml/item3.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4.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6.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7.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8.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hyperlink" Target="https://data.worldbank.org/indicator/FD.AST.PRVT.GD.ZS?utm_source=chatgpt.com" TargetMode="External"/><Relationship Id="rId3" Type="http://schemas.openxmlformats.org/officeDocument/2006/relationships/oleObject" Target="../embeddings/oleObject4.bin"/><Relationship Id="rId7" Type="http://schemas.openxmlformats.org/officeDocument/2006/relationships/hyperlink" Target="https://data.worldbank.org/indicator/CM.MKT.LCAP.GD.ZS?utm_source=chatgpt.com" TargetMode="External"/><Relationship Id="rId2" Type="http://schemas.openxmlformats.org/officeDocument/2006/relationships/slideLayout" Target="../slideLayouts/slideLayout11.xml"/><Relationship Id="rId1" Type="http://schemas.openxmlformats.org/officeDocument/2006/relationships/tags" Target="../tags/tag9.xml"/><Relationship Id="rId6" Type="http://schemas.openxmlformats.org/officeDocument/2006/relationships/hyperlink" Target="https://www.census.gov/data-tools/demo/idb/#/dashboard?dashboard_page=country&amp;COUNTRY_YR_ANIM=2026" TargetMode="External"/><Relationship Id="rId11" Type="http://schemas.openxmlformats.org/officeDocument/2006/relationships/hyperlink" Target="https://databank.worldbank.org/source/global-financial-development/Series/GFDD.DI.13" TargetMode="External"/><Relationship Id="rId5" Type="http://schemas.openxmlformats.org/officeDocument/2006/relationships/hyperlink" Target="https://data.worldbank.org/indicator/SP.POP.65UP.TO.ZS" TargetMode="External"/><Relationship Id="rId10" Type="http://schemas.openxmlformats.org/officeDocument/2006/relationships/image" Target="../media/image5.png"/><Relationship Id="rId4" Type="http://schemas.openxmlformats.org/officeDocument/2006/relationships/image" Target="../media/image1.emf"/><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11.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2.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hyperlink" Target="https://ec.europa.eu/eurostat/databrowser/view/tespm100__custom_20473233/default/table" TargetMode="External"/><Relationship Id="rId7" Type="http://schemas.openxmlformats.org/officeDocument/2006/relationships/hyperlink" Target="https://www.oecd.org/content/dam/oecd/en/publications/reports/2009/09/pensions-at-a-glance-2009_g1ghab79/pension_glance-2009-en.pdf" TargetMode="External"/><Relationship Id="rId2" Type="http://schemas.openxmlformats.org/officeDocument/2006/relationships/image" Target="../media/image7.png"/><Relationship Id="rId1" Type="http://schemas.openxmlformats.org/officeDocument/2006/relationships/slideLayout" Target="../slideLayouts/slideLayout11.xml"/><Relationship Id="rId6" Type="http://schemas.openxmlformats.org/officeDocument/2006/relationships/hyperlink" Target="https://www.oecd.org/content/dam/oecd/en/publications/reports/2011/03/pensions-at-a-glance-2011_g1g12126/pension_glance-2011-en.pdf" TargetMode="External"/><Relationship Id="rId5" Type="http://schemas.openxmlformats.org/officeDocument/2006/relationships/hyperlink" Target="https://www.oecd.org/content/dam/oecd/en/publications/reports/2012/06/oecd-pensions-outlook-2012_g1g1aeb6/9789264169401-en.pdf" TargetMode="External"/><Relationship Id="rId4" Type="http://schemas.openxmlformats.org/officeDocument/2006/relationships/hyperlink" Target="https://www.oecd.org/content/dam/oecd/en/publications/reports/2013/11/pensions-at-a-glance-2013_g1g3404e/pension_glance-2013-en.pdf" TargetMode="Externa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13.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4.xml"/><Relationship Id="rId5" Type="http://schemas.openxmlformats.org/officeDocument/2006/relationships/image" Target="../media/image8.png"/><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B148-A860-ECBA-2ED8-01762B0228B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F70F8C0-1CD5-3F78-623F-DE23DD2564F6}"/>
              </a:ext>
            </a:extLst>
          </p:cNvPr>
          <p:cNvGraphicFramePr>
            <a:graphicFrameLocks/>
          </p:cNvGraphicFramePr>
          <p:nvPr>
            <p:custDataLst>
              <p:tags r:id="rId3"/>
            </p:custDataLst>
            <p:extLst>
              <p:ext uri="{D42A27DB-BD31-4B8C-83A1-F6EECF244321}">
                <p14:modId xmlns:p14="http://schemas.microsoft.com/office/powerpoint/2010/main" val="1772113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4" name="think-cell data - do not delete" hidden="1">
                        <a:extLst>
                          <a:ext uri="{FF2B5EF4-FFF2-40B4-BE49-F238E27FC236}">
                            <a16:creationId xmlns:a16="http://schemas.microsoft.com/office/drawing/2014/main" id="{3F70F8C0-1CD5-3F78-623F-DE23DD2564F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80DA267-FE76-AC4A-F116-66E2ADC23EA2}"/>
              </a:ext>
            </a:extLst>
          </p:cNvPr>
          <p:cNvSpPr>
            <a:spLocks noGrp="1"/>
          </p:cNvSpPr>
          <p:nvPr>
            <p:ph type="title"/>
          </p:nvPr>
        </p:nvSpPr>
        <p:spPr>
          <a:xfrm>
            <a:off x="827015" y="1098178"/>
            <a:ext cx="7958210" cy="1792800"/>
          </a:xfrm>
        </p:spPr>
        <p:txBody>
          <a:bodyPr vert="horz" rIns="0"/>
          <a:lstStyle/>
          <a:p>
            <a:r>
              <a:rPr lang="de-LI" dirty="0"/>
              <a:t>Research Seminar – Question Suggestion in Financial Institutions</a:t>
            </a:r>
            <a:endParaRPr lang="en-GB" dirty="0"/>
          </a:p>
        </p:txBody>
      </p:sp>
      <p:sp>
        <p:nvSpPr>
          <p:cNvPr id="3" name="Text Placeholder 2">
            <a:extLst>
              <a:ext uri="{FF2B5EF4-FFF2-40B4-BE49-F238E27FC236}">
                <a16:creationId xmlns:a16="http://schemas.microsoft.com/office/drawing/2014/main" id="{18DB647C-51AF-7D10-406E-85F1508DE80F}"/>
              </a:ext>
            </a:extLst>
          </p:cNvPr>
          <p:cNvSpPr>
            <a:spLocks noGrp="1"/>
          </p:cNvSpPr>
          <p:nvPr>
            <p:ph type="body" sz="quarter" idx="10"/>
          </p:nvPr>
        </p:nvSpPr>
        <p:spPr>
          <a:xfrm>
            <a:off x="831027" y="3123868"/>
            <a:ext cx="3650486" cy="1356057"/>
          </a:xfrm>
        </p:spPr>
        <p:txBody>
          <a:bodyPr/>
          <a:lstStyle/>
          <a:p>
            <a:r>
              <a:rPr lang="en-GB" dirty="0"/>
              <a:t>St.Gallen, </a:t>
            </a:r>
            <a:r>
              <a:rPr lang="de-LI" dirty="0"/>
              <a:t>11th March 2026</a:t>
            </a:r>
            <a:endParaRPr lang="en-GB" dirty="0"/>
          </a:p>
        </p:txBody>
      </p:sp>
    </p:spTree>
    <p:custDataLst>
      <p:custData r:id="rId1"/>
      <p:custData r:id="rId2"/>
    </p:custDataLst>
    <p:extLst>
      <p:ext uri="{BB962C8B-B14F-4D97-AF65-F5344CB8AC3E}">
        <p14:creationId xmlns:p14="http://schemas.microsoft.com/office/powerpoint/2010/main" val="2598718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A628-B905-8D22-0295-7AF765D1E5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7DFFB23-4C37-E815-4A9C-7CAE2C4165EA}"/>
              </a:ext>
            </a:extLst>
          </p:cNvPr>
          <p:cNvGraphicFramePr>
            <a:graphicFrameLocks/>
          </p:cNvGraphicFramePr>
          <p:nvPr>
            <p:custDataLst>
              <p:tags r:id="rId1"/>
            </p:custDataLst>
            <p:extLst>
              <p:ext uri="{D42A27DB-BD31-4B8C-83A1-F6EECF244321}">
                <p14:modId xmlns:p14="http://schemas.microsoft.com/office/powerpoint/2010/main" val="117878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37DFFB23-4C37-E815-4A9C-7CAE2C4165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E246792-BAF2-99E5-1C72-12F358394AEF}"/>
              </a:ext>
            </a:extLst>
          </p:cNvPr>
          <p:cNvSpPr>
            <a:spLocks noGrp="1"/>
          </p:cNvSpPr>
          <p:nvPr>
            <p:ph type="title"/>
          </p:nvPr>
        </p:nvSpPr>
        <p:spPr/>
        <p:txBody>
          <a:bodyPr vert="horz" rIns="0"/>
          <a:lstStyle/>
          <a:p>
            <a:r>
              <a:rPr lang="de-LI" dirty="0"/>
              <a:t>Proposed research question &amp; hypotheses</a:t>
            </a:r>
          </a:p>
        </p:txBody>
      </p:sp>
      <p:sp>
        <p:nvSpPr>
          <p:cNvPr id="3" name="Slide Number Placeholder 2">
            <a:extLst>
              <a:ext uri="{FF2B5EF4-FFF2-40B4-BE49-F238E27FC236}">
                <a16:creationId xmlns:a16="http://schemas.microsoft.com/office/drawing/2014/main" id="{0C22791F-8E99-917F-09C5-C3713F6E5B06}"/>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2</a:t>
            </a:fld>
            <a:endParaRPr lang="en-GB"/>
          </a:p>
        </p:txBody>
      </p:sp>
      <p:sp>
        <p:nvSpPr>
          <p:cNvPr id="5" name="TextBox 4">
            <a:extLst>
              <a:ext uri="{FF2B5EF4-FFF2-40B4-BE49-F238E27FC236}">
                <a16:creationId xmlns:a16="http://schemas.microsoft.com/office/drawing/2014/main" id="{22F9D5DE-8D30-2E2C-716F-9C0D4BC46E6F}"/>
              </a:ext>
            </a:extLst>
          </p:cNvPr>
          <p:cNvSpPr txBox="1"/>
          <p:nvPr/>
        </p:nvSpPr>
        <p:spPr>
          <a:xfrm>
            <a:off x="2656632" y="1033562"/>
            <a:ext cx="5404624" cy="307777"/>
          </a:xfrm>
          <a:prstGeom prst="rect">
            <a:avLst/>
          </a:prstGeom>
          <a:noFill/>
        </p:spPr>
        <p:txBody>
          <a:bodyPr wrap="square" rtlCol="0">
            <a:spAutoFit/>
          </a:bodyPr>
          <a:lstStyle/>
          <a:p>
            <a:r>
              <a:rPr lang="en-GB" sz="1400" i="1" dirty="0"/>
              <a:t>Do demographics affect bank funding?</a:t>
            </a:r>
          </a:p>
        </p:txBody>
      </p:sp>
      <p:sp>
        <p:nvSpPr>
          <p:cNvPr id="6" name="TextBox 5">
            <a:extLst>
              <a:ext uri="{FF2B5EF4-FFF2-40B4-BE49-F238E27FC236}">
                <a16:creationId xmlns:a16="http://schemas.microsoft.com/office/drawing/2014/main" id="{8B60FAF3-B3A3-AB14-E29C-A7C3B3ADEC33}"/>
              </a:ext>
            </a:extLst>
          </p:cNvPr>
          <p:cNvSpPr txBox="1"/>
          <p:nvPr/>
        </p:nvSpPr>
        <p:spPr>
          <a:xfrm>
            <a:off x="2656632" y="1571233"/>
            <a:ext cx="5404624" cy="523220"/>
          </a:xfrm>
          <a:prstGeom prst="rect">
            <a:avLst/>
          </a:prstGeom>
          <a:noFill/>
        </p:spPr>
        <p:txBody>
          <a:bodyPr wrap="square" rtlCol="0">
            <a:spAutoFit/>
          </a:bodyPr>
          <a:lstStyle/>
          <a:p>
            <a:r>
              <a:rPr lang="en-US" sz="1400" dirty="0"/>
              <a:t>Population Aging and Bank Deposit Funding:</a:t>
            </a:r>
            <a:br>
              <a:rPr lang="en-US" sz="1400" dirty="0"/>
            </a:br>
            <a:r>
              <a:rPr lang="en-US" sz="1400" dirty="0"/>
              <a:t>The Role of Financial System Structure</a:t>
            </a:r>
            <a:endParaRPr lang="en-GB" sz="1400" i="1" dirty="0"/>
          </a:p>
        </p:txBody>
      </p:sp>
      <p:sp>
        <p:nvSpPr>
          <p:cNvPr id="7" name="TextBox 6">
            <a:extLst>
              <a:ext uri="{FF2B5EF4-FFF2-40B4-BE49-F238E27FC236}">
                <a16:creationId xmlns:a16="http://schemas.microsoft.com/office/drawing/2014/main" id="{F41A0D64-2157-56F9-7708-46C2D09B5BA9}"/>
              </a:ext>
            </a:extLst>
          </p:cNvPr>
          <p:cNvSpPr txBox="1"/>
          <p:nvPr/>
        </p:nvSpPr>
        <p:spPr>
          <a:xfrm>
            <a:off x="691375" y="1033562"/>
            <a:ext cx="1735874" cy="523220"/>
          </a:xfrm>
          <a:prstGeom prst="rect">
            <a:avLst/>
          </a:prstGeom>
          <a:noFill/>
        </p:spPr>
        <p:txBody>
          <a:bodyPr wrap="square" rtlCol="0">
            <a:spAutoFit/>
          </a:bodyPr>
          <a:lstStyle/>
          <a:p>
            <a:r>
              <a:rPr lang="en-GB" sz="1400" b="1" dirty="0">
                <a:solidFill>
                  <a:schemeClr val="accent1"/>
                </a:solidFill>
              </a:rPr>
              <a:t>Generic question</a:t>
            </a:r>
            <a:br>
              <a:rPr lang="en-GB" sz="1400" b="1" dirty="0">
                <a:solidFill>
                  <a:schemeClr val="accent1"/>
                </a:solidFill>
              </a:rPr>
            </a:br>
            <a:r>
              <a:rPr lang="en-GB" sz="1400" dirty="0">
                <a:solidFill>
                  <a:schemeClr val="accent1"/>
                </a:solidFill>
              </a:rPr>
              <a:t>(allocated)</a:t>
            </a:r>
          </a:p>
        </p:txBody>
      </p:sp>
      <p:sp>
        <p:nvSpPr>
          <p:cNvPr id="9" name="TextBox 8">
            <a:extLst>
              <a:ext uri="{FF2B5EF4-FFF2-40B4-BE49-F238E27FC236}">
                <a16:creationId xmlns:a16="http://schemas.microsoft.com/office/drawing/2014/main" id="{A03581C9-6A06-5757-5515-2A9CD68F1D97}"/>
              </a:ext>
            </a:extLst>
          </p:cNvPr>
          <p:cNvSpPr txBox="1"/>
          <p:nvPr/>
        </p:nvSpPr>
        <p:spPr>
          <a:xfrm>
            <a:off x="691375" y="1571233"/>
            <a:ext cx="1735874" cy="523220"/>
          </a:xfrm>
          <a:prstGeom prst="rect">
            <a:avLst/>
          </a:prstGeom>
          <a:noFill/>
        </p:spPr>
        <p:txBody>
          <a:bodyPr wrap="square" rtlCol="0">
            <a:spAutoFit/>
          </a:bodyPr>
          <a:lstStyle/>
          <a:p>
            <a:r>
              <a:rPr lang="en-GB" sz="1400" b="1" dirty="0">
                <a:solidFill>
                  <a:schemeClr val="accent1"/>
                </a:solidFill>
              </a:rPr>
              <a:t>Specific question</a:t>
            </a:r>
            <a:br>
              <a:rPr lang="en-GB" sz="1400" b="1" dirty="0">
                <a:solidFill>
                  <a:schemeClr val="accent1"/>
                </a:solidFill>
              </a:rPr>
            </a:br>
            <a:r>
              <a:rPr lang="en-GB" sz="1400" dirty="0">
                <a:solidFill>
                  <a:schemeClr val="accent1"/>
                </a:solidFill>
              </a:rPr>
              <a:t>(to be defined)</a:t>
            </a:r>
          </a:p>
        </p:txBody>
      </p:sp>
      <p:sp>
        <p:nvSpPr>
          <p:cNvPr id="13" name="TextBox 12">
            <a:extLst>
              <a:ext uri="{FF2B5EF4-FFF2-40B4-BE49-F238E27FC236}">
                <a16:creationId xmlns:a16="http://schemas.microsoft.com/office/drawing/2014/main" id="{0D2FAFB4-7C71-863F-413A-872ABE7526F6}"/>
              </a:ext>
            </a:extLst>
          </p:cNvPr>
          <p:cNvSpPr txBox="1"/>
          <p:nvPr/>
        </p:nvSpPr>
        <p:spPr>
          <a:xfrm>
            <a:off x="683940" y="3050153"/>
            <a:ext cx="1735874" cy="307777"/>
          </a:xfrm>
          <a:prstGeom prst="rect">
            <a:avLst/>
          </a:prstGeom>
          <a:noFill/>
        </p:spPr>
        <p:txBody>
          <a:bodyPr wrap="square" rtlCol="0">
            <a:spAutoFit/>
          </a:bodyPr>
          <a:lstStyle/>
          <a:p>
            <a:r>
              <a:rPr lang="en-GB" sz="1400" b="1" dirty="0">
                <a:solidFill>
                  <a:schemeClr val="accent1"/>
                </a:solidFill>
              </a:rPr>
              <a:t>Hypotheses</a:t>
            </a:r>
          </a:p>
        </p:txBody>
      </p:sp>
      <p:sp>
        <p:nvSpPr>
          <p:cNvPr id="14" name="TextBox 13">
            <a:extLst>
              <a:ext uri="{FF2B5EF4-FFF2-40B4-BE49-F238E27FC236}">
                <a16:creationId xmlns:a16="http://schemas.microsoft.com/office/drawing/2014/main" id="{E7256112-E54B-10D8-40BE-DA2FC7AA814E}"/>
              </a:ext>
            </a:extLst>
          </p:cNvPr>
          <p:cNvSpPr txBox="1"/>
          <p:nvPr/>
        </p:nvSpPr>
        <p:spPr>
          <a:xfrm>
            <a:off x="2649197" y="3050153"/>
            <a:ext cx="5706783" cy="1169551"/>
          </a:xfrm>
          <a:prstGeom prst="rect">
            <a:avLst/>
          </a:prstGeom>
          <a:noFill/>
        </p:spPr>
        <p:txBody>
          <a:bodyPr wrap="square" rtlCol="0">
            <a:spAutoFit/>
          </a:bodyPr>
          <a:lstStyle/>
          <a:p>
            <a:r>
              <a:rPr lang="en-GB" sz="1400" b="1" i="1" dirty="0"/>
              <a:t>H1:</a:t>
            </a:r>
            <a:r>
              <a:rPr lang="en-GB" sz="1400" i="1" dirty="0"/>
              <a:t> </a:t>
            </a:r>
            <a:r>
              <a:rPr lang="en-US" sz="1400" i="1" dirty="0"/>
              <a:t>The positive effect of population aging on retail deposit funding is stronger in </a:t>
            </a:r>
            <a:r>
              <a:rPr lang="en-US" sz="1400" b="1" i="1" dirty="0"/>
              <a:t>bank-based</a:t>
            </a:r>
            <a:r>
              <a:rPr lang="en-US" sz="1400" i="1" dirty="0"/>
              <a:t> financial systems than in </a:t>
            </a:r>
            <a:r>
              <a:rPr lang="en-US" sz="1400" b="1" i="1" dirty="0"/>
              <a:t>market-based</a:t>
            </a:r>
            <a:r>
              <a:rPr lang="en-US" sz="1400" i="1" dirty="0"/>
              <a:t> financial systems</a:t>
            </a:r>
          </a:p>
          <a:p>
            <a:endParaRPr lang="en-GB" sz="1400" i="1" dirty="0"/>
          </a:p>
          <a:p>
            <a:r>
              <a:rPr lang="en-GB" sz="1400" b="1" i="1" dirty="0"/>
              <a:t>H2:</a:t>
            </a:r>
            <a:r>
              <a:rPr lang="en-GB" sz="1400" i="1" dirty="0"/>
              <a:t> </a:t>
            </a:r>
            <a:r>
              <a:rPr lang="en-US" sz="1400" i="1" dirty="0"/>
              <a:t>A higher share of the very old population (85+) is associated with higher retail deposit funding, regardless of the financial system structure</a:t>
            </a:r>
          </a:p>
        </p:txBody>
      </p:sp>
      <p:cxnSp>
        <p:nvCxnSpPr>
          <p:cNvPr id="16" name="Straight Connector 15">
            <a:extLst>
              <a:ext uri="{FF2B5EF4-FFF2-40B4-BE49-F238E27FC236}">
                <a16:creationId xmlns:a16="http://schemas.microsoft.com/office/drawing/2014/main" id="{E015440E-AD03-CDB5-99C7-FBC3EBB42BB8}"/>
              </a:ext>
            </a:extLst>
          </p:cNvPr>
          <p:cNvCxnSpPr>
            <a:cxnSpLocks/>
          </p:cNvCxnSpPr>
          <p:nvPr/>
        </p:nvCxnSpPr>
        <p:spPr>
          <a:xfrm>
            <a:off x="788019" y="2571750"/>
            <a:ext cx="7567961" cy="0"/>
          </a:xfrm>
          <a:prstGeom prst="line">
            <a:avLst/>
          </a:prstGeom>
          <a:ln>
            <a:prstDash val="dash"/>
          </a:ln>
        </p:spPr>
        <p:style>
          <a:lnRef idx="1">
            <a:schemeClr val="dk1"/>
          </a:lnRef>
          <a:fillRef idx="0">
            <a:schemeClr val="dk1"/>
          </a:fillRef>
          <a:effectRef idx="0">
            <a:schemeClr val="dk1"/>
          </a:effectRef>
          <a:fontRef idx="minor">
            <a:schemeClr val="tx1"/>
          </a:fontRef>
        </p:style>
      </p:cxnSp>
      <p:grpSp>
        <p:nvGrpSpPr>
          <p:cNvPr id="18" name="Down arrow">
            <a:extLst>
              <a:ext uri="{FF2B5EF4-FFF2-40B4-BE49-F238E27FC236}">
                <a16:creationId xmlns:a16="http://schemas.microsoft.com/office/drawing/2014/main" id="{22781C76-7737-F7E0-406C-AE13C693ADD4}"/>
              </a:ext>
            </a:extLst>
          </p:cNvPr>
          <p:cNvGrpSpPr>
            <a:grpSpLocks noChangeAspect="1"/>
          </p:cNvGrpSpPr>
          <p:nvPr/>
        </p:nvGrpSpPr>
        <p:grpSpPr>
          <a:xfrm rot="10800000" flipV="1">
            <a:off x="4402962" y="2402713"/>
            <a:ext cx="338074" cy="338074"/>
            <a:chOff x="1413494" y="4670360"/>
            <a:chExt cx="442162" cy="456033"/>
          </a:xfrm>
        </p:grpSpPr>
        <p:sp>
          <p:nvSpPr>
            <p:cNvPr id="19" name="Ellipse 69">
              <a:extLst>
                <a:ext uri="{FF2B5EF4-FFF2-40B4-BE49-F238E27FC236}">
                  <a16:creationId xmlns:a16="http://schemas.microsoft.com/office/drawing/2014/main" id="{634D9E76-3793-E6DB-86CD-2D7837F7B13E}"/>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i="0" u="none" strike="noStrike" cap="none" normalizeH="0" baseline="0">
                <a:ln>
                  <a:noFill/>
                </a:ln>
                <a:solidFill>
                  <a:schemeClr val="accent2"/>
                </a:solidFill>
                <a:effectLst/>
                <a:latin typeface="Lato" panose="020F0502020204030203" pitchFamily="34" charset="77"/>
              </a:endParaRPr>
            </a:p>
          </p:txBody>
        </p:sp>
        <p:sp>
          <p:nvSpPr>
            <p:cNvPr id="20" name="Flèche vers la droite 45">
              <a:extLst>
                <a:ext uri="{FF2B5EF4-FFF2-40B4-BE49-F238E27FC236}">
                  <a16:creationId xmlns:a16="http://schemas.microsoft.com/office/drawing/2014/main" id="{C23C2D03-E673-615D-7BF4-08ACC7F4129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i="0" u="none" strike="noStrike" cap="none" normalizeH="0" baseline="0">
                <a:ln>
                  <a:noFill/>
                </a:ln>
                <a:solidFill>
                  <a:schemeClr val="accent2"/>
                </a:solidFill>
                <a:effectLst/>
                <a:latin typeface="Lato" panose="020F0502020204030203" pitchFamily="34" charset="77"/>
              </a:endParaRPr>
            </a:p>
          </p:txBody>
        </p:sp>
      </p:grpSp>
    </p:spTree>
    <p:extLst>
      <p:ext uri="{BB962C8B-B14F-4D97-AF65-F5344CB8AC3E}">
        <p14:creationId xmlns:p14="http://schemas.microsoft.com/office/powerpoint/2010/main" val="19055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1623-87D2-2016-7BF6-A6EBCDC0FDD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9CB0C3B-E310-AB56-0AB1-3C782CB83BD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29CB0C3B-E310-AB56-0AB1-3C782CB83B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D6679A7-6F32-7F71-90F2-C71638D472F2}"/>
              </a:ext>
            </a:extLst>
          </p:cNvPr>
          <p:cNvSpPr>
            <a:spLocks noGrp="1"/>
          </p:cNvSpPr>
          <p:nvPr>
            <p:ph type="title"/>
          </p:nvPr>
        </p:nvSpPr>
        <p:spPr/>
        <p:txBody>
          <a:bodyPr vert="horz" rIns="0"/>
          <a:lstStyle/>
          <a:p>
            <a:r>
              <a:rPr lang="de-LI" dirty="0"/>
              <a:t>Overview of the economic intuition</a:t>
            </a:r>
          </a:p>
        </p:txBody>
      </p:sp>
      <p:sp>
        <p:nvSpPr>
          <p:cNvPr id="3" name="Slide Number Placeholder 2">
            <a:extLst>
              <a:ext uri="{FF2B5EF4-FFF2-40B4-BE49-F238E27FC236}">
                <a16:creationId xmlns:a16="http://schemas.microsoft.com/office/drawing/2014/main" id="{47AEF1E4-BDE0-0A34-61D3-E2B942F06AAA}"/>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3</a:t>
            </a:fld>
            <a:endParaRPr lang="en-GB"/>
          </a:p>
        </p:txBody>
      </p:sp>
      <p:sp>
        <p:nvSpPr>
          <p:cNvPr id="13" name="TextBox 12">
            <a:extLst>
              <a:ext uri="{FF2B5EF4-FFF2-40B4-BE49-F238E27FC236}">
                <a16:creationId xmlns:a16="http://schemas.microsoft.com/office/drawing/2014/main" id="{33E841A1-68B6-CEEC-FAA2-58C4B5B16CBD}"/>
              </a:ext>
            </a:extLst>
          </p:cNvPr>
          <p:cNvSpPr txBox="1"/>
          <p:nvPr/>
        </p:nvSpPr>
        <p:spPr>
          <a:xfrm>
            <a:off x="276922" y="1134688"/>
            <a:ext cx="854927" cy="261610"/>
          </a:xfrm>
          <a:prstGeom prst="rect">
            <a:avLst/>
          </a:prstGeom>
          <a:noFill/>
        </p:spPr>
        <p:txBody>
          <a:bodyPr wrap="square" rtlCol="0">
            <a:spAutoFit/>
          </a:bodyPr>
          <a:lstStyle/>
          <a:p>
            <a:r>
              <a:rPr lang="en-GB" sz="1100" b="1" dirty="0">
                <a:solidFill>
                  <a:schemeClr val="accent1"/>
                </a:solidFill>
              </a:rPr>
              <a:t>H1</a:t>
            </a:r>
            <a:endParaRPr lang="en-GB" sz="1100" dirty="0">
              <a:solidFill>
                <a:schemeClr val="accent1"/>
              </a:solidFill>
            </a:endParaRPr>
          </a:p>
        </p:txBody>
      </p:sp>
      <p:sp>
        <p:nvSpPr>
          <p:cNvPr id="14" name="TextBox 13">
            <a:extLst>
              <a:ext uri="{FF2B5EF4-FFF2-40B4-BE49-F238E27FC236}">
                <a16:creationId xmlns:a16="http://schemas.microsoft.com/office/drawing/2014/main" id="{2AAA8B21-42D6-950F-8D03-1ACF33505DB9}"/>
              </a:ext>
            </a:extLst>
          </p:cNvPr>
          <p:cNvSpPr txBox="1"/>
          <p:nvPr/>
        </p:nvSpPr>
        <p:spPr>
          <a:xfrm>
            <a:off x="276922" y="2956880"/>
            <a:ext cx="854927" cy="261610"/>
          </a:xfrm>
          <a:prstGeom prst="rect">
            <a:avLst/>
          </a:prstGeom>
          <a:noFill/>
        </p:spPr>
        <p:txBody>
          <a:bodyPr wrap="square" rtlCol="0">
            <a:spAutoFit/>
          </a:bodyPr>
          <a:lstStyle/>
          <a:p>
            <a:r>
              <a:rPr lang="en-GB" sz="1100" b="1" dirty="0">
                <a:solidFill>
                  <a:schemeClr val="accent1"/>
                </a:solidFill>
              </a:rPr>
              <a:t>H2</a:t>
            </a:r>
            <a:endParaRPr lang="en-GB" sz="1100" dirty="0">
              <a:solidFill>
                <a:schemeClr val="accent1"/>
              </a:solidFill>
            </a:endParaRPr>
          </a:p>
        </p:txBody>
      </p:sp>
      <p:sp>
        <p:nvSpPr>
          <p:cNvPr id="5" name="TextBox 4">
            <a:extLst>
              <a:ext uri="{FF2B5EF4-FFF2-40B4-BE49-F238E27FC236}">
                <a16:creationId xmlns:a16="http://schemas.microsoft.com/office/drawing/2014/main" id="{E1358DAF-E46C-5C16-7180-0B9DD568C128}"/>
              </a:ext>
            </a:extLst>
          </p:cNvPr>
          <p:cNvSpPr txBox="1"/>
          <p:nvPr/>
        </p:nvSpPr>
        <p:spPr>
          <a:xfrm>
            <a:off x="1107689" y="2956880"/>
            <a:ext cx="1196898" cy="1615827"/>
          </a:xfrm>
          <a:prstGeom prst="rect">
            <a:avLst/>
          </a:prstGeom>
          <a:noFill/>
        </p:spPr>
        <p:txBody>
          <a:bodyPr wrap="square" rtlCol="0">
            <a:spAutoFit/>
          </a:bodyPr>
          <a:lstStyle/>
          <a:p>
            <a:r>
              <a:rPr lang="en-GB" sz="1100" dirty="0"/>
              <a:t>Very old households face estate planning; want to simplify portfolios, ensure liquidity for healthcare costs, make inheritance easier</a:t>
            </a:r>
          </a:p>
        </p:txBody>
      </p:sp>
      <p:sp>
        <p:nvSpPr>
          <p:cNvPr id="7" name="TextBox 6">
            <a:extLst>
              <a:ext uri="{FF2B5EF4-FFF2-40B4-BE49-F238E27FC236}">
                <a16:creationId xmlns:a16="http://schemas.microsoft.com/office/drawing/2014/main" id="{B3A36AB4-0B4A-DBBB-7361-6010FA57B29D}"/>
              </a:ext>
            </a:extLst>
          </p:cNvPr>
          <p:cNvSpPr txBox="1"/>
          <p:nvPr/>
        </p:nvSpPr>
        <p:spPr>
          <a:xfrm>
            <a:off x="2727848" y="2956880"/>
            <a:ext cx="1196898" cy="1107996"/>
          </a:xfrm>
          <a:prstGeom prst="rect">
            <a:avLst/>
          </a:prstGeom>
          <a:noFill/>
        </p:spPr>
        <p:txBody>
          <a:bodyPr wrap="square" rtlCol="0">
            <a:spAutoFit/>
          </a:bodyPr>
          <a:lstStyle/>
          <a:p>
            <a:r>
              <a:rPr lang="en-GB" sz="1100" dirty="0"/>
              <a:t>Complex assets (e.g., stocks, funds, private investments, …) are gradually liquidated</a:t>
            </a:r>
          </a:p>
        </p:txBody>
      </p:sp>
      <p:sp>
        <p:nvSpPr>
          <p:cNvPr id="9" name="TextBox 8">
            <a:extLst>
              <a:ext uri="{FF2B5EF4-FFF2-40B4-BE49-F238E27FC236}">
                <a16:creationId xmlns:a16="http://schemas.microsoft.com/office/drawing/2014/main" id="{D23E1E16-E0E1-29FE-A2A2-816499CBE3B2}"/>
              </a:ext>
            </a:extLst>
          </p:cNvPr>
          <p:cNvSpPr txBox="1"/>
          <p:nvPr/>
        </p:nvSpPr>
        <p:spPr>
          <a:xfrm>
            <a:off x="4348007" y="2956880"/>
            <a:ext cx="1196898" cy="938719"/>
          </a:xfrm>
          <a:prstGeom prst="rect">
            <a:avLst/>
          </a:prstGeom>
          <a:noFill/>
        </p:spPr>
        <p:txBody>
          <a:bodyPr wrap="square" rtlCol="0">
            <a:spAutoFit/>
          </a:bodyPr>
          <a:lstStyle/>
          <a:p>
            <a:r>
              <a:rPr lang="en-GB" sz="1100" dirty="0"/>
              <a:t>Wealth moves into the simplest liquid accounts (i.e., bank deposits)</a:t>
            </a:r>
          </a:p>
        </p:txBody>
      </p:sp>
      <p:grpSp>
        <p:nvGrpSpPr>
          <p:cNvPr id="11" name="Down arrow">
            <a:extLst>
              <a:ext uri="{FF2B5EF4-FFF2-40B4-BE49-F238E27FC236}">
                <a16:creationId xmlns:a16="http://schemas.microsoft.com/office/drawing/2014/main" id="{0909B879-8EB9-22E8-3BC8-E0736DD06368}"/>
              </a:ext>
            </a:extLst>
          </p:cNvPr>
          <p:cNvGrpSpPr>
            <a:grpSpLocks noChangeAspect="1"/>
          </p:cNvGrpSpPr>
          <p:nvPr/>
        </p:nvGrpSpPr>
        <p:grpSpPr>
          <a:xfrm rot="5400000" flipV="1">
            <a:off x="2362547" y="3035647"/>
            <a:ext cx="307340" cy="307340"/>
            <a:chOff x="1413494" y="4670360"/>
            <a:chExt cx="442162" cy="456033"/>
          </a:xfrm>
        </p:grpSpPr>
        <p:sp>
          <p:nvSpPr>
            <p:cNvPr id="12" name="Ellipse 69">
              <a:extLst>
                <a:ext uri="{FF2B5EF4-FFF2-40B4-BE49-F238E27FC236}">
                  <a16:creationId xmlns:a16="http://schemas.microsoft.com/office/drawing/2014/main" id="{7DA5453F-02D6-6DF6-18B2-9488153FB8F3}"/>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15" name="Flèche vers la droite 45">
              <a:extLst>
                <a:ext uri="{FF2B5EF4-FFF2-40B4-BE49-F238E27FC236}">
                  <a16:creationId xmlns:a16="http://schemas.microsoft.com/office/drawing/2014/main" id="{E2989131-786C-C4CF-2393-2F40E5C57A9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16" name="Down arrow">
            <a:extLst>
              <a:ext uri="{FF2B5EF4-FFF2-40B4-BE49-F238E27FC236}">
                <a16:creationId xmlns:a16="http://schemas.microsoft.com/office/drawing/2014/main" id="{9BDE0665-A531-2082-5B6C-E9FE0B74B842}"/>
              </a:ext>
            </a:extLst>
          </p:cNvPr>
          <p:cNvGrpSpPr>
            <a:grpSpLocks noChangeAspect="1"/>
          </p:cNvGrpSpPr>
          <p:nvPr/>
        </p:nvGrpSpPr>
        <p:grpSpPr>
          <a:xfrm rot="5400000" flipV="1">
            <a:off x="3982706" y="3035647"/>
            <a:ext cx="307340" cy="307340"/>
            <a:chOff x="1413494" y="4670360"/>
            <a:chExt cx="442162" cy="456033"/>
          </a:xfrm>
        </p:grpSpPr>
        <p:sp>
          <p:nvSpPr>
            <p:cNvPr id="19" name="Ellipse 69">
              <a:extLst>
                <a:ext uri="{FF2B5EF4-FFF2-40B4-BE49-F238E27FC236}">
                  <a16:creationId xmlns:a16="http://schemas.microsoft.com/office/drawing/2014/main" id="{5AD55213-E855-54E5-6F78-0A86D0BAB46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42" name="Flèche vers la droite 45">
              <a:extLst>
                <a:ext uri="{FF2B5EF4-FFF2-40B4-BE49-F238E27FC236}">
                  <a16:creationId xmlns:a16="http://schemas.microsoft.com/office/drawing/2014/main" id="{889AD119-D52D-284F-BE7B-E6D2CC257D3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cxnSp>
        <p:nvCxnSpPr>
          <p:cNvPr id="49" name="Straight Connector 48">
            <a:extLst>
              <a:ext uri="{FF2B5EF4-FFF2-40B4-BE49-F238E27FC236}">
                <a16:creationId xmlns:a16="http://schemas.microsoft.com/office/drawing/2014/main" id="{14C1D42D-3594-B77A-DC5C-831547E1F397}"/>
              </a:ext>
            </a:extLst>
          </p:cNvPr>
          <p:cNvCxnSpPr>
            <a:cxnSpLocks/>
          </p:cNvCxnSpPr>
          <p:nvPr/>
        </p:nvCxnSpPr>
        <p:spPr>
          <a:xfrm>
            <a:off x="358775" y="2720903"/>
            <a:ext cx="8426450"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007D5F33-E060-22C9-96A1-158115066B2D}"/>
              </a:ext>
            </a:extLst>
          </p:cNvPr>
          <p:cNvSpPr txBox="1"/>
          <p:nvPr/>
        </p:nvSpPr>
        <p:spPr>
          <a:xfrm>
            <a:off x="1107689" y="1130418"/>
            <a:ext cx="1196898" cy="1277273"/>
          </a:xfrm>
          <a:prstGeom prst="rect">
            <a:avLst/>
          </a:prstGeom>
          <a:noFill/>
        </p:spPr>
        <p:txBody>
          <a:bodyPr wrap="square" rtlCol="0">
            <a:spAutoFit/>
          </a:bodyPr>
          <a:lstStyle/>
          <a:p>
            <a:r>
              <a:rPr lang="en-GB" sz="1100" dirty="0"/>
              <a:t>Older households have lower risk tolerance due to shorter investment horizons</a:t>
            </a:r>
          </a:p>
        </p:txBody>
      </p:sp>
      <p:sp>
        <p:nvSpPr>
          <p:cNvPr id="53" name="TextBox 52">
            <a:extLst>
              <a:ext uri="{FF2B5EF4-FFF2-40B4-BE49-F238E27FC236}">
                <a16:creationId xmlns:a16="http://schemas.microsoft.com/office/drawing/2014/main" id="{7E566856-7BF8-9573-C9A9-83FEAC4C89CE}"/>
              </a:ext>
            </a:extLst>
          </p:cNvPr>
          <p:cNvSpPr txBox="1"/>
          <p:nvPr/>
        </p:nvSpPr>
        <p:spPr>
          <a:xfrm>
            <a:off x="2727848" y="1130418"/>
            <a:ext cx="1196898" cy="600164"/>
          </a:xfrm>
          <a:prstGeom prst="rect">
            <a:avLst/>
          </a:prstGeom>
          <a:noFill/>
        </p:spPr>
        <p:txBody>
          <a:bodyPr wrap="square" rtlCol="0">
            <a:spAutoFit/>
          </a:bodyPr>
          <a:lstStyle/>
          <a:p>
            <a:r>
              <a:rPr lang="en-GB" sz="1100" dirty="0"/>
              <a:t>Higher demand for safe assets as result</a:t>
            </a:r>
          </a:p>
        </p:txBody>
      </p:sp>
      <p:sp>
        <p:nvSpPr>
          <p:cNvPr id="54" name="TextBox 53">
            <a:extLst>
              <a:ext uri="{FF2B5EF4-FFF2-40B4-BE49-F238E27FC236}">
                <a16:creationId xmlns:a16="http://schemas.microsoft.com/office/drawing/2014/main" id="{C4BF5B29-E9E6-00EA-E3F9-E3E857EF7611}"/>
              </a:ext>
            </a:extLst>
          </p:cNvPr>
          <p:cNvSpPr txBox="1"/>
          <p:nvPr/>
        </p:nvSpPr>
        <p:spPr>
          <a:xfrm>
            <a:off x="5968166" y="1130418"/>
            <a:ext cx="1196898" cy="1446550"/>
          </a:xfrm>
          <a:prstGeom prst="rect">
            <a:avLst/>
          </a:prstGeom>
          <a:noFill/>
        </p:spPr>
        <p:txBody>
          <a:bodyPr wrap="square" rtlCol="0">
            <a:spAutoFit/>
          </a:bodyPr>
          <a:lstStyle/>
          <a:p>
            <a:r>
              <a:rPr lang="en-GB" sz="1100" b="1" dirty="0"/>
              <a:t>Bank-based: </a:t>
            </a:r>
            <a:r>
              <a:rPr lang="en-GB" sz="1100" dirty="0"/>
              <a:t>Safe assets = bank deposits</a:t>
            </a:r>
            <a:br>
              <a:rPr lang="en-GB" sz="1100" b="1" dirty="0"/>
            </a:br>
            <a:br>
              <a:rPr lang="en-GB" sz="1100" b="1" dirty="0"/>
            </a:br>
            <a:r>
              <a:rPr lang="en-GB" sz="1100" b="1" dirty="0"/>
              <a:t>Market-based: </a:t>
            </a:r>
            <a:r>
              <a:rPr lang="en-GB" sz="1100" dirty="0"/>
              <a:t>Safe assets = govt bonds, bond ETFS, …</a:t>
            </a:r>
          </a:p>
        </p:txBody>
      </p:sp>
      <p:sp>
        <p:nvSpPr>
          <p:cNvPr id="55" name="TextBox 54">
            <a:extLst>
              <a:ext uri="{FF2B5EF4-FFF2-40B4-BE49-F238E27FC236}">
                <a16:creationId xmlns:a16="http://schemas.microsoft.com/office/drawing/2014/main" id="{C1A713BE-348E-CE1E-0E9D-185BB46A1CB4}"/>
              </a:ext>
            </a:extLst>
          </p:cNvPr>
          <p:cNvSpPr txBox="1"/>
          <p:nvPr/>
        </p:nvSpPr>
        <p:spPr>
          <a:xfrm>
            <a:off x="4348007" y="1130418"/>
            <a:ext cx="1196898" cy="769441"/>
          </a:xfrm>
          <a:prstGeom prst="rect">
            <a:avLst/>
          </a:prstGeom>
          <a:noFill/>
        </p:spPr>
        <p:txBody>
          <a:bodyPr wrap="square" rtlCol="0">
            <a:spAutoFit/>
          </a:bodyPr>
          <a:lstStyle/>
          <a:p>
            <a:r>
              <a:rPr lang="en-GB" sz="1100" dirty="0"/>
              <a:t>Households rebalance portfolios toward low-risk assets</a:t>
            </a:r>
          </a:p>
        </p:txBody>
      </p:sp>
      <p:sp>
        <p:nvSpPr>
          <p:cNvPr id="56" name="TextBox 55">
            <a:extLst>
              <a:ext uri="{FF2B5EF4-FFF2-40B4-BE49-F238E27FC236}">
                <a16:creationId xmlns:a16="http://schemas.microsoft.com/office/drawing/2014/main" id="{48C4278F-2325-D9DC-39C9-BA216BE25D4E}"/>
              </a:ext>
            </a:extLst>
          </p:cNvPr>
          <p:cNvSpPr txBox="1"/>
          <p:nvPr/>
        </p:nvSpPr>
        <p:spPr>
          <a:xfrm>
            <a:off x="7588327" y="1130418"/>
            <a:ext cx="1196898" cy="1446550"/>
          </a:xfrm>
          <a:prstGeom prst="rect">
            <a:avLst/>
          </a:prstGeom>
          <a:noFill/>
        </p:spPr>
        <p:txBody>
          <a:bodyPr wrap="square" rtlCol="0">
            <a:spAutoFit/>
          </a:bodyPr>
          <a:lstStyle/>
          <a:p>
            <a:r>
              <a:rPr lang="en-US" sz="1100" dirty="0"/>
              <a:t>In bank-based systems: Deposits increase</a:t>
            </a:r>
            <a:br>
              <a:rPr lang="en-US" sz="1100" dirty="0"/>
            </a:br>
            <a:br>
              <a:rPr lang="en-US" sz="1100" dirty="0"/>
            </a:br>
            <a:r>
              <a:rPr lang="en-US" sz="1100" dirty="0"/>
              <a:t>In market-based systems: Deposits increase less or not at all</a:t>
            </a:r>
          </a:p>
        </p:txBody>
      </p:sp>
      <p:grpSp>
        <p:nvGrpSpPr>
          <p:cNvPr id="57" name="Down arrow">
            <a:extLst>
              <a:ext uri="{FF2B5EF4-FFF2-40B4-BE49-F238E27FC236}">
                <a16:creationId xmlns:a16="http://schemas.microsoft.com/office/drawing/2014/main" id="{5A86EA59-5D5D-B5FC-A0D8-5A28DDB6A4B2}"/>
              </a:ext>
            </a:extLst>
          </p:cNvPr>
          <p:cNvGrpSpPr>
            <a:grpSpLocks noChangeAspect="1"/>
          </p:cNvGrpSpPr>
          <p:nvPr/>
        </p:nvGrpSpPr>
        <p:grpSpPr>
          <a:xfrm rot="5400000" flipV="1">
            <a:off x="2362547" y="1169274"/>
            <a:ext cx="307340" cy="307340"/>
            <a:chOff x="1413494" y="4670360"/>
            <a:chExt cx="442162" cy="456033"/>
          </a:xfrm>
        </p:grpSpPr>
        <p:sp>
          <p:nvSpPr>
            <p:cNvPr id="58" name="Ellipse 69">
              <a:extLst>
                <a:ext uri="{FF2B5EF4-FFF2-40B4-BE49-F238E27FC236}">
                  <a16:creationId xmlns:a16="http://schemas.microsoft.com/office/drawing/2014/main" id="{F2BAF445-95FE-4E33-0DCD-187FD35EAC9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59" name="Flèche vers la droite 45">
              <a:extLst>
                <a:ext uri="{FF2B5EF4-FFF2-40B4-BE49-F238E27FC236}">
                  <a16:creationId xmlns:a16="http://schemas.microsoft.com/office/drawing/2014/main" id="{AB289334-6779-26C7-6B0A-9338BF4742C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0" name="Down arrow">
            <a:extLst>
              <a:ext uri="{FF2B5EF4-FFF2-40B4-BE49-F238E27FC236}">
                <a16:creationId xmlns:a16="http://schemas.microsoft.com/office/drawing/2014/main" id="{3DC532D4-0391-E36B-7D3F-801FAF11F8BD}"/>
              </a:ext>
            </a:extLst>
          </p:cNvPr>
          <p:cNvGrpSpPr>
            <a:grpSpLocks noChangeAspect="1"/>
          </p:cNvGrpSpPr>
          <p:nvPr/>
        </p:nvGrpSpPr>
        <p:grpSpPr>
          <a:xfrm rot="5400000" flipV="1">
            <a:off x="3982706" y="1169274"/>
            <a:ext cx="307340" cy="307340"/>
            <a:chOff x="1413494" y="4670360"/>
            <a:chExt cx="442162" cy="456033"/>
          </a:xfrm>
        </p:grpSpPr>
        <p:sp>
          <p:nvSpPr>
            <p:cNvPr id="61" name="Ellipse 69">
              <a:extLst>
                <a:ext uri="{FF2B5EF4-FFF2-40B4-BE49-F238E27FC236}">
                  <a16:creationId xmlns:a16="http://schemas.microsoft.com/office/drawing/2014/main" id="{9D18EF50-C3C0-2DF9-6032-038A300EEF2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2" name="Flèche vers la droite 45">
              <a:extLst>
                <a:ext uri="{FF2B5EF4-FFF2-40B4-BE49-F238E27FC236}">
                  <a16:creationId xmlns:a16="http://schemas.microsoft.com/office/drawing/2014/main" id="{D2FF3705-3AEA-F61D-DAA1-08D57AC97176}"/>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3" name="Down arrow">
            <a:extLst>
              <a:ext uri="{FF2B5EF4-FFF2-40B4-BE49-F238E27FC236}">
                <a16:creationId xmlns:a16="http://schemas.microsoft.com/office/drawing/2014/main" id="{F3CC6FB9-5BC4-5FA8-F33F-F998433F8377}"/>
              </a:ext>
            </a:extLst>
          </p:cNvPr>
          <p:cNvGrpSpPr>
            <a:grpSpLocks noChangeAspect="1"/>
          </p:cNvGrpSpPr>
          <p:nvPr/>
        </p:nvGrpSpPr>
        <p:grpSpPr>
          <a:xfrm rot="5400000" flipV="1">
            <a:off x="5602865" y="1169274"/>
            <a:ext cx="307340" cy="307340"/>
            <a:chOff x="1413494" y="4670360"/>
            <a:chExt cx="442162" cy="456033"/>
          </a:xfrm>
        </p:grpSpPr>
        <p:sp>
          <p:nvSpPr>
            <p:cNvPr id="64" name="Ellipse 69">
              <a:extLst>
                <a:ext uri="{FF2B5EF4-FFF2-40B4-BE49-F238E27FC236}">
                  <a16:creationId xmlns:a16="http://schemas.microsoft.com/office/drawing/2014/main" id="{D3A4B153-102C-7258-267B-7CCF289F60E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5" name="Flèche vers la droite 45">
              <a:extLst>
                <a:ext uri="{FF2B5EF4-FFF2-40B4-BE49-F238E27FC236}">
                  <a16:creationId xmlns:a16="http://schemas.microsoft.com/office/drawing/2014/main" id="{7C101E6A-A18F-2405-89EB-A1B5540DB24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6" name="Down arrow">
            <a:extLst>
              <a:ext uri="{FF2B5EF4-FFF2-40B4-BE49-F238E27FC236}">
                <a16:creationId xmlns:a16="http://schemas.microsoft.com/office/drawing/2014/main" id="{C1608F51-425D-A377-AF53-A0BB78C419AA}"/>
              </a:ext>
            </a:extLst>
          </p:cNvPr>
          <p:cNvGrpSpPr>
            <a:grpSpLocks noChangeAspect="1"/>
          </p:cNvGrpSpPr>
          <p:nvPr/>
        </p:nvGrpSpPr>
        <p:grpSpPr>
          <a:xfrm rot="5400000" flipV="1">
            <a:off x="7178421" y="1169274"/>
            <a:ext cx="307340" cy="307340"/>
            <a:chOff x="1413494" y="4670360"/>
            <a:chExt cx="442162" cy="456033"/>
          </a:xfrm>
        </p:grpSpPr>
        <p:sp>
          <p:nvSpPr>
            <p:cNvPr id="67" name="Ellipse 69">
              <a:extLst>
                <a:ext uri="{FF2B5EF4-FFF2-40B4-BE49-F238E27FC236}">
                  <a16:creationId xmlns:a16="http://schemas.microsoft.com/office/drawing/2014/main" id="{1AB04E4B-C046-9C91-3AA1-23243ACD647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8" name="Flèche vers la droite 45">
              <a:extLst>
                <a:ext uri="{FF2B5EF4-FFF2-40B4-BE49-F238E27FC236}">
                  <a16:creationId xmlns:a16="http://schemas.microsoft.com/office/drawing/2014/main" id="{40F8AFDE-B2C5-5EAD-35A5-CC2D38BC6223}"/>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sp>
        <p:nvSpPr>
          <p:cNvPr id="6" name="Rectangle 5">
            <a:extLst>
              <a:ext uri="{FF2B5EF4-FFF2-40B4-BE49-F238E27FC236}">
                <a16:creationId xmlns:a16="http://schemas.microsoft.com/office/drawing/2014/main" id="{4090AB51-34C0-1856-C931-386C8FBE1FCF}"/>
              </a:ext>
            </a:extLst>
          </p:cNvPr>
          <p:cNvSpPr/>
          <p:nvPr/>
        </p:nvSpPr>
        <p:spPr>
          <a:xfrm>
            <a:off x="1039091" y="894442"/>
            <a:ext cx="4486939" cy="1677308"/>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04591DB1-9876-9FA4-A868-18DC1A7C36EF}"/>
              </a:ext>
            </a:extLst>
          </p:cNvPr>
          <p:cNvSpPr txBox="1"/>
          <p:nvPr/>
        </p:nvSpPr>
        <p:spPr>
          <a:xfrm>
            <a:off x="3701492" y="872728"/>
            <a:ext cx="2017158" cy="261610"/>
          </a:xfrm>
          <a:prstGeom prst="rect">
            <a:avLst/>
          </a:prstGeom>
          <a:noFill/>
        </p:spPr>
        <p:txBody>
          <a:bodyPr wrap="square" rtlCol="0">
            <a:spAutoFit/>
          </a:bodyPr>
          <a:lstStyle/>
          <a:p>
            <a:r>
              <a:rPr lang="de-LI" sz="1100" b="1" i="1" dirty="0">
                <a:solidFill>
                  <a:schemeClr val="accent3"/>
                </a:solidFill>
              </a:rPr>
              <a:t>Well known from literature</a:t>
            </a:r>
            <a:endParaRPr lang="en-GB" sz="1100" b="1" i="1" dirty="0">
              <a:solidFill>
                <a:schemeClr val="accent3"/>
              </a:solidFill>
            </a:endParaRPr>
          </a:p>
        </p:txBody>
      </p:sp>
      <p:sp>
        <p:nvSpPr>
          <p:cNvPr id="10" name="Rectangle 9">
            <a:extLst>
              <a:ext uri="{FF2B5EF4-FFF2-40B4-BE49-F238E27FC236}">
                <a16:creationId xmlns:a16="http://schemas.microsoft.com/office/drawing/2014/main" id="{C3546FCB-8AFA-3951-2F84-979C80070FB3}"/>
              </a:ext>
            </a:extLst>
          </p:cNvPr>
          <p:cNvSpPr/>
          <p:nvPr/>
        </p:nvSpPr>
        <p:spPr>
          <a:xfrm>
            <a:off x="5977918" y="894442"/>
            <a:ext cx="2715809" cy="1677308"/>
          </a:xfrm>
          <a:prstGeom prst="rect">
            <a:avLst/>
          </a:prstGeom>
          <a:noFill/>
          <a:ln>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38B5F28E-AF1D-2AAC-687B-75C27255DBF5}"/>
              </a:ext>
            </a:extLst>
          </p:cNvPr>
          <p:cNvSpPr txBox="1"/>
          <p:nvPr/>
        </p:nvSpPr>
        <p:spPr>
          <a:xfrm>
            <a:off x="6922935" y="872728"/>
            <a:ext cx="1945812" cy="261610"/>
          </a:xfrm>
          <a:prstGeom prst="rect">
            <a:avLst/>
          </a:prstGeom>
          <a:noFill/>
        </p:spPr>
        <p:txBody>
          <a:bodyPr wrap="square" rtlCol="0">
            <a:spAutoFit/>
          </a:bodyPr>
          <a:lstStyle/>
          <a:p>
            <a:r>
              <a:rPr lang="de-LI" sz="1100" b="1" i="1" dirty="0">
                <a:solidFill>
                  <a:schemeClr val="accent4"/>
                </a:solidFill>
              </a:rPr>
              <a:t>Our research contribution</a:t>
            </a:r>
            <a:endParaRPr lang="en-GB" sz="1100" b="1" i="1" dirty="0">
              <a:solidFill>
                <a:schemeClr val="accent4"/>
              </a:solidFill>
            </a:endParaRPr>
          </a:p>
        </p:txBody>
      </p:sp>
    </p:spTree>
    <p:extLst>
      <p:ext uri="{BB962C8B-B14F-4D97-AF65-F5344CB8AC3E}">
        <p14:creationId xmlns:p14="http://schemas.microsoft.com/office/powerpoint/2010/main" val="29029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44D1-26AF-70EC-7A89-D832556C509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1C25FE5-CFE6-CF8F-0B95-FA4BC6707A1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C1C25FE5-CFE6-CF8F-0B95-FA4BC6707A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9725D4-5EAA-D7EC-9D4E-A21F39C2A0F0}"/>
              </a:ext>
            </a:extLst>
          </p:cNvPr>
          <p:cNvSpPr>
            <a:spLocks noGrp="1"/>
          </p:cNvSpPr>
          <p:nvPr>
            <p:ph type="title"/>
          </p:nvPr>
        </p:nvSpPr>
        <p:spPr/>
        <p:txBody>
          <a:bodyPr vert="horz" rIns="0"/>
          <a:lstStyle/>
          <a:p>
            <a:r>
              <a:rPr lang="de-LI" dirty="0"/>
              <a:t>Academic papers supporting the theory (1/2)</a:t>
            </a:r>
          </a:p>
        </p:txBody>
      </p:sp>
      <p:sp>
        <p:nvSpPr>
          <p:cNvPr id="3" name="Slide Number Placeholder 2">
            <a:extLst>
              <a:ext uri="{FF2B5EF4-FFF2-40B4-BE49-F238E27FC236}">
                <a16:creationId xmlns:a16="http://schemas.microsoft.com/office/drawing/2014/main" id="{23263496-AE91-B5B1-C258-9199E7889928}"/>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4</a:t>
            </a:fld>
            <a:endParaRPr lang="en-GB"/>
          </a:p>
        </p:txBody>
      </p:sp>
      <p:sp>
        <p:nvSpPr>
          <p:cNvPr id="12" name="Rectangle 11">
            <a:extLst>
              <a:ext uri="{FF2B5EF4-FFF2-40B4-BE49-F238E27FC236}">
                <a16:creationId xmlns:a16="http://schemas.microsoft.com/office/drawing/2014/main" id="{0DCFCFFF-47D0-D3A4-64A4-0EABCA121B64}"/>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Household portfolios</a:t>
            </a:r>
            <a:br>
              <a:rPr lang="de-LI" sz="1100" dirty="0"/>
            </a:br>
            <a:r>
              <a:rPr lang="en-CH" sz="1100" dirty="0"/>
              <a:t>(</a:t>
            </a:r>
            <a:r>
              <a:rPr lang="de-LI" sz="1100" dirty="0"/>
              <a:t>Guiso et al.</a:t>
            </a:r>
            <a:r>
              <a:rPr lang="en-CH" sz="1100" dirty="0"/>
              <a:t>)</a:t>
            </a:r>
            <a:endParaRPr lang="en-GB" sz="1100" dirty="0"/>
          </a:p>
        </p:txBody>
      </p:sp>
      <p:grpSp>
        <p:nvGrpSpPr>
          <p:cNvPr id="25" name="Down arrow">
            <a:extLst>
              <a:ext uri="{FF2B5EF4-FFF2-40B4-BE49-F238E27FC236}">
                <a16:creationId xmlns:a16="http://schemas.microsoft.com/office/drawing/2014/main" id="{12161DF6-AD8F-9A58-7627-ABFB3663F2D0}"/>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F901888E-D77B-4629-042B-38CAC8C6580C}"/>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C5D20004-8F18-F854-D6BA-CDC14D0AA4F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715F6B14-4433-4C73-28B5-7BE4C0164DD6}"/>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dirty="0"/>
              <a:t>Life cycle model</a:t>
            </a:r>
            <a:br>
              <a:rPr lang="de-LI" sz="1100" dirty="0"/>
            </a:br>
            <a:r>
              <a:rPr lang="de-LI" sz="1100" dirty="0"/>
              <a:t>(Danziger et al.)</a:t>
            </a:r>
            <a:endParaRPr lang="en-GB" sz="1100" dirty="0"/>
          </a:p>
        </p:txBody>
      </p:sp>
      <p:grpSp>
        <p:nvGrpSpPr>
          <p:cNvPr id="51" name="Down arrow">
            <a:extLst>
              <a:ext uri="{FF2B5EF4-FFF2-40B4-BE49-F238E27FC236}">
                <a16:creationId xmlns:a16="http://schemas.microsoft.com/office/drawing/2014/main" id="{304C5B10-9394-4E1F-2E15-B7B4FBBC56D1}"/>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6FC27C4B-17BA-0822-A25F-21B8460A1C9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E4902DD5-66B3-A909-5F5C-BA079546F452}"/>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A5EF5983-FADB-BDEA-95C5-80C3188CAA90}"/>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Household Finance</a:t>
            </a:r>
            <a:br>
              <a:rPr lang="en-GB" sz="1100" dirty="0"/>
            </a:br>
            <a:r>
              <a:rPr lang="en-GB" sz="1100" dirty="0"/>
              <a:t>(Campbell)</a:t>
            </a:r>
          </a:p>
        </p:txBody>
      </p:sp>
      <p:grpSp>
        <p:nvGrpSpPr>
          <p:cNvPr id="56" name="Down arrow">
            <a:extLst>
              <a:ext uri="{FF2B5EF4-FFF2-40B4-BE49-F238E27FC236}">
                <a16:creationId xmlns:a16="http://schemas.microsoft.com/office/drawing/2014/main" id="{AEAD4985-FD3C-154E-EFA3-04DD25EA48DE}"/>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FC44B479-F414-C331-2B98-2E0BB1110FF7}"/>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2EEAFDE5-4421-266C-3CFB-9BBBD623AB3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63" name="Rectangle 62">
            <a:extLst>
              <a:ext uri="{FF2B5EF4-FFF2-40B4-BE49-F238E27FC236}">
                <a16:creationId xmlns:a16="http://schemas.microsoft.com/office/drawing/2014/main" id="{48F2C340-EE11-044C-81C3-C56517905165}"/>
              </a:ext>
            </a:extLst>
          </p:cNvPr>
          <p:cNvSpPr/>
          <p:nvPr/>
        </p:nvSpPr>
        <p:spPr>
          <a:xfrm>
            <a:off x="7196196"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dirty="0"/>
              <a:t>Financial systems</a:t>
            </a:r>
            <a:endParaRPr lang="en-GB" sz="1100" dirty="0"/>
          </a:p>
        </p:txBody>
      </p:sp>
      <p:grpSp>
        <p:nvGrpSpPr>
          <p:cNvPr id="65" name="Down arrow">
            <a:extLst>
              <a:ext uri="{FF2B5EF4-FFF2-40B4-BE49-F238E27FC236}">
                <a16:creationId xmlns:a16="http://schemas.microsoft.com/office/drawing/2014/main" id="{24DEA024-3780-1F27-B421-08F8507753F5}"/>
              </a:ext>
            </a:extLst>
          </p:cNvPr>
          <p:cNvGrpSpPr>
            <a:grpSpLocks noChangeAspect="1"/>
          </p:cNvGrpSpPr>
          <p:nvPr/>
        </p:nvGrpSpPr>
        <p:grpSpPr>
          <a:xfrm rot="10800000" flipV="1">
            <a:off x="7837040" y="3825572"/>
            <a:ext cx="307340" cy="307340"/>
            <a:chOff x="1413494" y="4670360"/>
            <a:chExt cx="442162" cy="456033"/>
          </a:xfrm>
        </p:grpSpPr>
        <p:sp>
          <p:nvSpPr>
            <p:cNvPr id="66" name="Ellipse 69">
              <a:extLst>
                <a:ext uri="{FF2B5EF4-FFF2-40B4-BE49-F238E27FC236}">
                  <a16:creationId xmlns:a16="http://schemas.microsoft.com/office/drawing/2014/main" id="{56BE5086-23E3-0A64-89C2-7784859C1428}"/>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67" name="Flèche vers la droite 45">
              <a:extLst>
                <a:ext uri="{FF2B5EF4-FFF2-40B4-BE49-F238E27FC236}">
                  <a16:creationId xmlns:a16="http://schemas.microsoft.com/office/drawing/2014/main" id="{8D68A094-335B-8623-1C63-16E6770BC04A}"/>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25363D27-3146-9201-6DA4-04C01BCD5E78}"/>
              </a:ext>
            </a:extLst>
          </p:cNvPr>
          <p:cNvSpPr txBox="1"/>
          <p:nvPr/>
        </p:nvSpPr>
        <p:spPr>
          <a:xfrm>
            <a:off x="358775" y="1606787"/>
            <a:ext cx="854927" cy="261610"/>
          </a:xfrm>
          <a:prstGeom prst="rect">
            <a:avLst/>
          </a:prstGeom>
          <a:noFill/>
        </p:spPr>
        <p:txBody>
          <a:bodyPr wrap="square" rtlCol="0">
            <a:spAutoFit/>
          </a:bodyPr>
          <a:lstStyle/>
          <a:p>
            <a:r>
              <a:rPr lang="en-CH" sz="1100" b="1" dirty="0">
                <a:solidFill>
                  <a:schemeClr val="accent1"/>
                </a:solidFill>
              </a:rPr>
              <a:t>Topic</a:t>
            </a:r>
            <a:endParaRPr lang="en-GB" sz="1100" dirty="0">
              <a:solidFill>
                <a:schemeClr val="accent1"/>
              </a:solidFill>
            </a:endParaRPr>
          </a:p>
        </p:txBody>
      </p:sp>
      <p:sp>
        <p:nvSpPr>
          <p:cNvPr id="74" name="TextBox 73">
            <a:extLst>
              <a:ext uri="{FF2B5EF4-FFF2-40B4-BE49-F238E27FC236}">
                <a16:creationId xmlns:a16="http://schemas.microsoft.com/office/drawing/2014/main" id="{EDA92D50-408C-D55C-DCCD-52C054E7AE5E}"/>
              </a:ext>
            </a:extLst>
          </p:cNvPr>
          <p:cNvSpPr txBox="1"/>
          <p:nvPr/>
        </p:nvSpPr>
        <p:spPr>
          <a:xfrm>
            <a:off x="1563106" y="1602517"/>
            <a:ext cx="1589027" cy="600164"/>
          </a:xfrm>
          <a:prstGeom prst="rect">
            <a:avLst/>
          </a:prstGeom>
          <a:noFill/>
        </p:spPr>
        <p:txBody>
          <a:bodyPr wrap="square" rtlCol="0">
            <a:spAutoFit/>
          </a:bodyPr>
          <a:lstStyle/>
          <a:p>
            <a:r>
              <a:rPr lang="de-LI" sz="1100" dirty="0"/>
              <a:t>Theoretical &amp; empirical analysis of household portfolio structure</a:t>
            </a:r>
            <a:endParaRPr lang="en-GB" sz="1100" dirty="0"/>
          </a:p>
        </p:txBody>
      </p:sp>
      <p:sp>
        <p:nvSpPr>
          <p:cNvPr id="75" name="TextBox 74">
            <a:extLst>
              <a:ext uri="{FF2B5EF4-FFF2-40B4-BE49-F238E27FC236}">
                <a16:creationId xmlns:a16="http://schemas.microsoft.com/office/drawing/2014/main" id="{1E2C2428-02CD-34B7-3CCF-4275AF5ED162}"/>
              </a:ext>
            </a:extLst>
          </p:cNvPr>
          <p:cNvSpPr txBox="1"/>
          <p:nvPr/>
        </p:nvSpPr>
        <p:spPr>
          <a:xfrm>
            <a:off x="358775" y="2198462"/>
            <a:ext cx="854927" cy="261610"/>
          </a:xfrm>
          <a:prstGeom prst="rect">
            <a:avLst/>
          </a:prstGeom>
          <a:noFill/>
        </p:spPr>
        <p:txBody>
          <a:bodyPr wrap="square" rtlCol="0">
            <a:spAutoFit/>
          </a:bodyPr>
          <a:lstStyle/>
          <a:p>
            <a:r>
              <a:rPr lang="en-CH" sz="1100" b="1" dirty="0">
                <a:solidFill>
                  <a:schemeClr val="accent1"/>
                </a:solidFill>
              </a:rPr>
              <a:t>Year</a:t>
            </a:r>
            <a:endParaRPr lang="en-GB" sz="1100" dirty="0">
              <a:solidFill>
                <a:schemeClr val="accent1"/>
              </a:solidFill>
            </a:endParaRPr>
          </a:p>
        </p:txBody>
      </p:sp>
      <p:sp>
        <p:nvSpPr>
          <p:cNvPr id="76" name="TextBox 75">
            <a:extLst>
              <a:ext uri="{FF2B5EF4-FFF2-40B4-BE49-F238E27FC236}">
                <a16:creationId xmlns:a16="http://schemas.microsoft.com/office/drawing/2014/main" id="{CAF98DD7-1101-7237-92A4-4AB68CE8E511}"/>
              </a:ext>
            </a:extLst>
          </p:cNvPr>
          <p:cNvSpPr txBox="1"/>
          <p:nvPr/>
        </p:nvSpPr>
        <p:spPr>
          <a:xfrm>
            <a:off x="1563106" y="2194192"/>
            <a:ext cx="1589027" cy="261610"/>
          </a:xfrm>
          <a:prstGeom prst="rect">
            <a:avLst/>
          </a:prstGeom>
          <a:noFill/>
        </p:spPr>
        <p:txBody>
          <a:bodyPr wrap="square" rtlCol="0">
            <a:spAutoFit/>
          </a:bodyPr>
          <a:lstStyle/>
          <a:p>
            <a:pPr algn="ctr"/>
            <a:r>
              <a:rPr lang="de-LI" sz="1100" dirty="0"/>
              <a:t>2002</a:t>
            </a:r>
            <a:endParaRPr lang="en-GB" sz="1100" dirty="0"/>
          </a:p>
        </p:txBody>
      </p:sp>
      <p:sp>
        <p:nvSpPr>
          <p:cNvPr id="77" name="TextBox 76">
            <a:extLst>
              <a:ext uri="{FF2B5EF4-FFF2-40B4-BE49-F238E27FC236}">
                <a16:creationId xmlns:a16="http://schemas.microsoft.com/office/drawing/2014/main" id="{D0A76AF6-8A7D-931D-539E-D4B6304A487D}"/>
              </a:ext>
            </a:extLst>
          </p:cNvPr>
          <p:cNvSpPr txBox="1"/>
          <p:nvPr/>
        </p:nvSpPr>
        <p:spPr>
          <a:xfrm>
            <a:off x="358775" y="2559209"/>
            <a:ext cx="854927" cy="261610"/>
          </a:xfrm>
          <a:prstGeom prst="rect">
            <a:avLst/>
          </a:prstGeom>
          <a:noFill/>
        </p:spPr>
        <p:txBody>
          <a:bodyPr wrap="square" rtlCol="0">
            <a:spAutoFit/>
          </a:bodyPr>
          <a:lstStyle/>
          <a:p>
            <a:r>
              <a:rPr lang="en-CH" sz="1100" b="1" dirty="0">
                <a:solidFill>
                  <a:schemeClr val="accent1"/>
                </a:solidFill>
              </a:rPr>
              <a:t>Journal</a:t>
            </a:r>
            <a:endParaRPr lang="en-GB" sz="1100" dirty="0">
              <a:solidFill>
                <a:schemeClr val="accent1"/>
              </a:solidFill>
            </a:endParaRPr>
          </a:p>
        </p:txBody>
      </p:sp>
      <p:sp>
        <p:nvSpPr>
          <p:cNvPr id="78" name="TextBox 77">
            <a:extLst>
              <a:ext uri="{FF2B5EF4-FFF2-40B4-BE49-F238E27FC236}">
                <a16:creationId xmlns:a16="http://schemas.microsoft.com/office/drawing/2014/main" id="{3C6C5725-E1B0-2744-A8D1-5050F25F5A65}"/>
              </a:ext>
            </a:extLst>
          </p:cNvPr>
          <p:cNvSpPr txBox="1"/>
          <p:nvPr/>
        </p:nvSpPr>
        <p:spPr>
          <a:xfrm>
            <a:off x="1563106" y="2554939"/>
            <a:ext cx="1589027" cy="261610"/>
          </a:xfrm>
          <a:prstGeom prst="rect">
            <a:avLst/>
          </a:prstGeom>
          <a:noFill/>
        </p:spPr>
        <p:txBody>
          <a:bodyPr wrap="square" rtlCol="0">
            <a:spAutoFit/>
          </a:bodyPr>
          <a:lstStyle/>
          <a:p>
            <a:pPr algn="ctr"/>
            <a:r>
              <a:rPr lang="de-LI" sz="1100" dirty="0"/>
              <a:t>Book</a:t>
            </a:r>
            <a:endParaRPr lang="en-GB" sz="1100" dirty="0"/>
          </a:p>
        </p:txBody>
      </p:sp>
      <p:sp>
        <p:nvSpPr>
          <p:cNvPr id="79" name="TextBox 78">
            <a:extLst>
              <a:ext uri="{FF2B5EF4-FFF2-40B4-BE49-F238E27FC236}">
                <a16:creationId xmlns:a16="http://schemas.microsoft.com/office/drawing/2014/main" id="{E3AB9748-0394-5FEC-5759-4B046ACD0CCB}"/>
              </a:ext>
            </a:extLst>
          </p:cNvPr>
          <p:cNvSpPr txBox="1"/>
          <p:nvPr/>
        </p:nvSpPr>
        <p:spPr>
          <a:xfrm>
            <a:off x="358775" y="3066157"/>
            <a:ext cx="986805" cy="261610"/>
          </a:xfrm>
          <a:prstGeom prst="rect">
            <a:avLst/>
          </a:prstGeom>
          <a:noFill/>
        </p:spPr>
        <p:txBody>
          <a:bodyPr wrap="square" rtlCol="0">
            <a:spAutoFit/>
          </a:bodyPr>
          <a:lstStyle/>
          <a:p>
            <a:r>
              <a:rPr lang="en-CH" sz="1100" b="1" dirty="0">
                <a:solidFill>
                  <a:schemeClr val="accent1"/>
                </a:solidFill>
              </a:rPr>
              <a:t>Key findings</a:t>
            </a:r>
            <a:endParaRPr lang="en-GB" sz="1100" dirty="0">
              <a:solidFill>
                <a:schemeClr val="accent1"/>
              </a:solidFill>
            </a:endParaRPr>
          </a:p>
        </p:txBody>
      </p:sp>
      <p:sp>
        <p:nvSpPr>
          <p:cNvPr id="80" name="TextBox 79">
            <a:extLst>
              <a:ext uri="{FF2B5EF4-FFF2-40B4-BE49-F238E27FC236}">
                <a16:creationId xmlns:a16="http://schemas.microsoft.com/office/drawing/2014/main" id="{A837D2E6-1C4B-571D-9381-7A8416B08FE8}"/>
              </a:ext>
            </a:extLst>
          </p:cNvPr>
          <p:cNvSpPr txBox="1"/>
          <p:nvPr/>
        </p:nvSpPr>
        <p:spPr>
          <a:xfrm>
            <a:off x="1563106" y="3061887"/>
            <a:ext cx="1589027" cy="769441"/>
          </a:xfrm>
          <a:prstGeom prst="rect">
            <a:avLst/>
          </a:prstGeom>
          <a:noFill/>
        </p:spPr>
        <p:txBody>
          <a:bodyPr wrap="square" rtlCol="0">
            <a:spAutoFit/>
          </a:bodyPr>
          <a:lstStyle/>
          <a:p>
            <a:r>
              <a:rPr lang="en-US" sz="1100" dirty="0"/>
              <a:t>Older households systematically shift wealth toward safe assets</a:t>
            </a:r>
            <a:endParaRPr lang="en-GB" sz="1100" dirty="0"/>
          </a:p>
        </p:txBody>
      </p:sp>
      <p:sp>
        <p:nvSpPr>
          <p:cNvPr id="81" name="TextBox 80">
            <a:extLst>
              <a:ext uri="{FF2B5EF4-FFF2-40B4-BE49-F238E27FC236}">
                <a16:creationId xmlns:a16="http://schemas.microsoft.com/office/drawing/2014/main" id="{F4AE7FA3-59FC-89EA-3DF6-8B37782CF097}"/>
              </a:ext>
            </a:extLst>
          </p:cNvPr>
          <p:cNvSpPr txBox="1"/>
          <p:nvPr/>
        </p:nvSpPr>
        <p:spPr>
          <a:xfrm>
            <a:off x="3440803" y="1602517"/>
            <a:ext cx="1589027" cy="600164"/>
          </a:xfrm>
          <a:prstGeom prst="rect">
            <a:avLst/>
          </a:prstGeom>
          <a:noFill/>
        </p:spPr>
        <p:txBody>
          <a:bodyPr wrap="square" rtlCol="0">
            <a:spAutoFit/>
          </a:bodyPr>
          <a:lstStyle/>
          <a:p>
            <a:r>
              <a:rPr lang="en-US" sz="1100" dirty="0"/>
              <a:t>Consumption Behavior of the Elderly in the Society</a:t>
            </a:r>
            <a:endParaRPr lang="en-GB" sz="1100" dirty="0"/>
          </a:p>
        </p:txBody>
      </p:sp>
      <p:sp>
        <p:nvSpPr>
          <p:cNvPr id="82" name="TextBox 81">
            <a:extLst>
              <a:ext uri="{FF2B5EF4-FFF2-40B4-BE49-F238E27FC236}">
                <a16:creationId xmlns:a16="http://schemas.microsoft.com/office/drawing/2014/main" id="{5472CAB2-F26B-2110-FE2B-0E41AEF65DCD}"/>
              </a:ext>
            </a:extLst>
          </p:cNvPr>
          <p:cNvSpPr txBox="1"/>
          <p:nvPr/>
        </p:nvSpPr>
        <p:spPr>
          <a:xfrm>
            <a:off x="3440803" y="2194192"/>
            <a:ext cx="1589027" cy="261610"/>
          </a:xfrm>
          <a:prstGeom prst="rect">
            <a:avLst/>
          </a:prstGeom>
          <a:noFill/>
        </p:spPr>
        <p:txBody>
          <a:bodyPr wrap="square" rtlCol="0">
            <a:spAutoFit/>
          </a:bodyPr>
          <a:lstStyle/>
          <a:p>
            <a:pPr algn="ctr"/>
            <a:r>
              <a:rPr lang="de-LI" sz="1100" dirty="0"/>
              <a:t>1982</a:t>
            </a:r>
            <a:endParaRPr lang="en-GB" sz="1100" dirty="0"/>
          </a:p>
        </p:txBody>
      </p:sp>
      <p:sp>
        <p:nvSpPr>
          <p:cNvPr id="83" name="TextBox 82">
            <a:extLst>
              <a:ext uri="{FF2B5EF4-FFF2-40B4-BE49-F238E27FC236}">
                <a16:creationId xmlns:a16="http://schemas.microsoft.com/office/drawing/2014/main" id="{13509875-AA5C-4D2B-EAB0-75AE861D005A}"/>
              </a:ext>
            </a:extLst>
          </p:cNvPr>
          <p:cNvSpPr txBox="1"/>
          <p:nvPr/>
        </p:nvSpPr>
        <p:spPr>
          <a:xfrm>
            <a:off x="3440803" y="2554939"/>
            <a:ext cx="1589027" cy="430887"/>
          </a:xfrm>
          <a:prstGeom prst="rect">
            <a:avLst/>
          </a:prstGeom>
          <a:noFill/>
        </p:spPr>
        <p:txBody>
          <a:bodyPr wrap="square" rtlCol="0">
            <a:spAutoFit/>
          </a:bodyPr>
          <a:lstStyle/>
          <a:p>
            <a:pPr algn="ctr"/>
            <a:r>
              <a:rPr lang="de-LI" sz="1100" dirty="0"/>
              <a:t>Journal of Post Keynesian Economics</a:t>
            </a:r>
            <a:endParaRPr lang="en-GB" sz="1100" dirty="0"/>
          </a:p>
        </p:txBody>
      </p:sp>
      <p:sp>
        <p:nvSpPr>
          <p:cNvPr id="84" name="TextBox 83">
            <a:extLst>
              <a:ext uri="{FF2B5EF4-FFF2-40B4-BE49-F238E27FC236}">
                <a16:creationId xmlns:a16="http://schemas.microsoft.com/office/drawing/2014/main" id="{37F5E816-BC8C-01D9-D1FB-20766C8472D0}"/>
              </a:ext>
            </a:extLst>
          </p:cNvPr>
          <p:cNvSpPr txBox="1"/>
          <p:nvPr/>
        </p:nvSpPr>
        <p:spPr>
          <a:xfrm>
            <a:off x="3440803" y="3061887"/>
            <a:ext cx="1589027" cy="430887"/>
          </a:xfrm>
          <a:prstGeom prst="rect">
            <a:avLst/>
          </a:prstGeom>
          <a:noFill/>
        </p:spPr>
        <p:txBody>
          <a:bodyPr wrap="square" rtlCol="0">
            <a:spAutoFit/>
          </a:bodyPr>
          <a:lstStyle/>
          <a:p>
            <a:r>
              <a:rPr lang="de-LI" sz="1100" dirty="0"/>
              <a:t>The elderly save more than the young people</a:t>
            </a:r>
            <a:endParaRPr lang="en-GB" sz="1100" dirty="0"/>
          </a:p>
        </p:txBody>
      </p:sp>
      <p:sp>
        <p:nvSpPr>
          <p:cNvPr id="85" name="TextBox 84">
            <a:extLst>
              <a:ext uri="{FF2B5EF4-FFF2-40B4-BE49-F238E27FC236}">
                <a16:creationId xmlns:a16="http://schemas.microsoft.com/office/drawing/2014/main" id="{141B05C5-DC2D-776E-6654-0C1E3C235C20}"/>
              </a:ext>
            </a:extLst>
          </p:cNvPr>
          <p:cNvSpPr txBox="1"/>
          <p:nvPr/>
        </p:nvSpPr>
        <p:spPr>
          <a:xfrm>
            <a:off x="5318501" y="1602517"/>
            <a:ext cx="1589027" cy="600164"/>
          </a:xfrm>
          <a:prstGeom prst="rect">
            <a:avLst/>
          </a:prstGeom>
          <a:noFill/>
        </p:spPr>
        <p:txBody>
          <a:bodyPr wrap="square" rtlCol="0">
            <a:spAutoFit/>
          </a:bodyPr>
          <a:lstStyle/>
          <a:p>
            <a:r>
              <a:rPr lang="de-LI" sz="1100" dirty="0"/>
              <a:t>Theoretical &amp; empirical analysis of household portfolio structure</a:t>
            </a:r>
            <a:endParaRPr lang="en-GB" sz="1100" dirty="0"/>
          </a:p>
        </p:txBody>
      </p:sp>
      <p:sp>
        <p:nvSpPr>
          <p:cNvPr id="86" name="TextBox 85">
            <a:extLst>
              <a:ext uri="{FF2B5EF4-FFF2-40B4-BE49-F238E27FC236}">
                <a16:creationId xmlns:a16="http://schemas.microsoft.com/office/drawing/2014/main" id="{06898A07-16C5-3E1B-B015-6E3090D5EEAC}"/>
              </a:ext>
            </a:extLst>
          </p:cNvPr>
          <p:cNvSpPr txBox="1"/>
          <p:nvPr/>
        </p:nvSpPr>
        <p:spPr>
          <a:xfrm>
            <a:off x="5318501" y="2194192"/>
            <a:ext cx="1589027" cy="261610"/>
          </a:xfrm>
          <a:prstGeom prst="rect">
            <a:avLst/>
          </a:prstGeom>
          <a:noFill/>
        </p:spPr>
        <p:txBody>
          <a:bodyPr wrap="square" rtlCol="0">
            <a:spAutoFit/>
          </a:bodyPr>
          <a:lstStyle/>
          <a:p>
            <a:pPr algn="ctr"/>
            <a:r>
              <a:rPr lang="de-LI" sz="1100" dirty="0"/>
              <a:t>2006</a:t>
            </a:r>
            <a:endParaRPr lang="en-GB" sz="1100" dirty="0"/>
          </a:p>
        </p:txBody>
      </p:sp>
      <p:sp>
        <p:nvSpPr>
          <p:cNvPr id="87" name="TextBox 86">
            <a:extLst>
              <a:ext uri="{FF2B5EF4-FFF2-40B4-BE49-F238E27FC236}">
                <a16:creationId xmlns:a16="http://schemas.microsoft.com/office/drawing/2014/main" id="{5CCF5E12-E41E-352E-DEC9-FA524572F44F}"/>
              </a:ext>
            </a:extLst>
          </p:cNvPr>
          <p:cNvSpPr txBox="1"/>
          <p:nvPr/>
        </p:nvSpPr>
        <p:spPr>
          <a:xfrm>
            <a:off x="5318501" y="2554939"/>
            <a:ext cx="1589027" cy="261610"/>
          </a:xfrm>
          <a:prstGeom prst="rect">
            <a:avLst/>
          </a:prstGeom>
          <a:noFill/>
        </p:spPr>
        <p:txBody>
          <a:bodyPr wrap="square" rtlCol="0">
            <a:spAutoFit/>
          </a:bodyPr>
          <a:lstStyle/>
          <a:p>
            <a:pPr algn="ctr"/>
            <a:r>
              <a:rPr lang="de-LI" sz="1100" dirty="0"/>
              <a:t>Journal of Finance</a:t>
            </a:r>
            <a:endParaRPr lang="en-GB" sz="1100" dirty="0"/>
          </a:p>
        </p:txBody>
      </p:sp>
      <p:sp>
        <p:nvSpPr>
          <p:cNvPr id="88" name="TextBox 87">
            <a:extLst>
              <a:ext uri="{FF2B5EF4-FFF2-40B4-BE49-F238E27FC236}">
                <a16:creationId xmlns:a16="http://schemas.microsoft.com/office/drawing/2014/main" id="{9F24CE6A-2884-6E49-19CE-76B263657C0A}"/>
              </a:ext>
            </a:extLst>
          </p:cNvPr>
          <p:cNvSpPr txBox="1"/>
          <p:nvPr/>
        </p:nvSpPr>
        <p:spPr>
          <a:xfrm>
            <a:off x="5318501" y="3061887"/>
            <a:ext cx="1589027" cy="769441"/>
          </a:xfrm>
          <a:prstGeom prst="rect">
            <a:avLst/>
          </a:prstGeom>
          <a:noFill/>
        </p:spPr>
        <p:txBody>
          <a:bodyPr wrap="square" rtlCol="0">
            <a:spAutoFit/>
          </a:bodyPr>
          <a:lstStyle/>
          <a:p>
            <a:r>
              <a:rPr lang="en-US" sz="1100" dirty="0"/>
              <a:t>Older households allocate a larger share of their portfolios to safe and liquid assets</a:t>
            </a:r>
            <a:endParaRPr lang="en-GB" sz="1100" dirty="0"/>
          </a:p>
        </p:txBody>
      </p:sp>
      <p:sp>
        <p:nvSpPr>
          <p:cNvPr id="89" name="TextBox 88">
            <a:extLst>
              <a:ext uri="{FF2B5EF4-FFF2-40B4-BE49-F238E27FC236}">
                <a16:creationId xmlns:a16="http://schemas.microsoft.com/office/drawing/2014/main" id="{47383F7E-A9A6-C4E6-969C-7A97863245A0}"/>
              </a:ext>
            </a:extLst>
          </p:cNvPr>
          <p:cNvSpPr txBox="1"/>
          <p:nvPr/>
        </p:nvSpPr>
        <p:spPr>
          <a:xfrm>
            <a:off x="7196198" y="1602517"/>
            <a:ext cx="1589027" cy="430887"/>
          </a:xfrm>
          <a:prstGeom prst="rect">
            <a:avLst/>
          </a:prstGeom>
          <a:noFill/>
        </p:spPr>
        <p:txBody>
          <a:bodyPr wrap="square" rtlCol="0">
            <a:spAutoFit/>
          </a:bodyPr>
          <a:lstStyle/>
          <a:p>
            <a:r>
              <a:rPr lang="en-CH" sz="1100" dirty="0"/>
              <a:t>Bank-based vs. market-based financial systems</a:t>
            </a:r>
            <a:endParaRPr lang="en-GB" sz="1100" dirty="0"/>
          </a:p>
        </p:txBody>
      </p:sp>
      <p:sp>
        <p:nvSpPr>
          <p:cNvPr id="90" name="TextBox 89">
            <a:extLst>
              <a:ext uri="{FF2B5EF4-FFF2-40B4-BE49-F238E27FC236}">
                <a16:creationId xmlns:a16="http://schemas.microsoft.com/office/drawing/2014/main" id="{FB90F80D-D1FA-2493-8FAA-C61F8EE2ACB0}"/>
              </a:ext>
            </a:extLst>
          </p:cNvPr>
          <p:cNvSpPr txBox="1"/>
          <p:nvPr/>
        </p:nvSpPr>
        <p:spPr>
          <a:xfrm>
            <a:off x="7196198" y="2194192"/>
            <a:ext cx="1589027" cy="261610"/>
          </a:xfrm>
          <a:prstGeom prst="rect">
            <a:avLst/>
          </a:prstGeom>
          <a:noFill/>
        </p:spPr>
        <p:txBody>
          <a:bodyPr wrap="square" rtlCol="0">
            <a:spAutoFit/>
          </a:bodyPr>
          <a:lstStyle/>
          <a:p>
            <a:pPr algn="ctr"/>
            <a:r>
              <a:rPr lang="en-CH" sz="1100" dirty="0"/>
              <a:t>2002</a:t>
            </a:r>
            <a:endParaRPr lang="en-GB" sz="1100" dirty="0"/>
          </a:p>
        </p:txBody>
      </p:sp>
      <p:sp>
        <p:nvSpPr>
          <p:cNvPr id="91" name="TextBox 90">
            <a:extLst>
              <a:ext uri="{FF2B5EF4-FFF2-40B4-BE49-F238E27FC236}">
                <a16:creationId xmlns:a16="http://schemas.microsoft.com/office/drawing/2014/main" id="{7A8120EB-D08E-B326-6D0A-FB396D852EDC}"/>
              </a:ext>
            </a:extLst>
          </p:cNvPr>
          <p:cNvSpPr txBox="1"/>
          <p:nvPr/>
        </p:nvSpPr>
        <p:spPr>
          <a:xfrm>
            <a:off x="7196198" y="2554939"/>
            <a:ext cx="1589027" cy="430887"/>
          </a:xfrm>
          <a:prstGeom prst="rect">
            <a:avLst/>
          </a:prstGeom>
          <a:noFill/>
        </p:spPr>
        <p:txBody>
          <a:bodyPr wrap="square" rtlCol="0">
            <a:spAutoFit/>
          </a:bodyPr>
          <a:lstStyle/>
          <a:p>
            <a:pPr algn="ctr"/>
            <a:r>
              <a:rPr lang="en-CH" sz="1100" dirty="0"/>
              <a:t>Journal of Financial Intermediation </a:t>
            </a:r>
            <a:endParaRPr lang="en-GB" sz="1100" dirty="0"/>
          </a:p>
        </p:txBody>
      </p:sp>
      <p:sp>
        <p:nvSpPr>
          <p:cNvPr id="92" name="TextBox 91">
            <a:extLst>
              <a:ext uri="{FF2B5EF4-FFF2-40B4-BE49-F238E27FC236}">
                <a16:creationId xmlns:a16="http://schemas.microsoft.com/office/drawing/2014/main" id="{99391502-4DA6-2653-556D-13C80754FF2F}"/>
              </a:ext>
            </a:extLst>
          </p:cNvPr>
          <p:cNvSpPr txBox="1"/>
          <p:nvPr/>
        </p:nvSpPr>
        <p:spPr>
          <a:xfrm>
            <a:off x="7196198" y="3061887"/>
            <a:ext cx="1589027" cy="430887"/>
          </a:xfrm>
          <a:prstGeom prst="rect">
            <a:avLst/>
          </a:prstGeom>
          <a:noFill/>
        </p:spPr>
        <p:txBody>
          <a:bodyPr wrap="square" rtlCol="0">
            <a:spAutoFit/>
          </a:bodyPr>
          <a:lstStyle/>
          <a:p>
            <a:r>
              <a:rPr lang="en-CH" sz="1100" dirty="0"/>
              <a:t>No system is superior for economic growth</a:t>
            </a:r>
            <a:endParaRPr lang="en-GB" sz="1100" dirty="0"/>
          </a:p>
        </p:txBody>
      </p:sp>
      <p:sp>
        <p:nvSpPr>
          <p:cNvPr id="93" name="TextBox 92">
            <a:extLst>
              <a:ext uri="{FF2B5EF4-FFF2-40B4-BE49-F238E27FC236}">
                <a16:creationId xmlns:a16="http://schemas.microsoft.com/office/drawing/2014/main" id="{C0B2F91A-9CFC-7B41-F35A-A5297FEE90EB}"/>
              </a:ext>
            </a:extLst>
          </p:cNvPr>
          <p:cNvSpPr txBox="1"/>
          <p:nvPr/>
        </p:nvSpPr>
        <p:spPr>
          <a:xfrm>
            <a:off x="1563106" y="4175588"/>
            <a:ext cx="1589027" cy="430887"/>
          </a:xfrm>
          <a:prstGeom prst="rect">
            <a:avLst/>
          </a:prstGeom>
          <a:noFill/>
        </p:spPr>
        <p:txBody>
          <a:bodyPr wrap="square" rtlCol="0">
            <a:spAutoFit/>
          </a:bodyPr>
          <a:lstStyle/>
          <a:p>
            <a:pPr algn="ctr"/>
            <a:r>
              <a:rPr lang="en-US" sz="1100" i="1" dirty="0"/>
              <a:t>Supports H1 on broad level</a:t>
            </a:r>
            <a:endParaRPr lang="en-GB" sz="1100" i="1" dirty="0"/>
          </a:p>
        </p:txBody>
      </p:sp>
      <p:sp>
        <p:nvSpPr>
          <p:cNvPr id="94" name="TextBox 93">
            <a:extLst>
              <a:ext uri="{FF2B5EF4-FFF2-40B4-BE49-F238E27FC236}">
                <a16:creationId xmlns:a16="http://schemas.microsoft.com/office/drawing/2014/main" id="{75003AED-6EAA-4CB7-3545-1A1FA88B03C8}"/>
              </a:ext>
            </a:extLst>
          </p:cNvPr>
          <p:cNvSpPr txBox="1"/>
          <p:nvPr/>
        </p:nvSpPr>
        <p:spPr>
          <a:xfrm>
            <a:off x="3440803" y="4175588"/>
            <a:ext cx="1589027" cy="430887"/>
          </a:xfrm>
          <a:prstGeom prst="rect">
            <a:avLst/>
          </a:prstGeom>
          <a:noFill/>
        </p:spPr>
        <p:txBody>
          <a:bodyPr wrap="square" rtlCol="0">
            <a:spAutoFit/>
          </a:bodyPr>
          <a:lstStyle/>
          <a:p>
            <a:pPr algn="ctr"/>
            <a:r>
              <a:rPr lang="de-LI" sz="1100" i="1" dirty="0"/>
              <a:t>Supports H1 specifically, indicates support for H2</a:t>
            </a:r>
            <a:endParaRPr lang="en-GB" sz="1100" i="1" dirty="0"/>
          </a:p>
        </p:txBody>
      </p:sp>
      <p:sp>
        <p:nvSpPr>
          <p:cNvPr id="95" name="TextBox 94">
            <a:extLst>
              <a:ext uri="{FF2B5EF4-FFF2-40B4-BE49-F238E27FC236}">
                <a16:creationId xmlns:a16="http://schemas.microsoft.com/office/drawing/2014/main" id="{B2B73729-5818-F181-5899-1D9C1750E5FB}"/>
              </a:ext>
            </a:extLst>
          </p:cNvPr>
          <p:cNvSpPr txBox="1"/>
          <p:nvPr/>
        </p:nvSpPr>
        <p:spPr>
          <a:xfrm>
            <a:off x="5318501" y="4175588"/>
            <a:ext cx="1589027" cy="261610"/>
          </a:xfrm>
          <a:prstGeom prst="rect">
            <a:avLst/>
          </a:prstGeom>
          <a:noFill/>
        </p:spPr>
        <p:txBody>
          <a:bodyPr wrap="square" rtlCol="0">
            <a:spAutoFit/>
          </a:bodyPr>
          <a:lstStyle/>
          <a:p>
            <a:pPr algn="ctr"/>
            <a:r>
              <a:rPr lang="de-LI" sz="1100" i="1" dirty="0"/>
              <a:t>Mainly supports H1</a:t>
            </a:r>
            <a:endParaRPr lang="en-GB" sz="1100" i="1" dirty="0"/>
          </a:p>
        </p:txBody>
      </p:sp>
      <p:sp>
        <p:nvSpPr>
          <p:cNvPr id="96" name="TextBox 95">
            <a:extLst>
              <a:ext uri="{FF2B5EF4-FFF2-40B4-BE49-F238E27FC236}">
                <a16:creationId xmlns:a16="http://schemas.microsoft.com/office/drawing/2014/main" id="{F5B2220A-144A-C059-A8E7-7F54C49DDCF9}"/>
              </a:ext>
            </a:extLst>
          </p:cNvPr>
          <p:cNvSpPr txBox="1"/>
          <p:nvPr/>
        </p:nvSpPr>
        <p:spPr>
          <a:xfrm>
            <a:off x="7196198" y="4175588"/>
            <a:ext cx="1589027" cy="430887"/>
          </a:xfrm>
          <a:prstGeom prst="rect">
            <a:avLst/>
          </a:prstGeom>
          <a:noFill/>
        </p:spPr>
        <p:txBody>
          <a:bodyPr wrap="square" rtlCol="0">
            <a:spAutoFit/>
          </a:bodyPr>
          <a:lstStyle/>
          <a:p>
            <a:pPr algn="ctr"/>
            <a:r>
              <a:rPr lang="de-LI" sz="1100" i="1" dirty="0"/>
              <a:t>Helps to distinguish between systems (H1)</a:t>
            </a:r>
            <a:endParaRPr lang="en-GB" sz="1100" i="1" dirty="0"/>
          </a:p>
        </p:txBody>
      </p:sp>
    </p:spTree>
    <p:extLst>
      <p:ext uri="{BB962C8B-B14F-4D97-AF65-F5344CB8AC3E}">
        <p14:creationId xmlns:p14="http://schemas.microsoft.com/office/powerpoint/2010/main" val="1807499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3C01-342F-9778-119E-E19121BB838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C19A380-5C06-085B-90DC-C07677727E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8C19A380-5C06-085B-90DC-C07677727E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1EE040-4F40-DC93-5A48-49AEB3EC66EE}"/>
              </a:ext>
            </a:extLst>
          </p:cNvPr>
          <p:cNvSpPr>
            <a:spLocks noGrp="1"/>
          </p:cNvSpPr>
          <p:nvPr>
            <p:ph type="title"/>
          </p:nvPr>
        </p:nvSpPr>
        <p:spPr/>
        <p:txBody>
          <a:bodyPr vert="horz" rIns="0"/>
          <a:lstStyle/>
          <a:p>
            <a:r>
              <a:rPr lang="de-LI" dirty="0"/>
              <a:t>Academic papers supporting the theory (2/2)</a:t>
            </a:r>
          </a:p>
        </p:txBody>
      </p:sp>
      <p:sp>
        <p:nvSpPr>
          <p:cNvPr id="3" name="Slide Number Placeholder 2">
            <a:extLst>
              <a:ext uri="{FF2B5EF4-FFF2-40B4-BE49-F238E27FC236}">
                <a16:creationId xmlns:a16="http://schemas.microsoft.com/office/drawing/2014/main" id="{F3C47F98-630E-4EE3-6D32-5601E23773CF}"/>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5</a:t>
            </a:fld>
            <a:endParaRPr lang="en-GB"/>
          </a:p>
        </p:txBody>
      </p:sp>
      <p:sp>
        <p:nvSpPr>
          <p:cNvPr id="12" name="Rectangle 11">
            <a:extLst>
              <a:ext uri="{FF2B5EF4-FFF2-40B4-BE49-F238E27FC236}">
                <a16:creationId xmlns:a16="http://schemas.microsoft.com/office/drawing/2014/main" id="{452612F6-2542-BDCF-B52B-5E847EC2D6A2}"/>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Population ageing &amp; bank risk taking</a:t>
            </a:r>
            <a:br>
              <a:rPr lang="de-LI" sz="1100" dirty="0"/>
            </a:br>
            <a:r>
              <a:rPr lang="de-LI" sz="1100" dirty="0"/>
              <a:t>(Doerr et al.)</a:t>
            </a:r>
            <a:endParaRPr lang="en-GB" sz="1100" dirty="0"/>
          </a:p>
        </p:txBody>
      </p:sp>
      <p:grpSp>
        <p:nvGrpSpPr>
          <p:cNvPr id="25" name="Down arrow">
            <a:extLst>
              <a:ext uri="{FF2B5EF4-FFF2-40B4-BE49-F238E27FC236}">
                <a16:creationId xmlns:a16="http://schemas.microsoft.com/office/drawing/2014/main" id="{067F3BC2-457D-46EE-CC28-119F9439FC44}"/>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DD20CCDA-0ED1-DE18-0D54-8763A16EDFC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6334DF22-AD7C-B8F9-B479-DB8DF309E2C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6CAA2D51-9DD1-ACF2-79E7-FDD1575AD2D7}"/>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Banking on demography</a:t>
            </a:r>
            <a:br>
              <a:rPr lang="de-LI" sz="1100" dirty="0"/>
            </a:br>
            <a:r>
              <a:rPr lang="de-LI" sz="1100" dirty="0"/>
              <a:t>(Doerr &amp; Kabas)</a:t>
            </a:r>
            <a:endParaRPr lang="en-GB" sz="1100" dirty="0"/>
          </a:p>
        </p:txBody>
      </p:sp>
      <p:grpSp>
        <p:nvGrpSpPr>
          <p:cNvPr id="51" name="Down arrow">
            <a:extLst>
              <a:ext uri="{FF2B5EF4-FFF2-40B4-BE49-F238E27FC236}">
                <a16:creationId xmlns:a16="http://schemas.microsoft.com/office/drawing/2014/main" id="{098F8DAD-BC8D-67D6-4F3F-DD900A2A9C9B}"/>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652D05E1-D80D-EC0C-F447-B31AA4432C8A}"/>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C8C0A881-ADB2-7099-C4C0-6BFA181B1BA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1BA75A29-D528-587A-1B2E-384C33ED805B}"/>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Demographics &amp; structure of bank BS</a:t>
            </a:r>
            <a:br>
              <a:rPr lang="en-GB" sz="1100" dirty="0"/>
            </a:br>
            <a:r>
              <a:rPr lang="en-GB" sz="1100" dirty="0"/>
              <a:t>(Avramidis &amp; Pennacchi)</a:t>
            </a:r>
          </a:p>
        </p:txBody>
      </p:sp>
      <p:grpSp>
        <p:nvGrpSpPr>
          <p:cNvPr id="56" name="Down arrow">
            <a:extLst>
              <a:ext uri="{FF2B5EF4-FFF2-40B4-BE49-F238E27FC236}">
                <a16:creationId xmlns:a16="http://schemas.microsoft.com/office/drawing/2014/main" id="{9E09EE23-7667-5AEE-AE97-50FD810AC8FF}"/>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E6EE182A-D72C-FB3F-DE6C-B747613CD8C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19A8F4F4-B6BE-4D37-8545-E4842326933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63" name="Rectangle 62">
            <a:extLst>
              <a:ext uri="{FF2B5EF4-FFF2-40B4-BE49-F238E27FC236}">
                <a16:creationId xmlns:a16="http://schemas.microsoft.com/office/drawing/2014/main" id="{7CD9DB22-53D1-75D9-231F-950F98E5F1F2}"/>
              </a:ext>
            </a:extLst>
          </p:cNvPr>
          <p:cNvSpPr/>
          <p:nvPr/>
        </p:nvSpPr>
        <p:spPr>
          <a:xfrm>
            <a:off x="7196196"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Bank-based system growth</a:t>
            </a:r>
            <a:br>
              <a:rPr lang="de-LI" sz="1100" dirty="0"/>
            </a:br>
            <a:r>
              <a:rPr lang="de-LI" sz="1100" dirty="0"/>
              <a:t>(Beck et al.)</a:t>
            </a:r>
            <a:endParaRPr lang="en-GB" sz="1100" dirty="0"/>
          </a:p>
        </p:txBody>
      </p:sp>
      <p:grpSp>
        <p:nvGrpSpPr>
          <p:cNvPr id="65" name="Down arrow">
            <a:extLst>
              <a:ext uri="{FF2B5EF4-FFF2-40B4-BE49-F238E27FC236}">
                <a16:creationId xmlns:a16="http://schemas.microsoft.com/office/drawing/2014/main" id="{F9778E33-6B6C-16EC-563B-F6CBB403E056}"/>
              </a:ext>
            </a:extLst>
          </p:cNvPr>
          <p:cNvGrpSpPr>
            <a:grpSpLocks noChangeAspect="1"/>
          </p:cNvGrpSpPr>
          <p:nvPr/>
        </p:nvGrpSpPr>
        <p:grpSpPr>
          <a:xfrm rot="10800000" flipV="1">
            <a:off x="7837040" y="3825572"/>
            <a:ext cx="307340" cy="307340"/>
            <a:chOff x="1413494" y="4670360"/>
            <a:chExt cx="442162" cy="456033"/>
          </a:xfrm>
        </p:grpSpPr>
        <p:sp>
          <p:nvSpPr>
            <p:cNvPr id="66" name="Ellipse 69">
              <a:extLst>
                <a:ext uri="{FF2B5EF4-FFF2-40B4-BE49-F238E27FC236}">
                  <a16:creationId xmlns:a16="http://schemas.microsoft.com/office/drawing/2014/main" id="{F08AF08D-2C24-D601-A5D7-84F25EED135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67" name="Flèche vers la droite 45">
              <a:extLst>
                <a:ext uri="{FF2B5EF4-FFF2-40B4-BE49-F238E27FC236}">
                  <a16:creationId xmlns:a16="http://schemas.microsoft.com/office/drawing/2014/main" id="{29E66249-7A75-0C26-C857-6B540339D76A}"/>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EC71A7E1-5415-5251-47FB-EC4FCEE8C118}"/>
              </a:ext>
            </a:extLst>
          </p:cNvPr>
          <p:cNvSpPr txBox="1"/>
          <p:nvPr/>
        </p:nvSpPr>
        <p:spPr>
          <a:xfrm>
            <a:off x="358775" y="1606787"/>
            <a:ext cx="854927" cy="261610"/>
          </a:xfrm>
          <a:prstGeom prst="rect">
            <a:avLst/>
          </a:prstGeom>
          <a:noFill/>
        </p:spPr>
        <p:txBody>
          <a:bodyPr wrap="square" rtlCol="0">
            <a:spAutoFit/>
          </a:bodyPr>
          <a:lstStyle/>
          <a:p>
            <a:r>
              <a:rPr lang="en-CH" sz="1100" b="1" dirty="0">
                <a:solidFill>
                  <a:schemeClr val="accent1"/>
                </a:solidFill>
              </a:rPr>
              <a:t>Topic</a:t>
            </a:r>
            <a:endParaRPr lang="en-GB" sz="1100" dirty="0">
              <a:solidFill>
                <a:schemeClr val="accent1"/>
              </a:solidFill>
            </a:endParaRPr>
          </a:p>
        </p:txBody>
      </p:sp>
      <p:sp>
        <p:nvSpPr>
          <p:cNvPr id="74" name="TextBox 73">
            <a:extLst>
              <a:ext uri="{FF2B5EF4-FFF2-40B4-BE49-F238E27FC236}">
                <a16:creationId xmlns:a16="http://schemas.microsoft.com/office/drawing/2014/main" id="{FAE23196-8E77-1F8D-3C8A-E9188314749F}"/>
              </a:ext>
            </a:extLst>
          </p:cNvPr>
          <p:cNvSpPr txBox="1"/>
          <p:nvPr/>
        </p:nvSpPr>
        <p:spPr>
          <a:xfrm>
            <a:off x="1563106" y="1602517"/>
            <a:ext cx="1589027" cy="600164"/>
          </a:xfrm>
          <a:prstGeom prst="rect">
            <a:avLst/>
          </a:prstGeom>
          <a:noFill/>
        </p:spPr>
        <p:txBody>
          <a:bodyPr wrap="square" rtlCol="0">
            <a:spAutoFit/>
          </a:bodyPr>
          <a:lstStyle/>
          <a:p>
            <a:r>
              <a:rPr lang="en-US" sz="1100" dirty="0"/>
              <a:t>What are the impl. of an aging population for financial stability?</a:t>
            </a:r>
            <a:endParaRPr lang="en-GB" sz="1100" dirty="0"/>
          </a:p>
        </p:txBody>
      </p:sp>
      <p:sp>
        <p:nvSpPr>
          <p:cNvPr id="75" name="TextBox 74">
            <a:extLst>
              <a:ext uri="{FF2B5EF4-FFF2-40B4-BE49-F238E27FC236}">
                <a16:creationId xmlns:a16="http://schemas.microsoft.com/office/drawing/2014/main" id="{D5912DBB-A65B-0EA4-24E0-3D5429B818EB}"/>
              </a:ext>
            </a:extLst>
          </p:cNvPr>
          <p:cNvSpPr txBox="1"/>
          <p:nvPr/>
        </p:nvSpPr>
        <p:spPr>
          <a:xfrm>
            <a:off x="358775" y="2198462"/>
            <a:ext cx="854927" cy="261610"/>
          </a:xfrm>
          <a:prstGeom prst="rect">
            <a:avLst/>
          </a:prstGeom>
          <a:noFill/>
        </p:spPr>
        <p:txBody>
          <a:bodyPr wrap="square" rtlCol="0">
            <a:spAutoFit/>
          </a:bodyPr>
          <a:lstStyle/>
          <a:p>
            <a:r>
              <a:rPr lang="en-CH" sz="1100" b="1" dirty="0">
                <a:solidFill>
                  <a:schemeClr val="accent1"/>
                </a:solidFill>
              </a:rPr>
              <a:t>Year</a:t>
            </a:r>
            <a:endParaRPr lang="en-GB" sz="1100" dirty="0">
              <a:solidFill>
                <a:schemeClr val="accent1"/>
              </a:solidFill>
            </a:endParaRPr>
          </a:p>
        </p:txBody>
      </p:sp>
      <p:sp>
        <p:nvSpPr>
          <p:cNvPr id="76" name="TextBox 75">
            <a:extLst>
              <a:ext uri="{FF2B5EF4-FFF2-40B4-BE49-F238E27FC236}">
                <a16:creationId xmlns:a16="http://schemas.microsoft.com/office/drawing/2014/main" id="{287088CA-4A19-2555-26D7-DD458D6CDD3E}"/>
              </a:ext>
            </a:extLst>
          </p:cNvPr>
          <p:cNvSpPr txBox="1"/>
          <p:nvPr/>
        </p:nvSpPr>
        <p:spPr>
          <a:xfrm>
            <a:off x="1563106" y="2194192"/>
            <a:ext cx="1589027" cy="261610"/>
          </a:xfrm>
          <a:prstGeom prst="rect">
            <a:avLst/>
          </a:prstGeom>
          <a:noFill/>
        </p:spPr>
        <p:txBody>
          <a:bodyPr wrap="square" rtlCol="0">
            <a:spAutoFit/>
          </a:bodyPr>
          <a:lstStyle/>
          <a:p>
            <a:pPr algn="ctr"/>
            <a:r>
              <a:rPr lang="de-LI" sz="1100" dirty="0"/>
              <a:t>2022</a:t>
            </a:r>
            <a:endParaRPr lang="en-GB" sz="1100" dirty="0"/>
          </a:p>
        </p:txBody>
      </p:sp>
      <p:sp>
        <p:nvSpPr>
          <p:cNvPr id="77" name="TextBox 76">
            <a:extLst>
              <a:ext uri="{FF2B5EF4-FFF2-40B4-BE49-F238E27FC236}">
                <a16:creationId xmlns:a16="http://schemas.microsoft.com/office/drawing/2014/main" id="{E7C52042-C597-DEB5-79B2-3FBC93C669F3}"/>
              </a:ext>
            </a:extLst>
          </p:cNvPr>
          <p:cNvSpPr txBox="1"/>
          <p:nvPr/>
        </p:nvSpPr>
        <p:spPr>
          <a:xfrm>
            <a:off x="358775" y="2559209"/>
            <a:ext cx="854927" cy="261610"/>
          </a:xfrm>
          <a:prstGeom prst="rect">
            <a:avLst/>
          </a:prstGeom>
          <a:noFill/>
        </p:spPr>
        <p:txBody>
          <a:bodyPr wrap="square" rtlCol="0">
            <a:spAutoFit/>
          </a:bodyPr>
          <a:lstStyle/>
          <a:p>
            <a:r>
              <a:rPr lang="en-CH" sz="1100" b="1" dirty="0">
                <a:solidFill>
                  <a:schemeClr val="accent1"/>
                </a:solidFill>
              </a:rPr>
              <a:t>Journal</a:t>
            </a:r>
            <a:endParaRPr lang="en-GB" sz="1100" dirty="0">
              <a:solidFill>
                <a:schemeClr val="accent1"/>
              </a:solidFill>
            </a:endParaRPr>
          </a:p>
        </p:txBody>
      </p:sp>
      <p:sp>
        <p:nvSpPr>
          <p:cNvPr id="78" name="TextBox 77">
            <a:extLst>
              <a:ext uri="{FF2B5EF4-FFF2-40B4-BE49-F238E27FC236}">
                <a16:creationId xmlns:a16="http://schemas.microsoft.com/office/drawing/2014/main" id="{13EABE43-D81F-C7F0-886A-C857A3A10443}"/>
              </a:ext>
            </a:extLst>
          </p:cNvPr>
          <p:cNvSpPr txBox="1"/>
          <p:nvPr/>
        </p:nvSpPr>
        <p:spPr>
          <a:xfrm>
            <a:off x="1563106" y="2554939"/>
            <a:ext cx="1589027" cy="261610"/>
          </a:xfrm>
          <a:prstGeom prst="rect">
            <a:avLst/>
          </a:prstGeom>
          <a:noFill/>
        </p:spPr>
        <p:txBody>
          <a:bodyPr wrap="square" rtlCol="0">
            <a:spAutoFit/>
          </a:bodyPr>
          <a:lstStyle/>
          <a:p>
            <a:pPr algn="ctr"/>
            <a:r>
              <a:rPr lang="de-LI" sz="1100" dirty="0"/>
              <a:t>BIS Working Paper</a:t>
            </a:r>
            <a:endParaRPr lang="en-GB" sz="1100" dirty="0"/>
          </a:p>
        </p:txBody>
      </p:sp>
      <p:sp>
        <p:nvSpPr>
          <p:cNvPr id="79" name="TextBox 78">
            <a:extLst>
              <a:ext uri="{FF2B5EF4-FFF2-40B4-BE49-F238E27FC236}">
                <a16:creationId xmlns:a16="http://schemas.microsoft.com/office/drawing/2014/main" id="{AA66518D-28EB-F0A2-D991-1E7B791C752E}"/>
              </a:ext>
            </a:extLst>
          </p:cNvPr>
          <p:cNvSpPr txBox="1"/>
          <p:nvPr/>
        </p:nvSpPr>
        <p:spPr>
          <a:xfrm>
            <a:off x="358775" y="3066157"/>
            <a:ext cx="986805" cy="261610"/>
          </a:xfrm>
          <a:prstGeom prst="rect">
            <a:avLst/>
          </a:prstGeom>
          <a:noFill/>
        </p:spPr>
        <p:txBody>
          <a:bodyPr wrap="square" rtlCol="0">
            <a:spAutoFit/>
          </a:bodyPr>
          <a:lstStyle/>
          <a:p>
            <a:r>
              <a:rPr lang="en-CH" sz="1100" b="1" dirty="0">
                <a:solidFill>
                  <a:schemeClr val="accent1"/>
                </a:solidFill>
              </a:rPr>
              <a:t>Key findings</a:t>
            </a:r>
            <a:endParaRPr lang="en-GB" sz="1100" dirty="0">
              <a:solidFill>
                <a:schemeClr val="accent1"/>
              </a:solidFill>
            </a:endParaRPr>
          </a:p>
        </p:txBody>
      </p:sp>
      <p:sp>
        <p:nvSpPr>
          <p:cNvPr id="80" name="TextBox 79">
            <a:extLst>
              <a:ext uri="{FF2B5EF4-FFF2-40B4-BE49-F238E27FC236}">
                <a16:creationId xmlns:a16="http://schemas.microsoft.com/office/drawing/2014/main" id="{3E3B3BEC-2771-BD93-EF6A-40992415B7B1}"/>
              </a:ext>
            </a:extLst>
          </p:cNvPr>
          <p:cNvSpPr txBox="1"/>
          <p:nvPr/>
        </p:nvSpPr>
        <p:spPr>
          <a:xfrm>
            <a:off x="1563106" y="3061887"/>
            <a:ext cx="1589027" cy="600164"/>
          </a:xfrm>
          <a:prstGeom prst="rect">
            <a:avLst/>
          </a:prstGeom>
          <a:noFill/>
        </p:spPr>
        <p:txBody>
          <a:bodyPr wrap="square" rtlCol="0">
            <a:spAutoFit/>
          </a:bodyPr>
          <a:lstStyle/>
          <a:p>
            <a:r>
              <a:rPr lang="en-US" sz="1100" dirty="0"/>
              <a:t>Areas with more elderly people experience higher bank deposits</a:t>
            </a:r>
            <a:endParaRPr lang="en-GB" sz="1100" dirty="0"/>
          </a:p>
        </p:txBody>
      </p:sp>
      <p:sp>
        <p:nvSpPr>
          <p:cNvPr id="81" name="TextBox 80">
            <a:extLst>
              <a:ext uri="{FF2B5EF4-FFF2-40B4-BE49-F238E27FC236}">
                <a16:creationId xmlns:a16="http://schemas.microsoft.com/office/drawing/2014/main" id="{99F881A2-16F5-A9C0-FB83-1C25B3A4329A}"/>
              </a:ext>
            </a:extLst>
          </p:cNvPr>
          <p:cNvSpPr txBox="1"/>
          <p:nvPr/>
        </p:nvSpPr>
        <p:spPr>
          <a:xfrm>
            <a:off x="3440803" y="1602517"/>
            <a:ext cx="1589027" cy="600164"/>
          </a:xfrm>
          <a:prstGeom prst="rect">
            <a:avLst/>
          </a:prstGeom>
          <a:noFill/>
        </p:spPr>
        <p:txBody>
          <a:bodyPr wrap="square" rtlCol="0">
            <a:spAutoFit/>
          </a:bodyPr>
          <a:lstStyle/>
          <a:p>
            <a:r>
              <a:rPr lang="en-US" sz="1100" dirty="0"/>
              <a:t>Impact of ageing population on banking sector</a:t>
            </a:r>
            <a:endParaRPr lang="en-GB" sz="1100" dirty="0"/>
          </a:p>
        </p:txBody>
      </p:sp>
      <p:sp>
        <p:nvSpPr>
          <p:cNvPr id="82" name="TextBox 81">
            <a:extLst>
              <a:ext uri="{FF2B5EF4-FFF2-40B4-BE49-F238E27FC236}">
                <a16:creationId xmlns:a16="http://schemas.microsoft.com/office/drawing/2014/main" id="{6E2A8F12-C5BC-B64C-5CF2-D3E232D68CD3}"/>
              </a:ext>
            </a:extLst>
          </p:cNvPr>
          <p:cNvSpPr txBox="1"/>
          <p:nvPr/>
        </p:nvSpPr>
        <p:spPr>
          <a:xfrm>
            <a:off x="3440803" y="2194192"/>
            <a:ext cx="1589027" cy="261610"/>
          </a:xfrm>
          <a:prstGeom prst="rect">
            <a:avLst/>
          </a:prstGeom>
          <a:noFill/>
        </p:spPr>
        <p:txBody>
          <a:bodyPr wrap="square" rtlCol="0">
            <a:spAutoFit/>
          </a:bodyPr>
          <a:lstStyle/>
          <a:p>
            <a:pPr algn="ctr"/>
            <a:r>
              <a:rPr lang="de-LI" sz="1100" dirty="0"/>
              <a:t>2019</a:t>
            </a:r>
            <a:endParaRPr lang="en-GB" sz="1100" dirty="0"/>
          </a:p>
        </p:txBody>
      </p:sp>
      <p:sp>
        <p:nvSpPr>
          <p:cNvPr id="83" name="TextBox 82">
            <a:extLst>
              <a:ext uri="{FF2B5EF4-FFF2-40B4-BE49-F238E27FC236}">
                <a16:creationId xmlns:a16="http://schemas.microsoft.com/office/drawing/2014/main" id="{F212CA17-3427-BE18-96C3-6845B0245825}"/>
              </a:ext>
            </a:extLst>
          </p:cNvPr>
          <p:cNvSpPr txBox="1"/>
          <p:nvPr/>
        </p:nvSpPr>
        <p:spPr>
          <a:xfrm>
            <a:off x="3440803" y="2554939"/>
            <a:ext cx="1589027" cy="261610"/>
          </a:xfrm>
          <a:prstGeom prst="rect">
            <a:avLst/>
          </a:prstGeom>
          <a:noFill/>
        </p:spPr>
        <p:txBody>
          <a:bodyPr wrap="square" rtlCol="0">
            <a:spAutoFit/>
          </a:bodyPr>
          <a:lstStyle/>
          <a:p>
            <a:pPr algn="ctr"/>
            <a:r>
              <a:rPr lang="de-LI" sz="1100" dirty="0"/>
              <a:t>N.a.</a:t>
            </a:r>
            <a:endParaRPr lang="en-GB" sz="1100" dirty="0"/>
          </a:p>
        </p:txBody>
      </p:sp>
      <p:sp>
        <p:nvSpPr>
          <p:cNvPr id="84" name="TextBox 83">
            <a:extLst>
              <a:ext uri="{FF2B5EF4-FFF2-40B4-BE49-F238E27FC236}">
                <a16:creationId xmlns:a16="http://schemas.microsoft.com/office/drawing/2014/main" id="{F2295E64-D5C0-5EB1-169A-95B97580970F}"/>
              </a:ext>
            </a:extLst>
          </p:cNvPr>
          <p:cNvSpPr txBox="1"/>
          <p:nvPr/>
        </p:nvSpPr>
        <p:spPr>
          <a:xfrm>
            <a:off x="3440803" y="3061887"/>
            <a:ext cx="1589027" cy="769441"/>
          </a:xfrm>
          <a:prstGeom prst="rect">
            <a:avLst/>
          </a:prstGeom>
          <a:noFill/>
        </p:spPr>
        <p:txBody>
          <a:bodyPr wrap="square" rtlCol="0">
            <a:spAutoFit/>
          </a:bodyPr>
          <a:lstStyle/>
          <a:p>
            <a:r>
              <a:rPr lang="en-US" sz="1100" dirty="0"/>
              <a:t>A 10% increase in the elderly population increases bank deposits by about 4.6%</a:t>
            </a:r>
            <a:endParaRPr lang="en-GB" sz="1100" dirty="0"/>
          </a:p>
        </p:txBody>
      </p:sp>
      <p:sp>
        <p:nvSpPr>
          <p:cNvPr id="85" name="TextBox 84">
            <a:extLst>
              <a:ext uri="{FF2B5EF4-FFF2-40B4-BE49-F238E27FC236}">
                <a16:creationId xmlns:a16="http://schemas.microsoft.com/office/drawing/2014/main" id="{3EB5C026-6A78-821E-7015-5E5F3C9F5986}"/>
              </a:ext>
            </a:extLst>
          </p:cNvPr>
          <p:cNvSpPr txBox="1"/>
          <p:nvPr/>
        </p:nvSpPr>
        <p:spPr>
          <a:xfrm>
            <a:off x="5318501" y="1602517"/>
            <a:ext cx="1589027" cy="600164"/>
          </a:xfrm>
          <a:prstGeom prst="rect">
            <a:avLst/>
          </a:prstGeom>
          <a:noFill/>
        </p:spPr>
        <p:txBody>
          <a:bodyPr wrap="square" rtlCol="0">
            <a:spAutoFit/>
          </a:bodyPr>
          <a:lstStyle/>
          <a:p>
            <a:r>
              <a:rPr lang="en-US" sz="1100" dirty="0"/>
              <a:t>he Effects of an Aging Population on the Structure of Bank BS</a:t>
            </a:r>
            <a:endParaRPr lang="en-GB" sz="1100" dirty="0"/>
          </a:p>
        </p:txBody>
      </p:sp>
      <p:sp>
        <p:nvSpPr>
          <p:cNvPr id="86" name="TextBox 85">
            <a:extLst>
              <a:ext uri="{FF2B5EF4-FFF2-40B4-BE49-F238E27FC236}">
                <a16:creationId xmlns:a16="http://schemas.microsoft.com/office/drawing/2014/main" id="{283DDC51-6444-A38D-CBD8-01F712175980}"/>
              </a:ext>
            </a:extLst>
          </p:cNvPr>
          <p:cNvSpPr txBox="1"/>
          <p:nvPr/>
        </p:nvSpPr>
        <p:spPr>
          <a:xfrm>
            <a:off x="5318501" y="2194192"/>
            <a:ext cx="1589027" cy="261610"/>
          </a:xfrm>
          <a:prstGeom prst="rect">
            <a:avLst/>
          </a:prstGeom>
          <a:noFill/>
        </p:spPr>
        <p:txBody>
          <a:bodyPr wrap="square" rtlCol="0">
            <a:spAutoFit/>
          </a:bodyPr>
          <a:lstStyle/>
          <a:p>
            <a:pPr algn="ctr"/>
            <a:r>
              <a:rPr lang="de-LI" sz="1100" dirty="0"/>
              <a:t>2025</a:t>
            </a:r>
            <a:endParaRPr lang="en-GB" sz="1100" dirty="0"/>
          </a:p>
        </p:txBody>
      </p:sp>
      <p:sp>
        <p:nvSpPr>
          <p:cNvPr id="87" name="TextBox 86">
            <a:extLst>
              <a:ext uri="{FF2B5EF4-FFF2-40B4-BE49-F238E27FC236}">
                <a16:creationId xmlns:a16="http://schemas.microsoft.com/office/drawing/2014/main" id="{A8C524B0-82AD-703E-B8F8-5CCC6DEE8CAD}"/>
              </a:ext>
            </a:extLst>
          </p:cNvPr>
          <p:cNvSpPr txBox="1"/>
          <p:nvPr/>
        </p:nvSpPr>
        <p:spPr>
          <a:xfrm>
            <a:off x="5318501" y="2554939"/>
            <a:ext cx="1589027" cy="430887"/>
          </a:xfrm>
          <a:prstGeom prst="rect">
            <a:avLst/>
          </a:prstGeom>
          <a:noFill/>
        </p:spPr>
        <p:txBody>
          <a:bodyPr wrap="square" rtlCol="0">
            <a:spAutoFit/>
          </a:bodyPr>
          <a:lstStyle/>
          <a:p>
            <a:pPr algn="ctr"/>
            <a:r>
              <a:rPr lang="de-LI" sz="1100" dirty="0"/>
              <a:t>Journal of Money, Credit, Banking</a:t>
            </a:r>
            <a:endParaRPr lang="en-GB" sz="1100" dirty="0"/>
          </a:p>
        </p:txBody>
      </p:sp>
      <p:sp>
        <p:nvSpPr>
          <p:cNvPr id="88" name="TextBox 87">
            <a:extLst>
              <a:ext uri="{FF2B5EF4-FFF2-40B4-BE49-F238E27FC236}">
                <a16:creationId xmlns:a16="http://schemas.microsoft.com/office/drawing/2014/main" id="{DA6921A7-350B-BA30-2109-0BAC554ECF15}"/>
              </a:ext>
            </a:extLst>
          </p:cNvPr>
          <p:cNvSpPr txBox="1"/>
          <p:nvPr/>
        </p:nvSpPr>
        <p:spPr>
          <a:xfrm>
            <a:off x="5318501" y="3061887"/>
            <a:ext cx="1589027" cy="769441"/>
          </a:xfrm>
          <a:prstGeom prst="rect">
            <a:avLst/>
          </a:prstGeom>
          <a:noFill/>
        </p:spPr>
        <p:txBody>
          <a:bodyPr wrap="square" rtlCol="0">
            <a:spAutoFit/>
          </a:bodyPr>
          <a:lstStyle/>
          <a:p>
            <a:r>
              <a:rPr lang="en-US" sz="1100" dirty="0"/>
              <a:t>Banks in older regions rely more on retail deposits and less on wholesale funding</a:t>
            </a:r>
            <a:endParaRPr lang="en-GB" sz="1100" dirty="0"/>
          </a:p>
        </p:txBody>
      </p:sp>
      <p:sp>
        <p:nvSpPr>
          <p:cNvPr id="89" name="TextBox 88">
            <a:extLst>
              <a:ext uri="{FF2B5EF4-FFF2-40B4-BE49-F238E27FC236}">
                <a16:creationId xmlns:a16="http://schemas.microsoft.com/office/drawing/2014/main" id="{5592DA2B-6199-37DF-A959-85C99F70B398}"/>
              </a:ext>
            </a:extLst>
          </p:cNvPr>
          <p:cNvSpPr txBox="1"/>
          <p:nvPr/>
        </p:nvSpPr>
        <p:spPr>
          <a:xfrm>
            <a:off x="7196198" y="1602517"/>
            <a:ext cx="1589027" cy="430887"/>
          </a:xfrm>
          <a:prstGeom prst="rect">
            <a:avLst/>
          </a:prstGeom>
          <a:noFill/>
        </p:spPr>
        <p:txBody>
          <a:bodyPr wrap="square" rtlCol="0">
            <a:spAutoFit/>
          </a:bodyPr>
          <a:lstStyle/>
          <a:p>
            <a:r>
              <a:rPr lang="de-LI" sz="1100" dirty="0"/>
              <a:t>Financial intermediary and private saving rates</a:t>
            </a:r>
            <a:endParaRPr lang="en-GB" sz="1100" dirty="0"/>
          </a:p>
        </p:txBody>
      </p:sp>
      <p:sp>
        <p:nvSpPr>
          <p:cNvPr id="90" name="TextBox 89">
            <a:extLst>
              <a:ext uri="{FF2B5EF4-FFF2-40B4-BE49-F238E27FC236}">
                <a16:creationId xmlns:a16="http://schemas.microsoft.com/office/drawing/2014/main" id="{0D05FE3E-F3A2-DC67-15FC-288E7380E330}"/>
              </a:ext>
            </a:extLst>
          </p:cNvPr>
          <p:cNvSpPr txBox="1"/>
          <p:nvPr/>
        </p:nvSpPr>
        <p:spPr>
          <a:xfrm>
            <a:off x="7196198" y="2194192"/>
            <a:ext cx="1589027" cy="261610"/>
          </a:xfrm>
          <a:prstGeom prst="rect">
            <a:avLst/>
          </a:prstGeom>
          <a:noFill/>
        </p:spPr>
        <p:txBody>
          <a:bodyPr wrap="square" rtlCol="0">
            <a:spAutoFit/>
          </a:bodyPr>
          <a:lstStyle/>
          <a:p>
            <a:pPr algn="ctr"/>
            <a:r>
              <a:rPr lang="de-LI" sz="1100" dirty="0"/>
              <a:t>2000</a:t>
            </a:r>
            <a:endParaRPr lang="en-GB" sz="1100" dirty="0"/>
          </a:p>
        </p:txBody>
      </p:sp>
      <p:sp>
        <p:nvSpPr>
          <p:cNvPr id="91" name="TextBox 90">
            <a:extLst>
              <a:ext uri="{FF2B5EF4-FFF2-40B4-BE49-F238E27FC236}">
                <a16:creationId xmlns:a16="http://schemas.microsoft.com/office/drawing/2014/main" id="{11EEF867-64BD-759B-7B28-F3168B22F470}"/>
              </a:ext>
            </a:extLst>
          </p:cNvPr>
          <p:cNvSpPr txBox="1"/>
          <p:nvPr/>
        </p:nvSpPr>
        <p:spPr>
          <a:xfrm>
            <a:off x="7196198" y="2554939"/>
            <a:ext cx="1589027" cy="430887"/>
          </a:xfrm>
          <a:prstGeom prst="rect">
            <a:avLst/>
          </a:prstGeom>
          <a:noFill/>
        </p:spPr>
        <p:txBody>
          <a:bodyPr wrap="square" rtlCol="0">
            <a:spAutoFit/>
          </a:bodyPr>
          <a:lstStyle/>
          <a:p>
            <a:pPr algn="ctr"/>
            <a:r>
              <a:rPr lang="de-LI" sz="1100" dirty="0"/>
              <a:t>Journal of Financial Economics</a:t>
            </a:r>
            <a:endParaRPr lang="en-GB" sz="1100" dirty="0"/>
          </a:p>
        </p:txBody>
      </p:sp>
      <p:sp>
        <p:nvSpPr>
          <p:cNvPr id="92" name="TextBox 91">
            <a:extLst>
              <a:ext uri="{FF2B5EF4-FFF2-40B4-BE49-F238E27FC236}">
                <a16:creationId xmlns:a16="http://schemas.microsoft.com/office/drawing/2014/main" id="{DF8E80AE-D592-EC6F-C581-042700A975E3}"/>
              </a:ext>
            </a:extLst>
          </p:cNvPr>
          <p:cNvSpPr txBox="1"/>
          <p:nvPr/>
        </p:nvSpPr>
        <p:spPr>
          <a:xfrm>
            <a:off x="7196198" y="3061887"/>
            <a:ext cx="1589027" cy="769441"/>
          </a:xfrm>
          <a:prstGeom prst="rect">
            <a:avLst/>
          </a:prstGeom>
          <a:noFill/>
        </p:spPr>
        <p:txBody>
          <a:bodyPr wrap="square" rtlCol="0">
            <a:spAutoFit/>
          </a:bodyPr>
          <a:lstStyle/>
          <a:p>
            <a:r>
              <a:rPr lang="en-US" sz="1100" dirty="0"/>
              <a:t>Bank-based financial systems rely heavily on deposits as the main savings channel</a:t>
            </a:r>
            <a:endParaRPr lang="en-GB" sz="1100" dirty="0"/>
          </a:p>
        </p:txBody>
      </p:sp>
      <p:sp>
        <p:nvSpPr>
          <p:cNvPr id="93" name="TextBox 92">
            <a:extLst>
              <a:ext uri="{FF2B5EF4-FFF2-40B4-BE49-F238E27FC236}">
                <a16:creationId xmlns:a16="http://schemas.microsoft.com/office/drawing/2014/main" id="{F113DB48-E8F5-7D0B-3D46-3D3C24EDA71C}"/>
              </a:ext>
            </a:extLst>
          </p:cNvPr>
          <p:cNvSpPr txBox="1"/>
          <p:nvPr/>
        </p:nvSpPr>
        <p:spPr>
          <a:xfrm>
            <a:off x="1563106" y="4175588"/>
            <a:ext cx="1589027" cy="261610"/>
          </a:xfrm>
          <a:prstGeom prst="rect">
            <a:avLst/>
          </a:prstGeom>
          <a:noFill/>
        </p:spPr>
        <p:txBody>
          <a:bodyPr wrap="square" rtlCol="0">
            <a:spAutoFit/>
          </a:bodyPr>
          <a:lstStyle/>
          <a:p>
            <a:pPr algn="ctr"/>
            <a:r>
              <a:rPr lang="en-US" sz="1100" i="1" dirty="0"/>
              <a:t>Strong support for H1</a:t>
            </a:r>
            <a:endParaRPr lang="en-GB" sz="1100" i="1" dirty="0"/>
          </a:p>
        </p:txBody>
      </p:sp>
      <p:sp>
        <p:nvSpPr>
          <p:cNvPr id="94" name="TextBox 93">
            <a:extLst>
              <a:ext uri="{FF2B5EF4-FFF2-40B4-BE49-F238E27FC236}">
                <a16:creationId xmlns:a16="http://schemas.microsoft.com/office/drawing/2014/main" id="{B40F5BFD-2DC4-2E4F-2E7B-3F030BB5A7C1}"/>
              </a:ext>
            </a:extLst>
          </p:cNvPr>
          <p:cNvSpPr txBox="1"/>
          <p:nvPr/>
        </p:nvSpPr>
        <p:spPr>
          <a:xfrm>
            <a:off x="3440803" y="4175588"/>
            <a:ext cx="1589027" cy="261610"/>
          </a:xfrm>
          <a:prstGeom prst="rect">
            <a:avLst/>
          </a:prstGeom>
          <a:noFill/>
        </p:spPr>
        <p:txBody>
          <a:bodyPr wrap="square" rtlCol="0">
            <a:spAutoFit/>
          </a:bodyPr>
          <a:lstStyle/>
          <a:p>
            <a:pPr algn="ctr"/>
            <a:r>
              <a:rPr lang="en-US" sz="1100" i="1" dirty="0"/>
              <a:t>Strong support for H1</a:t>
            </a:r>
            <a:endParaRPr lang="en-GB" sz="1100" i="1" dirty="0"/>
          </a:p>
        </p:txBody>
      </p:sp>
      <p:sp>
        <p:nvSpPr>
          <p:cNvPr id="95" name="TextBox 94">
            <a:extLst>
              <a:ext uri="{FF2B5EF4-FFF2-40B4-BE49-F238E27FC236}">
                <a16:creationId xmlns:a16="http://schemas.microsoft.com/office/drawing/2014/main" id="{4FC0F028-2731-A103-3B7F-CA7D2BDDDFEB}"/>
              </a:ext>
            </a:extLst>
          </p:cNvPr>
          <p:cNvSpPr txBox="1"/>
          <p:nvPr/>
        </p:nvSpPr>
        <p:spPr>
          <a:xfrm>
            <a:off x="5318501" y="4175588"/>
            <a:ext cx="1589027" cy="261610"/>
          </a:xfrm>
          <a:prstGeom prst="rect">
            <a:avLst/>
          </a:prstGeom>
          <a:noFill/>
        </p:spPr>
        <p:txBody>
          <a:bodyPr wrap="square" rtlCol="0">
            <a:spAutoFit/>
          </a:bodyPr>
          <a:lstStyle/>
          <a:p>
            <a:pPr algn="ctr"/>
            <a:r>
              <a:rPr lang="en-US" sz="1100" i="1" dirty="0"/>
              <a:t>Strong support for H1</a:t>
            </a:r>
            <a:endParaRPr lang="en-GB" sz="1100" i="1" dirty="0"/>
          </a:p>
        </p:txBody>
      </p:sp>
      <p:sp>
        <p:nvSpPr>
          <p:cNvPr id="96" name="TextBox 95">
            <a:extLst>
              <a:ext uri="{FF2B5EF4-FFF2-40B4-BE49-F238E27FC236}">
                <a16:creationId xmlns:a16="http://schemas.microsoft.com/office/drawing/2014/main" id="{0E722EBC-90ED-9909-889E-38F402C5F278}"/>
              </a:ext>
            </a:extLst>
          </p:cNvPr>
          <p:cNvSpPr txBox="1"/>
          <p:nvPr/>
        </p:nvSpPr>
        <p:spPr>
          <a:xfrm>
            <a:off x="7196198" y="4175588"/>
            <a:ext cx="1589027" cy="430887"/>
          </a:xfrm>
          <a:prstGeom prst="rect">
            <a:avLst/>
          </a:prstGeom>
          <a:noFill/>
        </p:spPr>
        <p:txBody>
          <a:bodyPr wrap="square" rtlCol="0">
            <a:spAutoFit/>
          </a:bodyPr>
          <a:lstStyle/>
          <a:p>
            <a:pPr algn="ctr"/>
            <a:r>
              <a:rPr lang="de-LI" sz="1100" i="1" dirty="0"/>
              <a:t>Supports intuition behind H1 split by system</a:t>
            </a:r>
            <a:endParaRPr lang="en-GB" sz="1100" i="1" dirty="0"/>
          </a:p>
        </p:txBody>
      </p:sp>
      <p:sp>
        <p:nvSpPr>
          <p:cNvPr id="5" name="Rectangle 4">
            <a:extLst>
              <a:ext uri="{FF2B5EF4-FFF2-40B4-BE49-F238E27FC236}">
                <a16:creationId xmlns:a16="http://schemas.microsoft.com/office/drawing/2014/main" id="{21561ECE-C27C-0227-B646-4CB5FC8A15C2}"/>
              </a:ext>
            </a:extLst>
          </p:cNvPr>
          <p:cNvSpPr/>
          <p:nvPr/>
        </p:nvSpPr>
        <p:spPr>
          <a:xfrm>
            <a:off x="1471961" y="801864"/>
            <a:ext cx="5516137" cy="3710664"/>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B0BEB4E-C18E-734A-7C47-0FEB163DB55B}"/>
              </a:ext>
            </a:extLst>
          </p:cNvPr>
          <p:cNvSpPr txBox="1"/>
          <p:nvPr/>
        </p:nvSpPr>
        <p:spPr>
          <a:xfrm>
            <a:off x="5078104" y="772128"/>
            <a:ext cx="2017158" cy="261610"/>
          </a:xfrm>
          <a:prstGeom prst="rect">
            <a:avLst/>
          </a:prstGeom>
          <a:noFill/>
        </p:spPr>
        <p:txBody>
          <a:bodyPr wrap="square" rtlCol="0">
            <a:spAutoFit/>
          </a:bodyPr>
          <a:lstStyle/>
          <a:p>
            <a:r>
              <a:rPr lang="en-CH" sz="1100" b="1" i="1" dirty="0">
                <a:solidFill>
                  <a:schemeClr val="accent3"/>
                </a:solidFill>
              </a:rPr>
              <a:t>Strongly supporting &amp; recent</a:t>
            </a:r>
            <a:endParaRPr lang="en-GB" sz="1100" b="1" i="1" dirty="0">
              <a:solidFill>
                <a:schemeClr val="accent3"/>
              </a:solidFill>
            </a:endParaRPr>
          </a:p>
        </p:txBody>
      </p:sp>
    </p:spTree>
    <p:extLst>
      <p:ext uri="{BB962C8B-B14F-4D97-AF65-F5344CB8AC3E}">
        <p14:creationId xmlns:p14="http://schemas.microsoft.com/office/powerpoint/2010/main" val="4197039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306D-B757-5B2E-3192-5E08E5E7E27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E436731-8636-8DC0-3584-82B7848FE3B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AE436731-8636-8DC0-3584-82B7848FE3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94D70A3-5757-E87F-A557-F6242A34DDA8}"/>
              </a:ext>
            </a:extLst>
          </p:cNvPr>
          <p:cNvSpPr>
            <a:spLocks noGrp="1"/>
          </p:cNvSpPr>
          <p:nvPr>
            <p:ph type="title"/>
          </p:nvPr>
        </p:nvSpPr>
        <p:spPr/>
        <p:txBody>
          <a:bodyPr vert="horz" rIns="0"/>
          <a:lstStyle/>
          <a:p>
            <a:r>
              <a:rPr lang="de-LI" dirty="0"/>
              <a:t>Academic papers on pension systems &amp; </a:t>
            </a:r>
            <a:r>
              <a:rPr lang="de-LI" dirty="0" err="1"/>
              <a:t>classification</a:t>
            </a:r>
            <a:r>
              <a:rPr lang="de-LI" dirty="0"/>
              <a:t> (1/2)</a:t>
            </a:r>
          </a:p>
        </p:txBody>
      </p:sp>
      <p:sp>
        <p:nvSpPr>
          <p:cNvPr id="3" name="Slide Number Placeholder 2">
            <a:extLst>
              <a:ext uri="{FF2B5EF4-FFF2-40B4-BE49-F238E27FC236}">
                <a16:creationId xmlns:a16="http://schemas.microsoft.com/office/drawing/2014/main" id="{5646EAFC-DEDE-D662-E735-752BA891EF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6</a:t>
            </a:fld>
            <a:endParaRPr lang="en-GB"/>
          </a:p>
        </p:txBody>
      </p:sp>
      <p:sp>
        <p:nvSpPr>
          <p:cNvPr id="12" name="Rectangle 11">
            <a:extLst>
              <a:ext uri="{FF2B5EF4-FFF2-40B4-BE49-F238E27FC236}">
                <a16:creationId xmlns:a16="http://schemas.microsoft.com/office/drawing/2014/main" id="{BC6878DA-9672-2942-ED40-781C70FAEA2C}"/>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Addio et al.</a:t>
            </a:r>
            <a:endParaRPr lang="en-GB" sz="1100" dirty="0"/>
          </a:p>
        </p:txBody>
      </p:sp>
      <p:grpSp>
        <p:nvGrpSpPr>
          <p:cNvPr id="25" name="Down arrow">
            <a:extLst>
              <a:ext uri="{FF2B5EF4-FFF2-40B4-BE49-F238E27FC236}">
                <a16:creationId xmlns:a16="http://schemas.microsoft.com/office/drawing/2014/main" id="{B831132E-8FA7-98D2-BF6C-872E8796E77D}"/>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5D1EF948-0E21-3DAF-AF39-D5F510BA80C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5AC5221B-9F73-BCB7-E612-C5101D93C65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99F0823E-57BF-2BB5-9945-D3129014CB75}"/>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Scharfstein</a:t>
            </a:r>
            <a:endParaRPr lang="en-GB" sz="1100" dirty="0"/>
          </a:p>
        </p:txBody>
      </p:sp>
      <p:grpSp>
        <p:nvGrpSpPr>
          <p:cNvPr id="51" name="Down arrow">
            <a:extLst>
              <a:ext uri="{FF2B5EF4-FFF2-40B4-BE49-F238E27FC236}">
                <a16:creationId xmlns:a16="http://schemas.microsoft.com/office/drawing/2014/main" id="{E4746C8C-934D-4B5B-37CE-BB70F4BBF6B3}"/>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050404E8-B7E2-F2E2-77E1-3C00A7C3987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3F989C58-6F4D-9417-7008-24F0A3B0BC08}"/>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478FBA42-5697-56CB-F9E4-5DDB3D9605E1}"/>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Caloia et al.</a:t>
            </a:r>
          </a:p>
        </p:txBody>
      </p:sp>
      <p:grpSp>
        <p:nvGrpSpPr>
          <p:cNvPr id="56" name="Down arrow">
            <a:extLst>
              <a:ext uri="{FF2B5EF4-FFF2-40B4-BE49-F238E27FC236}">
                <a16:creationId xmlns:a16="http://schemas.microsoft.com/office/drawing/2014/main" id="{F173F7ED-C9B4-03CA-D6C6-B391C30FCA38}"/>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41DFE044-99D8-4D3B-1FB6-D8E707291FB7}"/>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26C437AD-41AB-BF03-BBB3-76B24FEE835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F518A7D8-7518-2111-E8FA-F171D21DD997}"/>
              </a:ext>
            </a:extLst>
          </p:cNvPr>
          <p:cNvSpPr txBox="1"/>
          <p:nvPr/>
        </p:nvSpPr>
        <p:spPr>
          <a:xfrm>
            <a:off x="358775" y="1606787"/>
            <a:ext cx="854927" cy="261610"/>
          </a:xfrm>
          <a:prstGeom prst="rect">
            <a:avLst/>
          </a:prstGeom>
          <a:noFill/>
        </p:spPr>
        <p:txBody>
          <a:bodyPr wrap="square" rtlCol="0">
            <a:spAutoFit/>
          </a:bodyPr>
          <a:lstStyle/>
          <a:p>
            <a:r>
              <a:rPr lang="en-CH" sz="1100" b="1" dirty="0">
                <a:solidFill>
                  <a:schemeClr val="accent1"/>
                </a:solidFill>
              </a:rPr>
              <a:t>Topic</a:t>
            </a:r>
            <a:endParaRPr lang="en-GB" sz="1100" dirty="0">
              <a:solidFill>
                <a:schemeClr val="accent1"/>
              </a:solidFill>
            </a:endParaRPr>
          </a:p>
        </p:txBody>
      </p:sp>
      <p:sp>
        <p:nvSpPr>
          <p:cNvPr id="74" name="TextBox 73">
            <a:extLst>
              <a:ext uri="{FF2B5EF4-FFF2-40B4-BE49-F238E27FC236}">
                <a16:creationId xmlns:a16="http://schemas.microsoft.com/office/drawing/2014/main" id="{3FE8E408-EDAC-CE21-FE97-E5CB8795F483}"/>
              </a:ext>
            </a:extLst>
          </p:cNvPr>
          <p:cNvSpPr txBox="1"/>
          <p:nvPr/>
        </p:nvSpPr>
        <p:spPr>
          <a:xfrm>
            <a:off x="1563106" y="1602517"/>
            <a:ext cx="1589027" cy="600164"/>
          </a:xfrm>
          <a:prstGeom prst="rect">
            <a:avLst/>
          </a:prstGeom>
          <a:noFill/>
        </p:spPr>
        <p:txBody>
          <a:bodyPr wrap="square" rtlCol="0">
            <a:spAutoFit/>
          </a:bodyPr>
          <a:lstStyle/>
          <a:p>
            <a:r>
              <a:rPr lang="en-US" sz="1100" dirty="0"/>
              <a:t>Pension &amp; household savings cross-country analysis</a:t>
            </a:r>
            <a:endParaRPr lang="en-GB" sz="1100" dirty="0"/>
          </a:p>
        </p:txBody>
      </p:sp>
      <p:sp>
        <p:nvSpPr>
          <p:cNvPr id="75" name="TextBox 74">
            <a:extLst>
              <a:ext uri="{FF2B5EF4-FFF2-40B4-BE49-F238E27FC236}">
                <a16:creationId xmlns:a16="http://schemas.microsoft.com/office/drawing/2014/main" id="{7B9EBF5E-86D0-3008-25C0-1882C3109154}"/>
              </a:ext>
            </a:extLst>
          </p:cNvPr>
          <p:cNvSpPr txBox="1"/>
          <p:nvPr/>
        </p:nvSpPr>
        <p:spPr>
          <a:xfrm>
            <a:off x="358775" y="2198462"/>
            <a:ext cx="854927" cy="261610"/>
          </a:xfrm>
          <a:prstGeom prst="rect">
            <a:avLst/>
          </a:prstGeom>
          <a:noFill/>
        </p:spPr>
        <p:txBody>
          <a:bodyPr wrap="square" rtlCol="0">
            <a:spAutoFit/>
          </a:bodyPr>
          <a:lstStyle/>
          <a:p>
            <a:r>
              <a:rPr lang="en-CH" sz="1100" b="1" dirty="0">
                <a:solidFill>
                  <a:schemeClr val="accent1"/>
                </a:solidFill>
              </a:rPr>
              <a:t>Year</a:t>
            </a:r>
            <a:endParaRPr lang="en-GB" sz="1100" dirty="0">
              <a:solidFill>
                <a:schemeClr val="accent1"/>
              </a:solidFill>
            </a:endParaRPr>
          </a:p>
        </p:txBody>
      </p:sp>
      <p:sp>
        <p:nvSpPr>
          <p:cNvPr id="76" name="TextBox 75">
            <a:extLst>
              <a:ext uri="{FF2B5EF4-FFF2-40B4-BE49-F238E27FC236}">
                <a16:creationId xmlns:a16="http://schemas.microsoft.com/office/drawing/2014/main" id="{B987DD09-F19B-FC47-6CF2-C8A856445784}"/>
              </a:ext>
            </a:extLst>
          </p:cNvPr>
          <p:cNvSpPr txBox="1"/>
          <p:nvPr/>
        </p:nvSpPr>
        <p:spPr>
          <a:xfrm>
            <a:off x="1563106" y="2194192"/>
            <a:ext cx="1589027" cy="261610"/>
          </a:xfrm>
          <a:prstGeom prst="rect">
            <a:avLst/>
          </a:prstGeom>
          <a:noFill/>
        </p:spPr>
        <p:txBody>
          <a:bodyPr wrap="square" rtlCol="0">
            <a:spAutoFit/>
          </a:bodyPr>
          <a:lstStyle/>
          <a:p>
            <a:pPr algn="ctr"/>
            <a:r>
              <a:rPr lang="de-LI" sz="1100" dirty="0"/>
              <a:t>2020</a:t>
            </a:r>
            <a:endParaRPr lang="en-GB" sz="1100" dirty="0"/>
          </a:p>
        </p:txBody>
      </p:sp>
      <p:sp>
        <p:nvSpPr>
          <p:cNvPr id="77" name="TextBox 76">
            <a:extLst>
              <a:ext uri="{FF2B5EF4-FFF2-40B4-BE49-F238E27FC236}">
                <a16:creationId xmlns:a16="http://schemas.microsoft.com/office/drawing/2014/main" id="{3F60BF03-CDCA-3D5D-662D-676217DFEDB1}"/>
              </a:ext>
            </a:extLst>
          </p:cNvPr>
          <p:cNvSpPr txBox="1"/>
          <p:nvPr/>
        </p:nvSpPr>
        <p:spPr>
          <a:xfrm>
            <a:off x="358775" y="2559209"/>
            <a:ext cx="854927" cy="261610"/>
          </a:xfrm>
          <a:prstGeom prst="rect">
            <a:avLst/>
          </a:prstGeom>
          <a:noFill/>
        </p:spPr>
        <p:txBody>
          <a:bodyPr wrap="square" rtlCol="0">
            <a:spAutoFit/>
          </a:bodyPr>
          <a:lstStyle/>
          <a:p>
            <a:r>
              <a:rPr lang="en-CH" sz="1100" b="1" dirty="0">
                <a:solidFill>
                  <a:schemeClr val="accent1"/>
                </a:solidFill>
              </a:rPr>
              <a:t>Journal</a:t>
            </a:r>
            <a:endParaRPr lang="en-GB" sz="1100" dirty="0">
              <a:solidFill>
                <a:schemeClr val="accent1"/>
              </a:solidFill>
            </a:endParaRPr>
          </a:p>
        </p:txBody>
      </p:sp>
      <p:sp>
        <p:nvSpPr>
          <p:cNvPr id="78" name="TextBox 77">
            <a:extLst>
              <a:ext uri="{FF2B5EF4-FFF2-40B4-BE49-F238E27FC236}">
                <a16:creationId xmlns:a16="http://schemas.microsoft.com/office/drawing/2014/main" id="{74444803-3176-5C30-7FC4-77D1F528644F}"/>
              </a:ext>
            </a:extLst>
          </p:cNvPr>
          <p:cNvSpPr txBox="1"/>
          <p:nvPr/>
        </p:nvSpPr>
        <p:spPr>
          <a:xfrm>
            <a:off x="1563106" y="2554939"/>
            <a:ext cx="1589027" cy="261610"/>
          </a:xfrm>
          <a:prstGeom prst="rect">
            <a:avLst/>
          </a:prstGeom>
          <a:noFill/>
        </p:spPr>
        <p:txBody>
          <a:bodyPr wrap="square" rtlCol="0">
            <a:spAutoFit/>
          </a:bodyPr>
          <a:lstStyle/>
          <a:p>
            <a:pPr algn="ctr"/>
            <a:r>
              <a:rPr lang="de-LI" sz="1100" dirty="0"/>
              <a:t>ECB Working Paper</a:t>
            </a:r>
            <a:endParaRPr lang="en-GB" sz="1100" dirty="0"/>
          </a:p>
        </p:txBody>
      </p:sp>
      <p:sp>
        <p:nvSpPr>
          <p:cNvPr id="79" name="TextBox 78">
            <a:extLst>
              <a:ext uri="{FF2B5EF4-FFF2-40B4-BE49-F238E27FC236}">
                <a16:creationId xmlns:a16="http://schemas.microsoft.com/office/drawing/2014/main" id="{1B0BAAB5-CD04-FECA-FBD8-2878BDA99A04}"/>
              </a:ext>
            </a:extLst>
          </p:cNvPr>
          <p:cNvSpPr txBox="1"/>
          <p:nvPr/>
        </p:nvSpPr>
        <p:spPr>
          <a:xfrm>
            <a:off x="358775" y="3066157"/>
            <a:ext cx="986805" cy="261610"/>
          </a:xfrm>
          <a:prstGeom prst="rect">
            <a:avLst/>
          </a:prstGeom>
          <a:noFill/>
        </p:spPr>
        <p:txBody>
          <a:bodyPr wrap="square" rtlCol="0">
            <a:spAutoFit/>
          </a:bodyPr>
          <a:lstStyle/>
          <a:p>
            <a:r>
              <a:rPr lang="en-CH" sz="1100" b="1" dirty="0">
                <a:solidFill>
                  <a:schemeClr val="accent1"/>
                </a:solidFill>
              </a:rPr>
              <a:t>Key findings</a:t>
            </a:r>
            <a:endParaRPr lang="en-GB" sz="1100" dirty="0">
              <a:solidFill>
                <a:schemeClr val="accent1"/>
              </a:solidFill>
            </a:endParaRPr>
          </a:p>
        </p:txBody>
      </p:sp>
      <p:sp>
        <p:nvSpPr>
          <p:cNvPr id="80" name="TextBox 79">
            <a:extLst>
              <a:ext uri="{FF2B5EF4-FFF2-40B4-BE49-F238E27FC236}">
                <a16:creationId xmlns:a16="http://schemas.microsoft.com/office/drawing/2014/main" id="{205409A5-C8AE-BCFB-9636-F032DCE02851}"/>
              </a:ext>
            </a:extLst>
          </p:cNvPr>
          <p:cNvSpPr txBox="1"/>
          <p:nvPr/>
        </p:nvSpPr>
        <p:spPr>
          <a:xfrm>
            <a:off x="1563106" y="3061887"/>
            <a:ext cx="1589027" cy="769441"/>
          </a:xfrm>
          <a:prstGeom prst="rect">
            <a:avLst/>
          </a:prstGeom>
          <a:noFill/>
        </p:spPr>
        <p:txBody>
          <a:bodyPr wrap="square" rtlCol="0">
            <a:spAutoFit/>
          </a:bodyPr>
          <a:lstStyle/>
          <a:p>
            <a:r>
              <a:rPr lang="en-US" sz="1100" dirty="0"/>
              <a:t>Strong public pensions → lower need for private retirement savings</a:t>
            </a:r>
            <a:endParaRPr lang="en-GB" sz="1100" dirty="0"/>
          </a:p>
        </p:txBody>
      </p:sp>
      <p:sp>
        <p:nvSpPr>
          <p:cNvPr id="81" name="TextBox 80">
            <a:extLst>
              <a:ext uri="{FF2B5EF4-FFF2-40B4-BE49-F238E27FC236}">
                <a16:creationId xmlns:a16="http://schemas.microsoft.com/office/drawing/2014/main" id="{3EFD206A-1B0E-7E3B-0A99-C6C0449C80CC}"/>
              </a:ext>
            </a:extLst>
          </p:cNvPr>
          <p:cNvSpPr txBox="1"/>
          <p:nvPr/>
        </p:nvSpPr>
        <p:spPr>
          <a:xfrm>
            <a:off x="3440803" y="1602517"/>
            <a:ext cx="1589027" cy="430887"/>
          </a:xfrm>
          <a:prstGeom prst="rect">
            <a:avLst/>
          </a:prstGeom>
          <a:noFill/>
        </p:spPr>
        <p:txBody>
          <a:bodyPr wrap="square" rtlCol="0">
            <a:spAutoFit/>
          </a:bodyPr>
          <a:lstStyle/>
          <a:p>
            <a:r>
              <a:rPr lang="en-US" sz="1100" dirty="0"/>
              <a:t>Pension Policy and the Financial System</a:t>
            </a:r>
            <a:endParaRPr lang="en-GB" sz="1100" dirty="0"/>
          </a:p>
        </p:txBody>
      </p:sp>
      <p:sp>
        <p:nvSpPr>
          <p:cNvPr id="82" name="TextBox 81">
            <a:extLst>
              <a:ext uri="{FF2B5EF4-FFF2-40B4-BE49-F238E27FC236}">
                <a16:creationId xmlns:a16="http://schemas.microsoft.com/office/drawing/2014/main" id="{66DC671B-32CB-B2DD-3CBC-333104421B7F}"/>
              </a:ext>
            </a:extLst>
          </p:cNvPr>
          <p:cNvSpPr txBox="1"/>
          <p:nvPr/>
        </p:nvSpPr>
        <p:spPr>
          <a:xfrm>
            <a:off x="3440803" y="2194192"/>
            <a:ext cx="1589027" cy="261610"/>
          </a:xfrm>
          <a:prstGeom prst="rect">
            <a:avLst/>
          </a:prstGeom>
          <a:noFill/>
        </p:spPr>
        <p:txBody>
          <a:bodyPr wrap="square" rtlCol="0">
            <a:spAutoFit/>
          </a:bodyPr>
          <a:lstStyle/>
          <a:p>
            <a:pPr algn="ctr"/>
            <a:r>
              <a:rPr lang="de-LI" sz="1100" dirty="0"/>
              <a:t>2018</a:t>
            </a:r>
            <a:endParaRPr lang="en-GB" sz="1100" dirty="0"/>
          </a:p>
        </p:txBody>
      </p:sp>
      <p:sp>
        <p:nvSpPr>
          <p:cNvPr id="83" name="TextBox 82">
            <a:extLst>
              <a:ext uri="{FF2B5EF4-FFF2-40B4-BE49-F238E27FC236}">
                <a16:creationId xmlns:a16="http://schemas.microsoft.com/office/drawing/2014/main" id="{A7D7B0B1-6117-5E91-12E5-AF6D24E01533}"/>
              </a:ext>
            </a:extLst>
          </p:cNvPr>
          <p:cNvSpPr txBox="1"/>
          <p:nvPr/>
        </p:nvSpPr>
        <p:spPr>
          <a:xfrm>
            <a:off x="3440803" y="2554939"/>
            <a:ext cx="1589027" cy="261610"/>
          </a:xfrm>
          <a:prstGeom prst="rect">
            <a:avLst/>
          </a:prstGeom>
          <a:noFill/>
        </p:spPr>
        <p:txBody>
          <a:bodyPr wrap="square" rtlCol="0">
            <a:spAutoFit/>
          </a:bodyPr>
          <a:lstStyle/>
          <a:p>
            <a:pPr algn="ctr"/>
            <a:r>
              <a:rPr lang="de-LI" sz="1100" dirty="0"/>
              <a:t>Journal of Finance</a:t>
            </a:r>
            <a:endParaRPr lang="en-GB" sz="1100" dirty="0"/>
          </a:p>
        </p:txBody>
      </p:sp>
      <p:sp>
        <p:nvSpPr>
          <p:cNvPr id="84" name="TextBox 83">
            <a:extLst>
              <a:ext uri="{FF2B5EF4-FFF2-40B4-BE49-F238E27FC236}">
                <a16:creationId xmlns:a16="http://schemas.microsoft.com/office/drawing/2014/main" id="{B1DA8392-3494-9D79-2737-66C7A3DBB498}"/>
              </a:ext>
            </a:extLst>
          </p:cNvPr>
          <p:cNvSpPr txBox="1"/>
          <p:nvPr/>
        </p:nvSpPr>
        <p:spPr>
          <a:xfrm>
            <a:off x="3440803" y="3061887"/>
            <a:ext cx="1589027" cy="600164"/>
          </a:xfrm>
          <a:prstGeom prst="rect">
            <a:avLst/>
          </a:prstGeom>
          <a:noFill/>
        </p:spPr>
        <p:txBody>
          <a:bodyPr wrap="square" rtlCol="0">
            <a:spAutoFit/>
          </a:bodyPr>
          <a:lstStyle/>
          <a:p>
            <a:r>
              <a:rPr lang="en-US" sz="1100" dirty="0"/>
              <a:t>Countries with large private pension systems have larger capital mkts</a:t>
            </a:r>
            <a:endParaRPr lang="en-GB" sz="1100" dirty="0"/>
          </a:p>
        </p:txBody>
      </p:sp>
      <p:sp>
        <p:nvSpPr>
          <p:cNvPr id="85" name="TextBox 84">
            <a:extLst>
              <a:ext uri="{FF2B5EF4-FFF2-40B4-BE49-F238E27FC236}">
                <a16:creationId xmlns:a16="http://schemas.microsoft.com/office/drawing/2014/main" id="{7EE24BEE-006C-B578-17FE-6A52F074E235}"/>
              </a:ext>
            </a:extLst>
          </p:cNvPr>
          <p:cNvSpPr txBox="1"/>
          <p:nvPr/>
        </p:nvSpPr>
        <p:spPr>
          <a:xfrm>
            <a:off x="5318501" y="1602517"/>
            <a:ext cx="1589027" cy="600164"/>
          </a:xfrm>
          <a:prstGeom prst="rect">
            <a:avLst/>
          </a:prstGeom>
          <a:noFill/>
        </p:spPr>
        <p:txBody>
          <a:bodyPr wrap="square" rtlCol="0">
            <a:spAutoFit/>
          </a:bodyPr>
          <a:lstStyle/>
          <a:p>
            <a:r>
              <a:rPr lang="en-US" sz="1100" dirty="0"/>
              <a:t>Household savings &amp; shocks to occupational pension funds</a:t>
            </a:r>
            <a:endParaRPr lang="en-GB" sz="1100" dirty="0"/>
          </a:p>
        </p:txBody>
      </p:sp>
      <p:sp>
        <p:nvSpPr>
          <p:cNvPr id="86" name="TextBox 85">
            <a:extLst>
              <a:ext uri="{FF2B5EF4-FFF2-40B4-BE49-F238E27FC236}">
                <a16:creationId xmlns:a16="http://schemas.microsoft.com/office/drawing/2014/main" id="{0ECA360D-0BD5-A24F-88C0-CDB5F160146C}"/>
              </a:ext>
            </a:extLst>
          </p:cNvPr>
          <p:cNvSpPr txBox="1"/>
          <p:nvPr/>
        </p:nvSpPr>
        <p:spPr>
          <a:xfrm>
            <a:off x="5318501" y="2194192"/>
            <a:ext cx="1589027" cy="261610"/>
          </a:xfrm>
          <a:prstGeom prst="rect">
            <a:avLst/>
          </a:prstGeom>
          <a:noFill/>
        </p:spPr>
        <p:txBody>
          <a:bodyPr wrap="square" rtlCol="0">
            <a:spAutoFit/>
          </a:bodyPr>
          <a:lstStyle/>
          <a:p>
            <a:pPr algn="ctr"/>
            <a:r>
              <a:rPr lang="de-LI" sz="1100" dirty="0"/>
              <a:t>2025</a:t>
            </a:r>
            <a:endParaRPr lang="en-GB" sz="1100" dirty="0"/>
          </a:p>
        </p:txBody>
      </p:sp>
      <p:sp>
        <p:nvSpPr>
          <p:cNvPr id="87" name="TextBox 86">
            <a:extLst>
              <a:ext uri="{FF2B5EF4-FFF2-40B4-BE49-F238E27FC236}">
                <a16:creationId xmlns:a16="http://schemas.microsoft.com/office/drawing/2014/main" id="{EE7867A1-97A5-3467-3FDC-7FA5507097FC}"/>
              </a:ext>
            </a:extLst>
          </p:cNvPr>
          <p:cNvSpPr txBox="1"/>
          <p:nvPr/>
        </p:nvSpPr>
        <p:spPr>
          <a:xfrm>
            <a:off x="5318501" y="2554939"/>
            <a:ext cx="1589027" cy="430887"/>
          </a:xfrm>
          <a:prstGeom prst="rect">
            <a:avLst/>
          </a:prstGeom>
          <a:noFill/>
        </p:spPr>
        <p:txBody>
          <a:bodyPr wrap="square" rtlCol="0">
            <a:spAutoFit/>
          </a:bodyPr>
          <a:lstStyle/>
          <a:p>
            <a:pPr algn="ctr"/>
            <a:r>
              <a:rPr lang="de-LI" sz="1100" dirty="0"/>
              <a:t>Journal of Pension Economics &amp; Finance</a:t>
            </a:r>
            <a:endParaRPr lang="en-GB" sz="1100" dirty="0"/>
          </a:p>
        </p:txBody>
      </p:sp>
      <p:sp>
        <p:nvSpPr>
          <p:cNvPr id="88" name="TextBox 87">
            <a:extLst>
              <a:ext uri="{FF2B5EF4-FFF2-40B4-BE49-F238E27FC236}">
                <a16:creationId xmlns:a16="http://schemas.microsoft.com/office/drawing/2014/main" id="{F966DCFA-A1E5-B24C-0DAF-DCFDBC76F916}"/>
              </a:ext>
            </a:extLst>
          </p:cNvPr>
          <p:cNvSpPr txBox="1"/>
          <p:nvPr/>
        </p:nvSpPr>
        <p:spPr>
          <a:xfrm>
            <a:off x="5318501" y="3061887"/>
            <a:ext cx="1589027" cy="600164"/>
          </a:xfrm>
          <a:prstGeom prst="rect">
            <a:avLst/>
          </a:prstGeom>
          <a:noFill/>
        </p:spPr>
        <p:txBody>
          <a:bodyPr wrap="square" rtlCol="0">
            <a:spAutoFit/>
          </a:bodyPr>
          <a:lstStyle/>
          <a:p>
            <a:r>
              <a:rPr lang="en-US" sz="1100" dirty="0"/>
              <a:t>When pension funds become weaker, HH increase private savings</a:t>
            </a:r>
            <a:endParaRPr lang="en-GB" sz="1100" dirty="0"/>
          </a:p>
        </p:txBody>
      </p:sp>
      <p:sp>
        <p:nvSpPr>
          <p:cNvPr id="93" name="TextBox 92">
            <a:extLst>
              <a:ext uri="{FF2B5EF4-FFF2-40B4-BE49-F238E27FC236}">
                <a16:creationId xmlns:a16="http://schemas.microsoft.com/office/drawing/2014/main" id="{902E6BFD-BC1D-1FB9-F1FA-2138F12D75BB}"/>
              </a:ext>
            </a:extLst>
          </p:cNvPr>
          <p:cNvSpPr txBox="1"/>
          <p:nvPr/>
        </p:nvSpPr>
        <p:spPr>
          <a:xfrm>
            <a:off x="1563106" y="4175588"/>
            <a:ext cx="1589027" cy="430887"/>
          </a:xfrm>
          <a:prstGeom prst="rect">
            <a:avLst/>
          </a:prstGeom>
          <a:noFill/>
        </p:spPr>
        <p:txBody>
          <a:bodyPr wrap="square" rtlCol="0">
            <a:spAutoFit/>
          </a:bodyPr>
          <a:lstStyle/>
          <a:p>
            <a:pPr algn="ctr"/>
            <a:r>
              <a:rPr lang="en-US" sz="1100" i="1" dirty="0"/>
              <a:t>Supports to include pension system as control</a:t>
            </a:r>
            <a:endParaRPr lang="en-GB" sz="1100" i="1" dirty="0"/>
          </a:p>
        </p:txBody>
      </p:sp>
      <p:sp>
        <p:nvSpPr>
          <p:cNvPr id="94" name="TextBox 93">
            <a:extLst>
              <a:ext uri="{FF2B5EF4-FFF2-40B4-BE49-F238E27FC236}">
                <a16:creationId xmlns:a16="http://schemas.microsoft.com/office/drawing/2014/main" id="{55320D9D-FF62-4D5B-588E-8F2A556EC388}"/>
              </a:ext>
            </a:extLst>
          </p:cNvPr>
          <p:cNvSpPr txBox="1"/>
          <p:nvPr/>
        </p:nvSpPr>
        <p:spPr>
          <a:xfrm>
            <a:off x="3440803" y="4175588"/>
            <a:ext cx="1589027" cy="430887"/>
          </a:xfrm>
          <a:prstGeom prst="rect">
            <a:avLst/>
          </a:prstGeom>
          <a:noFill/>
        </p:spPr>
        <p:txBody>
          <a:bodyPr wrap="square" rtlCol="0">
            <a:spAutoFit/>
          </a:bodyPr>
          <a:lstStyle/>
          <a:p>
            <a:pPr algn="ctr"/>
            <a:r>
              <a:rPr lang="en-US" sz="1100" i="1" dirty="0"/>
              <a:t>Makes strong argument to include pension system</a:t>
            </a:r>
            <a:endParaRPr lang="en-GB" sz="1100" i="1" dirty="0"/>
          </a:p>
        </p:txBody>
      </p:sp>
      <p:sp>
        <p:nvSpPr>
          <p:cNvPr id="95" name="TextBox 94">
            <a:extLst>
              <a:ext uri="{FF2B5EF4-FFF2-40B4-BE49-F238E27FC236}">
                <a16:creationId xmlns:a16="http://schemas.microsoft.com/office/drawing/2014/main" id="{08B96789-C9F2-14D2-6BEB-2FD2256E25B8}"/>
              </a:ext>
            </a:extLst>
          </p:cNvPr>
          <p:cNvSpPr txBox="1"/>
          <p:nvPr/>
        </p:nvSpPr>
        <p:spPr>
          <a:xfrm>
            <a:off x="5318501" y="4175588"/>
            <a:ext cx="1589027" cy="430887"/>
          </a:xfrm>
          <a:prstGeom prst="rect">
            <a:avLst/>
          </a:prstGeom>
          <a:noFill/>
        </p:spPr>
        <p:txBody>
          <a:bodyPr wrap="square" rtlCol="0">
            <a:spAutoFit/>
          </a:bodyPr>
          <a:lstStyle/>
          <a:p>
            <a:pPr algn="ctr"/>
            <a:r>
              <a:rPr lang="en-US" sz="1100" i="1" dirty="0"/>
              <a:t>Supports to include pension system as control</a:t>
            </a:r>
            <a:endParaRPr lang="en-GB" sz="1100" i="1" dirty="0"/>
          </a:p>
        </p:txBody>
      </p:sp>
    </p:spTree>
    <p:extLst>
      <p:ext uri="{BB962C8B-B14F-4D97-AF65-F5344CB8AC3E}">
        <p14:creationId xmlns:p14="http://schemas.microsoft.com/office/powerpoint/2010/main" val="1455948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F7E81-903B-E5A1-E794-99C343A39C06}"/>
              </a:ext>
            </a:extLst>
          </p:cNvPr>
          <p:cNvSpPr>
            <a:spLocks noGrp="1"/>
          </p:cNvSpPr>
          <p:nvPr>
            <p:ph type="title"/>
          </p:nvPr>
        </p:nvSpPr>
        <p:spPr/>
        <p:txBody>
          <a:bodyPr/>
          <a:lstStyle/>
          <a:p>
            <a:r>
              <a:rPr lang="de-LI" dirty="0"/>
              <a:t>Academic </a:t>
            </a:r>
            <a:r>
              <a:rPr lang="de-LI" dirty="0" err="1"/>
              <a:t>papers</a:t>
            </a:r>
            <a:r>
              <a:rPr lang="de-LI" dirty="0"/>
              <a:t> on </a:t>
            </a:r>
            <a:r>
              <a:rPr lang="de-LI" dirty="0" err="1"/>
              <a:t>pension</a:t>
            </a:r>
            <a:r>
              <a:rPr lang="de-LI" dirty="0"/>
              <a:t> </a:t>
            </a:r>
            <a:r>
              <a:rPr lang="de-LI" dirty="0" err="1"/>
              <a:t>systems</a:t>
            </a:r>
            <a:r>
              <a:rPr lang="de-LI" dirty="0"/>
              <a:t> &amp; </a:t>
            </a:r>
            <a:r>
              <a:rPr lang="de-LI" dirty="0" err="1"/>
              <a:t>classification</a:t>
            </a:r>
            <a:r>
              <a:rPr lang="de-LI" dirty="0"/>
              <a:t> (2/2)</a:t>
            </a:r>
            <a:endParaRPr lang="en-GB" dirty="0"/>
          </a:p>
        </p:txBody>
      </p:sp>
      <p:sp>
        <p:nvSpPr>
          <p:cNvPr id="4" name="Slide Number Placeholder 3">
            <a:extLst>
              <a:ext uri="{FF2B5EF4-FFF2-40B4-BE49-F238E27FC236}">
                <a16:creationId xmlns:a16="http://schemas.microsoft.com/office/drawing/2014/main" id="{7B160B5F-2B07-497B-72CE-B9726F195796}"/>
              </a:ext>
            </a:extLst>
          </p:cNvPr>
          <p:cNvSpPr>
            <a:spLocks noGrp="1"/>
          </p:cNvSpPr>
          <p:nvPr>
            <p:ph type="sldNum" sz="quarter" idx="12"/>
          </p:nvPr>
        </p:nvSpPr>
        <p:spPr/>
        <p:txBody>
          <a:bodyPr/>
          <a:lstStyle/>
          <a:p>
            <a:fld id="{7559FC98-AF75-4A00-A03C-DF9FEBF6BCB9}" type="slidenum">
              <a:rPr lang="en-GB" smtClean="0"/>
              <a:t>7</a:t>
            </a:fld>
            <a:endParaRPr lang="en-GB"/>
          </a:p>
        </p:txBody>
      </p:sp>
      <p:sp>
        <p:nvSpPr>
          <p:cNvPr id="21" name="TextBox 20">
            <a:extLst>
              <a:ext uri="{FF2B5EF4-FFF2-40B4-BE49-F238E27FC236}">
                <a16:creationId xmlns:a16="http://schemas.microsoft.com/office/drawing/2014/main" id="{4E15BBE8-A175-16AF-0B2B-215D9AD607A7}"/>
              </a:ext>
            </a:extLst>
          </p:cNvPr>
          <p:cNvSpPr txBox="1"/>
          <p:nvPr/>
        </p:nvSpPr>
        <p:spPr>
          <a:xfrm>
            <a:off x="358775" y="1606787"/>
            <a:ext cx="854927" cy="261610"/>
          </a:xfrm>
          <a:prstGeom prst="rect">
            <a:avLst/>
          </a:prstGeom>
          <a:noFill/>
        </p:spPr>
        <p:txBody>
          <a:bodyPr wrap="square" rtlCol="0">
            <a:spAutoFit/>
          </a:bodyPr>
          <a:lstStyle/>
          <a:p>
            <a:r>
              <a:rPr lang="en-CH" sz="1100" b="1" dirty="0">
                <a:solidFill>
                  <a:schemeClr val="accent1"/>
                </a:solidFill>
              </a:rPr>
              <a:t>Topic</a:t>
            </a:r>
            <a:endParaRPr lang="en-GB" sz="1100" dirty="0">
              <a:solidFill>
                <a:schemeClr val="accent1"/>
              </a:solidFill>
            </a:endParaRPr>
          </a:p>
        </p:txBody>
      </p:sp>
      <p:sp>
        <p:nvSpPr>
          <p:cNvPr id="23" name="TextBox 22">
            <a:extLst>
              <a:ext uri="{FF2B5EF4-FFF2-40B4-BE49-F238E27FC236}">
                <a16:creationId xmlns:a16="http://schemas.microsoft.com/office/drawing/2014/main" id="{BA168C6D-7859-9ECA-D1A2-BED1E6C719D9}"/>
              </a:ext>
            </a:extLst>
          </p:cNvPr>
          <p:cNvSpPr txBox="1"/>
          <p:nvPr/>
        </p:nvSpPr>
        <p:spPr>
          <a:xfrm>
            <a:off x="358775" y="2198462"/>
            <a:ext cx="854927" cy="261610"/>
          </a:xfrm>
          <a:prstGeom prst="rect">
            <a:avLst/>
          </a:prstGeom>
          <a:noFill/>
        </p:spPr>
        <p:txBody>
          <a:bodyPr wrap="square" rtlCol="0">
            <a:spAutoFit/>
          </a:bodyPr>
          <a:lstStyle/>
          <a:p>
            <a:r>
              <a:rPr lang="en-CH" sz="1100" b="1" dirty="0">
                <a:solidFill>
                  <a:schemeClr val="accent1"/>
                </a:solidFill>
              </a:rPr>
              <a:t>Year</a:t>
            </a:r>
            <a:endParaRPr lang="en-GB" sz="1100" dirty="0">
              <a:solidFill>
                <a:schemeClr val="accent1"/>
              </a:solidFill>
            </a:endParaRPr>
          </a:p>
        </p:txBody>
      </p:sp>
      <p:sp>
        <p:nvSpPr>
          <p:cNvPr id="25" name="TextBox 24">
            <a:extLst>
              <a:ext uri="{FF2B5EF4-FFF2-40B4-BE49-F238E27FC236}">
                <a16:creationId xmlns:a16="http://schemas.microsoft.com/office/drawing/2014/main" id="{1435F48C-E112-4286-02E4-286AD9364B7D}"/>
              </a:ext>
            </a:extLst>
          </p:cNvPr>
          <p:cNvSpPr txBox="1"/>
          <p:nvPr/>
        </p:nvSpPr>
        <p:spPr>
          <a:xfrm>
            <a:off x="358775" y="2559209"/>
            <a:ext cx="854927" cy="261610"/>
          </a:xfrm>
          <a:prstGeom prst="rect">
            <a:avLst/>
          </a:prstGeom>
          <a:noFill/>
        </p:spPr>
        <p:txBody>
          <a:bodyPr wrap="square" rtlCol="0">
            <a:spAutoFit/>
          </a:bodyPr>
          <a:lstStyle/>
          <a:p>
            <a:r>
              <a:rPr lang="en-CH" sz="1100" b="1" dirty="0">
                <a:solidFill>
                  <a:schemeClr val="accent1"/>
                </a:solidFill>
              </a:rPr>
              <a:t>Journal</a:t>
            </a:r>
            <a:endParaRPr lang="en-GB" sz="1100" dirty="0">
              <a:solidFill>
                <a:schemeClr val="accent1"/>
              </a:solidFill>
            </a:endParaRPr>
          </a:p>
        </p:txBody>
      </p:sp>
      <p:sp>
        <p:nvSpPr>
          <p:cNvPr id="27" name="TextBox 26">
            <a:extLst>
              <a:ext uri="{FF2B5EF4-FFF2-40B4-BE49-F238E27FC236}">
                <a16:creationId xmlns:a16="http://schemas.microsoft.com/office/drawing/2014/main" id="{4ACFE6C7-8493-6B32-F3CA-AA9AB2D7142C}"/>
              </a:ext>
            </a:extLst>
          </p:cNvPr>
          <p:cNvSpPr txBox="1"/>
          <p:nvPr/>
        </p:nvSpPr>
        <p:spPr>
          <a:xfrm>
            <a:off x="358775" y="3066157"/>
            <a:ext cx="986805" cy="261610"/>
          </a:xfrm>
          <a:prstGeom prst="rect">
            <a:avLst/>
          </a:prstGeom>
          <a:noFill/>
        </p:spPr>
        <p:txBody>
          <a:bodyPr wrap="square" rtlCol="0">
            <a:spAutoFit/>
          </a:bodyPr>
          <a:lstStyle/>
          <a:p>
            <a:r>
              <a:rPr lang="en-CH" sz="1100" b="1" dirty="0">
                <a:solidFill>
                  <a:schemeClr val="accent1"/>
                </a:solidFill>
              </a:rPr>
              <a:t>Key findings</a:t>
            </a:r>
            <a:endParaRPr lang="en-GB" sz="1100" dirty="0">
              <a:solidFill>
                <a:schemeClr val="accent1"/>
              </a:solidFill>
            </a:endParaRPr>
          </a:p>
        </p:txBody>
      </p:sp>
      <p:grpSp>
        <p:nvGrpSpPr>
          <p:cNvPr id="48" name="Group 47">
            <a:extLst>
              <a:ext uri="{FF2B5EF4-FFF2-40B4-BE49-F238E27FC236}">
                <a16:creationId xmlns:a16="http://schemas.microsoft.com/office/drawing/2014/main" id="{B5E98DFF-C323-8580-1151-FB7F906D217F}"/>
              </a:ext>
            </a:extLst>
          </p:cNvPr>
          <p:cNvGrpSpPr/>
          <p:nvPr/>
        </p:nvGrpSpPr>
        <p:grpSpPr>
          <a:xfrm>
            <a:off x="1553870" y="1024372"/>
            <a:ext cx="2319974" cy="3582103"/>
            <a:chOff x="1553870" y="1024372"/>
            <a:chExt cx="2319974" cy="3582103"/>
          </a:xfrm>
        </p:grpSpPr>
        <p:sp>
          <p:nvSpPr>
            <p:cNvPr id="5" name="Rectangle 4">
              <a:extLst>
                <a:ext uri="{FF2B5EF4-FFF2-40B4-BE49-F238E27FC236}">
                  <a16:creationId xmlns:a16="http://schemas.microsoft.com/office/drawing/2014/main" id="{8E9E74EC-CE3E-A173-DB61-073A8026CB3C}"/>
                </a:ext>
              </a:extLst>
            </p:cNvPr>
            <p:cNvSpPr/>
            <p:nvPr/>
          </p:nvSpPr>
          <p:spPr>
            <a:xfrm>
              <a:off x="1553870"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err="1"/>
                <a:t>Bottazzi</a:t>
              </a:r>
              <a:r>
                <a:rPr lang="de-LI" sz="1100" dirty="0"/>
                <a:t>, R., </a:t>
              </a:r>
              <a:r>
                <a:rPr lang="de-LI" sz="1100" dirty="0" err="1"/>
                <a:t>Jappelli</a:t>
              </a:r>
              <a:r>
                <a:rPr lang="de-LI" sz="1100" dirty="0"/>
                <a:t>, T., &amp; </a:t>
              </a:r>
              <a:r>
                <a:rPr lang="de-LI" sz="1100" dirty="0" err="1"/>
                <a:t>Padula</a:t>
              </a:r>
              <a:r>
                <a:rPr lang="de-LI" sz="1100" dirty="0"/>
                <a:t>, M.</a:t>
              </a:r>
              <a:endParaRPr lang="en-GB" sz="1100" dirty="0"/>
            </a:p>
          </p:txBody>
        </p:sp>
        <p:grpSp>
          <p:nvGrpSpPr>
            <p:cNvPr id="6" name="Down arrow">
              <a:extLst>
                <a:ext uri="{FF2B5EF4-FFF2-40B4-BE49-F238E27FC236}">
                  <a16:creationId xmlns:a16="http://schemas.microsoft.com/office/drawing/2014/main" id="{8B2B0557-8696-CE10-B02D-D804E2E4FF65}"/>
                </a:ext>
              </a:extLst>
            </p:cNvPr>
            <p:cNvGrpSpPr>
              <a:grpSpLocks noChangeAspect="1"/>
            </p:cNvGrpSpPr>
            <p:nvPr/>
          </p:nvGrpSpPr>
          <p:grpSpPr>
            <a:xfrm rot="10800000" flipV="1">
              <a:off x="2560188" y="3834712"/>
              <a:ext cx="307340" cy="307340"/>
              <a:chOff x="1413494" y="4670360"/>
              <a:chExt cx="442162" cy="456033"/>
            </a:xfrm>
          </p:grpSpPr>
          <p:sp>
            <p:nvSpPr>
              <p:cNvPr id="7" name="Ellipse 69">
                <a:extLst>
                  <a:ext uri="{FF2B5EF4-FFF2-40B4-BE49-F238E27FC236}">
                    <a16:creationId xmlns:a16="http://schemas.microsoft.com/office/drawing/2014/main" id="{98247331-CC66-50F3-178B-B527B4B037D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8" name="Flèche vers la droite 45">
                <a:extLst>
                  <a:ext uri="{FF2B5EF4-FFF2-40B4-BE49-F238E27FC236}">
                    <a16:creationId xmlns:a16="http://schemas.microsoft.com/office/drawing/2014/main" id="{A4B8B7D7-8EE5-69F5-BB25-CB3FEF41706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22" name="TextBox 21">
              <a:extLst>
                <a:ext uri="{FF2B5EF4-FFF2-40B4-BE49-F238E27FC236}">
                  <a16:creationId xmlns:a16="http://schemas.microsoft.com/office/drawing/2014/main" id="{5ACDFFD0-A26D-ABD3-6D9B-EE1DB30ADA90}"/>
                </a:ext>
              </a:extLst>
            </p:cNvPr>
            <p:cNvSpPr txBox="1"/>
            <p:nvPr/>
          </p:nvSpPr>
          <p:spPr>
            <a:xfrm>
              <a:off x="1553872" y="1602517"/>
              <a:ext cx="2319971" cy="600164"/>
            </a:xfrm>
            <a:prstGeom prst="rect">
              <a:avLst/>
            </a:prstGeom>
            <a:noFill/>
          </p:spPr>
          <p:txBody>
            <a:bodyPr wrap="square" rtlCol="0">
              <a:spAutoFit/>
            </a:bodyPr>
            <a:lstStyle/>
            <a:p>
              <a:r>
                <a:rPr lang="en-US" sz="1100" dirty="0"/>
                <a:t>Retirement expectations, pension reforms, and their impact on private wealth accumulation</a:t>
              </a:r>
              <a:endParaRPr lang="en-GB" sz="1100" dirty="0"/>
            </a:p>
          </p:txBody>
        </p:sp>
        <p:sp>
          <p:nvSpPr>
            <p:cNvPr id="24" name="TextBox 23">
              <a:extLst>
                <a:ext uri="{FF2B5EF4-FFF2-40B4-BE49-F238E27FC236}">
                  <a16:creationId xmlns:a16="http://schemas.microsoft.com/office/drawing/2014/main" id="{A05A3063-3C6E-6947-DC74-0D2BEDCCCC38}"/>
                </a:ext>
              </a:extLst>
            </p:cNvPr>
            <p:cNvSpPr txBox="1"/>
            <p:nvPr/>
          </p:nvSpPr>
          <p:spPr>
            <a:xfrm>
              <a:off x="1553872" y="2194192"/>
              <a:ext cx="2319971" cy="261610"/>
            </a:xfrm>
            <a:prstGeom prst="rect">
              <a:avLst/>
            </a:prstGeom>
            <a:noFill/>
          </p:spPr>
          <p:txBody>
            <a:bodyPr wrap="square" rtlCol="0">
              <a:spAutoFit/>
            </a:bodyPr>
            <a:lstStyle/>
            <a:p>
              <a:pPr algn="ctr"/>
              <a:r>
                <a:rPr lang="de-LI" sz="1100" dirty="0"/>
                <a:t>2006</a:t>
              </a:r>
              <a:endParaRPr lang="en-GB" sz="1100" dirty="0"/>
            </a:p>
          </p:txBody>
        </p:sp>
        <p:sp>
          <p:nvSpPr>
            <p:cNvPr id="26" name="TextBox 25">
              <a:extLst>
                <a:ext uri="{FF2B5EF4-FFF2-40B4-BE49-F238E27FC236}">
                  <a16:creationId xmlns:a16="http://schemas.microsoft.com/office/drawing/2014/main" id="{3AF42D62-E5D2-F3AE-963D-5C4F95073054}"/>
                </a:ext>
              </a:extLst>
            </p:cNvPr>
            <p:cNvSpPr txBox="1"/>
            <p:nvPr/>
          </p:nvSpPr>
          <p:spPr>
            <a:xfrm>
              <a:off x="1553872" y="2554939"/>
              <a:ext cx="2319971" cy="261610"/>
            </a:xfrm>
            <a:prstGeom prst="rect">
              <a:avLst/>
            </a:prstGeom>
            <a:noFill/>
          </p:spPr>
          <p:txBody>
            <a:bodyPr wrap="square" rtlCol="0">
              <a:spAutoFit/>
            </a:bodyPr>
            <a:lstStyle/>
            <a:p>
              <a:pPr algn="ctr"/>
              <a:r>
                <a:rPr lang="de-LI" sz="1100" dirty="0"/>
                <a:t>Journal </a:t>
              </a:r>
              <a:r>
                <a:rPr lang="de-LI" sz="1100" dirty="0" err="1"/>
                <a:t>of</a:t>
              </a:r>
              <a:r>
                <a:rPr lang="de-LI" sz="1100" dirty="0"/>
                <a:t> Public Economics</a:t>
              </a:r>
              <a:endParaRPr lang="en-GB" sz="1100" dirty="0"/>
            </a:p>
          </p:txBody>
        </p:sp>
        <p:sp>
          <p:nvSpPr>
            <p:cNvPr id="28" name="TextBox 27">
              <a:extLst>
                <a:ext uri="{FF2B5EF4-FFF2-40B4-BE49-F238E27FC236}">
                  <a16:creationId xmlns:a16="http://schemas.microsoft.com/office/drawing/2014/main" id="{5846BB51-E3D7-EF44-257F-216652D1C8B9}"/>
                </a:ext>
              </a:extLst>
            </p:cNvPr>
            <p:cNvSpPr txBox="1"/>
            <p:nvPr/>
          </p:nvSpPr>
          <p:spPr>
            <a:xfrm>
              <a:off x="1553872" y="3061887"/>
              <a:ext cx="2319971" cy="600164"/>
            </a:xfrm>
            <a:prstGeom prst="rect">
              <a:avLst/>
            </a:prstGeom>
            <a:noFill/>
          </p:spPr>
          <p:txBody>
            <a:bodyPr wrap="square" rtlCol="0">
              <a:spAutoFit/>
            </a:bodyPr>
            <a:lstStyle/>
            <a:p>
              <a:r>
                <a:rPr lang="en-US" sz="1100" dirty="0"/>
                <a:t>Pension generosity can substitute for private wealth especially among informed households</a:t>
              </a:r>
              <a:endParaRPr lang="en-GB" sz="1100" dirty="0"/>
            </a:p>
          </p:txBody>
        </p:sp>
        <p:sp>
          <p:nvSpPr>
            <p:cNvPr id="41" name="TextBox 40">
              <a:extLst>
                <a:ext uri="{FF2B5EF4-FFF2-40B4-BE49-F238E27FC236}">
                  <a16:creationId xmlns:a16="http://schemas.microsoft.com/office/drawing/2014/main" id="{0826E639-64EC-F055-A2CC-60FF2CA2E01C}"/>
                </a:ext>
              </a:extLst>
            </p:cNvPr>
            <p:cNvSpPr txBox="1"/>
            <p:nvPr/>
          </p:nvSpPr>
          <p:spPr>
            <a:xfrm>
              <a:off x="1553872" y="4175588"/>
              <a:ext cx="2319971" cy="430887"/>
            </a:xfrm>
            <a:prstGeom prst="rect">
              <a:avLst/>
            </a:prstGeom>
            <a:noFill/>
          </p:spPr>
          <p:txBody>
            <a:bodyPr wrap="square" rtlCol="0">
              <a:spAutoFit/>
            </a:bodyPr>
            <a:lstStyle/>
            <a:p>
              <a:pPr algn="ctr"/>
              <a:r>
                <a:rPr lang="en-US" sz="1100" i="1" dirty="0"/>
                <a:t>Supports using replacement rate as proxy for pension generosity</a:t>
              </a:r>
              <a:endParaRPr lang="en-GB" sz="1100" i="1" dirty="0"/>
            </a:p>
          </p:txBody>
        </p:sp>
      </p:grpSp>
      <p:grpSp>
        <p:nvGrpSpPr>
          <p:cNvPr id="49" name="Group 48">
            <a:extLst>
              <a:ext uri="{FF2B5EF4-FFF2-40B4-BE49-F238E27FC236}">
                <a16:creationId xmlns:a16="http://schemas.microsoft.com/office/drawing/2014/main" id="{16F172F3-C25C-D297-046D-E2AA735EC004}"/>
              </a:ext>
            </a:extLst>
          </p:cNvPr>
          <p:cNvGrpSpPr/>
          <p:nvPr/>
        </p:nvGrpSpPr>
        <p:grpSpPr>
          <a:xfrm>
            <a:off x="3976515" y="1024372"/>
            <a:ext cx="2319974" cy="3751380"/>
            <a:chOff x="3948810" y="1024372"/>
            <a:chExt cx="2319974" cy="3751380"/>
          </a:xfrm>
        </p:grpSpPr>
        <p:sp>
          <p:nvSpPr>
            <p:cNvPr id="9" name="Rectangle 8">
              <a:extLst>
                <a:ext uri="{FF2B5EF4-FFF2-40B4-BE49-F238E27FC236}">
                  <a16:creationId xmlns:a16="http://schemas.microsoft.com/office/drawing/2014/main" id="{5FE2F18D-0584-4AFC-C30A-10CD02810A69}"/>
                </a:ext>
              </a:extLst>
            </p:cNvPr>
            <p:cNvSpPr/>
            <p:nvPr/>
          </p:nvSpPr>
          <p:spPr>
            <a:xfrm>
              <a:off x="3948810"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err="1"/>
                <a:t>Alessie</a:t>
              </a:r>
              <a:r>
                <a:rPr lang="de-LI" sz="1100" dirty="0"/>
                <a:t>, R., Angelini, V., &amp; van Santen, P.</a:t>
              </a:r>
              <a:endParaRPr lang="en-GB" sz="1100" dirty="0"/>
            </a:p>
          </p:txBody>
        </p:sp>
        <p:grpSp>
          <p:nvGrpSpPr>
            <p:cNvPr id="10" name="Down arrow">
              <a:extLst>
                <a:ext uri="{FF2B5EF4-FFF2-40B4-BE49-F238E27FC236}">
                  <a16:creationId xmlns:a16="http://schemas.microsoft.com/office/drawing/2014/main" id="{F86803B5-DD12-F004-8136-7D0C94EB69A8}"/>
                </a:ext>
              </a:extLst>
            </p:cNvPr>
            <p:cNvGrpSpPr>
              <a:grpSpLocks noChangeAspect="1"/>
            </p:cNvGrpSpPr>
            <p:nvPr/>
          </p:nvGrpSpPr>
          <p:grpSpPr>
            <a:xfrm rot="10800000" flipV="1">
              <a:off x="4955128" y="3825572"/>
              <a:ext cx="307340" cy="307340"/>
              <a:chOff x="1413494" y="4670360"/>
              <a:chExt cx="442162" cy="456033"/>
            </a:xfrm>
          </p:grpSpPr>
          <p:sp>
            <p:nvSpPr>
              <p:cNvPr id="11" name="Ellipse 69">
                <a:extLst>
                  <a:ext uri="{FF2B5EF4-FFF2-40B4-BE49-F238E27FC236}">
                    <a16:creationId xmlns:a16="http://schemas.microsoft.com/office/drawing/2014/main" id="{FE32057F-93CF-6C16-B53E-97C1AA32CD52}"/>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12" name="Flèche vers la droite 45">
                <a:extLst>
                  <a:ext uri="{FF2B5EF4-FFF2-40B4-BE49-F238E27FC236}">
                    <a16:creationId xmlns:a16="http://schemas.microsoft.com/office/drawing/2014/main" id="{7FE4F6D5-63BF-B26D-4157-21E93C2F182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29" name="TextBox 28">
              <a:extLst>
                <a:ext uri="{FF2B5EF4-FFF2-40B4-BE49-F238E27FC236}">
                  <a16:creationId xmlns:a16="http://schemas.microsoft.com/office/drawing/2014/main" id="{196505F0-D9CA-022C-896A-CC73CA5E076A}"/>
                </a:ext>
              </a:extLst>
            </p:cNvPr>
            <p:cNvSpPr txBox="1"/>
            <p:nvPr/>
          </p:nvSpPr>
          <p:spPr>
            <a:xfrm>
              <a:off x="3948812" y="1602517"/>
              <a:ext cx="2319971" cy="600164"/>
            </a:xfrm>
            <a:prstGeom prst="rect">
              <a:avLst/>
            </a:prstGeom>
            <a:noFill/>
          </p:spPr>
          <p:txBody>
            <a:bodyPr wrap="square" rtlCol="0">
              <a:spAutoFit/>
            </a:bodyPr>
            <a:lstStyle/>
            <a:p>
              <a:r>
                <a:rPr lang="en-US" sz="1100" dirty="0"/>
                <a:t>Pension wealth and household savings in Europe: Evidence from SHARELIFE</a:t>
              </a:r>
              <a:endParaRPr lang="en-GB" sz="1100" dirty="0"/>
            </a:p>
          </p:txBody>
        </p:sp>
        <p:sp>
          <p:nvSpPr>
            <p:cNvPr id="30" name="TextBox 29">
              <a:extLst>
                <a:ext uri="{FF2B5EF4-FFF2-40B4-BE49-F238E27FC236}">
                  <a16:creationId xmlns:a16="http://schemas.microsoft.com/office/drawing/2014/main" id="{3AA58702-A6E4-2790-069C-A9BE6C0015E4}"/>
                </a:ext>
              </a:extLst>
            </p:cNvPr>
            <p:cNvSpPr txBox="1"/>
            <p:nvPr/>
          </p:nvSpPr>
          <p:spPr>
            <a:xfrm>
              <a:off x="3948812" y="2194192"/>
              <a:ext cx="2319971" cy="261610"/>
            </a:xfrm>
            <a:prstGeom prst="rect">
              <a:avLst/>
            </a:prstGeom>
            <a:noFill/>
          </p:spPr>
          <p:txBody>
            <a:bodyPr wrap="square" rtlCol="0">
              <a:spAutoFit/>
            </a:bodyPr>
            <a:lstStyle/>
            <a:p>
              <a:pPr algn="ctr"/>
              <a:r>
                <a:rPr lang="de-LI" sz="1100" dirty="0"/>
                <a:t>2013</a:t>
              </a:r>
              <a:endParaRPr lang="en-GB" sz="1100" dirty="0"/>
            </a:p>
          </p:txBody>
        </p:sp>
        <p:sp>
          <p:nvSpPr>
            <p:cNvPr id="31" name="TextBox 30">
              <a:extLst>
                <a:ext uri="{FF2B5EF4-FFF2-40B4-BE49-F238E27FC236}">
                  <a16:creationId xmlns:a16="http://schemas.microsoft.com/office/drawing/2014/main" id="{7CC06481-5E14-F99B-182E-9136C9178599}"/>
                </a:ext>
              </a:extLst>
            </p:cNvPr>
            <p:cNvSpPr txBox="1"/>
            <p:nvPr/>
          </p:nvSpPr>
          <p:spPr>
            <a:xfrm>
              <a:off x="3948812" y="2554939"/>
              <a:ext cx="2319971" cy="261610"/>
            </a:xfrm>
            <a:prstGeom prst="rect">
              <a:avLst/>
            </a:prstGeom>
            <a:noFill/>
          </p:spPr>
          <p:txBody>
            <a:bodyPr wrap="square" rtlCol="0">
              <a:spAutoFit/>
            </a:bodyPr>
            <a:lstStyle/>
            <a:p>
              <a:pPr algn="ctr"/>
              <a:r>
                <a:rPr lang="de-LI" sz="1100" dirty="0"/>
                <a:t>European </a:t>
              </a:r>
              <a:r>
                <a:rPr lang="de-LI" sz="1100" dirty="0" err="1"/>
                <a:t>Economic</a:t>
              </a:r>
              <a:r>
                <a:rPr lang="de-LI" sz="1100" dirty="0"/>
                <a:t> Review</a:t>
              </a:r>
              <a:endParaRPr lang="en-GB" sz="1100" dirty="0"/>
            </a:p>
          </p:txBody>
        </p:sp>
        <p:sp>
          <p:nvSpPr>
            <p:cNvPr id="32" name="TextBox 31">
              <a:extLst>
                <a:ext uri="{FF2B5EF4-FFF2-40B4-BE49-F238E27FC236}">
                  <a16:creationId xmlns:a16="http://schemas.microsoft.com/office/drawing/2014/main" id="{191420D3-074B-C991-1884-7A5E85A6CF53}"/>
                </a:ext>
              </a:extLst>
            </p:cNvPr>
            <p:cNvSpPr txBox="1"/>
            <p:nvPr/>
          </p:nvSpPr>
          <p:spPr>
            <a:xfrm>
              <a:off x="3948812" y="3061887"/>
              <a:ext cx="2319971" cy="600164"/>
            </a:xfrm>
            <a:prstGeom prst="rect">
              <a:avLst/>
            </a:prstGeom>
            <a:noFill/>
          </p:spPr>
          <p:txBody>
            <a:bodyPr wrap="square" rtlCol="0">
              <a:spAutoFit/>
            </a:bodyPr>
            <a:lstStyle/>
            <a:p>
              <a:r>
                <a:rPr lang="en-US" sz="1100" dirty="0"/>
                <a:t>+1 EUR increase in pension reduces private wealth by -0.47 EUR, implying that pension substitutes savings</a:t>
              </a:r>
              <a:endParaRPr lang="en-GB" sz="1100" dirty="0"/>
            </a:p>
          </p:txBody>
        </p:sp>
        <p:sp>
          <p:nvSpPr>
            <p:cNvPr id="42" name="TextBox 41">
              <a:extLst>
                <a:ext uri="{FF2B5EF4-FFF2-40B4-BE49-F238E27FC236}">
                  <a16:creationId xmlns:a16="http://schemas.microsoft.com/office/drawing/2014/main" id="{70063ED9-1D21-6DA6-CD77-0952E3702BF5}"/>
                </a:ext>
              </a:extLst>
            </p:cNvPr>
            <p:cNvSpPr txBox="1"/>
            <p:nvPr/>
          </p:nvSpPr>
          <p:spPr>
            <a:xfrm>
              <a:off x="3948812" y="4175588"/>
              <a:ext cx="2319971" cy="600164"/>
            </a:xfrm>
            <a:prstGeom prst="rect">
              <a:avLst/>
            </a:prstGeom>
            <a:noFill/>
          </p:spPr>
          <p:txBody>
            <a:bodyPr wrap="square" rtlCol="0">
              <a:spAutoFit/>
            </a:bodyPr>
            <a:lstStyle/>
            <a:p>
              <a:pPr algn="ctr"/>
              <a:r>
                <a:rPr lang="en-US" sz="1100" i="1" dirty="0"/>
                <a:t>Uses pension wealth as a measure which takes replacement rate into account</a:t>
              </a:r>
              <a:endParaRPr lang="en-GB" sz="1100" i="1" dirty="0"/>
            </a:p>
          </p:txBody>
        </p:sp>
      </p:grpSp>
      <p:grpSp>
        <p:nvGrpSpPr>
          <p:cNvPr id="47" name="Group 46">
            <a:extLst>
              <a:ext uri="{FF2B5EF4-FFF2-40B4-BE49-F238E27FC236}">
                <a16:creationId xmlns:a16="http://schemas.microsoft.com/office/drawing/2014/main" id="{27663BB0-C7E5-2FE1-7223-26F444327BC8}"/>
              </a:ext>
            </a:extLst>
          </p:cNvPr>
          <p:cNvGrpSpPr/>
          <p:nvPr/>
        </p:nvGrpSpPr>
        <p:grpSpPr>
          <a:xfrm>
            <a:off x="6399160" y="1024372"/>
            <a:ext cx="2874154" cy="3582103"/>
            <a:chOff x="6574646" y="1024372"/>
            <a:chExt cx="2874154" cy="3582103"/>
          </a:xfrm>
        </p:grpSpPr>
        <p:sp>
          <p:nvSpPr>
            <p:cNvPr id="13" name="Rectangle 12">
              <a:extLst>
                <a:ext uri="{FF2B5EF4-FFF2-40B4-BE49-F238E27FC236}">
                  <a16:creationId xmlns:a16="http://schemas.microsoft.com/office/drawing/2014/main" id="{343169D7-BEBC-4880-AB01-9D2A7F514E68}"/>
                </a:ext>
              </a:extLst>
            </p:cNvPr>
            <p:cNvSpPr/>
            <p:nvPr/>
          </p:nvSpPr>
          <p:spPr>
            <a:xfrm>
              <a:off x="6574646"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Scharfstein, D. S.</a:t>
              </a:r>
            </a:p>
          </p:txBody>
        </p:sp>
        <p:grpSp>
          <p:nvGrpSpPr>
            <p:cNvPr id="14" name="Down arrow">
              <a:extLst>
                <a:ext uri="{FF2B5EF4-FFF2-40B4-BE49-F238E27FC236}">
                  <a16:creationId xmlns:a16="http://schemas.microsoft.com/office/drawing/2014/main" id="{087A34B4-BC62-A90B-A5A8-AEF5F465200E}"/>
                </a:ext>
              </a:extLst>
            </p:cNvPr>
            <p:cNvGrpSpPr>
              <a:grpSpLocks noChangeAspect="1"/>
            </p:cNvGrpSpPr>
            <p:nvPr/>
          </p:nvGrpSpPr>
          <p:grpSpPr>
            <a:xfrm rot="10800000" flipV="1">
              <a:off x="7580964" y="3825572"/>
              <a:ext cx="307340" cy="307340"/>
              <a:chOff x="1413494" y="4670360"/>
              <a:chExt cx="442162" cy="456033"/>
            </a:xfrm>
          </p:grpSpPr>
          <p:sp>
            <p:nvSpPr>
              <p:cNvPr id="15" name="Ellipse 69">
                <a:extLst>
                  <a:ext uri="{FF2B5EF4-FFF2-40B4-BE49-F238E27FC236}">
                    <a16:creationId xmlns:a16="http://schemas.microsoft.com/office/drawing/2014/main" id="{CFCCA541-C7E7-40AB-A51F-8BBAFD874B0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16" name="Flèche vers la droite 45">
                <a:extLst>
                  <a:ext uri="{FF2B5EF4-FFF2-40B4-BE49-F238E27FC236}">
                    <a16:creationId xmlns:a16="http://schemas.microsoft.com/office/drawing/2014/main" id="{764CDD02-4A4A-8097-1C8F-2EC5CAF2EAE3}"/>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33" name="TextBox 32">
              <a:extLst>
                <a:ext uri="{FF2B5EF4-FFF2-40B4-BE49-F238E27FC236}">
                  <a16:creationId xmlns:a16="http://schemas.microsoft.com/office/drawing/2014/main" id="{8EE22BFD-26E0-A966-6D87-0A971A7F9ABE}"/>
                </a:ext>
              </a:extLst>
            </p:cNvPr>
            <p:cNvSpPr txBox="1"/>
            <p:nvPr/>
          </p:nvSpPr>
          <p:spPr>
            <a:xfrm>
              <a:off x="6574648" y="1602517"/>
              <a:ext cx="2319971" cy="430887"/>
            </a:xfrm>
            <a:prstGeom prst="rect">
              <a:avLst/>
            </a:prstGeom>
            <a:noFill/>
          </p:spPr>
          <p:txBody>
            <a:bodyPr wrap="square" rtlCol="0">
              <a:spAutoFit/>
            </a:bodyPr>
            <a:lstStyle/>
            <a:p>
              <a:r>
                <a:rPr lang="en-US" sz="1100" dirty="0"/>
                <a:t>Presidential Address: Pension policy and the financial system</a:t>
              </a:r>
              <a:endParaRPr lang="en-GB" sz="1100" dirty="0"/>
            </a:p>
          </p:txBody>
        </p:sp>
        <p:sp>
          <p:nvSpPr>
            <p:cNvPr id="34" name="TextBox 33">
              <a:extLst>
                <a:ext uri="{FF2B5EF4-FFF2-40B4-BE49-F238E27FC236}">
                  <a16:creationId xmlns:a16="http://schemas.microsoft.com/office/drawing/2014/main" id="{A04B9ED9-0172-AABE-C803-52F28B18A5FA}"/>
                </a:ext>
              </a:extLst>
            </p:cNvPr>
            <p:cNvSpPr txBox="1"/>
            <p:nvPr/>
          </p:nvSpPr>
          <p:spPr>
            <a:xfrm>
              <a:off x="6574648" y="2194192"/>
              <a:ext cx="2319971" cy="261610"/>
            </a:xfrm>
            <a:prstGeom prst="rect">
              <a:avLst/>
            </a:prstGeom>
            <a:noFill/>
          </p:spPr>
          <p:txBody>
            <a:bodyPr wrap="square" rtlCol="0">
              <a:spAutoFit/>
            </a:bodyPr>
            <a:lstStyle/>
            <a:p>
              <a:pPr algn="ctr"/>
              <a:r>
                <a:rPr lang="de-LI" sz="1100" dirty="0"/>
                <a:t>2018</a:t>
              </a:r>
              <a:endParaRPr lang="en-GB" sz="1100" dirty="0"/>
            </a:p>
          </p:txBody>
        </p:sp>
        <p:sp>
          <p:nvSpPr>
            <p:cNvPr id="35" name="TextBox 34">
              <a:extLst>
                <a:ext uri="{FF2B5EF4-FFF2-40B4-BE49-F238E27FC236}">
                  <a16:creationId xmlns:a16="http://schemas.microsoft.com/office/drawing/2014/main" id="{E51C5B54-414B-2E6E-7636-92DF09FD6E82}"/>
                </a:ext>
              </a:extLst>
            </p:cNvPr>
            <p:cNvSpPr txBox="1"/>
            <p:nvPr/>
          </p:nvSpPr>
          <p:spPr>
            <a:xfrm>
              <a:off x="6574648" y="2554939"/>
              <a:ext cx="2319971" cy="261610"/>
            </a:xfrm>
            <a:prstGeom prst="rect">
              <a:avLst/>
            </a:prstGeom>
            <a:noFill/>
          </p:spPr>
          <p:txBody>
            <a:bodyPr wrap="square" rtlCol="0">
              <a:spAutoFit/>
            </a:bodyPr>
            <a:lstStyle/>
            <a:p>
              <a:pPr algn="ctr"/>
              <a:r>
                <a:rPr lang="de-LI" sz="1100" dirty="0"/>
                <a:t>The Journal </a:t>
              </a:r>
              <a:r>
                <a:rPr lang="de-LI" sz="1100" dirty="0" err="1"/>
                <a:t>of</a:t>
              </a:r>
              <a:r>
                <a:rPr lang="de-LI" sz="1100" dirty="0"/>
                <a:t> Finance</a:t>
              </a:r>
              <a:endParaRPr lang="en-GB" sz="1100" dirty="0"/>
            </a:p>
          </p:txBody>
        </p:sp>
        <p:sp>
          <p:nvSpPr>
            <p:cNvPr id="36" name="TextBox 35">
              <a:extLst>
                <a:ext uri="{FF2B5EF4-FFF2-40B4-BE49-F238E27FC236}">
                  <a16:creationId xmlns:a16="http://schemas.microsoft.com/office/drawing/2014/main" id="{33C5F2CE-B078-898F-85B5-4826AE22023D}"/>
                </a:ext>
              </a:extLst>
            </p:cNvPr>
            <p:cNvSpPr txBox="1"/>
            <p:nvPr/>
          </p:nvSpPr>
          <p:spPr>
            <a:xfrm>
              <a:off x="6685484" y="3061887"/>
              <a:ext cx="2763316" cy="938719"/>
            </a:xfrm>
            <a:prstGeom prst="rect">
              <a:avLst/>
            </a:prstGeom>
            <a:noFill/>
          </p:spPr>
          <p:txBody>
            <a:bodyPr wrap="square" rtlCol="0">
              <a:spAutoFit/>
            </a:bodyPr>
            <a:lstStyle/>
            <a:p>
              <a:r>
                <a:rPr lang="en-GB" sz="1100" dirty="0"/>
                <a:t>-) Higher pension replacement rates tend </a:t>
              </a:r>
              <a:r>
                <a:rPr lang="en-GB" sz="1100" dirty="0">
                  <a:sym typeface="Wingdings" pitchFamily="2" charset="2"/>
                </a:rPr>
                <a:t> </a:t>
              </a:r>
              <a:r>
                <a:rPr lang="en-GB" sz="1100" dirty="0"/>
                <a:t>more bank-based financial systems</a:t>
              </a:r>
            </a:p>
            <a:p>
              <a:r>
                <a:rPr lang="en-GB" sz="1100" dirty="0"/>
                <a:t>-) households hold more deposits as a share of wealth in more PAYGO-oriented system</a:t>
              </a:r>
            </a:p>
            <a:p>
              <a:endParaRPr lang="en-GB" sz="1100" dirty="0"/>
            </a:p>
          </p:txBody>
        </p:sp>
        <p:sp>
          <p:nvSpPr>
            <p:cNvPr id="43" name="TextBox 42">
              <a:extLst>
                <a:ext uri="{FF2B5EF4-FFF2-40B4-BE49-F238E27FC236}">
                  <a16:creationId xmlns:a16="http://schemas.microsoft.com/office/drawing/2014/main" id="{28BF0C58-B3F0-C18C-40BD-9FDD365FB7BA}"/>
                </a:ext>
              </a:extLst>
            </p:cNvPr>
            <p:cNvSpPr txBox="1"/>
            <p:nvPr/>
          </p:nvSpPr>
          <p:spPr>
            <a:xfrm>
              <a:off x="6574648" y="4175588"/>
              <a:ext cx="2319971" cy="430887"/>
            </a:xfrm>
            <a:prstGeom prst="rect">
              <a:avLst/>
            </a:prstGeom>
            <a:noFill/>
          </p:spPr>
          <p:txBody>
            <a:bodyPr wrap="square" rtlCol="0">
              <a:spAutoFit/>
            </a:bodyPr>
            <a:lstStyle/>
            <a:p>
              <a:pPr algn="ctr"/>
              <a:r>
                <a:rPr lang="en-US" sz="1100" i="1" dirty="0"/>
                <a:t>Direct link between financial </a:t>
              </a:r>
              <a:r>
                <a:rPr lang="en-US" sz="1100" i="1" dirty="0" err="1"/>
                <a:t>systemstem</a:t>
              </a:r>
              <a:r>
                <a:rPr lang="en-US" sz="1100" i="1" dirty="0"/>
                <a:t> &amp; pension type</a:t>
              </a:r>
              <a:endParaRPr lang="en-GB" sz="1100" i="1" dirty="0"/>
            </a:p>
          </p:txBody>
        </p:sp>
      </p:grpSp>
      <p:sp>
        <p:nvSpPr>
          <p:cNvPr id="50" name="Rectangle 49">
            <a:extLst>
              <a:ext uri="{FF2B5EF4-FFF2-40B4-BE49-F238E27FC236}">
                <a16:creationId xmlns:a16="http://schemas.microsoft.com/office/drawing/2014/main" id="{9FC20F60-1A9E-AA91-8AF8-D2E4ECC6CAA1}"/>
              </a:ext>
            </a:extLst>
          </p:cNvPr>
          <p:cNvSpPr/>
          <p:nvPr/>
        </p:nvSpPr>
        <p:spPr>
          <a:xfrm rot="2422836">
            <a:off x="8199265" y="979331"/>
            <a:ext cx="712576" cy="18811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dirty="0">
                <a:solidFill>
                  <a:sysClr val="windowText" lastClr="000000"/>
                </a:solidFill>
              </a:rPr>
              <a:t>Duplicate</a:t>
            </a:r>
            <a:endParaRPr lang="en-CH" dirty="0">
              <a:solidFill>
                <a:sysClr val="windowText" lastClr="000000"/>
              </a:solidFill>
            </a:endParaRPr>
          </a:p>
        </p:txBody>
      </p:sp>
    </p:spTree>
    <p:extLst>
      <p:ext uri="{BB962C8B-B14F-4D97-AF65-F5344CB8AC3E}">
        <p14:creationId xmlns:p14="http://schemas.microsoft.com/office/powerpoint/2010/main" val="96546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54D68-03A3-DEB3-9AD6-66FE21B4441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5F6CDF5-C518-259A-46D7-E122FCFC5B5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55F6CDF5-C518-259A-46D7-E122FCFC5B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8499DFC-DF66-B56A-EB2B-21F8EF20D04C}"/>
              </a:ext>
            </a:extLst>
          </p:cNvPr>
          <p:cNvSpPr>
            <a:spLocks noGrp="1"/>
          </p:cNvSpPr>
          <p:nvPr>
            <p:ph type="title"/>
          </p:nvPr>
        </p:nvSpPr>
        <p:spPr/>
        <p:txBody>
          <a:bodyPr vert="horz" rIns="0"/>
          <a:lstStyle/>
          <a:p>
            <a:r>
              <a:rPr lang="de-LI" dirty="0"/>
              <a:t>Datasets which may be used</a:t>
            </a:r>
          </a:p>
        </p:txBody>
      </p:sp>
      <p:sp>
        <p:nvSpPr>
          <p:cNvPr id="3" name="Slide Number Placeholder 2">
            <a:extLst>
              <a:ext uri="{FF2B5EF4-FFF2-40B4-BE49-F238E27FC236}">
                <a16:creationId xmlns:a16="http://schemas.microsoft.com/office/drawing/2014/main" id="{5DE65613-A407-13F3-DC75-AA474FEE50C1}"/>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8</a:t>
            </a:fld>
            <a:endParaRPr lang="en-GB"/>
          </a:p>
        </p:txBody>
      </p:sp>
      <p:sp>
        <p:nvSpPr>
          <p:cNvPr id="23" name="TextBox 22">
            <a:extLst>
              <a:ext uri="{FF2B5EF4-FFF2-40B4-BE49-F238E27FC236}">
                <a16:creationId xmlns:a16="http://schemas.microsoft.com/office/drawing/2014/main" id="{9EFCB93D-5E9E-F548-DBC1-64224FD9D5A3}"/>
              </a:ext>
            </a:extLst>
          </p:cNvPr>
          <p:cNvSpPr txBox="1"/>
          <p:nvPr/>
        </p:nvSpPr>
        <p:spPr>
          <a:xfrm>
            <a:off x="358775" y="1554749"/>
            <a:ext cx="854927" cy="246221"/>
          </a:xfrm>
          <a:prstGeom prst="rect">
            <a:avLst/>
          </a:prstGeom>
          <a:noFill/>
        </p:spPr>
        <p:txBody>
          <a:bodyPr wrap="square" rtlCol="0">
            <a:spAutoFit/>
          </a:bodyPr>
          <a:lstStyle/>
          <a:p>
            <a:r>
              <a:rPr lang="en-CH" sz="1000" b="1" dirty="0">
                <a:solidFill>
                  <a:schemeClr val="accent1"/>
                </a:solidFill>
              </a:rPr>
              <a:t>Sources</a:t>
            </a:r>
            <a:endParaRPr lang="en-GB" sz="1000" dirty="0">
              <a:solidFill>
                <a:schemeClr val="accent1"/>
              </a:solidFill>
            </a:endParaRPr>
          </a:p>
        </p:txBody>
      </p:sp>
      <p:grpSp>
        <p:nvGrpSpPr>
          <p:cNvPr id="34" name="Group 33">
            <a:extLst>
              <a:ext uri="{FF2B5EF4-FFF2-40B4-BE49-F238E27FC236}">
                <a16:creationId xmlns:a16="http://schemas.microsoft.com/office/drawing/2014/main" id="{380742A8-D434-DCFD-503E-E13C168BFDFC}"/>
              </a:ext>
            </a:extLst>
          </p:cNvPr>
          <p:cNvGrpSpPr/>
          <p:nvPr/>
        </p:nvGrpSpPr>
        <p:grpSpPr>
          <a:xfrm>
            <a:off x="3008443" y="1024372"/>
            <a:ext cx="1589029" cy="3447556"/>
            <a:chOff x="2977561" y="1024372"/>
            <a:chExt cx="1589029" cy="3447556"/>
          </a:xfrm>
        </p:grpSpPr>
        <p:sp>
          <p:nvSpPr>
            <p:cNvPr id="12" name="Rectangle 11">
              <a:extLst>
                <a:ext uri="{FF2B5EF4-FFF2-40B4-BE49-F238E27FC236}">
                  <a16:creationId xmlns:a16="http://schemas.microsoft.com/office/drawing/2014/main" id="{5F31B109-FB3B-D554-184E-4FF8C5D6961E}"/>
                </a:ext>
              </a:extLst>
            </p:cNvPr>
            <p:cNvSpPr/>
            <p:nvPr/>
          </p:nvSpPr>
          <p:spPr>
            <a:xfrm>
              <a:off x="2977561"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Demographic</a:t>
              </a:r>
              <a:br>
                <a:rPr lang="en-GB" sz="1000" dirty="0"/>
              </a:br>
              <a:r>
                <a:rPr lang="en-GB" sz="1000" dirty="0"/>
                <a:t>data</a:t>
              </a:r>
            </a:p>
          </p:txBody>
        </p:sp>
        <p:sp>
          <p:nvSpPr>
            <p:cNvPr id="13" name="Rectangle 12">
              <a:extLst>
                <a:ext uri="{FF2B5EF4-FFF2-40B4-BE49-F238E27FC236}">
                  <a16:creationId xmlns:a16="http://schemas.microsoft.com/office/drawing/2014/main" id="{EE4B9789-2D40-2AB8-938F-2CBAA2601CFC}"/>
                </a:ext>
              </a:extLst>
            </p:cNvPr>
            <p:cNvSpPr/>
            <p:nvPr/>
          </p:nvSpPr>
          <p:spPr>
            <a:xfrm>
              <a:off x="2977562"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dirty="0">
                  <a:solidFill>
                    <a:schemeClr val="tx1"/>
                  </a:solidFill>
                </a:rPr>
                <a:t>Key data on demographics across countries</a:t>
              </a:r>
            </a:p>
          </p:txBody>
        </p:sp>
        <p:grpSp>
          <p:nvGrpSpPr>
            <p:cNvPr id="14" name="Down arrow">
              <a:extLst>
                <a:ext uri="{FF2B5EF4-FFF2-40B4-BE49-F238E27FC236}">
                  <a16:creationId xmlns:a16="http://schemas.microsoft.com/office/drawing/2014/main" id="{363C0E34-8A6E-2CFD-5ECA-979AE3FE0620}"/>
                </a:ext>
              </a:extLst>
            </p:cNvPr>
            <p:cNvGrpSpPr>
              <a:grpSpLocks noChangeAspect="1"/>
            </p:cNvGrpSpPr>
            <p:nvPr/>
          </p:nvGrpSpPr>
          <p:grpSpPr>
            <a:xfrm rot="10800000" flipV="1">
              <a:off x="3618405" y="3850748"/>
              <a:ext cx="307340" cy="307340"/>
              <a:chOff x="1413494" y="4670360"/>
              <a:chExt cx="442162" cy="456033"/>
            </a:xfrm>
          </p:grpSpPr>
          <p:sp>
            <p:nvSpPr>
              <p:cNvPr id="15" name="Ellipse 69">
                <a:extLst>
                  <a:ext uri="{FF2B5EF4-FFF2-40B4-BE49-F238E27FC236}">
                    <a16:creationId xmlns:a16="http://schemas.microsoft.com/office/drawing/2014/main" id="{A2E293B0-D966-8EF6-A834-652E10746369}"/>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6" name="Flèche vers la droite 45">
                <a:extLst>
                  <a:ext uri="{FF2B5EF4-FFF2-40B4-BE49-F238E27FC236}">
                    <a16:creationId xmlns:a16="http://schemas.microsoft.com/office/drawing/2014/main" id="{0E8C19CA-553F-97B6-042B-2523B190A10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24" name="TextBox 23">
              <a:extLst>
                <a:ext uri="{FF2B5EF4-FFF2-40B4-BE49-F238E27FC236}">
                  <a16:creationId xmlns:a16="http://schemas.microsoft.com/office/drawing/2014/main" id="{68B94954-CDDC-F111-B28B-3E478897B9EE}"/>
                </a:ext>
              </a:extLst>
            </p:cNvPr>
            <p:cNvSpPr txBox="1"/>
            <p:nvPr/>
          </p:nvSpPr>
          <p:spPr>
            <a:xfrm>
              <a:off x="2977561" y="1550479"/>
              <a:ext cx="1589029" cy="1938992"/>
            </a:xfrm>
            <a:prstGeom prst="rect">
              <a:avLst/>
            </a:prstGeom>
            <a:noFill/>
          </p:spPr>
          <p:txBody>
            <a:bodyPr wrap="square" rtlCol="0">
              <a:spAutoFit/>
            </a:bodyPr>
            <a:lstStyle/>
            <a:p>
              <a:pPr marL="171450" indent="-171450">
                <a:buFont typeface="Arial" panose="020B0604020202020204" pitchFamily="34" charset="0"/>
                <a:buChar char="•"/>
              </a:pPr>
              <a:r>
                <a:rPr lang="en-CH" sz="1000" dirty="0"/>
                <a:t>World Bank: </a:t>
              </a:r>
              <a:r>
                <a:rPr lang="en-US" sz="1000" dirty="0">
                  <a:hlinkClick r:id="rId5"/>
                </a:rPr>
                <a:t>https://data.worldbank.org/indicator/SP.POP.65UP.TO.ZS</a:t>
              </a:r>
              <a:endParaRPr lang="en-CH" sz="1000" dirty="0"/>
            </a:p>
            <a:p>
              <a:pPr marL="171450" indent="-171450">
                <a:buFont typeface="Arial" panose="020B0604020202020204" pitchFamily="34" charset="0"/>
                <a:buChar char="•"/>
              </a:pPr>
              <a:endParaRPr lang="en-CH" sz="1000" dirty="0"/>
            </a:p>
            <a:p>
              <a:pPr marL="171450" indent="-171450">
                <a:buFont typeface="Arial" panose="020B0604020202020204" pitchFamily="34" charset="0"/>
                <a:buChar char="•"/>
              </a:pPr>
              <a:r>
                <a:rPr lang="en-CH" sz="1000" dirty="0"/>
                <a:t>US Census Bureau: </a:t>
              </a:r>
              <a:r>
                <a:rPr lang="en-US" sz="1000" dirty="0">
                  <a:hlinkClick r:id="rId6"/>
                </a:rPr>
                <a:t>https://www.census.gov/data-tools/demo/idb/#/dashboard?dashboard_page=country&amp;COUNTRY_YR_ANIM=2026</a:t>
              </a:r>
              <a:endParaRPr lang="en-CH" sz="1000" dirty="0"/>
            </a:p>
          </p:txBody>
        </p:sp>
      </p:grpSp>
      <p:grpSp>
        <p:nvGrpSpPr>
          <p:cNvPr id="33" name="Group 32">
            <a:extLst>
              <a:ext uri="{FF2B5EF4-FFF2-40B4-BE49-F238E27FC236}">
                <a16:creationId xmlns:a16="http://schemas.microsoft.com/office/drawing/2014/main" id="{EE615086-B8CC-E2DE-0BFD-28F473B363DF}"/>
              </a:ext>
            </a:extLst>
          </p:cNvPr>
          <p:cNvGrpSpPr/>
          <p:nvPr/>
        </p:nvGrpSpPr>
        <p:grpSpPr>
          <a:xfrm>
            <a:off x="1213702" y="1024372"/>
            <a:ext cx="1589029" cy="3447556"/>
            <a:chOff x="1213702" y="1024372"/>
            <a:chExt cx="1589029" cy="3447556"/>
          </a:xfrm>
        </p:grpSpPr>
        <p:sp>
          <p:nvSpPr>
            <p:cNvPr id="6" name="Rectangle 5">
              <a:extLst>
                <a:ext uri="{FF2B5EF4-FFF2-40B4-BE49-F238E27FC236}">
                  <a16:creationId xmlns:a16="http://schemas.microsoft.com/office/drawing/2014/main" id="{B279825E-61A1-6BA8-7DFC-A4FE7DBA59D3}"/>
                </a:ext>
              </a:extLst>
            </p:cNvPr>
            <p:cNvSpPr/>
            <p:nvPr/>
          </p:nvSpPr>
          <p:spPr>
            <a:xfrm>
              <a:off x="1213702"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Provided CSV</a:t>
              </a:r>
              <a:br>
                <a:rPr lang="en-GB" sz="1000" dirty="0"/>
              </a:br>
              <a:r>
                <a:rPr lang="en-GB" sz="1000" dirty="0"/>
                <a:t>file</a:t>
              </a:r>
            </a:p>
          </p:txBody>
        </p:sp>
        <p:sp>
          <p:nvSpPr>
            <p:cNvPr id="7" name="Rectangle 6">
              <a:extLst>
                <a:ext uri="{FF2B5EF4-FFF2-40B4-BE49-F238E27FC236}">
                  <a16:creationId xmlns:a16="http://schemas.microsoft.com/office/drawing/2014/main" id="{7769133B-D0DA-8394-416F-1BFA93916376}"/>
                </a:ext>
              </a:extLst>
            </p:cNvPr>
            <p:cNvSpPr/>
            <p:nvPr/>
          </p:nvSpPr>
          <p:spPr>
            <a:xfrm>
              <a:off x="1213703"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dirty="0">
                  <a:solidFill>
                    <a:schemeClr val="tx1"/>
                  </a:solidFill>
                </a:rPr>
                <a:t>Core dataset with dep./indep. variables</a:t>
              </a:r>
              <a:endParaRPr lang="en-GB" sz="1000" i="1" dirty="0">
                <a:solidFill>
                  <a:schemeClr val="tx1"/>
                </a:solidFill>
              </a:endParaRPr>
            </a:p>
          </p:txBody>
        </p:sp>
        <p:grpSp>
          <p:nvGrpSpPr>
            <p:cNvPr id="8" name="Down arrow">
              <a:extLst>
                <a:ext uri="{FF2B5EF4-FFF2-40B4-BE49-F238E27FC236}">
                  <a16:creationId xmlns:a16="http://schemas.microsoft.com/office/drawing/2014/main" id="{14273005-5452-784A-5C80-A110917D67FA}"/>
                </a:ext>
              </a:extLst>
            </p:cNvPr>
            <p:cNvGrpSpPr>
              <a:grpSpLocks noChangeAspect="1"/>
            </p:cNvGrpSpPr>
            <p:nvPr/>
          </p:nvGrpSpPr>
          <p:grpSpPr>
            <a:xfrm rot="10800000" flipV="1">
              <a:off x="1854546" y="3850748"/>
              <a:ext cx="307340" cy="307340"/>
              <a:chOff x="1413494" y="4670360"/>
              <a:chExt cx="442162" cy="456033"/>
            </a:xfrm>
          </p:grpSpPr>
          <p:sp>
            <p:nvSpPr>
              <p:cNvPr id="9" name="Ellipse 69">
                <a:extLst>
                  <a:ext uri="{FF2B5EF4-FFF2-40B4-BE49-F238E27FC236}">
                    <a16:creationId xmlns:a16="http://schemas.microsoft.com/office/drawing/2014/main" id="{1B478053-7E7D-AB33-26AF-19D262C440FD}"/>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0" name="Flèche vers la droite 45">
                <a:extLst>
                  <a:ext uri="{FF2B5EF4-FFF2-40B4-BE49-F238E27FC236}">
                    <a16:creationId xmlns:a16="http://schemas.microsoft.com/office/drawing/2014/main" id="{E2AA74FC-A850-7EBC-6F93-123EFD05245F}"/>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31" name="TextBox 30">
              <a:extLst>
                <a:ext uri="{FF2B5EF4-FFF2-40B4-BE49-F238E27FC236}">
                  <a16:creationId xmlns:a16="http://schemas.microsoft.com/office/drawing/2014/main" id="{8A7B97FD-5DE5-467D-2B61-27DD0CE402E1}"/>
                </a:ext>
              </a:extLst>
            </p:cNvPr>
            <p:cNvSpPr txBox="1"/>
            <p:nvPr/>
          </p:nvSpPr>
          <p:spPr>
            <a:xfrm>
              <a:off x="1213702" y="1550479"/>
              <a:ext cx="1589029" cy="1631216"/>
            </a:xfrm>
            <a:prstGeom prst="rect">
              <a:avLst/>
            </a:prstGeom>
            <a:noFill/>
          </p:spPr>
          <p:txBody>
            <a:bodyPr wrap="square" rtlCol="0">
              <a:spAutoFit/>
            </a:bodyPr>
            <a:lstStyle/>
            <a:p>
              <a:r>
                <a:rPr lang="en-CH" sz="1000" b="1" dirty="0"/>
                <a:t>Dependent Variable:</a:t>
              </a:r>
            </a:p>
            <a:p>
              <a:pPr marL="171450" indent="-171450">
                <a:buFont typeface="Arial" panose="020B0604020202020204" pitchFamily="34" charset="0"/>
                <a:buChar char="•"/>
              </a:pPr>
              <a:r>
                <a:rPr lang="en-CH" sz="1000" dirty="0"/>
                <a:t>Total Deposits</a:t>
              </a:r>
            </a:p>
            <a:p>
              <a:pPr marL="171450" indent="-171450">
                <a:buFont typeface="Arial" panose="020B0604020202020204" pitchFamily="34" charset="0"/>
                <a:buChar char="•"/>
              </a:pPr>
              <a:r>
                <a:rPr lang="en-CH" sz="1000" dirty="0"/>
                <a:t>Total Assets</a:t>
              </a:r>
            </a:p>
            <a:p>
              <a:endParaRPr lang="en-CH" sz="1000" dirty="0"/>
            </a:p>
            <a:p>
              <a:r>
                <a:rPr lang="en-CH" sz="1000" b="1" dirty="0"/>
                <a:t>Control Variable:</a:t>
              </a:r>
            </a:p>
            <a:p>
              <a:pPr marL="171450" indent="-171450">
                <a:buFont typeface="Arial" panose="020B0604020202020204" pitchFamily="34" charset="0"/>
                <a:buChar char="•"/>
              </a:pPr>
              <a:r>
                <a:rPr lang="en-CH" sz="1000" dirty="0"/>
                <a:t>Total Net Loans</a:t>
              </a:r>
            </a:p>
            <a:p>
              <a:pPr marL="171450" indent="-171450">
                <a:buFont typeface="Arial" panose="020B0604020202020204" pitchFamily="34" charset="0"/>
                <a:buChar char="•"/>
              </a:pPr>
              <a:r>
                <a:rPr lang="en-CH" sz="1000" dirty="0"/>
                <a:t>Total Equity</a:t>
              </a:r>
            </a:p>
            <a:p>
              <a:pPr marL="171450" indent="-171450">
                <a:buFont typeface="Arial" panose="020B0604020202020204" pitchFamily="34" charset="0"/>
                <a:buChar char="•"/>
              </a:pPr>
              <a:r>
                <a:rPr lang="en-CH" sz="1000" dirty="0"/>
                <a:t>Total Assets</a:t>
              </a:r>
            </a:p>
            <a:p>
              <a:pPr marL="171450" indent="-171450">
                <a:buFont typeface="Arial" panose="020B0604020202020204" pitchFamily="34" charset="0"/>
                <a:buChar char="•"/>
              </a:pPr>
              <a:r>
                <a:rPr lang="en-CH" sz="1000" dirty="0"/>
                <a:t>Net Income Before Taxes</a:t>
              </a:r>
            </a:p>
          </p:txBody>
        </p:sp>
      </p:grpSp>
      <p:grpSp>
        <p:nvGrpSpPr>
          <p:cNvPr id="35" name="Group 34">
            <a:extLst>
              <a:ext uri="{FF2B5EF4-FFF2-40B4-BE49-F238E27FC236}">
                <a16:creationId xmlns:a16="http://schemas.microsoft.com/office/drawing/2014/main" id="{67B44266-967F-B318-A944-A450275392EF}"/>
              </a:ext>
            </a:extLst>
          </p:cNvPr>
          <p:cNvGrpSpPr/>
          <p:nvPr/>
        </p:nvGrpSpPr>
        <p:grpSpPr>
          <a:xfrm>
            <a:off x="4803184" y="1024372"/>
            <a:ext cx="1589030" cy="3447556"/>
            <a:chOff x="4783993" y="1024372"/>
            <a:chExt cx="1589030" cy="3447556"/>
          </a:xfrm>
        </p:grpSpPr>
        <p:sp>
          <p:nvSpPr>
            <p:cNvPr id="18" name="Rectangle 17">
              <a:extLst>
                <a:ext uri="{FF2B5EF4-FFF2-40B4-BE49-F238E27FC236}">
                  <a16:creationId xmlns:a16="http://schemas.microsoft.com/office/drawing/2014/main" id="{F78BFA99-55B9-5176-99E5-9AD705746141}"/>
                </a:ext>
              </a:extLst>
            </p:cNvPr>
            <p:cNvSpPr/>
            <p:nvPr/>
          </p:nvSpPr>
          <p:spPr>
            <a:xfrm>
              <a:off x="4783994"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Market structure classification</a:t>
              </a:r>
            </a:p>
          </p:txBody>
        </p:sp>
        <p:sp>
          <p:nvSpPr>
            <p:cNvPr id="19" name="Rectangle 18">
              <a:extLst>
                <a:ext uri="{FF2B5EF4-FFF2-40B4-BE49-F238E27FC236}">
                  <a16:creationId xmlns:a16="http://schemas.microsoft.com/office/drawing/2014/main" id="{85B61307-8D76-CBA6-DD6C-510AEACA3C57}"/>
                </a:ext>
              </a:extLst>
            </p:cNvPr>
            <p:cNvSpPr/>
            <p:nvPr/>
          </p:nvSpPr>
          <p:spPr>
            <a:xfrm>
              <a:off x="4783993"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dirty="0">
                  <a:solidFill>
                    <a:schemeClr val="tx1"/>
                  </a:solidFill>
                </a:rPr>
                <a:t>Enables classification</a:t>
              </a:r>
              <a:r>
                <a:rPr lang="en-US" sz="1000" i="1" dirty="0">
                  <a:solidFill>
                    <a:schemeClr val="tx1"/>
                  </a:solidFill>
                </a:rPr>
                <a:t> of </a:t>
              </a:r>
              <a:r>
                <a:rPr lang="de-LI" sz="1000" i="1" dirty="0">
                  <a:solidFill>
                    <a:schemeClr val="tx1"/>
                  </a:solidFill>
                </a:rPr>
                <a:t>main explanatory variable</a:t>
              </a:r>
              <a:endParaRPr lang="en-US" sz="1000" i="1" dirty="0">
                <a:solidFill>
                  <a:schemeClr val="tx1"/>
                </a:solidFill>
              </a:endParaRPr>
            </a:p>
          </p:txBody>
        </p:sp>
        <p:sp>
          <p:nvSpPr>
            <p:cNvPr id="25" name="TextBox 24">
              <a:extLst>
                <a:ext uri="{FF2B5EF4-FFF2-40B4-BE49-F238E27FC236}">
                  <a16:creationId xmlns:a16="http://schemas.microsoft.com/office/drawing/2014/main" id="{31427D58-F21A-33C7-4722-11D76D25AB60}"/>
                </a:ext>
              </a:extLst>
            </p:cNvPr>
            <p:cNvSpPr txBox="1"/>
            <p:nvPr/>
          </p:nvSpPr>
          <p:spPr>
            <a:xfrm>
              <a:off x="4783994" y="1550479"/>
              <a:ext cx="1589028" cy="2554545"/>
            </a:xfrm>
            <a:prstGeom prst="rect">
              <a:avLst/>
            </a:prstGeom>
            <a:noFill/>
          </p:spPr>
          <p:txBody>
            <a:bodyPr wrap="square" rtlCol="0">
              <a:spAutoFit/>
            </a:bodyPr>
            <a:lstStyle/>
            <a:p>
              <a:endParaRPr lang="en-CH" sz="1000" b="1" dirty="0"/>
            </a:p>
            <a:p>
              <a:endParaRPr lang="en-CH" sz="1000" b="1" dirty="0"/>
            </a:p>
            <a:p>
              <a:r>
                <a:rPr lang="en-CH" sz="1000" b="1" dirty="0"/>
                <a:t>Stock market </a:t>
              </a:r>
              <a:r>
                <a:rPr lang="de-LI" sz="1000" b="1" dirty="0"/>
                <a:t>cap</a:t>
              </a:r>
              <a:r>
                <a:rPr lang="en-CH" sz="1000" b="1" dirty="0"/>
                <a:t>:</a:t>
              </a:r>
            </a:p>
            <a:p>
              <a:pPr marL="171450" indent="-171450">
                <a:buFont typeface="Arial" panose="020B0604020202020204" pitchFamily="34" charset="0"/>
                <a:buChar char="•"/>
              </a:pPr>
              <a:r>
                <a:rPr lang="en-US" sz="1000" dirty="0">
                  <a:hlinkClick r:id="rId7"/>
                </a:rPr>
                <a:t>https://data.worldbank.org/indicator/CM.MKT.LCAP.GD.ZS?utm_source=chatgpt.com</a:t>
              </a:r>
              <a:endParaRPr lang="en-CH" sz="1000" dirty="0"/>
            </a:p>
            <a:p>
              <a:endParaRPr lang="en-CH" sz="1000" dirty="0"/>
            </a:p>
            <a:p>
              <a:r>
                <a:rPr lang="en-CH" sz="1000" b="1" dirty="0"/>
                <a:t>Private credit</a:t>
              </a:r>
              <a:r>
                <a:rPr lang="de-LI" sz="1000" b="1" dirty="0"/>
                <a:t>:</a:t>
              </a:r>
              <a:endParaRPr lang="en-CH" sz="1000" b="1" dirty="0"/>
            </a:p>
            <a:p>
              <a:pPr marL="171450" indent="-171450">
                <a:buFont typeface="Arial" panose="020B0604020202020204" pitchFamily="34" charset="0"/>
                <a:buChar char="•"/>
              </a:pPr>
              <a:r>
                <a:rPr lang="en-US" sz="1000" dirty="0">
                  <a:hlinkClick r:id="rId8"/>
                </a:rPr>
                <a:t>https://data.worldbank.org/indicator/FD.AST.PRVT.GD.ZS?utm_source=chatgpt.com</a:t>
              </a:r>
              <a:endParaRPr lang="en-CH" sz="1000" dirty="0"/>
            </a:p>
            <a:p>
              <a:endParaRPr lang="en-CH" sz="1000" dirty="0"/>
            </a:p>
            <a:p>
              <a:endParaRPr lang="en-CH" sz="1000" dirty="0"/>
            </a:p>
            <a:p>
              <a:endParaRPr lang="en-CH" sz="1000" dirty="0"/>
            </a:p>
          </p:txBody>
        </p:sp>
        <p:pic>
          <p:nvPicPr>
            <p:cNvPr id="30" name="Picture 29">
              <a:extLst>
                <a:ext uri="{FF2B5EF4-FFF2-40B4-BE49-F238E27FC236}">
                  <a16:creationId xmlns:a16="http://schemas.microsoft.com/office/drawing/2014/main" id="{9911DB4A-7C02-B2E2-36A3-A644EC65976A}"/>
                </a:ext>
              </a:extLst>
            </p:cNvPr>
            <p:cNvPicPr>
              <a:picLocks noChangeAspect="1"/>
            </p:cNvPicPr>
            <p:nvPr/>
          </p:nvPicPr>
          <p:blipFill>
            <a:blip r:embed="rId9"/>
            <a:stretch>
              <a:fillRect/>
            </a:stretch>
          </p:blipFill>
          <p:spPr>
            <a:xfrm>
              <a:off x="4783993" y="1597823"/>
              <a:ext cx="1589029" cy="272111"/>
            </a:xfrm>
            <a:prstGeom prst="rect">
              <a:avLst/>
            </a:prstGeom>
          </p:spPr>
        </p:pic>
        <p:grpSp>
          <p:nvGrpSpPr>
            <p:cNvPr id="21" name="Down arrow">
              <a:extLst>
                <a:ext uri="{FF2B5EF4-FFF2-40B4-BE49-F238E27FC236}">
                  <a16:creationId xmlns:a16="http://schemas.microsoft.com/office/drawing/2014/main" id="{E8CDC19B-528A-C634-0B6B-4DE05A559259}"/>
                </a:ext>
              </a:extLst>
            </p:cNvPr>
            <p:cNvGrpSpPr>
              <a:grpSpLocks noChangeAspect="1"/>
            </p:cNvGrpSpPr>
            <p:nvPr/>
          </p:nvGrpSpPr>
          <p:grpSpPr>
            <a:xfrm rot="10800000" flipV="1">
              <a:off x="5424837" y="3850748"/>
              <a:ext cx="307340" cy="307340"/>
              <a:chOff x="1413494" y="4670360"/>
              <a:chExt cx="442162" cy="456033"/>
            </a:xfrm>
          </p:grpSpPr>
          <p:sp>
            <p:nvSpPr>
              <p:cNvPr id="22" name="Ellipse 69">
                <a:extLst>
                  <a:ext uri="{FF2B5EF4-FFF2-40B4-BE49-F238E27FC236}">
                    <a16:creationId xmlns:a16="http://schemas.microsoft.com/office/drawing/2014/main" id="{91BA9EA3-5092-E175-54BD-20D23F8C1D2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9" name="Flèche vers la droite 45">
                <a:extLst>
                  <a:ext uri="{FF2B5EF4-FFF2-40B4-BE49-F238E27FC236}">
                    <a16:creationId xmlns:a16="http://schemas.microsoft.com/office/drawing/2014/main" id="{4222C9E6-372D-B54C-AF00-D36655C258E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grpSp>
        <p:nvGrpSpPr>
          <p:cNvPr id="26" name="Down arrow">
            <a:extLst>
              <a:ext uri="{FF2B5EF4-FFF2-40B4-BE49-F238E27FC236}">
                <a16:creationId xmlns:a16="http://schemas.microsoft.com/office/drawing/2014/main" id="{8C3B7076-7D53-D7AA-E01B-7D4BA681D94A}"/>
              </a:ext>
            </a:extLst>
          </p:cNvPr>
          <p:cNvGrpSpPr>
            <a:grpSpLocks noChangeAspect="1"/>
          </p:cNvGrpSpPr>
          <p:nvPr/>
        </p:nvGrpSpPr>
        <p:grpSpPr>
          <a:xfrm rot="10800000" flipV="1">
            <a:off x="7238770" y="3850748"/>
            <a:ext cx="307340" cy="307340"/>
            <a:chOff x="1413494" y="4670360"/>
            <a:chExt cx="442162" cy="456033"/>
          </a:xfrm>
        </p:grpSpPr>
        <p:sp>
          <p:nvSpPr>
            <p:cNvPr id="27" name="Ellipse 69">
              <a:extLst>
                <a:ext uri="{FF2B5EF4-FFF2-40B4-BE49-F238E27FC236}">
                  <a16:creationId xmlns:a16="http://schemas.microsoft.com/office/drawing/2014/main" id="{0DD2DD3F-EB89-338A-E8DB-0693E71AD68A}"/>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E22E23AD-CC9B-C24A-EAD4-74BEB2A261D0}"/>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5" name="Rectangle 4">
            <a:extLst>
              <a:ext uri="{FF2B5EF4-FFF2-40B4-BE49-F238E27FC236}">
                <a16:creationId xmlns:a16="http://schemas.microsoft.com/office/drawing/2014/main" id="{4EC794CE-C958-8AD1-9E86-792542D6D5F1}"/>
              </a:ext>
            </a:extLst>
          </p:cNvPr>
          <p:cNvSpPr/>
          <p:nvPr/>
        </p:nvSpPr>
        <p:spPr>
          <a:xfrm>
            <a:off x="6597925"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Pension system</a:t>
            </a:r>
            <a:br>
              <a:rPr lang="en-GB" sz="1000" dirty="0"/>
            </a:br>
            <a:r>
              <a:rPr lang="en-GB" sz="1000" dirty="0"/>
              <a:t>classification</a:t>
            </a:r>
          </a:p>
        </p:txBody>
      </p:sp>
      <p:pic>
        <p:nvPicPr>
          <p:cNvPr id="17" name="Picture 16">
            <a:extLst>
              <a:ext uri="{FF2B5EF4-FFF2-40B4-BE49-F238E27FC236}">
                <a16:creationId xmlns:a16="http://schemas.microsoft.com/office/drawing/2014/main" id="{924AA548-3DE6-3B34-2A80-A323C413826C}"/>
              </a:ext>
            </a:extLst>
          </p:cNvPr>
          <p:cNvPicPr>
            <a:picLocks noChangeAspect="1"/>
          </p:cNvPicPr>
          <p:nvPr/>
        </p:nvPicPr>
        <p:blipFill>
          <a:blip r:embed="rId10"/>
          <a:stretch>
            <a:fillRect/>
          </a:stretch>
        </p:blipFill>
        <p:spPr>
          <a:xfrm>
            <a:off x="6621695" y="1618175"/>
            <a:ext cx="1541487" cy="247373"/>
          </a:xfrm>
          <a:prstGeom prst="rect">
            <a:avLst/>
          </a:prstGeom>
        </p:spPr>
      </p:pic>
      <p:sp>
        <p:nvSpPr>
          <p:cNvPr id="20" name="TextBox 19">
            <a:extLst>
              <a:ext uri="{FF2B5EF4-FFF2-40B4-BE49-F238E27FC236}">
                <a16:creationId xmlns:a16="http://schemas.microsoft.com/office/drawing/2014/main" id="{EDD0529F-0A5D-5ECE-2927-1132ACB36597}"/>
              </a:ext>
            </a:extLst>
          </p:cNvPr>
          <p:cNvSpPr txBox="1"/>
          <p:nvPr/>
        </p:nvSpPr>
        <p:spPr>
          <a:xfrm>
            <a:off x="6604784" y="1550479"/>
            <a:ext cx="1589028" cy="2554545"/>
          </a:xfrm>
          <a:prstGeom prst="rect">
            <a:avLst/>
          </a:prstGeom>
          <a:noFill/>
        </p:spPr>
        <p:txBody>
          <a:bodyPr wrap="square" rtlCol="0">
            <a:spAutoFit/>
          </a:bodyPr>
          <a:lstStyle/>
          <a:p>
            <a:endParaRPr lang="en-CH" sz="1000" b="1" dirty="0"/>
          </a:p>
          <a:p>
            <a:endParaRPr lang="en-CH" sz="1000" b="1" dirty="0"/>
          </a:p>
          <a:p>
            <a:r>
              <a:rPr lang="en-CH" sz="1000" b="1" dirty="0"/>
              <a:t>Stock market </a:t>
            </a:r>
            <a:r>
              <a:rPr lang="de-LI" sz="1000" b="1" dirty="0"/>
              <a:t>cap</a:t>
            </a:r>
            <a:r>
              <a:rPr lang="en-CH" sz="1000" b="1" dirty="0"/>
              <a:t>:</a:t>
            </a:r>
          </a:p>
          <a:p>
            <a:pPr marL="171450" indent="-171450">
              <a:buFont typeface="Arial" panose="020B0604020202020204" pitchFamily="34" charset="0"/>
              <a:buChar char="•"/>
            </a:pPr>
            <a:r>
              <a:rPr lang="en-US" sz="1000" dirty="0">
                <a:hlinkClick r:id="rId7"/>
              </a:rPr>
              <a:t>https://data.worldbank.org/indicator/CM.MKT.LCAP.GD.ZS?utm_source=chatgpt.com</a:t>
            </a:r>
            <a:endParaRPr lang="en-CH" sz="1000" dirty="0"/>
          </a:p>
          <a:p>
            <a:endParaRPr lang="en-CH" sz="1000" dirty="0"/>
          </a:p>
          <a:p>
            <a:r>
              <a:rPr lang="de-LI" sz="1000" b="1" dirty="0"/>
              <a:t>Pension fund assets:</a:t>
            </a:r>
            <a:endParaRPr lang="en-CH" sz="1000" b="1" dirty="0"/>
          </a:p>
          <a:p>
            <a:pPr marL="171450" indent="-171450">
              <a:buFont typeface="Arial" panose="020B0604020202020204" pitchFamily="34" charset="0"/>
              <a:buChar char="•"/>
            </a:pPr>
            <a:r>
              <a:rPr lang="en-US" sz="1000" dirty="0">
                <a:hlinkClick r:id="rId11"/>
              </a:rPr>
              <a:t>https://databank.worldbank.org/source/global-financial-development/Series/GFDD.DI.13</a:t>
            </a:r>
            <a:endParaRPr lang="en-CH" sz="1000" dirty="0"/>
          </a:p>
          <a:p>
            <a:endParaRPr lang="en-CH" sz="1000" dirty="0"/>
          </a:p>
          <a:p>
            <a:endParaRPr lang="en-CH" sz="1000" dirty="0"/>
          </a:p>
        </p:txBody>
      </p:sp>
      <p:sp>
        <p:nvSpPr>
          <p:cNvPr id="32" name="Rectangle 31">
            <a:extLst>
              <a:ext uri="{FF2B5EF4-FFF2-40B4-BE49-F238E27FC236}">
                <a16:creationId xmlns:a16="http://schemas.microsoft.com/office/drawing/2014/main" id="{4BA36BB7-7AC2-3DF0-116B-83E59892BF7B}"/>
              </a:ext>
            </a:extLst>
          </p:cNvPr>
          <p:cNvSpPr/>
          <p:nvPr/>
        </p:nvSpPr>
        <p:spPr>
          <a:xfrm>
            <a:off x="6604784"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000" i="1" dirty="0">
                <a:solidFill>
                  <a:schemeClr val="tx1"/>
                </a:solidFill>
              </a:rPr>
              <a:t>Calculation of additional control variable</a:t>
            </a:r>
            <a:endParaRPr lang="en-US" sz="1000" i="1" dirty="0">
              <a:solidFill>
                <a:schemeClr val="tx1"/>
              </a:solidFill>
            </a:endParaRPr>
          </a:p>
        </p:txBody>
      </p:sp>
    </p:spTree>
    <p:extLst>
      <p:ext uri="{BB962C8B-B14F-4D97-AF65-F5344CB8AC3E}">
        <p14:creationId xmlns:p14="http://schemas.microsoft.com/office/powerpoint/2010/main" val="4115001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A9C0-73FB-1449-59EA-FD217D2E2CB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08EA462-2628-649C-4615-FCAEDC08F2D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808EA462-2628-649C-4615-FCAEDC08F2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9447B7-5979-54F2-10D0-E5E554FD9F46}"/>
              </a:ext>
            </a:extLst>
          </p:cNvPr>
          <p:cNvSpPr>
            <a:spLocks noGrp="1"/>
          </p:cNvSpPr>
          <p:nvPr>
            <p:ph type="title"/>
          </p:nvPr>
        </p:nvSpPr>
        <p:spPr/>
        <p:txBody>
          <a:bodyPr vert="horz" rIns="0"/>
          <a:lstStyle/>
          <a:p>
            <a:r>
              <a:rPr lang="de-LI" dirty="0"/>
              <a:t>Components of the refined regression model</a:t>
            </a:r>
          </a:p>
        </p:txBody>
      </p:sp>
      <p:sp>
        <p:nvSpPr>
          <p:cNvPr id="3" name="Slide Number Placeholder 2">
            <a:extLst>
              <a:ext uri="{FF2B5EF4-FFF2-40B4-BE49-F238E27FC236}">
                <a16:creationId xmlns:a16="http://schemas.microsoft.com/office/drawing/2014/main" id="{F9E23209-A97D-3DF0-4C49-C92C1F676525}"/>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9</a:t>
            </a:fld>
            <a:endParaRPr lang="en-GB"/>
          </a:p>
        </p:txBody>
      </p:sp>
      <p:pic>
        <p:nvPicPr>
          <p:cNvPr id="6" name="Picture 5">
            <a:extLst>
              <a:ext uri="{FF2B5EF4-FFF2-40B4-BE49-F238E27FC236}">
                <a16:creationId xmlns:a16="http://schemas.microsoft.com/office/drawing/2014/main" id="{6CBEA567-BDDE-43B0-6181-BEBCD0511234}"/>
              </a:ext>
            </a:extLst>
          </p:cNvPr>
          <p:cNvPicPr>
            <a:picLocks noChangeAspect="1"/>
          </p:cNvPicPr>
          <p:nvPr/>
        </p:nvPicPr>
        <p:blipFill>
          <a:blip r:embed="rId5"/>
          <a:stretch>
            <a:fillRect/>
          </a:stretch>
        </p:blipFill>
        <p:spPr>
          <a:xfrm>
            <a:off x="567651" y="1702293"/>
            <a:ext cx="4392216" cy="2308597"/>
          </a:xfrm>
          <a:prstGeom prst="rect">
            <a:avLst/>
          </a:prstGeom>
        </p:spPr>
      </p:pic>
      <p:sp>
        <p:nvSpPr>
          <p:cNvPr id="7" name="Rectangle 6">
            <a:extLst>
              <a:ext uri="{FF2B5EF4-FFF2-40B4-BE49-F238E27FC236}">
                <a16:creationId xmlns:a16="http://schemas.microsoft.com/office/drawing/2014/main" id="{9EF55D44-1C81-278C-5A30-D23BEDFF47A5}"/>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Regression</a:t>
            </a:r>
            <a:br>
              <a:rPr lang="de-LI" sz="1100" dirty="0"/>
            </a:br>
            <a:r>
              <a:rPr lang="de-LI" sz="1100" dirty="0"/>
              <a:t>component</a:t>
            </a:r>
            <a:endParaRPr lang="en-GB" sz="1100" dirty="0"/>
          </a:p>
        </p:txBody>
      </p:sp>
      <p:sp>
        <p:nvSpPr>
          <p:cNvPr id="8" name="Rectangle 7">
            <a:extLst>
              <a:ext uri="{FF2B5EF4-FFF2-40B4-BE49-F238E27FC236}">
                <a16:creationId xmlns:a16="http://schemas.microsoft.com/office/drawing/2014/main" id="{DA6A999B-1586-CF6C-C004-8816AAD212FB}"/>
              </a:ext>
            </a:extLst>
          </p:cNvPr>
          <p:cNvSpPr/>
          <p:nvPr/>
        </p:nvSpPr>
        <p:spPr>
          <a:xfrm>
            <a:off x="5645727" y="1114427"/>
            <a:ext cx="2925873"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Explanation</a:t>
            </a:r>
            <a:endParaRPr lang="en-GB" sz="1100" dirty="0"/>
          </a:p>
        </p:txBody>
      </p:sp>
      <p:grpSp>
        <p:nvGrpSpPr>
          <p:cNvPr id="38" name="Group 37">
            <a:extLst>
              <a:ext uri="{FF2B5EF4-FFF2-40B4-BE49-F238E27FC236}">
                <a16:creationId xmlns:a16="http://schemas.microsoft.com/office/drawing/2014/main" id="{10AE170E-717D-614C-65A1-385BA00AD859}"/>
              </a:ext>
            </a:extLst>
          </p:cNvPr>
          <p:cNvGrpSpPr/>
          <p:nvPr/>
        </p:nvGrpSpPr>
        <p:grpSpPr>
          <a:xfrm>
            <a:off x="5118100" y="1824637"/>
            <a:ext cx="230909" cy="2089518"/>
            <a:chOff x="5176289" y="1734582"/>
            <a:chExt cx="230909" cy="2089518"/>
          </a:xfrm>
        </p:grpSpPr>
        <p:grpSp>
          <p:nvGrpSpPr>
            <p:cNvPr id="9" name="Down arrow">
              <a:extLst>
                <a:ext uri="{FF2B5EF4-FFF2-40B4-BE49-F238E27FC236}">
                  <a16:creationId xmlns:a16="http://schemas.microsoft.com/office/drawing/2014/main" id="{1D28976E-97EA-B185-F054-9DC9EE42DFA3}"/>
                </a:ext>
              </a:extLst>
            </p:cNvPr>
            <p:cNvGrpSpPr>
              <a:grpSpLocks noChangeAspect="1"/>
            </p:cNvGrpSpPr>
            <p:nvPr/>
          </p:nvGrpSpPr>
          <p:grpSpPr>
            <a:xfrm rot="5400000" flipV="1">
              <a:off x="5176289" y="1734582"/>
              <a:ext cx="230909" cy="230909"/>
              <a:chOff x="1413494" y="4670360"/>
              <a:chExt cx="442162" cy="456033"/>
            </a:xfrm>
          </p:grpSpPr>
          <p:sp>
            <p:nvSpPr>
              <p:cNvPr id="10" name="Ellipse 69">
                <a:extLst>
                  <a:ext uri="{FF2B5EF4-FFF2-40B4-BE49-F238E27FC236}">
                    <a16:creationId xmlns:a16="http://schemas.microsoft.com/office/drawing/2014/main" id="{67348E3E-5941-6147-918A-F892E3AACBD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1" name="Flèche vers la droite 45">
                <a:extLst>
                  <a:ext uri="{FF2B5EF4-FFF2-40B4-BE49-F238E27FC236}">
                    <a16:creationId xmlns:a16="http://schemas.microsoft.com/office/drawing/2014/main" id="{099D78C3-9B8A-5EE0-0C9D-332D984E1474}"/>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4" name="Down arrow">
              <a:extLst>
                <a:ext uri="{FF2B5EF4-FFF2-40B4-BE49-F238E27FC236}">
                  <a16:creationId xmlns:a16="http://schemas.microsoft.com/office/drawing/2014/main" id="{7FAE9D94-65E6-527F-A209-CF5629789E8A}"/>
                </a:ext>
              </a:extLst>
            </p:cNvPr>
            <p:cNvGrpSpPr>
              <a:grpSpLocks noChangeAspect="1"/>
            </p:cNvGrpSpPr>
            <p:nvPr/>
          </p:nvGrpSpPr>
          <p:grpSpPr>
            <a:xfrm rot="5400000" flipV="1">
              <a:off x="5176289" y="2044350"/>
              <a:ext cx="230909" cy="230909"/>
              <a:chOff x="1413494" y="4670360"/>
              <a:chExt cx="442162" cy="456033"/>
            </a:xfrm>
          </p:grpSpPr>
          <p:sp>
            <p:nvSpPr>
              <p:cNvPr id="16" name="Ellipse 69">
                <a:extLst>
                  <a:ext uri="{FF2B5EF4-FFF2-40B4-BE49-F238E27FC236}">
                    <a16:creationId xmlns:a16="http://schemas.microsoft.com/office/drawing/2014/main" id="{569F4DE8-7CDC-7812-A1DB-16B877806258}"/>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7" name="Flèche vers la droite 45">
                <a:extLst>
                  <a:ext uri="{FF2B5EF4-FFF2-40B4-BE49-F238E27FC236}">
                    <a16:creationId xmlns:a16="http://schemas.microsoft.com/office/drawing/2014/main" id="{C515732E-35D5-AA50-F241-B0342092AFD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9" name="Down arrow">
              <a:extLst>
                <a:ext uri="{FF2B5EF4-FFF2-40B4-BE49-F238E27FC236}">
                  <a16:creationId xmlns:a16="http://schemas.microsoft.com/office/drawing/2014/main" id="{695D38C1-AE45-279B-B731-B3B042680C0B}"/>
                </a:ext>
              </a:extLst>
            </p:cNvPr>
            <p:cNvGrpSpPr>
              <a:grpSpLocks noChangeAspect="1"/>
            </p:cNvGrpSpPr>
            <p:nvPr/>
          </p:nvGrpSpPr>
          <p:grpSpPr>
            <a:xfrm rot="5400000" flipV="1">
              <a:off x="5176289" y="2354118"/>
              <a:ext cx="230909" cy="230909"/>
              <a:chOff x="1413494" y="4670360"/>
              <a:chExt cx="442162" cy="456033"/>
            </a:xfrm>
          </p:grpSpPr>
          <p:sp>
            <p:nvSpPr>
              <p:cNvPr id="21" name="Ellipse 69">
                <a:extLst>
                  <a:ext uri="{FF2B5EF4-FFF2-40B4-BE49-F238E27FC236}">
                    <a16:creationId xmlns:a16="http://schemas.microsoft.com/office/drawing/2014/main" id="{D1AE4E24-1BF4-1483-660F-C179110DB8F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5" name="Flèche vers la droite 45">
                <a:extLst>
                  <a:ext uri="{FF2B5EF4-FFF2-40B4-BE49-F238E27FC236}">
                    <a16:creationId xmlns:a16="http://schemas.microsoft.com/office/drawing/2014/main" id="{CEE04C3A-9101-54C0-98CF-9BEF16A4744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6" name="Down arrow">
              <a:extLst>
                <a:ext uri="{FF2B5EF4-FFF2-40B4-BE49-F238E27FC236}">
                  <a16:creationId xmlns:a16="http://schemas.microsoft.com/office/drawing/2014/main" id="{D36EC475-59ED-9586-9CC6-E27C1947F0CA}"/>
                </a:ext>
              </a:extLst>
            </p:cNvPr>
            <p:cNvGrpSpPr>
              <a:grpSpLocks noChangeAspect="1"/>
            </p:cNvGrpSpPr>
            <p:nvPr/>
          </p:nvGrpSpPr>
          <p:grpSpPr>
            <a:xfrm rot="5400000" flipV="1">
              <a:off x="5176289" y="2663886"/>
              <a:ext cx="230909" cy="230909"/>
              <a:chOff x="1413494" y="4670360"/>
              <a:chExt cx="442162" cy="456033"/>
            </a:xfrm>
          </p:grpSpPr>
          <p:sp>
            <p:nvSpPr>
              <p:cNvPr id="27" name="Ellipse 69">
                <a:extLst>
                  <a:ext uri="{FF2B5EF4-FFF2-40B4-BE49-F238E27FC236}">
                    <a16:creationId xmlns:a16="http://schemas.microsoft.com/office/drawing/2014/main" id="{E3A2DF12-0518-4F04-12F8-7AEB2E901DE2}"/>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1EC459C7-02F0-94CE-E0CA-29BD26A29D5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9" name="Down arrow">
              <a:extLst>
                <a:ext uri="{FF2B5EF4-FFF2-40B4-BE49-F238E27FC236}">
                  <a16:creationId xmlns:a16="http://schemas.microsoft.com/office/drawing/2014/main" id="{45551C7B-EDA3-7E36-3E5E-E4CDA40C9291}"/>
                </a:ext>
              </a:extLst>
            </p:cNvPr>
            <p:cNvGrpSpPr>
              <a:grpSpLocks noChangeAspect="1"/>
            </p:cNvGrpSpPr>
            <p:nvPr/>
          </p:nvGrpSpPr>
          <p:grpSpPr>
            <a:xfrm rot="5400000" flipV="1">
              <a:off x="5176289" y="2973654"/>
              <a:ext cx="230909" cy="230909"/>
              <a:chOff x="1413494" y="4670360"/>
              <a:chExt cx="442162" cy="456033"/>
            </a:xfrm>
          </p:grpSpPr>
          <p:sp>
            <p:nvSpPr>
              <p:cNvPr id="30" name="Ellipse 69">
                <a:extLst>
                  <a:ext uri="{FF2B5EF4-FFF2-40B4-BE49-F238E27FC236}">
                    <a16:creationId xmlns:a16="http://schemas.microsoft.com/office/drawing/2014/main" id="{2531A2E3-BFA6-62E9-9938-96E3FD8AA1F4}"/>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1" name="Flèche vers la droite 45">
                <a:extLst>
                  <a:ext uri="{FF2B5EF4-FFF2-40B4-BE49-F238E27FC236}">
                    <a16:creationId xmlns:a16="http://schemas.microsoft.com/office/drawing/2014/main" id="{D3BE64AA-D4C0-C2E9-EECD-743C526D438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2" name="Down arrow">
              <a:extLst>
                <a:ext uri="{FF2B5EF4-FFF2-40B4-BE49-F238E27FC236}">
                  <a16:creationId xmlns:a16="http://schemas.microsoft.com/office/drawing/2014/main" id="{4A406823-57DA-ACB5-0C06-2FB9B1BCF7B7}"/>
                </a:ext>
              </a:extLst>
            </p:cNvPr>
            <p:cNvGrpSpPr>
              <a:grpSpLocks noChangeAspect="1"/>
            </p:cNvGrpSpPr>
            <p:nvPr/>
          </p:nvGrpSpPr>
          <p:grpSpPr>
            <a:xfrm rot="5400000" flipV="1">
              <a:off x="5176289" y="3283422"/>
              <a:ext cx="230909" cy="230909"/>
              <a:chOff x="1413494" y="4670360"/>
              <a:chExt cx="442162" cy="456033"/>
            </a:xfrm>
          </p:grpSpPr>
          <p:sp>
            <p:nvSpPr>
              <p:cNvPr id="33" name="Ellipse 69">
                <a:extLst>
                  <a:ext uri="{FF2B5EF4-FFF2-40B4-BE49-F238E27FC236}">
                    <a16:creationId xmlns:a16="http://schemas.microsoft.com/office/drawing/2014/main" id="{AC508DB7-DA91-6205-236E-E98913B3B4D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4" name="Flèche vers la droite 45">
                <a:extLst>
                  <a:ext uri="{FF2B5EF4-FFF2-40B4-BE49-F238E27FC236}">
                    <a16:creationId xmlns:a16="http://schemas.microsoft.com/office/drawing/2014/main" id="{56C6BCAA-E488-12C4-6B16-B8242D54FCF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5" name="Down arrow">
              <a:extLst>
                <a:ext uri="{FF2B5EF4-FFF2-40B4-BE49-F238E27FC236}">
                  <a16:creationId xmlns:a16="http://schemas.microsoft.com/office/drawing/2014/main" id="{7AC27E46-1FFB-E359-FD0F-FD92AA899A31}"/>
                </a:ext>
              </a:extLst>
            </p:cNvPr>
            <p:cNvGrpSpPr>
              <a:grpSpLocks noChangeAspect="1"/>
            </p:cNvGrpSpPr>
            <p:nvPr/>
          </p:nvGrpSpPr>
          <p:grpSpPr>
            <a:xfrm rot="5400000" flipV="1">
              <a:off x="5176289" y="3593191"/>
              <a:ext cx="230909" cy="230909"/>
              <a:chOff x="1413494" y="4670360"/>
              <a:chExt cx="442162" cy="456033"/>
            </a:xfrm>
          </p:grpSpPr>
          <p:sp>
            <p:nvSpPr>
              <p:cNvPr id="36" name="Ellipse 69">
                <a:extLst>
                  <a:ext uri="{FF2B5EF4-FFF2-40B4-BE49-F238E27FC236}">
                    <a16:creationId xmlns:a16="http://schemas.microsoft.com/office/drawing/2014/main" id="{106172E7-917B-EFC4-B48D-3390A00CABBD}"/>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7" name="Flèche vers la droite 45">
                <a:extLst>
                  <a:ext uri="{FF2B5EF4-FFF2-40B4-BE49-F238E27FC236}">
                    <a16:creationId xmlns:a16="http://schemas.microsoft.com/office/drawing/2014/main" id="{B8ADB581-1506-A98F-D65D-A990E8EF50C8}"/>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sp>
        <p:nvSpPr>
          <p:cNvPr id="40" name="TextBox 39">
            <a:extLst>
              <a:ext uri="{FF2B5EF4-FFF2-40B4-BE49-F238E27FC236}">
                <a16:creationId xmlns:a16="http://schemas.microsoft.com/office/drawing/2014/main" id="{11CF4A60-10FE-19A0-E06A-FAE4195DA194}"/>
              </a:ext>
            </a:extLst>
          </p:cNvPr>
          <p:cNvSpPr txBox="1"/>
          <p:nvPr/>
        </p:nvSpPr>
        <p:spPr>
          <a:xfrm>
            <a:off x="5645728" y="1816683"/>
            <a:ext cx="2925872" cy="246221"/>
          </a:xfrm>
          <a:prstGeom prst="rect">
            <a:avLst/>
          </a:prstGeom>
          <a:noFill/>
        </p:spPr>
        <p:txBody>
          <a:bodyPr wrap="square" rtlCol="0">
            <a:spAutoFit/>
          </a:bodyPr>
          <a:lstStyle/>
          <a:p>
            <a:r>
              <a:rPr lang="en-US" sz="1000" dirty="0"/>
              <a:t>Baseline aging effect</a:t>
            </a:r>
            <a:endParaRPr lang="en-CH" sz="1000" dirty="0"/>
          </a:p>
        </p:txBody>
      </p:sp>
      <p:sp>
        <p:nvSpPr>
          <p:cNvPr id="41" name="TextBox 40">
            <a:extLst>
              <a:ext uri="{FF2B5EF4-FFF2-40B4-BE49-F238E27FC236}">
                <a16:creationId xmlns:a16="http://schemas.microsoft.com/office/drawing/2014/main" id="{8D3CE628-785E-1D38-A835-10C3C77065D3}"/>
              </a:ext>
            </a:extLst>
          </p:cNvPr>
          <p:cNvSpPr txBox="1"/>
          <p:nvPr/>
        </p:nvSpPr>
        <p:spPr>
          <a:xfrm>
            <a:off x="5645728" y="2128390"/>
            <a:ext cx="2925872" cy="246221"/>
          </a:xfrm>
          <a:prstGeom prst="rect">
            <a:avLst/>
          </a:prstGeom>
          <a:noFill/>
        </p:spPr>
        <p:txBody>
          <a:bodyPr wrap="square" rtlCol="0">
            <a:spAutoFit/>
          </a:bodyPr>
          <a:lstStyle/>
          <a:p>
            <a:r>
              <a:rPr lang="en-US" sz="1000" dirty="0"/>
              <a:t>Financial system structure effect</a:t>
            </a:r>
            <a:endParaRPr lang="en-CH" sz="1000" dirty="0"/>
          </a:p>
        </p:txBody>
      </p:sp>
      <p:sp>
        <p:nvSpPr>
          <p:cNvPr id="42" name="TextBox 41">
            <a:extLst>
              <a:ext uri="{FF2B5EF4-FFF2-40B4-BE49-F238E27FC236}">
                <a16:creationId xmlns:a16="http://schemas.microsoft.com/office/drawing/2014/main" id="{35951038-0FA0-A661-9F9E-71E24DB768F8}"/>
              </a:ext>
            </a:extLst>
          </p:cNvPr>
          <p:cNvSpPr txBox="1"/>
          <p:nvPr/>
        </p:nvSpPr>
        <p:spPr>
          <a:xfrm>
            <a:off x="5645727" y="2440097"/>
            <a:ext cx="3034145" cy="246221"/>
          </a:xfrm>
          <a:prstGeom prst="rect">
            <a:avLst/>
          </a:prstGeom>
          <a:noFill/>
        </p:spPr>
        <p:txBody>
          <a:bodyPr wrap="square" rtlCol="0">
            <a:spAutoFit/>
          </a:bodyPr>
          <a:lstStyle/>
          <a:p>
            <a:r>
              <a:rPr lang="en-US" sz="1000" dirty="0"/>
              <a:t>Aging effect depending on structure (interaction term)</a:t>
            </a:r>
            <a:endParaRPr lang="en-CH" sz="1000" dirty="0"/>
          </a:p>
        </p:txBody>
      </p:sp>
      <p:sp>
        <p:nvSpPr>
          <p:cNvPr id="43" name="TextBox 42">
            <a:extLst>
              <a:ext uri="{FF2B5EF4-FFF2-40B4-BE49-F238E27FC236}">
                <a16:creationId xmlns:a16="http://schemas.microsoft.com/office/drawing/2014/main" id="{03DB0BA0-8461-4D67-68F5-D93B9F5F9F6F}"/>
              </a:ext>
            </a:extLst>
          </p:cNvPr>
          <p:cNvSpPr txBox="1"/>
          <p:nvPr/>
        </p:nvSpPr>
        <p:spPr>
          <a:xfrm>
            <a:off x="5645728" y="2751804"/>
            <a:ext cx="2925872" cy="246221"/>
          </a:xfrm>
          <a:prstGeom prst="rect">
            <a:avLst/>
          </a:prstGeom>
          <a:noFill/>
        </p:spPr>
        <p:txBody>
          <a:bodyPr wrap="square" rtlCol="0">
            <a:spAutoFit/>
          </a:bodyPr>
          <a:lstStyle/>
          <a:p>
            <a:r>
              <a:rPr lang="en-US" sz="1000" dirty="0"/>
              <a:t>Pension system control variable</a:t>
            </a:r>
            <a:endParaRPr lang="en-CH" sz="1000" dirty="0"/>
          </a:p>
        </p:txBody>
      </p:sp>
      <p:sp>
        <p:nvSpPr>
          <p:cNvPr id="44" name="TextBox 43">
            <a:extLst>
              <a:ext uri="{FF2B5EF4-FFF2-40B4-BE49-F238E27FC236}">
                <a16:creationId xmlns:a16="http://schemas.microsoft.com/office/drawing/2014/main" id="{9CFA967E-4659-78BE-1AD7-452A4AC9E8E1}"/>
              </a:ext>
            </a:extLst>
          </p:cNvPr>
          <p:cNvSpPr txBox="1"/>
          <p:nvPr/>
        </p:nvSpPr>
        <p:spPr>
          <a:xfrm>
            <a:off x="5645728" y="3063511"/>
            <a:ext cx="2925872" cy="246221"/>
          </a:xfrm>
          <a:prstGeom prst="rect">
            <a:avLst/>
          </a:prstGeom>
          <a:noFill/>
        </p:spPr>
        <p:txBody>
          <a:bodyPr wrap="square" rtlCol="0">
            <a:spAutoFit/>
          </a:bodyPr>
          <a:lstStyle/>
          <a:p>
            <a:r>
              <a:rPr lang="en-US" sz="1000" dirty="0"/>
              <a:t>Very old population effect</a:t>
            </a:r>
            <a:endParaRPr lang="en-CH" sz="1000" dirty="0"/>
          </a:p>
        </p:txBody>
      </p:sp>
      <p:sp>
        <p:nvSpPr>
          <p:cNvPr id="45" name="TextBox 44">
            <a:extLst>
              <a:ext uri="{FF2B5EF4-FFF2-40B4-BE49-F238E27FC236}">
                <a16:creationId xmlns:a16="http://schemas.microsoft.com/office/drawing/2014/main" id="{9735B96F-801B-3B3B-0CB9-FDB4BFE07698}"/>
              </a:ext>
            </a:extLst>
          </p:cNvPr>
          <p:cNvSpPr txBox="1"/>
          <p:nvPr/>
        </p:nvSpPr>
        <p:spPr>
          <a:xfrm>
            <a:off x="5645728" y="3375218"/>
            <a:ext cx="2925872" cy="246221"/>
          </a:xfrm>
          <a:prstGeom prst="rect">
            <a:avLst/>
          </a:prstGeom>
          <a:noFill/>
        </p:spPr>
        <p:txBody>
          <a:bodyPr wrap="square" rtlCol="0">
            <a:spAutoFit/>
          </a:bodyPr>
          <a:lstStyle/>
          <a:p>
            <a:r>
              <a:rPr lang="en-US" sz="1000" dirty="0"/>
              <a:t>Bank-level control variables (see next slides)</a:t>
            </a:r>
            <a:endParaRPr lang="en-CH" sz="1000" dirty="0"/>
          </a:p>
        </p:txBody>
      </p:sp>
      <p:sp>
        <p:nvSpPr>
          <p:cNvPr id="46" name="TextBox 45">
            <a:extLst>
              <a:ext uri="{FF2B5EF4-FFF2-40B4-BE49-F238E27FC236}">
                <a16:creationId xmlns:a16="http://schemas.microsoft.com/office/drawing/2014/main" id="{58A4C155-EDD2-38AA-396E-5A32B94BC59C}"/>
              </a:ext>
            </a:extLst>
          </p:cNvPr>
          <p:cNvSpPr txBox="1"/>
          <p:nvPr/>
        </p:nvSpPr>
        <p:spPr>
          <a:xfrm>
            <a:off x="5645728" y="3686925"/>
            <a:ext cx="2925872" cy="246221"/>
          </a:xfrm>
          <a:prstGeom prst="rect">
            <a:avLst/>
          </a:prstGeom>
          <a:noFill/>
        </p:spPr>
        <p:txBody>
          <a:bodyPr wrap="square" rtlCol="0">
            <a:spAutoFit/>
          </a:bodyPr>
          <a:lstStyle/>
          <a:p>
            <a:r>
              <a:rPr lang="de-LI" sz="1000" dirty="0"/>
              <a:t>Bank &amp; year fixed effects; error term</a:t>
            </a:r>
            <a:endParaRPr lang="en-CH" sz="1000" dirty="0"/>
          </a:p>
        </p:txBody>
      </p:sp>
      <p:sp>
        <p:nvSpPr>
          <p:cNvPr id="55" name="Rectangle 54">
            <a:extLst>
              <a:ext uri="{FF2B5EF4-FFF2-40B4-BE49-F238E27FC236}">
                <a16:creationId xmlns:a16="http://schemas.microsoft.com/office/drawing/2014/main" id="{9914BA2D-0144-084D-BBF2-3BF1C2F7FC0A}"/>
              </a:ext>
            </a:extLst>
          </p:cNvPr>
          <p:cNvSpPr/>
          <p:nvPr/>
        </p:nvSpPr>
        <p:spPr>
          <a:xfrm>
            <a:off x="2089580" y="2686318"/>
            <a:ext cx="2323093" cy="311707"/>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A1C0254D-581A-2010-949C-990F6F3364B7}"/>
              </a:ext>
            </a:extLst>
          </p:cNvPr>
          <p:cNvSpPr txBox="1"/>
          <p:nvPr/>
        </p:nvSpPr>
        <p:spPr>
          <a:xfrm>
            <a:off x="609968" y="2630907"/>
            <a:ext cx="1587501" cy="707886"/>
          </a:xfrm>
          <a:prstGeom prst="rect">
            <a:avLst/>
          </a:prstGeom>
          <a:noFill/>
        </p:spPr>
        <p:txBody>
          <a:bodyPr wrap="square" rtlCol="0">
            <a:spAutoFit/>
          </a:bodyPr>
          <a:lstStyle/>
          <a:p>
            <a:r>
              <a:rPr lang="de-LI" sz="1000" i="1" dirty="0">
                <a:solidFill>
                  <a:srgbClr val="FF0000"/>
                </a:solidFill>
              </a:rPr>
              <a:t>Explanation on next slide why pension system should not be main explanatory variable</a:t>
            </a:r>
            <a:endParaRPr lang="en-CH" sz="1000" i="1" dirty="0">
              <a:solidFill>
                <a:srgbClr val="FF0000"/>
              </a:solidFill>
            </a:endParaRPr>
          </a:p>
        </p:txBody>
      </p:sp>
    </p:spTree>
    <p:extLst>
      <p:ext uri="{BB962C8B-B14F-4D97-AF65-F5344CB8AC3E}">
        <p14:creationId xmlns:p14="http://schemas.microsoft.com/office/powerpoint/2010/main" val="235775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29F25-C793-D0B4-D534-14AB31EED0C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8AA9573-8466-7FA2-417E-35C6E5957B67}"/>
              </a:ext>
            </a:extLst>
          </p:cNvPr>
          <p:cNvGraphicFramePr>
            <a:graphicFrameLocks/>
          </p:cNvGraphicFramePr>
          <p:nvPr>
            <p:custDataLst>
              <p:tags r:id="rId1"/>
            </p:custDataLst>
            <p:extLst>
              <p:ext uri="{D42A27DB-BD31-4B8C-83A1-F6EECF244321}">
                <p14:modId xmlns:p14="http://schemas.microsoft.com/office/powerpoint/2010/main" val="41130086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68AA9573-8466-7FA2-417E-35C6E5957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1E6F778-7DA4-6529-10C2-5418F1FBAEE9}"/>
              </a:ext>
            </a:extLst>
          </p:cNvPr>
          <p:cNvSpPr>
            <a:spLocks noGrp="1"/>
          </p:cNvSpPr>
          <p:nvPr>
            <p:ph type="title"/>
          </p:nvPr>
        </p:nvSpPr>
        <p:spPr/>
        <p:txBody>
          <a:bodyPr vert="horz" rIns="0"/>
          <a:lstStyle/>
          <a:p>
            <a:r>
              <a:rPr lang="en-US" dirty="0"/>
              <a:t>Financial system structure as the key explanatory mechanism</a:t>
            </a:r>
            <a:endParaRPr lang="de-LI" dirty="0"/>
          </a:p>
        </p:txBody>
      </p:sp>
      <p:sp>
        <p:nvSpPr>
          <p:cNvPr id="3" name="Slide Number Placeholder 2">
            <a:extLst>
              <a:ext uri="{FF2B5EF4-FFF2-40B4-BE49-F238E27FC236}">
                <a16:creationId xmlns:a16="http://schemas.microsoft.com/office/drawing/2014/main" id="{A5816561-3C2C-4F91-F655-A06FC91101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10</a:t>
            </a:fld>
            <a:endParaRPr lang="en-GB"/>
          </a:p>
        </p:txBody>
      </p:sp>
      <p:sp>
        <p:nvSpPr>
          <p:cNvPr id="5" name="Rectangle 4">
            <a:extLst>
              <a:ext uri="{FF2B5EF4-FFF2-40B4-BE49-F238E27FC236}">
                <a16:creationId xmlns:a16="http://schemas.microsoft.com/office/drawing/2014/main" id="{1C61DE8B-E794-D593-1C3C-8017124A6F30}"/>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Pension system</a:t>
            </a:r>
            <a:br>
              <a:rPr lang="de-LI" sz="1100" dirty="0"/>
            </a:br>
            <a:r>
              <a:rPr lang="de-LI" sz="1100" dirty="0"/>
              <a:t>structure</a:t>
            </a:r>
            <a:endParaRPr lang="en-GB" sz="1100" dirty="0"/>
          </a:p>
        </p:txBody>
      </p:sp>
      <p:sp>
        <p:nvSpPr>
          <p:cNvPr id="12" name="Rectangle 11">
            <a:extLst>
              <a:ext uri="{FF2B5EF4-FFF2-40B4-BE49-F238E27FC236}">
                <a16:creationId xmlns:a16="http://schemas.microsoft.com/office/drawing/2014/main" id="{0F9FBB00-0CEA-AE50-D542-0B29A733AA13}"/>
              </a:ext>
            </a:extLst>
          </p:cNvPr>
          <p:cNvSpPr/>
          <p:nvPr/>
        </p:nvSpPr>
        <p:spPr>
          <a:xfrm>
            <a:off x="5479472" y="1114427"/>
            <a:ext cx="2732400"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Financial system</a:t>
            </a:r>
            <a:br>
              <a:rPr lang="de-LI" sz="1100" dirty="0"/>
            </a:br>
            <a:r>
              <a:rPr lang="de-LI" sz="1100" dirty="0"/>
              <a:t>structure</a:t>
            </a:r>
            <a:endParaRPr lang="en-GB" sz="1100" dirty="0"/>
          </a:p>
        </p:txBody>
      </p:sp>
      <p:sp>
        <p:nvSpPr>
          <p:cNvPr id="13" name="TextBox 12">
            <a:extLst>
              <a:ext uri="{FF2B5EF4-FFF2-40B4-BE49-F238E27FC236}">
                <a16:creationId xmlns:a16="http://schemas.microsoft.com/office/drawing/2014/main" id="{DF5CEC9B-B187-542F-0D07-959456EA4BB3}"/>
              </a:ext>
            </a:extLst>
          </p:cNvPr>
          <p:cNvSpPr txBox="1"/>
          <p:nvPr/>
        </p:nvSpPr>
        <p:spPr>
          <a:xfrm>
            <a:off x="2089580" y="2504148"/>
            <a:ext cx="2731802" cy="246221"/>
          </a:xfrm>
          <a:prstGeom prst="rect">
            <a:avLst/>
          </a:prstGeom>
          <a:noFill/>
        </p:spPr>
        <p:txBody>
          <a:bodyPr wrap="square" rtlCol="0">
            <a:spAutoFit/>
          </a:bodyPr>
          <a:lstStyle/>
          <a:p>
            <a:pPr algn="ctr"/>
            <a:r>
              <a:rPr lang="en-US" sz="1000" dirty="0">
                <a:solidFill>
                  <a:schemeClr val="accent1"/>
                </a:solidFill>
              </a:rPr>
              <a:t>→</a:t>
            </a:r>
            <a:r>
              <a:rPr lang="en-US" sz="1000" dirty="0"/>
              <a:t> </a:t>
            </a:r>
            <a:r>
              <a:rPr lang="en-US" sz="1000" i="1" dirty="0">
                <a:solidFill>
                  <a:schemeClr val="accent1"/>
                </a:solidFill>
              </a:rPr>
              <a:t>Affects and determines wealth accumulation</a:t>
            </a:r>
            <a:endParaRPr lang="en-CH" sz="1000" i="1" dirty="0">
              <a:solidFill>
                <a:schemeClr val="accent1"/>
              </a:solidFill>
            </a:endParaRPr>
          </a:p>
        </p:txBody>
      </p:sp>
      <p:sp>
        <p:nvSpPr>
          <p:cNvPr id="15" name="TextBox 14">
            <a:extLst>
              <a:ext uri="{FF2B5EF4-FFF2-40B4-BE49-F238E27FC236}">
                <a16:creationId xmlns:a16="http://schemas.microsoft.com/office/drawing/2014/main" id="{817FB8BF-2C96-6735-7268-48CB9C333E5A}"/>
              </a:ext>
            </a:extLst>
          </p:cNvPr>
          <p:cNvSpPr txBox="1"/>
          <p:nvPr/>
        </p:nvSpPr>
        <p:spPr>
          <a:xfrm>
            <a:off x="5479472" y="2504148"/>
            <a:ext cx="2731802" cy="246221"/>
          </a:xfrm>
          <a:prstGeom prst="rect">
            <a:avLst/>
          </a:prstGeom>
          <a:noFill/>
        </p:spPr>
        <p:txBody>
          <a:bodyPr wrap="square" rtlCol="0">
            <a:spAutoFit/>
          </a:bodyPr>
          <a:lstStyle/>
          <a:p>
            <a:pPr algn="ctr"/>
            <a:r>
              <a:rPr lang="en-US" sz="1000" dirty="0">
                <a:solidFill>
                  <a:schemeClr val="accent1"/>
                </a:solidFill>
              </a:rPr>
              <a:t>→ </a:t>
            </a:r>
            <a:r>
              <a:rPr lang="en-US" sz="1000" i="1" dirty="0">
                <a:solidFill>
                  <a:schemeClr val="accent1"/>
                </a:solidFill>
              </a:rPr>
              <a:t>Determines if savings go to banks or markets</a:t>
            </a:r>
            <a:endParaRPr lang="en-CH" sz="1000" i="1" dirty="0">
              <a:solidFill>
                <a:schemeClr val="accent1"/>
              </a:solidFill>
            </a:endParaRPr>
          </a:p>
        </p:txBody>
      </p:sp>
      <p:sp>
        <p:nvSpPr>
          <p:cNvPr id="18" name="TextBox 17">
            <a:extLst>
              <a:ext uri="{FF2B5EF4-FFF2-40B4-BE49-F238E27FC236}">
                <a16:creationId xmlns:a16="http://schemas.microsoft.com/office/drawing/2014/main" id="{2A488F52-6303-D6B2-E497-3ABD07CA21D5}"/>
              </a:ext>
            </a:extLst>
          </p:cNvPr>
          <p:cNvSpPr txBox="1"/>
          <p:nvPr/>
        </p:nvSpPr>
        <p:spPr>
          <a:xfrm>
            <a:off x="2089580"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a:t>How much wealth needs to be accumulated for retirement?</a:t>
            </a:r>
            <a:endParaRPr lang="en-CH" sz="1000" dirty="0"/>
          </a:p>
        </p:txBody>
      </p:sp>
      <p:sp>
        <p:nvSpPr>
          <p:cNvPr id="20" name="TextBox 19">
            <a:extLst>
              <a:ext uri="{FF2B5EF4-FFF2-40B4-BE49-F238E27FC236}">
                <a16:creationId xmlns:a16="http://schemas.microsoft.com/office/drawing/2014/main" id="{D73BF4E3-EABF-B6E0-F48B-904D85B88C24}"/>
              </a:ext>
            </a:extLst>
          </p:cNvPr>
          <p:cNvSpPr txBox="1"/>
          <p:nvPr/>
        </p:nvSpPr>
        <p:spPr>
          <a:xfrm>
            <a:off x="5479472"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a:t>Once wealth is accumulated, where are these savings allocated?</a:t>
            </a:r>
            <a:endParaRPr lang="en-CH" sz="1000" dirty="0"/>
          </a:p>
        </p:txBody>
      </p:sp>
      <p:sp>
        <p:nvSpPr>
          <p:cNvPr id="22" name="TextBox 21">
            <a:extLst>
              <a:ext uri="{FF2B5EF4-FFF2-40B4-BE49-F238E27FC236}">
                <a16:creationId xmlns:a16="http://schemas.microsoft.com/office/drawing/2014/main" id="{4CE3B01C-E6AC-FCB0-5DBD-C7CDE63868A6}"/>
              </a:ext>
            </a:extLst>
          </p:cNvPr>
          <p:cNvSpPr txBox="1"/>
          <p:nvPr/>
        </p:nvSpPr>
        <p:spPr>
          <a:xfrm>
            <a:off x="705139" y="2131749"/>
            <a:ext cx="1116734" cy="246221"/>
          </a:xfrm>
          <a:prstGeom prst="rect">
            <a:avLst/>
          </a:prstGeom>
          <a:noFill/>
        </p:spPr>
        <p:txBody>
          <a:bodyPr wrap="square" rtlCol="0">
            <a:spAutoFit/>
          </a:bodyPr>
          <a:lstStyle/>
          <a:p>
            <a:r>
              <a:rPr lang="de-LI" sz="1000" b="1" dirty="0">
                <a:solidFill>
                  <a:schemeClr val="accent1"/>
                </a:solidFill>
              </a:rPr>
              <a:t>Key question</a:t>
            </a:r>
            <a:endParaRPr lang="en-GB" sz="1000" dirty="0">
              <a:solidFill>
                <a:schemeClr val="accent1"/>
              </a:solidFill>
            </a:endParaRPr>
          </a:p>
        </p:txBody>
      </p:sp>
      <p:sp>
        <p:nvSpPr>
          <p:cNvPr id="23" name="TextBox 22">
            <a:extLst>
              <a:ext uri="{FF2B5EF4-FFF2-40B4-BE49-F238E27FC236}">
                <a16:creationId xmlns:a16="http://schemas.microsoft.com/office/drawing/2014/main" id="{63CCBA66-BC93-B47E-D5CD-00C8E9486962}"/>
              </a:ext>
            </a:extLst>
          </p:cNvPr>
          <p:cNvSpPr txBox="1"/>
          <p:nvPr/>
        </p:nvSpPr>
        <p:spPr>
          <a:xfrm>
            <a:off x="2089580"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t>Determines retirement saving needs</a:t>
            </a:r>
            <a:endParaRPr lang="en-CH" sz="1000" dirty="0"/>
          </a:p>
        </p:txBody>
      </p:sp>
      <p:sp>
        <p:nvSpPr>
          <p:cNvPr id="24" name="TextBox 23">
            <a:extLst>
              <a:ext uri="{FF2B5EF4-FFF2-40B4-BE49-F238E27FC236}">
                <a16:creationId xmlns:a16="http://schemas.microsoft.com/office/drawing/2014/main" id="{4DC58C2A-0647-A7DD-CA71-853D3A4EC77C}"/>
              </a:ext>
            </a:extLst>
          </p:cNvPr>
          <p:cNvSpPr txBox="1"/>
          <p:nvPr/>
        </p:nvSpPr>
        <p:spPr>
          <a:xfrm>
            <a:off x="5479472"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t>Determines savings intermediation channel</a:t>
            </a:r>
          </a:p>
        </p:txBody>
      </p:sp>
      <p:sp>
        <p:nvSpPr>
          <p:cNvPr id="39" name="TextBox 38">
            <a:extLst>
              <a:ext uri="{FF2B5EF4-FFF2-40B4-BE49-F238E27FC236}">
                <a16:creationId xmlns:a16="http://schemas.microsoft.com/office/drawing/2014/main" id="{4E9F4A5B-C146-16AE-D848-35A582AC8A7C}"/>
              </a:ext>
            </a:extLst>
          </p:cNvPr>
          <p:cNvSpPr txBox="1"/>
          <p:nvPr/>
        </p:nvSpPr>
        <p:spPr>
          <a:xfrm>
            <a:off x="705139" y="2871112"/>
            <a:ext cx="1116734" cy="246221"/>
          </a:xfrm>
          <a:prstGeom prst="rect">
            <a:avLst/>
          </a:prstGeom>
          <a:noFill/>
        </p:spPr>
        <p:txBody>
          <a:bodyPr wrap="square" rtlCol="0">
            <a:spAutoFit/>
          </a:bodyPr>
          <a:lstStyle/>
          <a:p>
            <a:r>
              <a:rPr lang="de-LI" sz="1000" b="1" dirty="0">
                <a:solidFill>
                  <a:schemeClr val="accent1"/>
                </a:solidFill>
              </a:rPr>
              <a:t>Mechanism</a:t>
            </a:r>
            <a:endParaRPr lang="en-GB" sz="1000" dirty="0">
              <a:solidFill>
                <a:schemeClr val="accent1"/>
              </a:solidFill>
            </a:endParaRPr>
          </a:p>
        </p:txBody>
      </p:sp>
      <p:grpSp>
        <p:nvGrpSpPr>
          <p:cNvPr id="49" name="Pic">
            <a:extLst>
              <a:ext uri="{FF2B5EF4-FFF2-40B4-BE49-F238E27FC236}">
                <a16:creationId xmlns:a16="http://schemas.microsoft.com/office/drawing/2014/main" id="{6B8D4E1F-86C2-95A9-3443-AB78D2543295}"/>
              </a:ext>
            </a:extLst>
          </p:cNvPr>
          <p:cNvGrpSpPr/>
          <p:nvPr/>
        </p:nvGrpSpPr>
        <p:grpSpPr>
          <a:xfrm>
            <a:off x="6692000" y="1724346"/>
            <a:ext cx="307344" cy="307307"/>
            <a:chOff x="6640513" y="1751013"/>
            <a:chExt cx="254004" cy="253973"/>
          </a:xfrm>
          <a:solidFill>
            <a:srgbClr val="000000"/>
          </a:solidFill>
        </p:grpSpPr>
        <p:sp>
          <p:nvSpPr>
            <p:cNvPr id="50" name="Freeform: Shape 49">
              <a:extLst>
                <a:ext uri="{FF2B5EF4-FFF2-40B4-BE49-F238E27FC236}">
                  <a16:creationId xmlns:a16="http://schemas.microsoft.com/office/drawing/2014/main" id="{A9D80589-C88A-AC12-6AFA-9105327E7E1A}"/>
                </a:ext>
              </a:extLst>
            </p:cNvPr>
            <p:cNvSpPr/>
            <p:nvPr/>
          </p:nvSpPr>
          <p:spPr>
            <a:xfrm>
              <a:off x="6701823" y="1961189"/>
              <a:ext cx="17517" cy="8758"/>
            </a:xfrm>
            <a:custGeom>
              <a:avLst/>
              <a:gdLst>
                <a:gd name="connsiteX0" fmla="*/ 0 w 17517"/>
                <a:gd name="connsiteY0" fmla="*/ 0 h 8758"/>
                <a:gd name="connsiteX1" fmla="*/ 17517 w 17517"/>
                <a:gd name="connsiteY1" fmla="*/ 0 h 8758"/>
                <a:gd name="connsiteX2" fmla="*/ 17517 w 17517"/>
                <a:gd name="connsiteY2" fmla="*/ 8759 h 8758"/>
                <a:gd name="connsiteX3" fmla="*/ 0 w 17517"/>
                <a:gd name="connsiteY3" fmla="*/ 8759 h 8758"/>
              </a:gdLst>
              <a:ahLst/>
              <a:cxnLst>
                <a:cxn ang="0">
                  <a:pos x="connsiteX0" y="connsiteY0"/>
                </a:cxn>
                <a:cxn ang="0">
                  <a:pos x="connsiteX1" y="connsiteY1"/>
                </a:cxn>
                <a:cxn ang="0">
                  <a:pos x="connsiteX2" y="connsiteY2"/>
                </a:cxn>
                <a:cxn ang="0">
                  <a:pos x="connsiteX3" y="connsiteY3"/>
                </a:cxn>
              </a:cxnLst>
              <a:rect l="l" t="t" r="r" b="b"/>
              <a:pathLst>
                <a:path w="17517" h="8758">
                  <a:moveTo>
                    <a:pt x="0" y="0"/>
                  </a:moveTo>
                  <a:lnTo>
                    <a:pt x="17517" y="0"/>
                  </a:lnTo>
                  <a:lnTo>
                    <a:pt x="17517" y="8759"/>
                  </a:lnTo>
                  <a:lnTo>
                    <a:pt x="0" y="8759"/>
                  </a:lnTo>
                  <a:close/>
                </a:path>
              </a:pathLst>
            </a:custGeom>
            <a:solidFill>
              <a:srgbClr val="000000"/>
            </a:solidFill>
            <a:ln w="4270"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414FD147-1CF0-417F-6279-681E7C093EEE}"/>
                </a:ext>
              </a:extLst>
            </p:cNvPr>
            <p:cNvSpPr/>
            <p:nvPr/>
          </p:nvSpPr>
          <p:spPr>
            <a:xfrm>
              <a:off x="6815685" y="1961189"/>
              <a:ext cx="17517" cy="8758"/>
            </a:xfrm>
            <a:custGeom>
              <a:avLst/>
              <a:gdLst>
                <a:gd name="connsiteX0" fmla="*/ 0 w 17517"/>
                <a:gd name="connsiteY0" fmla="*/ 0 h 8758"/>
                <a:gd name="connsiteX1" fmla="*/ 17517 w 17517"/>
                <a:gd name="connsiteY1" fmla="*/ 0 h 8758"/>
                <a:gd name="connsiteX2" fmla="*/ 17517 w 17517"/>
                <a:gd name="connsiteY2" fmla="*/ 8759 h 8758"/>
                <a:gd name="connsiteX3" fmla="*/ 0 w 17517"/>
                <a:gd name="connsiteY3" fmla="*/ 8759 h 8758"/>
              </a:gdLst>
              <a:ahLst/>
              <a:cxnLst>
                <a:cxn ang="0">
                  <a:pos x="connsiteX0" y="connsiteY0"/>
                </a:cxn>
                <a:cxn ang="0">
                  <a:pos x="connsiteX1" y="connsiteY1"/>
                </a:cxn>
                <a:cxn ang="0">
                  <a:pos x="connsiteX2" y="connsiteY2"/>
                </a:cxn>
                <a:cxn ang="0">
                  <a:pos x="connsiteX3" y="connsiteY3"/>
                </a:cxn>
              </a:cxnLst>
              <a:rect l="l" t="t" r="r" b="b"/>
              <a:pathLst>
                <a:path w="17517" h="8758">
                  <a:moveTo>
                    <a:pt x="0" y="0"/>
                  </a:moveTo>
                  <a:lnTo>
                    <a:pt x="17517" y="0"/>
                  </a:lnTo>
                  <a:lnTo>
                    <a:pt x="17517" y="8759"/>
                  </a:lnTo>
                  <a:lnTo>
                    <a:pt x="0" y="8759"/>
                  </a:lnTo>
                  <a:close/>
                </a:path>
              </a:pathLst>
            </a:custGeom>
            <a:solidFill>
              <a:srgbClr val="000000"/>
            </a:solidFill>
            <a:ln w="4270"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73687116-7880-8E8C-AFD7-9D6575950EAE}"/>
                </a:ext>
              </a:extLst>
            </p:cNvPr>
            <p:cNvSpPr/>
            <p:nvPr/>
          </p:nvSpPr>
          <p:spPr>
            <a:xfrm>
              <a:off x="6675775"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3FFC762F-7272-06F7-0763-76710BB59085}"/>
                </a:ext>
              </a:extLst>
            </p:cNvPr>
            <p:cNvSpPr/>
            <p:nvPr/>
          </p:nvSpPr>
          <p:spPr>
            <a:xfrm>
              <a:off x="6658257"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6313AB01-29E5-0122-DBBC-99F8504C9D17}"/>
                </a:ext>
              </a:extLst>
            </p:cNvPr>
            <p:cNvSpPr/>
            <p:nvPr/>
          </p:nvSpPr>
          <p:spPr>
            <a:xfrm>
              <a:off x="6728094" y="1926154"/>
              <a:ext cx="78831" cy="78831"/>
            </a:xfrm>
            <a:custGeom>
              <a:avLst/>
              <a:gdLst>
                <a:gd name="connsiteX0" fmla="*/ 69570 w 78831"/>
                <a:gd name="connsiteY0" fmla="*/ 26928 h 78831"/>
                <a:gd name="connsiteX1" fmla="*/ 70599 w 78831"/>
                <a:gd name="connsiteY1" fmla="*/ 14855 h 78831"/>
                <a:gd name="connsiteX2" fmla="*/ 63977 w 78831"/>
                <a:gd name="connsiteY2" fmla="*/ 8233 h 78831"/>
                <a:gd name="connsiteX3" fmla="*/ 51908 w 78831"/>
                <a:gd name="connsiteY3" fmla="*/ 9262 h 78831"/>
                <a:gd name="connsiteX4" fmla="*/ 44100 w 78831"/>
                <a:gd name="connsiteY4" fmla="*/ 0 h 78831"/>
                <a:gd name="connsiteX5" fmla="*/ 34732 w 78831"/>
                <a:gd name="connsiteY5" fmla="*/ 0 h 78831"/>
                <a:gd name="connsiteX6" fmla="*/ 26924 w 78831"/>
                <a:gd name="connsiteY6" fmla="*/ 9262 h 78831"/>
                <a:gd name="connsiteX7" fmla="*/ 14855 w 78831"/>
                <a:gd name="connsiteY7" fmla="*/ 8233 h 78831"/>
                <a:gd name="connsiteX8" fmla="*/ 8233 w 78831"/>
                <a:gd name="connsiteY8" fmla="*/ 14855 h 78831"/>
                <a:gd name="connsiteX9" fmla="*/ 9262 w 78831"/>
                <a:gd name="connsiteY9" fmla="*/ 26928 h 78831"/>
                <a:gd name="connsiteX10" fmla="*/ 0 w 78831"/>
                <a:gd name="connsiteY10" fmla="*/ 34732 h 78831"/>
                <a:gd name="connsiteX11" fmla="*/ 0 w 78831"/>
                <a:gd name="connsiteY11" fmla="*/ 44100 h 78831"/>
                <a:gd name="connsiteX12" fmla="*/ 9262 w 78831"/>
                <a:gd name="connsiteY12" fmla="*/ 51904 h 78831"/>
                <a:gd name="connsiteX13" fmla="*/ 8233 w 78831"/>
                <a:gd name="connsiteY13" fmla="*/ 63977 h 78831"/>
                <a:gd name="connsiteX14" fmla="*/ 14855 w 78831"/>
                <a:gd name="connsiteY14" fmla="*/ 70599 h 78831"/>
                <a:gd name="connsiteX15" fmla="*/ 26924 w 78831"/>
                <a:gd name="connsiteY15" fmla="*/ 69570 h 78831"/>
                <a:gd name="connsiteX16" fmla="*/ 34732 w 78831"/>
                <a:gd name="connsiteY16" fmla="*/ 78832 h 78831"/>
                <a:gd name="connsiteX17" fmla="*/ 44100 w 78831"/>
                <a:gd name="connsiteY17" fmla="*/ 78832 h 78831"/>
                <a:gd name="connsiteX18" fmla="*/ 51908 w 78831"/>
                <a:gd name="connsiteY18" fmla="*/ 69570 h 78831"/>
                <a:gd name="connsiteX19" fmla="*/ 63977 w 78831"/>
                <a:gd name="connsiteY19" fmla="*/ 70599 h 78831"/>
                <a:gd name="connsiteX20" fmla="*/ 70599 w 78831"/>
                <a:gd name="connsiteY20" fmla="*/ 63977 h 78831"/>
                <a:gd name="connsiteX21" fmla="*/ 69570 w 78831"/>
                <a:gd name="connsiteY21" fmla="*/ 51904 h 78831"/>
                <a:gd name="connsiteX22" fmla="*/ 78832 w 78831"/>
                <a:gd name="connsiteY22" fmla="*/ 44100 h 78831"/>
                <a:gd name="connsiteX23" fmla="*/ 78832 w 78831"/>
                <a:gd name="connsiteY23" fmla="*/ 34732 h 78831"/>
                <a:gd name="connsiteX24" fmla="*/ 69570 w 78831"/>
                <a:gd name="connsiteY24" fmla="*/ 26928 h 78831"/>
                <a:gd name="connsiteX25" fmla="*/ 39418 w 78831"/>
                <a:gd name="connsiteY25" fmla="*/ 56931 h 78831"/>
                <a:gd name="connsiteX26" fmla="*/ 21901 w 78831"/>
                <a:gd name="connsiteY26" fmla="*/ 39414 h 78831"/>
                <a:gd name="connsiteX27" fmla="*/ 39418 w 78831"/>
                <a:gd name="connsiteY27" fmla="*/ 21897 h 78831"/>
                <a:gd name="connsiteX28" fmla="*/ 56935 w 78831"/>
                <a:gd name="connsiteY28" fmla="*/ 39414 h 78831"/>
                <a:gd name="connsiteX29" fmla="*/ 39418 w 78831"/>
                <a:gd name="connsiteY29" fmla="*/ 56931 h 78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8831" h="78831">
                  <a:moveTo>
                    <a:pt x="69570" y="26928"/>
                  </a:moveTo>
                  <a:cubicBezTo>
                    <a:pt x="67875" y="22834"/>
                    <a:pt x="68295" y="18424"/>
                    <a:pt x="70599" y="14855"/>
                  </a:cubicBezTo>
                  <a:lnTo>
                    <a:pt x="63977" y="8233"/>
                  </a:lnTo>
                  <a:cubicBezTo>
                    <a:pt x="60413" y="10537"/>
                    <a:pt x="56003" y="10953"/>
                    <a:pt x="51908" y="9262"/>
                  </a:cubicBezTo>
                  <a:cubicBezTo>
                    <a:pt x="47818" y="7567"/>
                    <a:pt x="44993" y="4147"/>
                    <a:pt x="44100" y="0"/>
                  </a:cubicBezTo>
                  <a:lnTo>
                    <a:pt x="34732" y="0"/>
                  </a:lnTo>
                  <a:cubicBezTo>
                    <a:pt x="33839" y="4147"/>
                    <a:pt x="31014" y="7572"/>
                    <a:pt x="26924" y="9262"/>
                  </a:cubicBezTo>
                  <a:cubicBezTo>
                    <a:pt x="22829" y="10957"/>
                    <a:pt x="18419" y="10532"/>
                    <a:pt x="14855" y="8233"/>
                  </a:cubicBezTo>
                  <a:lnTo>
                    <a:pt x="8233" y="14855"/>
                  </a:lnTo>
                  <a:cubicBezTo>
                    <a:pt x="10537" y="18419"/>
                    <a:pt x="10957" y="22834"/>
                    <a:pt x="9262" y="26928"/>
                  </a:cubicBezTo>
                  <a:cubicBezTo>
                    <a:pt x="7567" y="31019"/>
                    <a:pt x="4152" y="33839"/>
                    <a:pt x="0" y="34732"/>
                  </a:cubicBezTo>
                  <a:lnTo>
                    <a:pt x="0" y="44100"/>
                  </a:lnTo>
                  <a:cubicBezTo>
                    <a:pt x="4147" y="44993"/>
                    <a:pt x="7567" y="47818"/>
                    <a:pt x="9262" y="51904"/>
                  </a:cubicBezTo>
                  <a:cubicBezTo>
                    <a:pt x="10957" y="55998"/>
                    <a:pt x="10537" y="60408"/>
                    <a:pt x="8233" y="63977"/>
                  </a:cubicBezTo>
                  <a:lnTo>
                    <a:pt x="14855" y="70599"/>
                  </a:lnTo>
                  <a:cubicBezTo>
                    <a:pt x="18419" y="68295"/>
                    <a:pt x="22834" y="67879"/>
                    <a:pt x="26924" y="69570"/>
                  </a:cubicBezTo>
                  <a:cubicBezTo>
                    <a:pt x="31014" y="71265"/>
                    <a:pt x="33839" y="74685"/>
                    <a:pt x="34732" y="78832"/>
                  </a:cubicBezTo>
                  <a:lnTo>
                    <a:pt x="44100" y="78832"/>
                  </a:lnTo>
                  <a:cubicBezTo>
                    <a:pt x="44993" y="74685"/>
                    <a:pt x="47818" y="71260"/>
                    <a:pt x="51908" y="69570"/>
                  </a:cubicBezTo>
                  <a:cubicBezTo>
                    <a:pt x="56003" y="67879"/>
                    <a:pt x="60413" y="68295"/>
                    <a:pt x="63977" y="70599"/>
                  </a:cubicBezTo>
                  <a:lnTo>
                    <a:pt x="70599" y="63977"/>
                  </a:lnTo>
                  <a:cubicBezTo>
                    <a:pt x="68295" y="60413"/>
                    <a:pt x="67875" y="55998"/>
                    <a:pt x="69570" y="51904"/>
                  </a:cubicBezTo>
                  <a:cubicBezTo>
                    <a:pt x="71265" y="47813"/>
                    <a:pt x="74680" y="44993"/>
                    <a:pt x="78832" y="44100"/>
                  </a:cubicBezTo>
                  <a:lnTo>
                    <a:pt x="78832" y="34732"/>
                  </a:lnTo>
                  <a:cubicBezTo>
                    <a:pt x="74685" y="33839"/>
                    <a:pt x="71265" y="31014"/>
                    <a:pt x="69570" y="26928"/>
                  </a:cubicBezTo>
                  <a:close/>
                  <a:moveTo>
                    <a:pt x="39418" y="56931"/>
                  </a:moveTo>
                  <a:cubicBezTo>
                    <a:pt x="29744" y="56931"/>
                    <a:pt x="21901" y="49088"/>
                    <a:pt x="21901" y="39414"/>
                  </a:cubicBezTo>
                  <a:cubicBezTo>
                    <a:pt x="21901" y="29740"/>
                    <a:pt x="29744" y="21897"/>
                    <a:pt x="39418" y="21897"/>
                  </a:cubicBezTo>
                  <a:cubicBezTo>
                    <a:pt x="49092" y="21897"/>
                    <a:pt x="56935" y="29740"/>
                    <a:pt x="56935" y="39414"/>
                  </a:cubicBezTo>
                  <a:cubicBezTo>
                    <a:pt x="56935" y="49088"/>
                    <a:pt x="49092" y="56931"/>
                    <a:pt x="39418" y="56931"/>
                  </a:cubicBezTo>
                  <a:close/>
                </a:path>
              </a:pathLst>
            </a:custGeom>
            <a:solidFill>
              <a:srgbClr val="000000"/>
            </a:solidFill>
            <a:ln w="4270"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4C1B506F-2502-382B-B5A0-24048BD6970D}"/>
                </a:ext>
              </a:extLst>
            </p:cNvPr>
            <p:cNvSpPr/>
            <p:nvPr/>
          </p:nvSpPr>
          <p:spPr>
            <a:xfrm>
              <a:off x="6719340" y="1908637"/>
              <a:ext cx="96344" cy="30655"/>
            </a:xfrm>
            <a:custGeom>
              <a:avLst/>
              <a:gdLst>
                <a:gd name="connsiteX0" fmla="*/ 96345 w 96344"/>
                <a:gd name="connsiteY0" fmla="*/ 0 h 30655"/>
                <a:gd name="connsiteX1" fmla="*/ 0 w 96344"/>
                <a:gd name="connsiteY1" fmla="*/ 0 h 30655"/>
                <a:gd name="connsiteX2" fmla="*/ 0 w 96344"/>
                <a:gd name="connsiteY2" fmla="*/ 30655 h 30655"/>
                <a:gd name="connsiteX3" fmla="*/ 6319 w 96344"/>
                <a:gd name="connsiteY3" fmla="*/ 30655 h 30655"/>
                <a:gd name="connsiteX4" fmla="*/ 23403 w 96344"/>
                <a:gd name="connsiteY4" fmla="*/ 13576 h 30655"/>
                <a:gd name="connsiteX5" fmla="*/ 27563 w 96344"/>
                <a:gd name="connsiteY5" fmla="*/ 17745 h 30655"/>
                <a:gd name="connsiteX6" fmla="*/ 32328 w 96344"/>
                <a:gd name="connsiteY6" fmla="*/ 18691 h 30655"/>
                <a:gd name="connsiteX7" fmla="*/ 35034 w 96344"/>
                <a:gd name="connsiteY7" fmla="*/ 14640 h 30655"/>
                <a:gd name="connsiteX8" fmla="*/ 35034 w 96344"/>
                <a:gd name="connsiteY8" fmla="*/ 8759 h 30655"/>
                <a:gd name="connsiteX9" fmla="*/ 61310 w 96344"/>
                <a:gd name="connsiteY9" fmla="*/ 8759 h 30655"/>
                <a:gd name="connsiteX10" fmla="*/ 61310 w 96344"/>
                <a:gd name="connsiteY10" fmla="*/ 14640 h 30655"/>
                <a:gd name="connsiteX11" fmla="*/ 64017 w 96344"/>
                <a:gd name="connsiteY11" fmla="*/ 18691 h 30655"/>
                <a:gd name="connsiteX12" fmla="*/ 68786 w 96344"/>
                <a:gd name="connsiteY12" fmla="*/ 17741 h 30655"/>
                <a:gd name="connsiteX13" fmla="*/ 72942 w 96344"/>
                <a:gd name="connsiteY13" fmla="*/ 13576 h 30655"/>
                <a:gd name="connsiteX14" fmla="*/ 90025 w 96344"/>
                <a:gd name="connsiteY14" fmla="*/ 30655 h 30655"/>
                <a:gd name="connsiteX15" fmla="*/ 96345 w 96344"/>
                <a:gd name="connsiteY15" fmla="*/ 30655 h 30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30655">
                  <a:moveTo>
                    <a:pt x="96345" y="0"/>
                  </a:moveTo>
                  <a:lnTo>
                    <a:pt x="0" y="0"/>
                  </a:lnTo>
                  <a:lnTo>
                    <a:pt x="0" y="30655"/>
                  </a:lnTo>
                  <a:lnTo>
                    <a:pt x="6319" y="30655"/>
                  </a:lnTo>
                  <a:lnTo>
                    <a:pt x="23403" y="13576"/>
                  </a:lnTo>
                  <a:lnTo>
                    <a:pt x="27563" y="17745"/>
                  </a:lnTo>
                  <a:cubicBezTo>
                    <a:pt x="29477" y="19654"/>
                    <a:pt x="31693" y="18949"/>
                    <a:pt x="32328" y="18691"/>
                  </a:cubicBezTo>
                  <a:cubicBezTo>
                    <a:pt x="32963" y="18424"/>
                    <a:pt x="35034" y="17355"/>
                    <a:pt x="35034" y="14640"/>
                  </a:cubicBezTo>
                  <a:lnTo>
                    <a:pt x="35034" y="8759"/>
                  </a:lnTo>
                  <a:lnTo>
                    <a:pt x="61310" y="8759"/>
                  </a:lnTo>
                  <a:lnTo>
                    <a:pt x="61310" y="14640"/>
                  </a:lnTo>
                  <a:cubicBezTo>
                    <a:pt x="61310" y="17355"/>
                    <a:pt x="63382" y="18424"/>
                    <a:pt x="64017" y="18691"/>
                  </a:cubicBezTo>
                  <a:cubicBezTo>
                    <a:pt x="64656" y="18962"/>
                    <a:pt x="66872" y="19659"/>
                    <a:pt x="68786" y="17741"/>
                  </a:cubicBezTo>
                  <a:lnTo>
                    <a:pt x="72942" y="13576"/>
                  </a:lnTo>
                  <a:lnTo>
                    <a:pt x="90025" y="30655"/>
                  </a:lnTo>
                  <a:lnTo>
                    <a:pt x="96345" y="30655"/>
                  </a:lnTo>
                  <a:close/>
                </a:path>
              </a:pathLst>
            </a:custGeom>
            <a:solidFill>
              <a:srgbClr val="000000"/>
            </a:solidFill>
            <a:ln w="4270" cap="flat">
              <a:noFill/>
              <a:prstDash val="solid"/>
              <a:miter/>
            </a:ln>
          </p:spPr>
          <p:txBody>
            <a:bodyPr rtlCol="0" anchor="ctr"/>
            <a:lstStyle/>
            <a:p>
              <a:endParaRPr lang="en-GB"/>
            </a:p>
          </p:txBody>
        </p:sp>
        <p:sp>
          <p:nvSpPr>
            <p:cNvPr id="58" name="Freeform: Shape 57">
              <a:extLst>
                <a:ext uri="{FF2B5EF4-FFF2-40B4-BE49-F238E27FC236}">
                  <a16:creationId xmlns:a16="http://schemas.microsoft.com/office/drawing/2014/main" id="{F56CFE5D-7770-D4FB-0028-0C4AB10EC73B}"/>
                </a:ext>
              </a:extLst>
            </p:cNvPr>
            <p:cNvSpPr/>
            <p:nvPr/>
          </p:nvSpPr>
          <p:spPr>
            <a:xfrm>
              <a:off x="6640513" y="1934913"/>
              <a:ext cx="52556" cy="61310"/>
            </a:xfrm>
            <a:custGeom>
              <a:avLst/>
              <a:gdLst>
                <a:gd name="connsiteX0" fmla="*/ 0 w 52556"/>
                <a:gd name="connsiteY0" fmla="*/ 0 h 61310"/>
                <a:gd name="connsiteX1" fmla="*/ 0 w 52556"/>
                <a:gd name="connsiteY1" fmla="*/ 61310 h 61310"/>
                <a:gd name="connsiteX2" fmla="*/ 52556 w 52556"/>
                <a:gd name="connsiteY2" fmla="*/ 61310 h 61310"/>
                <a:gd name="connsiteX3" fmla="*/ 52552 w 52556"/>
                <a:gd name="connsiteY3" fmla="*/ 0 h 61310"/>
                <a:gd name="connsiteX4" fmla="*/ 43793 w 52556"/>
                <a:gd name="connsiteY4" fmla="*/ 52552 h 61310"/>
                <a:gd name="connsiteX5" fmla="*/ 8759 w 52556"/>
                <a:gd name="connsiteY5" fmla="*/ 52552 h 61310"/>
                <a:gd name="connsiteX6" fmla="*/ 8759 w 52556"/>
                <a:gd name="connsiteY6" fmla="*/ 43793 h 61310"/>
                <a:gd name="connsiteX7" fmla="*/ 43793 w 52556"/>
                <a:gd name="connsiteY7" fmla="*/ 43793 h 61310"/>
                <a:gd name="connsiteX8" fmla="*/ 43793 w 52556"/>
                <a:gd name="connsiteY8" fmla="*/ 35034 h 61310"/>
                <a:gd name="connsiteX9" fmla="*/ 8759 w 52556"/>
                <a:gd name="connsiteY9" fmla="*/ 35034 h 61310"/>
                <a:gd name="connsiteX10" fmla="*/ 8759 w 52556"/>
                <a:gd name="connsiteY10" fmla="*/ 26276 h 61310"/>
                <a:gd name="connsiteX11" fmla="*/ 43793 w 52556"/>
                <a:gd name="connsiteY11" fmla="*/ 26276 h 61310"/>
                <a:gd name="connsiteX12" fmla="*/ 43793 w 52556"/>
                <a:gd name="connsiteY12" fmla="*/ 17517 h 61310"/>
                <a:gd name="connsiteX13" fmla="*/ 8759 w 52556"/>
                <a:gd name="connsiteY13" fmla="*/ 17517 h 61310"/>
                <a:gd name="connsiteX14" fmla="*/ 8759 w 52556"/>
                <a:gd name="connsiteY14" fmla="*/ 8759 h 61310"/>
                <a:gd name="connsiteX15" fmla="*/ 43793 w 52556"/>
                <a:gd name="connsiteY15" fmla="*/ 8759 h 6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556" h="61310">
                  <a:moveTo>
                    <a:pt x="0" y="0"/>
                  </a:moveTo>
                  <a:lnTo>
                    <a:pt x="0" y="61310"/>
                  </a:lnTo>
                  <a:lnTo>
                    <a:pt x="52556" y="61310"/>
                  </a:lnTo>
                  <a:lnTo>
                    <a:pt x="52552" y="0"/>
                  </a:lnTo>
                  <a:close/>
                  <a:moveTo>
                    <a:pt x="43793" y="52552"/>
                  </a:moveTo>
                  <a:lnTo>
                    <a:pt x="8759" y="52552"/>
                  </a:lnTo>
                  <a:lnTo>
                    <a:pt x="8759" y="43793"/>
                  </a:lnTo>
                  <a:lnTo>
                    <a:pt x="43793" y="43793"/>
                  </a:lnTo>
                  <a:close/>
                  <a:moveTo>
                    <a:pt x="43793" y="35034"/>
                  </a:moveTo>
                  <a:lnTo>
                    <a:pt x="8759" y="35034"/>
                  </a:lnTo>
                  <a:lnTo>
                    <a:pt x="8759" y="26276"/>
                  </a:lnTo>
                  <a:lnTo>
                    <a:pt x="43793" y="26276"/>
                  </a:lnTo>
                  <a:close/>
                  <a:moveTo>
                    <a:pt x="43793" y="17517"/>
                  </a:moveTo>
                  <a:lnTo>
                    <a:pt x="8759" y="17517"/>
                  </a:lnTo>
                  <a:lnTo>
                    <a:pt x="8759" y="8759"/>
                  </a:lnTo>
                  <a:lnTo>
                    <a:pt x="43793" y="8759"/>
                  </a:lnTo>
                  <a:close/>
                </a:path>
              </a:pathLst>
            </a:custGeom>
            <a:solidFill>
              <a:srgbClr val="000000"/>
            </a:solidFill>
            <a:ln w="4270" cap="flat">
              <a:noFill/>
              <a:prstDash val="solid"/>
              <a:miter/>
            </a:ln>
          </p:spPr>
          <p:txBody>
            <a:bodyPr rtlCol="0" anchor="ctr"/>
            <a:lstStyle/>
            <a:p>
              <a:endParaRPr lang="en-GB"/>
            </a:p>
          </p:txBody>
        </p:sp>
        <p:sp>
          <p:nvSpPr>
            <p:cNvPr id="59" name="Freeform: Shape 58">
              <a:extLst>
                <a:ext uri="{FF2B5EF4-FFF2-40B4-BE49-F238E27FC236}">
                  <a16:creationId xmlns:a16="http://schemas.microsoft.com/office/drawing/2014/main" id="{1D807E5E-310C-B64A-5091-5E505D56E02A}"/>
                </a:ext>
              </a:extLst>
            </p:cNvPr>
            <p:cNvSpPr/>
            <p:nvPr/>
          </p:nvSpPr>
          <p:spPr>
            <a:xfrm>
              <a:off x="6649328" y="1847327"/>
              <a:ext cx="43963" cy="8758"/>
            </a:xfrm>
            <a:custGeom>
              <a:avLst/>
              <a:gdLst>
                <a:gd name="connsiteX0" fmla="*/ 118 w 43963"/>
                <a:gd name="connsiteY0" fmla="*/ 8759 h 8758"/>
                <a:gd name="connsiteX1" fmla="*/ 43964 w 43963"/>
                <a:gd name="connsiteY1" fmla="*/ 8759 h 8758"/>
                <a:gd name="connsiteX2" fmla="*/ 43964 w 43963"/>
                <a:gd name="connsiteY2" fmla="*/ 0 h 8758"/>
                <a:gd name="connsiteX3" fmla="*/ 0 w 43963"/>
                <a:gd name="connsiteY3" fmla="*/ 0 h 8758"/>
              </a:gdLst>
              <a:ahLst/>
              <a:cxnLst>
                <a:cxn ang="0">
                  <a:pos x="connsiteX0" y="connsiteY0"/>
                </a:cxn>
                <a:cxn ang="0">
                  <a:pos x="connsiteX1" y="connsiteY1"/>
                </a:cxn>
                <a:cxn ang="0">
                  <a:pos x="connsiteX2" y="connsiteY2"/>
                </a:cxn>
                <a:cxn ang="0">
                  <a:pos x="connsiteX3" y="connsiteY3"/>
                </a:cxn>
              </a:cxnLst>
              <a:rect l="l" t="t" r="r" b="b"/>
              <a:pathLst>
                <a:path w="43963" h="8758">
                  <a:moveTo>
                    <a:pt x="118" y="8759"/>
                  </a:moveTo>
                  <a:lnTo>
                    <a:pt x="43964" y="8759"/>
                  </a:lnTo>
                  <a:lnTo>
                    <a:pt x="43964" y="0"/>
                  </a:lnTo>
                  <a:lnTo>
                    <a:pt x="0" y="0"/>
                  </a:lnTo>
                  <a:close/>
                </a:path>
              </a:pathLst>
            </a:custGeom>
            <a:solidFill>
              <a:srgbClr val="000000"/>
            </a:solidFill>
            <a:ln w="4270" cap="flat">
              <a:noFill/>
              <a:prstDash val="solid"/>
              <a:miter/>
            </a:ln>
          </p:spPr>
          <p:txBody>
            <a:bodyPr rtlCol="0" anchor="ctr"/>
            <a:lstStyle/>
            <a:p>
              <a:endParaRPr lang="en-GB"/>
            </a:p>
          </p:txBody>
        </p:sp>
        <p:sp>
          <p:nvSpPr>
            <p:cNvPr id="60" name="Freeform: Shape 59">
              <a:extLst>
                <a:ext uri="{FF2B5EF4-FFF2-40B4-BE49-F238E27FC236}">
                  <a16:creationId xmlns:a16="http://schemas.microsoft.com/office/drawing/2014/main" id="{3077E563-6B19-7191-17F3-DA6F010EB357}"/>
                </a:ext>
              </a:extLst>
            </p:cNvPr>
            <p:cNvSpPr/>
            <p:nvPr/>
          </p:nvSpPr>
          <p:spPr>
            <a:xfrm>
              <a:off x="6841961" y="1847327"/>
              <a:ext cx="43963" cy="8758"/>
            </a:xfrm>
            <a:custGeom>
              <a:avLst/>
              <a:gdLst>
                <a:gd name="connsiteX0" fmla="*/ 43964 w 43963"/>
                <a:gd name="connsiteY0" fmla="*/ 0 h 8758"/>
                <a:gd name="connsiteX1" fmla="*/ 0 w 43963"/>
                <a:gd name="connsiteY1" fmla="*/ 0 h 8758"/>
                <a:gd name="connsiteX2" fmla="*/ 0 w 43963"/>
                <a:gd name="connsiteY2" fmla="*/ 8759 h 8758"/>
                <a:gd name="connsiteX3" fmla="*/ 43850 w 43963"/>
                <a:gd name="connsiteY3" fmla="*/ 8759 h 8758"/>
              </a:gdLst>
              <a:ahLst/>
              <a:cxnLst>
                <a:cxn ang="0">
                  <a:pos x="connsiteX0" y="connsiteY0"/>
                </a:cxn>
                <a:cxn ang="0">
                  <a:pos x="connsiteX1" y="connsiteY1"/>
                </a:cxn>
                <a:cxn ang="0">
                  <a:pos x="connsiteX2" y="connsiteY2"/>
                </a:cxn>
                <a:cxn ang="0">
                  <a:pos x="connsiteX3" y="connsiteY3"/>
                </a:cxn>
              </a:cxnLst>
              <a:rect l="l" t="t" r="r" b="b"/>
              <a:pathLst>
                <a:path w="43963" h="8758">
                  <a:moveTo>
                    <a:pt x="43964" y="0"/>
                  </a:moveTo>
                  <a:lnTo>
                    <a:pt x="0" y="0"/>
                  </a:lnTo>
                  <a:lnTo>
                    <a:pt x="0" y="8759"/>
                  </a:lnTo>
                  <a:lnTo>
                    <a:pt x="43850" y="8759"/>
                  </a:lnTo>
                  <a:close/>
                </a:path>
              </a:pathLst>
            </a:custGeom>
            <a:solidFill>
              <a:srgbClr val="000000"/>
            </a:solidFill>
            <a:ln w="4270" cap="flat">
              <a:no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3561ABD3-9ADD-4F27-8A27-BA60C53C7D5E}"/>
                </a:ext>
              </a:extLst>
            </p:cNvPr>
            <p:cNvSpPr/>
            <p:nvPr/>
          </p:nvSpPr>
          <p:spPr>
            <a:xfrm>
              <a:off x="6640740" y="1751013"/>
              <a:ext cx="253776" cy="87559"/>
            </a:xfrm>
            <a:custGeom>
              <a:avLst/>
              <a:gdLst>
                <a:gd name="connsiteX0" fmla="*/ 4152 w 253776"/>
                <a:gd name="connsiteY0" fmla="*/ 87556 h 87559"/>
                <a:gd name="connsiteX1" fmla="*/ 7204 w 253776"/>
                <a:gd name="connsiteY1" fmla="*/ 87556 h 87559"/>
                <a:gd name="connsiteX2" fmla="*/ 126772 w 253776"/>
                <a:gd name="connsiteY2" fmla="*/ 7848 h 87559"/>
                <a:gd name="connsiteX3" fmla="*/ 246341 w 253776"/>
                <a:gd name="connsiteY3" fmla="*/ 87560 h 87559"/>
                <a:gd name="connsiteX4" fmla="*/ 249625 w 253776"/>
                <a:gd name="connsiteY4" fmla="*/ 87560 h 87559"/>
                <a:gd name="connsiteX5" fmla="*/ 253777 w 253776"/>
                <a:gd name="connsiteY5" fmla="*/ 83408 h 87559"/>
                <a:gd name="connsiteX6" fmla="*/ 251902 w 253776"/>
                <a:gd name="connsiteY6" fmla="*/ 79940 h 87559"/>
                <a:gd name="connsiteX7" fmla="*/ 132321 w 253776"/>
                <a:gd name="connsiteY7" fmla="*/ 1590 h 87559"/>
                <a:gd name="connsiteX8" fmla="*/ 121460 w 253776"/>
                <a:gd name="connsiteY8" fmla="*/ 1590 h 87559"/>
                <a:gd name="connsiteX9" fmla="*/ 1874 w 253776"/>
                <a:gd name="connsiteY9" fmla="*/ 79936 h 87559"/>
                <a:gd name="connsiteX10" fmla="*/ 0 w 253776"/>
                <a:gd name="connsiteY10" fmla="*/ 83404 h 87559"/>
                <a:gd name="connsiteX11" fmla="*/ 4152 w 253776"/>
                <a:gd name="connsiteY11" fmla="*/ 87556 h 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776" h="87559">
                  <a:moveTo>
                    <a:pt x="4152" y="87556"/>
                  </a:moveTo>
                  <a:lnTo>
                    <a:pt x="7204" y="87556"/>
                  </a:lnTo>
                  <a:lnTo>
                    <a:pt x="126772" y="7848"/>
                  </a:lnTo>
                  <a:lnTo>
                    <a:pt x="246341" y="87560"/>
                  </a:lnTo>
                  <a:lnTo>
                    <a:pt x="249625" y="87560"/>
                  </a:lnTo>
                  <a:cubicBezTo>
                    <a:pt x="251911" y="87560"/>
                    <a:pt x="253777" y="85699"/>
                    <a:pt x="253777" y="83408"/>
                  </a:cubicBezTo>
                  <a:cubicBezTo>
                    <a:pt x="253777" y="82007"/>
                    <a:pt x="253076" y="80706"/>
                    <a:pt x="251902" y="79940"/>
                  </a:cubicBezTo>
                  <a:lnTo>
                    <a:pt x="132321" y="1590"/>
                  </a:lnTo>
                  <a:cubicBezTo>
                    <a:pt x="129085" y="-530"/>
                    <a:pt x="124692" y="-530"/>
                    <a:pt x="121460" y="1590"/>
                  </a:cubicBezTo>
                  <a:lnTo>
                    <a:pt x="1874" y="79936"/>
                  </a:lnTo>
                  <a:cubicBezTo>
                    <a:pt x="701" y="80706"/>
                    <a:pt x="0" y="82003"/>
                    <a:pt x="0" y="83404"/>
                  </a:cubicBezTo>
                  <a:cubicBezTo>
                    <a:pt x="0" y="85694"/>
                    <a:pt x="1866" y="87556"/>
                    <a:pt x="4152" y="87556"/>
                  </a:cubicBezTo>
                  <a:close/>
                </a:path>
              </a:pathLst>
            </a:custGeom>
            <a:solidFill>
              <a:srgbClr val="000000"/>
            </a:solidFill>
            <a:ln w="4270" cap="flat">
              <a:noFill/>
              <a:prstDash val="solid"/>
              <a:miter/>
            </a:ln>
          </p:spPr>
          <p:txBody>
            <a:bodyPr rtlCol="0" anchor="ctr"/>
            <a:lstStyle/>
            <a:p>
              <a:endParaRPr lang="en-GB"/>
            </a:p>
          </p:txBody>
        </p:sp>
        <p:sp>
          <p:nvSpPr>
            <p:cNvPr id="62" name="Freeform: Shape 61">
              <a:extLst>
                <a:ext uri="{FF2B5EF4-FFF2-40B4-BE49-F238E27FC236}">
                  <a16:creationId xmlns:a16="http://schemas.microsoft.com/office/drawing/2014/main" id="{C7EF4C00-5723-F9AE-1CE8-3F79A698AD00}"/>
                </a:ext>
              </a:extLst>
            </p:cNvPr>
            <p:cNvSpPr/>
            <p:nvPr/>
          </p:nvSpPr>
          <p:spPr>
            <a:xfrm>
              <a:off x="6850719"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2FAE8213-EE19-9F0D-1295-DAFAF06A6661}"/>
                </a:ext>
              </a:extLst>
            </p:cNvPr>
            <p:cNvSpPr/>
            <p:nvPr/>
          </p:nvSpPr>
          <p:spPr>
            <a:xfrm>
              <a:off x="6868237"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FE213124-F78D-DA73-10B1-E7979AC9AC50}"/>
                </a:ext>
              </a:extLst>
            </p:cNvPr>
            <p:cNvSpPr/>
            <p:nvPr/>
          </p:nvSpPr>
          <p:spPr>
            <a:xfrm>
              <a:off x="6663736" y="1769384"/>
              <a:ext cx="207553" cy="69184"/>
            </a:xfrm>
            <a:custGeom>
              <a:avLst/>
              <a:gdLst>
                <a:gd name="connsiteX0" fmla="*/ 160708 w 207553"/>
                <a:gd name="connsiteY0" fmla="*/ 69184 h 69184"/>
                <a:gd name="connsiteX1" fmla="*/ 207553 w 207553"/>
                <a:gd name="connsiteY1" fmla="*/ 69184 h 69184"/>
                <a:gd name="connsiteX2" fmla="*/ 103777 w 207553"/>
                <a:gd name="connsiteY2" fmla="*/ 0 h 69184"/>
                <a:gd name="connsiteX3" fmla="*/ 0 w 207553"/>
                <a:gd name="connsiteY3" fmla="*/ 69184 h 69184"/>
                <a:gd name="connsiteX4" fmla="*/ 46845 w 207553"/>
                <a:gd name="connsiteY4" fmla="*/ 69184 h 69184"/>
                <a:gd name="connsiteX5" fmla="*/ 55604 w 207553"/>
                <a:gd name="connsiteY5" fmla="*/ 60426 h 69184"/>
                <a:gd name="connsiteX6" fmla="*/ 151949 w 207553"/>
                <a:gd name="connsiteY6" fmla="*/ 60426 h 69184"/>
                <a:gd name="connsiteX7" fmla="*/ 160708 w 207553"/>
                <a:gd name="connsiteY7" fmla="*/ 69184 h 69184"/>
                <a:gd name="connsiteX8" fmla="*/ 103777 w 207553"/>
                <a:gd name="connsiteY8" fmla="*/ 38529 h 69184"/>
                <a:gd name="connsiteX9" fmla="*/ 95018 w 207553"/>
                <a:gd name="connsiteY9" fmla="*/ 29771 h 69184"/>
                <a:gd name="connsiteX10" fmla="*/ 103777 w 207553"/>
                <a:gd name="connsiteY10" fmla="*/ 21012 h 69184"/>
                <a:gd name="connsiteX11" fmla="*/ 112535 w 207553"/>
                <a:gd name="connsiteY11" fmla="*/ 29771 h 69184"/>
                <a:gd name="connsiteX12" fmla="*/ 103777 w 207553"/>
                <a:gd name="connsiteY12" fmla="*/ 38529 h 6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553" h="69184">
                  <a:moveTo>
                    <a:pt x="160708" y="69184"/>
                  </a:moveTo>
                  <a:lnTo>
                    <a:pt x="207553" y="69184"/>
                  </a:lnTo>
                  <a:lnTo>
                    <a:pt x="103777" y="0"/>
                  </a:lnTo>
                  <a:lnTo>
                    <a:pt x="0" y="69184"/>
                  </a:lnTo>
                  <a:lnTo>
                    <a:pt x="46845" y="69184"/>
                  </a:lnTo>
                  <a:cubicBezTo>
                    <a:pt x="46845" y="64354"/>
                    <a:pt x="50774" y="60426"/>
                    <a:pt x="55604" y="60426"/>
                  </a:cubicBezTo>
                  <a:lnTo>
                    <a:pt x="151949" y="60426"/>
                  </a:lnTo>
                  <a:cubicBezTo>
                    <a:pt x="156779" y="60426"/>
                    <a:pt x="160708" y="64354"/>
                    <a:pt x="160708" y="69184"/>
                  </a:cubicBezTo>
                  <a:close/>
                  <a:moveTo>
                    <a:pt x="103777" y="38529"/>
                  </a:moveTo>
                  <a:cubicBezTo>
                    <a:pt x="98937" y="38529"/>
                    <a:pt x="95018" y="34610"/>
                    <a:pt x="95018" y="29771"/>
                  </a:cubicBezTo>
                  <a:cubicBezTo>
                    <a:pt x="95018" y="24931"/>
                    <a:pt x="98937" y="21012"/>
                    <a:pt x="103777" y="21012"/>
                  </a:cubicBezTo>
                  <a:cubicBezTo>
                    <a:pt x="108616" y="21012"/>
                    <a:pt x="112535" y="24931"/>
                    <a:pt x="112535" y="29771"/>
                  </a:cubicBezTo>
                  <a:cubicBezTo>
                    <a:pt x="112535" y="34610"/>
                    <a:pt x="108616" y="38529"/>
                    <a:pt x="103777" y="38529"/>
                  </a:cubicBezTo>
                  <a:close/>
                </a:path>
              </a:pathLst>
            </a:custGeom>
            <a:solidFill>
              <a:srgbClr val="000000"/>
            </a:solidFill>
            <a:ln w="4270" cap="flat">
              <a:noFill/>
              <a:prstDash val="solid"/>
              <a:miter/>
            </a:ln>
          </p:spPr>
          <p:txBody>
            <a:bodyPr rtlCol="0" anchor="ctr"/>
            <a:lstStyle/>
            <a:p>
              <a:endParaRPr lang="en-GB"/>
            </a:p>
          </p:txBody>
        </p:sp>
        <p:sp>
          <p:nvSpPr>
            <p:cNvPr id="65" name="Freeform: Shape 64">
              <a:extLst>
                <a:ext uri="{FF2B5EF4-FFF2-40B4-BE49-F238E27FC236}">
                  <a16:creationId xmlns:a16="http://schemas.microsoft.com/office/drawing/2014/main" id="{2FAE567E-17FB-8CB9-212F-3A05CD0E6166}"/>
                </a:ext>
              </a:extLst>
            </p:cNvPr>
            <p:cNvSpPr/>
            <p:nvPr/>
          </p:nvSpPr>
          <p:spPr>
            <a:xfrm>
              <a:off x="6719340" y="1873603"/>
              <a:ext cx="96344" cy="26275"/>
            </a:xfrm>
            <a:custGeom>
              <a:avLst/>
              <a:gdLst>
                <a:gd name="connsiteX0" fmla="*/ 0 w 96344"/>
                <a:gd name="connsiteY0" fmla="*/ 26276 h 26275"/>
                <a:gd name="connsiteX1" fmla="*/ 96345 w 96344"/>
                <a:gd name="connsiteY1" fmla="*/ 26276 h 26275"/>
                <a:gd name="connsiteX2" fmla="*/ 96345 w 96344"/>
                <a:gd name="connsiteY2" fmla="*/ 0 h 26275"/>
                <a:gd name="connsiteX3" fmla="*/ 0 w 96344"/>
                <a:gd name="connsiteY3" fmla="*/ 0 h 26275"/>
                <a:gd name="connsiteX4" fmla="*/ 78828 w 96344"/>
                <a:gd name="connsiteY4" fmla="*/ 8759 h 26275"/>
                <a:gd name="connsiteX5" fmla="*/ 87586 w 96344"/>
                <a:gd name="connsiteY5" fmla="*/ 8759 h 26275"/>
                <a:gd name="connsiteX6" fmla="*/ 87586 w 96344"/>
                <a:gd name="connsiteY6" fmla="*/ 17517 h 26275"/>
                <a:gd name="connsiteX7" fmla="*/ 78828 w 96344"/>
                <a:gd name="connsiteY7" fmla="*/ 17517 h 26275"/>
                <a:gd name="connsiteX8" fmla="*/ 61310 w 96344"/>
                <a:gd name="connsiteY8" fmla="*/ 8759 h 26275"/>
                <a:gd name="connsiteX9" fmla="*/ 70069 w 96344"/>
                <a:gd name="connsiteY9" fmla="*/ 8759 h 26275"/>
                <a:gd name="connsiteX10" fmla="*/ 70069 w 96344"/>
                <a:gd name="connsiteY10" fmla="*/ 17517 h 26275"/>
                <a:gd name="connsiteX11" fmla="*/ 61310 w 96344"/>
                <a:gd name="connsiteY11" fmla="*/ 17517 h 26275"/>
                <a:gd name="connsiteX12" fmla="*/ 43793 w 96344"/>
                <a:gd name="connsiteY12" fmla="*/ 8759 h 26275"/>
                <a:gd name="connsiteX13" fmla="*/ 52552 w 96344"/>
                <a:gd name="connsiteY13" fmla="*/ 8759 h 26275"/>
                <a:gd name="connsiteX14" fmla="*/ 52552 w 96344"/>
                <a:gd name="connsiteY14" fmla="*/ 17517 h 26275"/>
                <a:gd name="connsiteX15" fmla="*/ 43793 w 96344"/>
                <a:gd name="connsiteY15" fmla="*/ 17517 h 2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26275">
                  <a:moveTo>
                    <a:pt x="0" y="26276"/>
                  </a:moveTo>
                  <a:lnTo>
                    <a:pt x="96345" y="26276"/>
                  </a:lnTo>
                  <a:lnTo>
                    <a:pt x="96345" y="0"/>
                  </a:lnTo>
                  <a:lnTo>
                    <a:pt x="0" y="0"/>
                  </a:lnTo>
                  <a:close/>
                  <a:moveTo>
                    <a:pt x="78828" y="8759"/>
                  </a:moveTo>
                  <a:lnTo>
                    <a:pt x="87586" y="8759"/>
                  </a:lnTo>
                  <a:lnTo>
                    <a:pt x="87586" y="17517"/>
                  </a:lnTo>
                  <a:lnTo>
                    <a:pt x="78828" y="17517"/>
                  </a:lnTo>
                  <a:close/>
                  <a:moveTo>
                    <a:pt x="61310" y="8759"/>
                  </a:moveTo>
                  <a:lnTo>
                    <a:pt x="70069" y="8759"/>
                  </a:lnTo>
                  <a:lnTo>
                    <a:pt x="70069" y="17517"/>
                  </a:lnTo>
                  <a:lnTo>
                    <a:pt x="61310" y="17517"/>
                  </a:lnTo>
                  <a:close/>
                  <a:moveTo>
                    <a:pt x="43793" y="8759"/>
                  </a:moveTo>
                  <a:lnTo>
                    <a:pt x="52552" y="8759"/>
                  </a:lnTo>
                  <a:lnTo>
                    <a:pt x="52552" y="17517"/>
                  </a:lnTo>
                  <a:lnTo>
                    <a:pt x="43793" y="17517"/>
                  </a:lnTo>
                  <a:close/>
                </a:path>
              </a:pathLst>
            </a:custGeom>
            <a:solidFill>
              <a:srgbClr val="000000"/>
            </a:solidFill>
            <a:ln w="4270" cap="flat">
              <a:noFill/>
              <a:prstDash val="solid"/>
              <a:miter/>
            </a:ln>
          </p:spPr>
          <p:txBody>
            <a:bodyPr rtlCol="0" anchor="ctr"/>
            <a:lstStyle/>
            <a:p>
              <a:endParaRPr lang="en-GB"/>
            </a:p>
          </p:txBody>
        </p:sp>
        <p:sp>
          <p:nvSpPr>
            <p:cNvPr id="66" name="Freeform: Shape 65">
              <a:extLst>
                <a:ext uri="{FF2B5EF4-FFF2-40B4-BE49-F238E27FC236}">
                  <a16:creationId xmlns:a16="http://schemas.microsoft.com/office/drawing/2014/main" id="{77164C42-8B38-66CF-D59D-09DBE8D1B2AA}"/>
                </a:ext>
              </a:extLst>
            </p:cNvPr>
            <p:cNvSpPr/>
            <p:nvPr/>
          </p:nvSpPr>
          <p:spPr>
            <a:xfrm>
              <a:off x="6841961" y="1934913"/>
              <a:ext cx="52556" cy="61310"/>
            </a:xfrm>
            <a:custGeom>
              <a:avLst/>
              <a:gdLst>
                <a:gd name="connsiteX0" fmla="*/ 52552 w 52556"/>
                <a:gd name="connsiteY0" fmla="*/ 0 h 61310"/>
                <a:gd name="connsiteX1" fmla="*/ 0 w 52556"/>
                <a:gd name="connsiteY1" fmla="*/ 0 h 61310"/>
                <a:gd name="connsiteX2" fmla="*/ 0 w 52556"/>
                <a:gd name="connsiteY2" fmla="*/ 61310 h 61310"/>
                <a:gd name="connsiteX3" fmla="*/ 52556 w 52556"/>
                <a:gd name="connsiteY3" fmla="*/ 61310 h 61310"/>
                <a:gd name="connsiteX4" fmla="*/ 43793 w 52556"/>
                <a:gd name="connsiteY4" fmla="*/ 52552 h 61310"/>
                <a:gd name="connsiteX5" fmla="*/ 8759 w 52556"/>
                <a:gd name="connsiteY5" fmla="*/ 52552 h 61310"/>
                <a:gd name="connsiteX6" fmla="*/ 8759 w 52556"/>
                <a:gd name="connsiteY6" fmla="*/ 43793 h 61310"/>
                <a:gd name="connsiteX7" fmla="*/ 43793 w 52556"/>
                <a:gd name="connsiteY7" fmla="*/ 43793 h 61310"/>
                <a:gd name="connsiteX8" fmla="*/ 43793 w 52556"/>
                <a:gd name="connsiteY8" fmla="*/ 35034 h 61310"/>
                <a:gd name="connsiteX9" fmla="*/ 8759 w 52556"/>
                <a:gd name="connsiteY9" fmla="*/ 35034 h 61310"/>
                <a:gd name="connsiteX10" fmla="*/ 8759 w 52556"/>
                <a:gd name="connsiteY10" fmla="*/ 26276 h 61310"/>
                <a:gd name="connsiteX11" fmla="*/ 43793 w 52556"/>
                <a:gd name="connsiteY11" fmla="*/ 26276 h 61310"/>
                <a:gd name="connsiteX12" fmla="*/ 43793 w 52556"/>
                <a:gd name="connsiteY12" fmla="*/ 17517 h 61310"/>
                <a:gd name="connsiteX13" fmla="*/ 8759 w 52556"/>
                <a:gd name="connsiteY13" fmla="*/ 17517 h 61310"/>
                <a:gd name="connsiteX14" fmla="*/ 8759 w 52556"/>
                <a:gd name="connsiteY14" fmla="*/ 8759 h 61310"/>
                <a:gd name="connsiteX15" fmla="*/ 43793 w 52556"/>
                <a:gd name="connsiteY15" fmla="*/ 8759 h 6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556" h="61310">
                  <a:moveTo>
                    <a:pt x="52552" y="0"/>
                  </a:moveTo>
                  <a:lnTo>
                    <a:pt x="0" y="0"/>
                  </a:lnTo>
                  <a:lnTo>
                    <a:pt x="0" y="61310"/>
                  </a:lnTo>
                  <a:lnTo>
                    <a:pt x="52556" y="61310"/>
                  </a:lnTo>
                  <a:close/>
                  <a:moveTo>
                    <a:pt x="43793" y="52552"/>
                  </a:moveTo>
                  <a:lnTo>
                    <a:pt x="8759" y="52552"/>
                  </a:lnTo>
                  <a:lnTo>
                    <a:pt x="8759" y="43793"/>
                  </a:lnTo>
                  <a:lnTo>
                    <a:pt x="43793" y="43793"/>
                  </a:lnTo>
                  <a:close/>
                  <a:moveTo>
                    <a:pt x="43793" y="35034"/>
                  </a:moveTo>
                  <a:lnTo>
                    <a:pt x="8759" y="35034"/>
                  </a:lnTo>
                  <a:lnTo>
                    <a:pt x="8759" y="26276"/>
                  </a:lnTo>
                  <a:lnTo>
                    <a:pt x="43793" y="26276"/>
                  </a:lnTo>
                  <a:close/>
                  <a:moveTo>
                    <a:pt x="43793" y="17517"/>
                  </a:moveTo>
                  <a:lnTo>
                    <a:pt x="8759" y="17517"/>
                  </a:lnTo>
                  <a:lnTo>
                    <a:pt x="8759" y="8759"/>
                  </a:lnTo>
                  <a:lnTo>
                    <a:pt x="43793" y="8759"/>
                  </a:lnTo>
                  <a:close/>
                </a:path>
              </a:pathLst>
            </a:custGeom>
            <a:solidFill>
              <a:srgbClr val="000000"/>
            </a:solidFill>
            <a:ln w="4270" cap="flat">
              <a:noFill/>
              <a:prstDash val="solid"/>
              <a:miter/>
            </a:ln>
          </p:spPr>
          <p:txBody>
            <a:bodyPr rtlCol="0" anchor="ctr"/>
            <a:lstStyle/>
            <a:p>
              <a:endParaRPr lang="en-GB"/>
            </a:p>
          </p:txBody>
        </p:sp>
        <p:sp>
          <p:nvSpPr>
            <p:cNvPr id="67" name="Freeform: Shape 66">
              <a:extLst>
                <a:ext uri="{FF2B5EF4-FFF2-40B4-BE49-F238E27FC236}">
                  <a16:creationId xmlns:a16="http://schemas.microsoft.com/office/drawing/2014/main" id="{FA415D79-D586-B483-F514-74150D71AC3E}"/>
                </a:ext>
              </a:extLst>
            </p:cNvPr>
            <p:cNvSpPr/>
            <p:nvPr/>
          </p:nvSpPr>
          <p:spPr>
            <a:xfrm>
              <a:off x="6719340" y="1838568"/>
              <a:ext cx="96344" cy="26275"/>
            </a:xfrm>
            <a:custGeom>
              <a:avLst/>
              <a:gdLst>
                <a:gd name="connsiteX0" fmla="*/ 96345 w 96344"/>
                <a:gd name="connsiteY0" fmla="*/ 0 h 26275"/>
                <a:gd name="connsiteX1" fmla="*/ 0 w 96344"/>
                <a:gd name="connsiteY1" fmla="*/ 0 h 26275"/>
                <a:gd name="connsiteX2" fmla="*/ 0 w 96344"/>
                <a:gd name="connsiteY2" fmla="*/ 26276 h 26275"/>
                <a:gd name="connsiteX3" fmla="*/ 96345 w 96344"/>
                <a:gd name="connsiteY3" fmla="*/ 26276 h 26275"/>
                <a:gd name="connsiteX4" fmla="*/ 52552 w 96344"/>
                <a:gd name="connsiteY4" fmla="*/ 17517 h 26275"/>
                <a:gd name="connsiteX5" fmla="*/ 43793 w 96344"/>
                <a:gd name="connsiteY5" fmla="*/ 17517 h 26275"/>
                <a:gd name="connsiteX6" fmla="*/ 43793 w 96344"/>
                <a:gd name="connsiteY6" fmla="*/ 8759 h 26275"/>
                <a:gd name="connsiteX7" fmla="*/ 52552 w 96344"/>
                <a:gd name="connsiteY7" fmla="*/ 8759 h 26275"/>
                <a:gd name="connsiteX8" fmla="*/ 70069 w 96344"/>
                <a:gd name="connsiteY8" fmla="*/ 17517 h 26275"/>
                <a:gd name="connsiteX9" fmla="*/ 61310 w 96344"/>
                <a:gd name="connsiteY9" fmla="*/ 17517 h 26275"/>
                <a:gd name="connsiteX10" fmla="*/ 61310 w 96344"/>
                <a:gd name="connsiteY10" fmla="*/ 8759 h 26275"/>
                <a:gd name="connsiteX11" fmla="*/ 70069 w 96344"/>
                <a:gd name="connsiteY11" fmla="*/ 8759 h 26275"/>
                <a:gd name="connsiteX12" fmla="*/ 87586 w 96344"/>
                <a:gd name="connsiteY12" fmla="*/ 17517 h 26275"/>
                <a:gd name="connsiteX13" fmla="*/ 78828 w 96344"/>
                <a:gd name="connsiteY13" fmla="*/ 17517 h 26275"/>
                <a:gd name="connsiteX14" fmla="*/ 78828 w 96344"/>
                <a:gd name="connsiteY14" fmla="*/ 8759 h 26275"/>
                <a:gd name="connsiteX15" fmla="*/ 87586 w 96344"/>
                <a:gd name="connsiteY15" fmla="*/ 8759 h 2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26275">
                  <a:moveTo>
                    <a:pt x="96345" y="0"/>
                  </a:moveTo>
                  <a:lnTo>
                    <a:pt x="0" y="0"/>
                  </a:lnTo>
                  <a:lnTo>
                    <a:pt x="0" y="26276"/>
                  </a:lnTo>
                  <a:lnTo>
                    <a:pt x="96345" y="26276"/>
                  </a:lnTo>
                  <a:close/>
                  <a:moveTo>
                    <a:pt x="52552" y="17517"/>
                  </a:moveTo>
                  <a:lnTo>
                    <a:pt x="43793" y="17517"/>
                  </a:lnTo>
                  <a:lnTo>
                    <a:pt x="43793" y="8759"/>
                  </a:lnTo>
                  <a:lnTo>
                    <a:pt x="52552" y="8759"/>
                  </a:lnTo>
                  <a:close/>
                  <a:moveTo>
                    <a:pt x="70069" y="17517"/>
                  </a:moveTo>
                  <a:lnTo>
                    <a:pt x="61310" y="17517"/>
                  </a:lnTo>
                  <a:lnTo>
                    <a:pt x="61310" y="8759"/>
                  </a:lnTo>
                  <a:lnTo>
                    <a:pt x="70069" y="8759"/>
                  </a:lnTo>
                  <a:close/>
                  <a:moveTo>
                    <a:pt x="87586" y="17517"/>
                  </a:moveTo>
                  <a:lnTo>
                    <a:pt x="78828" y="17517"/>
                  </a:lnTo>
                  <a:lnTo>
                    <a:pt x="78828" y="8759"/>
                  </a:lnTo>
                  <a:lnTo>
                    <a:pt x="87586" y="8759"/>
                  </a:lnTo>
                  <a:close/>
                </a:path>
              </a:pathLst>
            </a:custGeom>
            <a:solidFill>
              <a:srgbClr val="000000"/>
            </a:solidFill>
            <a:ln w="4270" cap="flat">
              <a:noFill/>
              <a:prstDash val="solid"/>
              <a:miter/>
            </a:ln>
          </p:spPr>
          <p:txBody>
            <a:bodyPr rtlCol="0" anchor="ctr"/>
            <a:lstStyle/>
            <a:p>
              <a:endParaRPr lang="en-GB"/>
            </a:p>
          </p:txBody>
        </p:sp>
      </p:grpSp>
      <p:sp>
        <p:nvSpPr>
          <p:cNvPr id="70" name="Pic">
            <a:extLst>
              <a:ext uri="{FF2B5EF4-FFF2-40B4-BE49-F238E27FC236}">
                <a16:creationId xmlns:a16="http://schemas.microsoft.com/office/drawing/2014/main" id="{B3015C56-7FE1-2227-43AD-EE2D0BB81CD2}"/>
              </a:ext>
            </a:extLst>
          </p:cNvPr>
          <p:cNvSpPr/>
          <p:nvPr/>
        </p:nvSpPr>
        <p:spPr>
          <a:xfrm>
            <a:off x="3313086" y="1730932"/>
            <a:ext cx="284790" cy="294135"/>
          </a:xfrm>
          <a:custGeom>
            <a:avLst/>
            <a:gdLst>
              <a:gd name="connsiteX0" fmla="*/ 93951 w 235364"/>
              <a:gd name="connsiteY0" fmla="*/ 4961 h 243086"/>
              <a:gd name="connsiteX1" fmla="*/ 112809 w 235364"/>
              <a:gd name="connsiteY1" fmla="*/ 23816 h 243086"/>
              <a:gd name="connsiteX2" fmla="*/ 93951 w 235364"/>
              <a:gd name="connsiteY2" fmla="*/ 42678 h 243086"/>
              <a:gd name="connsiteX3" fmla="*/ 75089 w 235364"/>
              <a:gd name="connsiteY3" fmla="*/ 23816 h 243086"/>
              <a:gd name="connsiteX4" fmla="*/ 93951 w 235364"/>
              <a:gd name="connsiteY4" fmla="*/ 4961 h 243086"/>
              <a:gd name="connsiteX5" fmla="*/ 93951 w 235364"/>
              <a:gd name="connsiteY5" fmla="*/ 47640 h 243086"/>
              <a:gd name="connsiteX6" fmla="*/ 117768 w 235364"/>
              <a:gd name="connsiteY6" fmla="*/ 23816 h 243086"/>
              <a:gd name="connsiteX7" fmla="*/ 93951 w 235364"/>
              <a:gd name="connsiteY7" fmla="*/ 0 h 243086"/>
              <a:gd name="connsiteX8" fmla="*/ 70130 w 235364"/>
              <a:gd name="connsiteY8" fmla="*/ 23816 h 243086"/>
              <a:gd name="connsiteX9" fmla="*/ 93951 w 235364"/>
              <a:gd name="connsiteY9" fmla="*/ 47640 h 243086"/>
              <a:gd name="connsiteX10" fmla="*/ 196266 w 235364"/>
              <a:gd name="connsiteY10" fmla="*/ 163017 h 243086"/>
              <a:gd name="connsiteX11" fmla="*/ 193786 w 235364"/>
              <a:gd name="connsiteY11" fmla="*/ 160535 h 243086"/>
              <a:gd name="connsiteX12" fmla="*/ 193786 w 235364"/>
              <a:gd name="connsiteY12" fmla="*/ 158571 h 243086"/>
              <a:gd name="connsiteX13" fmla="*/ 183289 w 235364"/>
              <a:gd name="connsiteY13" fmla="*/ 156087 h 243086"/>
              <a:gd name="connsiteX14" fmla="*/ 181950 w 235364"/>
              <a:gd name="connsiteY14" fmla="*/ 152842 h 243086"/>
              <a:gd name="connsiteX15" fmla="*/ 185193 w 235364"/>
              <a:gd name="connsiteY15" fmla="*/ 151501 h 243086"/>
              <a:gd name="connsiteX16" fmla="*/ 202086 w 235364"/>
              <a:gd name="connsiteY16" fmla="*/ 152711 h 243086"/>
              <a:gd name="connsiteX17" fmla="*/ 205798 w 235364"/>
              <a:gd name="connsiteY17" fmla="*/ 149135 h 243086"/>
              <a:gd name="connsiteX18" fmla="*/ 202065 w 235364"/>
              <a:gd name="connsiteY18" fmla="*/ 145592 h 243086"/>
              <a:gd name="connsiteX19" fmla="*/ 188839 w 235364"/>
              <a:gd name="connsiteY19" fmla="*/ 143227 h 243086"/>
              <a:gd name="connsiteX20" fmla="*/ 193787 w 235364"/>
              <a:gd name="connsiteY20" fmla="*/ 125662 h 243086"/>
              <a:gd name="connsiteX21" fmla="*/ 193787 w 235364"/>
              <a:gd name="connsiteY21" fmla="*/ 123662 h 243086"/>
              <a:gd name="connsiteX22" fmla="*/ 198746 w 235364"/>
              <a:gd name="connsiteY22" fmla="*/ 123662 h 243086"/>
              <a:gd name="connsiteX23" fmla="*/ 198746 w 235364"/>
              <a:gd name="connsiteY23" fmla="*/ 125636 h 243086"/>
              <a:gd name="connsiteX24" fmla="*/ 209215 w 235364"/>
              <a:gd name="connsiteY24" fmla="*/ 128127 h 243086"/>
              <a:gd name="connsiteX25" fmla="*/ 210505 w 235364"/>
              <a:gd name="connsiteY25" fmla="*/ 131390 h 243086"/>
              <a:gd name="connsiteX26" fmla="*/ 207239 w 235364"/>
              <a:gd name="connsiteY26" fmla="*/ 132680 h 243086"/>
              <a:gd name="connsiteX27" fmla="*/ 190647 w 235364"/>
              <a:gd name="connsiteY27" fmla="*/ 131479 h 243086"/>
              <a:gd name="connsiteX28" fmla="*/ 196362 w 235364"/>
              <a:gd name="connsiteY28" fmla="*/ 139620 h 243086"/>
              <a:gd name="connsiteX29" fmla="*/ 210764 w 235364"/>
              <a:gd name="connsiteY29" fmla="*/ 148985 h 243086"/>
              <a:gd name="connsiteX30" fmla="*/ 210764 w 235364"/>
              <a:gd name="connsiteY30" fmla="*/ 149350 h 243086"/>
              <a:gd name="connsiteX31" fmla="*/ 198746 w 235364"/>
              <a:gd name="connsiteY31" fmla="*/ 158552 h 243086"/>
              <a:gd name="connsiteX32" fmla="*/ 198746 w 235364"/>
              <a:gd name="connsiteY32" fmla="*/ 160535 h 243086"/>
              <a:gd name="connsiteX33" fmla="*/ 196266 w 235364"/>
              <a:gd name="connsiteY33" fmla="*/ 163017 h 243086"/>
              <a:gd name="connsiteX34" fmla="*/ 222371 w 235364"/>
              <a:gd name="connsiteY34" fmla="*/ 217087 h 243086"/>
              <a:gd name="connsiteX35" fmla="*/ 166601 w 235364"/>
              <a:gd name="connsiteY35" fmla="*/ 217087 h 243086"/>
              <a:gd name="connsiteX36" fmla="*/ 158562 w 235364"/>
              <a:gd name="connsiteY36" fmla="*/ 209043 h 243086"/>
              <a:gd name="connsiteX37" fmla="*/ 166601 w 235364"/>
              <a:gd name="connsiteY37" fmla="*/ 201003 h 243086"/>
              <a:gd name="connsiteX38" fmla="*/ 222371 w 235364"/>
              <a:gd name="connsiteY38" fmla="*/ 201003 h 243086"/>
              <a:gd name="connsiteX39" fmla="*/ 230402 w 235364"/>
              <a:gd name="connsiteY39" fmla="*/ 209043 h 243086"/>
              <a:gd name="connsiteX40" fmla="*/ 222371 w 235364"/>
              <a:gd name="connsiteY40" fmla="*/ 217087 h 243086"/>
              <a:gd name="connsiteX41" fmla="*/ 230402 w 235364"/>
              <a:gd name="connsiteY41" fmla="*/ 230082 h 243086"/>
              <a:gd name="connsiteX42" fmla="*/ 222371 w 235364"/>
              <a:gd name="connsiteY42" fmla="*/ 238126 h 243086"/>
              <a:gd name="connsiteX43" fmla="*/ 166601 w 235364"/>
              <a:gd name="connsiteY43" fmla="*/ 238126 h 243086"/>
              <a:gd name="connsiteX44" fmla="*/ 158562 w 235364"/>
              <a:gd name="connsiteY44" fmla="*/ 230082 h 243086"/>
              <a:gd name="connsiteX45" fmla="*/ 166601 w 235364"/>
              <a:gd name="connsiteY45" fmla="*/ 222046 h 243086"/>
              <a:gd name="connsiteX46" fmla="*/ 222371 w 235364"/>
              <a:gd name="connsiteY46" fmla="*/ 222046 h 243086"/>
              <a:gd name="connsiteX47" fmla="*/ 230402 w 235364"/>
              <a:gd name="connsiteY47" fmla="*/ 230082 h 243086"/>
              <a:gd name="connsiteX48" fmla="*/ 145569 w 235364"/>
              <a:gd name="connsiteY48" fmla="*/ 238126 h 243086"/>
              <a:gd name="connsiteX49" fmla="*/ 89799 w 235364"/>
              <a:gd name="connsiteY49" fmla="*/ 238126 h 243086"/>
              <a:gd name="connsiteX50" fmla="*/ 81763 w 235364"/>
              <a:gd name="connsiteY50" fmla="*/ 230082 h 243086"/>
              <a:gd name="connsiteX51" fmla="*/ 89799 w 235364"/>
              <a:gd name="connsiteY51" fmla="*/ 222046 h 243086"/>
              <a:gd name="connsiteX52" fmla="*/ 145569 w 235364"/>
              <a:gd name="connsiteY52" fmla="*/ 222046 h 243086"/>
              <a:gd name="connsiteX53" fmla="*/ 153603 w 235364"/>
              <a:gd name="connsiteY53" fmla="*/ 230082 h 243086"/>
              <a:gd name="connsiteX54" fmla="*/ 145569 w 235364"/>
              <a:gd name="connsiteY54" fmla="*/ 238126 h 243086"/>
              <a:gd name="connsiteX55" fmla="*/ 68770 w 235364"/>
              <a:gd name="connsiteY55" fmla="*/ 238126 h 243086"/>
              <a:gd name="connsiteX56" fmla="*/ 12998 w 235364"/>
              <a:gd name="connsiteY56" fmla="*/ 238126 h 243086"/>
              <a:gd name="connsiteX57" fmla="*/ 4961 w 235364"/>
              <a:gd name="connsiteY57" fmla="*/ 230082 h 243086"/>
              <a:gd name="connsiteX58" fmla="*/ 12998 w 235364"/>
              <a:gd name="connsiteY58" fmla="*/ 222046 h 243086"/>
              <a:gd name="connsiteX59" fmla="*/ 68770 w 235364"/>
              <a:gd name="connsiteY59" fmla="*/ 222046 h 243086"/>
              <a:gd name="connsiteX60" fmla="*/ 76801 w 235364"/>
              <a:gd name="connsiteY60" fmla="*/ 230082 h 243086"/>
              <a:gd name="connsiteX61" fmla="*/ 68770 w 235364"/>
              <a:gd name="connsiteY61" fmla="*/ 238126 h 243086"/>
              <a:gd name="connsiteX62" fmla="*/ 31722 w 235364"/>
              <a:gd name="connsiteY62" fmla="*/ 213249 h 243086"/>
              <a:gd name="connsiteX63" fmla="*/ 31722 w 235364"/>
              <a:gd name="connsiteY63" fmla="*/ 148025 h 243086"/>
              <a:gd name="connsiteX64" fmla="*/ 37276 w 235364"/>
              <a:gd name="connsiteY64" fmla="*/ 118685 h 243086"/>
              <a:gd name="connsiteX65" fmla="*/ 64527 w 235364"/>
              <a:gd name="connsiteY65" fmla="*/ 72206 h 243086"/>
              <a:gd name="connsiteX66" fmla="*/ 80310 w 235364"/>
              <a:gd name="connsiteY66" fmla="*/ 61793 h 243086"/>
              <a:gd name="connsiteX67" fmla="*/ 140496 w 235364"/>
              <a:gd name="connsiteY67" fmla="*/ 61793 h 243086"/>
              <a:gd name="connsiteX68" fmla="*/ 148273 w 235364"/>
              <a:gd name="connsiteY68" fmla="*/ 69568 h 243086"/>
              <a:gd name="connsiteX69" fmla="*/ 148273 w 235364"/>
              <a:gd name="connsiteY69" fmla="*/ 95948 h 243086"/>
              <a:gd name="connsiteX70" fmla="*/ 144781 w 235364"/>
              <a:gd name="connsiteY70" fmla="*/ 99442 h 243086"/>
              <a:gd name="connsiteX71" fmla="*/ 136213 w 235364"/>
              <a:gd name="connsiteY71" fmla="*/ 99442 h 243086"/>
              <a:gd name="connsiteX72" fmla="*/ 132721 w 235364"/>
              <a:gd name="connsiteY72" fmla="*/ 95948 h 243086"/>
              <a:gd name="connsiteX73" fmla="*/ 132707 w 235364"/>
              <a:gd name="connsiteY73" fmla="*/ 84693 h 243086"/>
              <a:gd name="connsiteX74" fmla="*/ 124566 w 235364"/>
              <a:gd name="connsiteY74" fmla="*/ 77352 h 243086"/>
              <a:gd name="connsiteX75" fmla="*/ 108214 w 235364"/>
              <a:gd name="connsiteY75" fmla="*/ 77371 h 243086"/>
              <a:gd name="connsiteX76" fmla="*/ 98948 w 235364"/>
              <a:gd name="connsiteY76" fmla="*/ 82673 h 243086"/>
              <a:gd name="connsiteX77" fmla="*/ 73424 w 235364"/>
              <a:gd name="connsiteY77" fmla="*/ 126256 h 243086"/>
              <a:gd name="connsiteX78" fmla="*/ 75567 w 235364"/>
              <a:gd name="connsiteY78" fmla="*/ 129991 h 243086"/>
              <a:gd name="connsiteX79" fmla="*/ 101572 w 235364"/>
              <a:gd name="connsiteY79" fmla="*/ 129991 h 243086"/>
              <a:gd name="connsiteX80" fmla="*/ 109349 w 235364"/>
              <a:gd name="connsiteY80" fmla="*/ 137766 h 243086"/>
              <a:gd name="connsiteX81" fmla="*/ 109349 w 235364"/>
              <a:gd name="connsiteY81" fmla="*/ 192211 h 243086"/>
              <a:gd name="connsiteX82" fmla="*/ 105515 w 235364"/>
              <a:gd name="connsiteY82" fmla="*/ 196041 h 243086"/>
              <a:gd name="connsiteX83" fmla="*/ 97628 w 235364"/>
              <a:gd name="connsiteY83" fmla="*/ 196041 h 243086"/>
              <a:gd name="connsiteX84" fmla="*/ 93793 w 235364"/>
              <a:gd name="connsiteY84" fmla="*/ 192211 h 243086"/>
              <a:gd name="connsiteX85" fmla="*/ 93793 w 235364"/>
              <a:gd name="connsiteY85" fmla="*/ 157405 h 243086"/>
              <a:gd name="connsiteX86" fmla="*/ 81560 w 235364"/>
              <a:gd name="connsiteY86" fmla="*/ 145543 h 243086"/>
              <a:gd name="connsiteX87" fmla="*/ 57909 w 235364"/>
              <a:gd name="connsiteY87" fmla="*/ 145543 h 243086"/>
              <a:gd name="connsiteX88" fmla="*/ 57806 w 235364"/>
              <a:gd name="connsiteY88" fmla="*/ 145547 h 243086"/>
              <a:gd name="connsiteX89" fmla="*/ 47279 w 235364"/>
              <a:gd name="connsiteY89" fmla="*/ 156835 h 243086"/>
              <a:gd name="connsiteX90" fmla="*/ 47279 w 235364"/>
              <a:gd name="connsiteY90" fmla="*/ 213249 h 243086"/>
              <a:gd name="connsiteX91" fmla="*/ 43444 w 235364"/>
              <a:gd name="connsiteY91" fmla="*/ 217086 h 243086"/>
              <a:gd name="connsiteX92" fmla="*/ 35558 w 235364"/>
              <a:gd name="connsiteY92" fmla="*/ 217086 h 243086"/>
              <a:gd name="connsiteX93" fmla="*/ 31722 w 235364"/>
              <a:gd name="connsiteY93" fmla="*/ 213249 h 243086"/>
              <a:gd name="connsiteX94" fmla="*/ 148280 w 235364"/>
              <a:gd name="connsiteY94" fmla="*/ 112613 h 243086"/>
              <a:gd name="connsiteX95" fmla="*/ 146397 w 235364"/>
              <a:gd name="connsiteY95" fmla="*/ 107567 h 243086"/>
              <a:gd name="connsiteX96" fmla="*/ 132716 w 235364"/>
              <a:gd name="connsiteY96" fmla="*/ 112613 h 243086"/>
              <a:gd name="connsiteX97" fmla="*/ 138303 w 235364"/>
              <a:gd name="connsiteY97" fmla="*/ 196041 h 243086"/>
              <a:gd name="connsiteX98" fmla="*/ 142693 w 235364"/>
              <a:gd name="connsiteY98" fmla="*/ 196041 h 243086"/>
              <a:gd name="connsiteX99" fmla="*/ 101572 w 235364"/>
              <a:gd name="connsiteY99" fmla="*/ 125030 h 243086"/>
              <a:gd name="connsiteX100" fmla="*/ 114311 w 235364"/>
              <a:gd name="connsiteY100" fmla="*/ 137766 h 243086"/>
              <a:gd name="connsiteX101" fmla="*/ 114311 w 235364"/>
              <a:gd name="connsiteY101" fmla="*/ 192211 h 243086"/>
              <a:gd name="connsiteX102" fmla="*/ 113417 w 235364"/>
              <a:gd name="connsiteY102" fmla="*/ 196041 h 243086"/>
              <a:gd name="connsiteX103" fmla="*/ 133332 w 235364"/>
              <a:gd name="connsiteY103" fmla="*/ 196041 h 243086"/>
              <a:gd name="connsiteX104" fmla="*/ 127763 w 235364"/>
              <a:gd name="connsiteY104" fmla="*/ 112946 h 243086"/>
              <a:gd name="connsiteX105" fmla="*/ 131951 w 235364"/>
              <a:gd name="connsiteY105" fmla="*/ 103238 h 243086"/>
              <a:gd name="connsiteX106" fmla="*/ 127761 w 235364"/>
              <a:gd name="connsiteY106" fmla="*/ 95948 h 243086"/>
              <a:gd name="connsiteX107" fmla="*/ 127761 w 235364"/>
              <a:gd name="connsiteY107" fmla="*/ 85066 h 243086"/>
              <a:gd name="connsiteX108" fmla="*/ 124402 w 235364"/>
              <a:gd name="connsiteY108" fmla="*/ 82306 h 243086"/>
              <a:gd name="connsiteX109" fmla="*/ 108714 w 235364"/>
              <a:gd name="connsiteY109" fmla="*/ 82306 h 243086"/>
              <a:gd name="connsiteX110" fmla="*/ 102915 w 235364"/>
              <a:gd name="connsiteY110" fmla="*/ 85652 h 243086"/>
              <a:gd name="connsiteX111" fmla="*/ 79891 w 235364"/>
              <a:gd name="connsiteY111" fmla="*/ 125030 h 243086"/>
              <a:gd name="connsiteX112" fmla="*/ 79281 w 235364"/>
              <a:gd name="connsiteY112" fmla="*/ 222459 h 243086"/>
              <a:gd name="connsiteX113" fmla="*/ 82178 w 235364"/>
              <a:gd name="connsiteY113" fmla="*/ 219566 h 243086"/>
              <a:gd name="connsiteX114" fmla="*/ 76801 w 235364"/>
              <a:gd name="connsiteY114" fmla="*/ 209043 h 243086"/>
              <a:gd name="connsiteX115" fmla="*/ 89725 w 235364"/>
              <a:gd name="connsiteY115" fmla="*/ 196046 h 243086"/>
              <a:gd name="connsiteX116" fmla="*/ 88831 w 235364"/>
              <a:gd name="connsiteY116" fmla="*/ 192211 h 243086"/>
              <a:gd name="connsiteX117" fmla="*/ 88831 w 235364"/>
              <a:gd name="connsiteY117" fmla="*/ 157361 h 243086"/>
              <a:gd name="connsiteX118" fmla="*/ 87427 w 235364"/>
              <a:gd name="connsiteY118" fmla="*/ 152103 h 243086"/>
              <a:gd name="connsiteX119" fmla="*/ 81583 w 235364"/>
              <a:gd name="connsiteY119" fmla="*/ 150505 h 243086"/>
              <a:gd name="connsiteX120" fmla="*/ 57969 w 235364"/>
              <a:gd name="connsiteY120" fmla="*/ 150505 h 243086"/>
              <a:gd name="connsiteX121" fmla="*/ 52235 w 235364"/>
              <a:gd name="connsiteY121" fmla="*/ 156868 h 243086"/>
              <a:gd name="connsiteX122" fmla="*/ 52240 w 235364"/>
              <a:gd name="connsiteY122" fmla="*/ 213249 h 243086"/>
              <a:gd name="connsiteX123" fmla="*/ 51346 w 235364"/>
              <a:gd name="connsiteY123" fmla="*/ 217087 h 243086"/>
              <a:gd name="connsiteX124" fmla="*/ 68769 w 235364"/>
              <a:gd name="connsiteY124" fmla="*/ 217087 h 243086"/>
              <a:gd name="connsiteX125" fmla="*/ 79281 w 235364"/>
              <a:gd name="connsiteY125" fmla="*/ 222459 h 243086"/>
              <a:gd name="connsiteX126" fmla="*/ 158980 w 235364"/>
              <a:gd name="connsiteY126" fmla="*/ 219567 h 243086"/>
              <a:gd name="connsiteX127" fmla="*/ 156083 w 235364"/>
              <a:gd name="connsiteY127" fmla="*/ 216669 h 243086"/>
              <a:gd name="connsiteX128" fmla="*/ 153190 w 235364"/>
              <a:gd name="connsiteY128" fmla="*/ 219567 h 243086"/>
              <a:gd name="connsiteX129" fmla="*/ 156083 w 235364"/>
              <a:gd name="connsiteY129" fmla="*/ 222459 h 243086"/>
              <a:gd name="connsiteX130" fmla="*/ 158980 w 235364"/>
              <a:gd name="connsiteY130" fmla="*/ 219567 h 243086"/>
              <a:gd name="connsiteX131" fmla="*/ 153603 w 235364"/>
              <a:gd name="connsiteY131" fmla="*/ 209043 h 243086"/>
              <a:gd name="connsiteX132" fmla="*/ 145569 w 235364"/>
              <a:gd name="connsiteY132" fmla="*/ 201003 h 243086"/>
              <a:gd name="connsiteX133" fmla="*/ 89799 w 235364"/>
              <a:gd name="connsiteY133" fmla="*/ 201003 h 243086"/>
              <a:gd name="connsiteX134" fmla="*/ 81763 w 235364"/>
              <a:gd name="connsiteY134" fmla="*/ 209043 h 243086"/>
              <a:gd name="connsiteX135" fmla="*/ 89799 w 235364"/>
              <a:gd name="connsiteY135" fmla="*/ 217087 h 243086"/>
              <a:gd name="connsiteX136" fmla="*/ 145569 w 235364"/>
              <a:gd name="connsiteY136" fmla="*/ 217087 h 243086"/>
              <a:gd name="connsiteX137" fmla="*/ 153603 w 235364"/>
              <a:gd name="connsiteY137" fmla="*/ 209043 h 243086"/>
              <a:gd name="connsiteX138" fmla="*/ 158562 w 235364"/>
              <a:gd name="connsiteY138" fmla="*/ 188005 h 243086"/>
              <a:gd name="connsiteX139" fmla="*/ 166601 w 235364"/>
              <a:gd name="connsiteY139" fmla="*/ 179962 h 243086"/>
              <a:gd name="connsiteX140" fmla="*/ 222371 w 235364"/>
              <a:gd name="connsiteY140" fmla="*/ 179962 h 243086"/>
              <a:gd name="connsiteX141" fmla="*/ 230402 w 235364"/>
              <a:gd name="connsiteY141" fmla="*/ 188005 h 243086"/>
              <a:gd name="connsiteX142" fmla="*/ 222371 w 235364"/>
              <a:gd name="connsiteY142" fmla="*/ 196041 h 243086"/>
              <a:gd name="connsiteX143" fmla="*/ 166601 w 235364"/>
              <a:gd name="connsiteY143" fmla="*/ 196041 h 243086"/>
              <a:gd name="connsiteX144" fmla="*/ 158562 w 235364"/>
              <a:gd name="connsiteY144" fmla="*/ 188005 h 243086"/>
              <a:gd name="connsiteX145" fmla="*/ 175406 w 235364"/>
              <a:gd name="connsiteY145" fmla="*/ 166911 h 243086"/>
              <a:gd name="connsiteX146" fmla="*/ 196666 w 235364"/>
              <a:gd name="connsiteY146" fmla="*/ 175003 h 243086"/>
              <a:gd name="connsiteX147" fmla="*/ 214050 w 235364"/>
              <a:gd name="connsiteY147" fmla="*/ 168126 h 243086"/>
              <a:gd name="connsiteX148" fmla="*/ 225253 w 235364"/>
              <a:gd name="connsiteY148" fmla="*/ 143302 h 243086"/>
              <a:gd name="connsiteX149" fmla="*/ 215708 w 235364"/>
              <a:gd name="connsiteY149" fmla="*/ 120574 h 243086"/>
              <a:gd name="connsiteX150" fmla="*/ 207110 w 235364"/>
              <a:gd name="connsiteY150" fmla="*/ 104404 h 243086"/>
              <a:gd name="connsiteX151" fmla="*/ 185047 w 235364"/>
              <a:gd name="connsiteY151" fmla="*/ 104404 h 243086"/>
              <a:gd name="connsiteX152" fmla="*/ 175921 w 235364"/>
              <a:gd name="connsiteY152" fmla="*/ 120551 h 243086"/>
              <a:gd name="connsiteX153" fmla="*/ 168240 w 235364"/>
              <a:gd name="connsiteY153" fmla="*/ 133733 h 243086"/>
              <a:gd name="connsiteX154" fmla="*/ 175406 w 235364"/>
              <a:gd name="connsiteY154" fmla="*/ 166911 h 243086"/>
              <a:gd name="connsiteX155" fmla="*/ 186473 w 235364"/>
              <a:gd name="connsiteY155" fmla="*/ 93666 h 243086"/>
              <a:gd name="connsiteX156" fmla="*/ 204068 w 235364"/>
              <a:gd name="connsiteY156" fmla="*/ 93666 h 243086"/>
              <a:gd name="connsiteX157" fmla="*/ 205195 w 235364"/>
              <a:gd name="connsiteY157" fmla="*/ 99442 h 243086"/>
              <a:gd name="connsiteX158" fmla="*/ 186498 w 235364"/>
              <a:gd name="connsiteY158" fmla="*/ 99442 h 243086"/>
              <a:gd name="connsiteX159" fmla="*/ 186473 w 235364"/>
              <a:gd name="connsiteY159" fmla="*/ 93666 h 243086"/>
              <a:gd name="connsiteX160" fmla="*/ 175976 w 235364"/>
              <a:gd name="connsiteY160" fmla="*/ 68837 h 243086"/>
              <a:gd name="connsiteX161" fmla="*/ 185213 w 235364"/>
              <a:gd name="connsiteY161" fmla="*/ 74543 h 243086"/>
              <a:gd name="connsiteX162" fmla="*/ 207920 w 235364"/>
              <a:gd name="connsiteY162" fmla="*/ 68501 h 243086"/>
              <a:gd name="connsiteX163" fmla="*/ 214363 w 235364"/>
              <a:gd name="connsiteY163" fmla="*/ 65256 h 243086"/>
              <a:gd name="connsiteX164" fmla="*/ 206688 w 235364"/>
              <a:gd name="connsiteY164" fmla="*/ 77881 h 243086"/>
              <a:gd name="connsiteX165" fmla="*/ 204129 w 235364"/>
              <a:gd name="connsiteY165" fmla="*/ 88707 h 243086"/>
              <a:gd name="connsiteX166" fmla="*/ 185407 w 235364"/>
              <a:gd name="connsiteY166" fmla="*/ 88707 h 243086"/>
              <a:gd name="connsiteX167" fmla="*/ 183720 w 235364"/>
              <a:gd name="connsiteY167" fmla="*/ 83414 h 243086"/>
              <a:gd name="connsiteX168" fmla="*/ 235364 w 235364"/>
              <a:gd name="connsiteY168" fmla="*/ 209043 h 243086"/>
              <a:gd name="connsiteX169" fmla="*/ 229992 w 235364"/>
              <a:gd name="connsiteY169" fmla="*/ 198521 h 243086"/>
              <a:gd name="connsiteX170" fmla="*/ 235364 w 235364"/>
              <a:gd name="connsiteY170" fmla="*/ 188005 h 243086"/>
              <a:gd name="connsiteX171" fmla="*/ 222371 w 235364"/>
              <a:gd name="connsiteY171" fmla="*/ 175003 h 243086"/>
              <a:gd name="connsiteX172" fmla="*/ 212687 w 235364"/>
              <a:gd name="connsiteY172" fmla="*/ 175003 h 243086"/>
              <a:gd name="connsiteX173" fmla="*/ 217110 w 235364"/>
              <a:gd name="connsiteY173" fmla="*/ 172031 h 243086"/>
              <a:gd name="connsiteX174" fmla="*/ 230203 w 235364"/>
              <a:gd name="connsiteY174" fmla="*/ 142980 h 243086"/>
              <a:gd name="connsiteX175" fmla="*/ 215683 w 235364"/>
              <a:gd name="connsiteY175" fmla="*/ 110395 h 243086"/>
              <a:gd name="connsiteX176" fmla="*/ 211292 w 235364"/>
              <a:gd name="connsiteY176" fmla="*/ 79753 h 243086"/>
              <a:gd name="connsiteX177" fmla="*/ 220975 w 235364"/>
              <a:gd name="connsiteY177" fmla="*/ 63958 h 243086"/>
              <a:gd name="connsiteX178" fmla="*/ 219090 w 235364"/>
              <a:gd name="connsiteY178" fmla="*/ 60193 h 243086"/>
              <a:gd name="connsiteX179" fmla="*/ 204446 w 235364"/>
              <a:gd name="connsiteY179" fmla="*/ 64954 h 243086"/>
              <a:gd name="connsiteX180" fmla="*/ 204282 w 235364"/>
              <a:gd name="connsiteY180" fmla="*/ 65122 h 243086"/>
              <a:gd name="connsiteX181" fmla="*/ 186764 w 235364"/>
              <a:gd name="connsiteY181" fmla="*/ 69831 h 243086"/>
              <a:gd name="connsiteX182" fmla="*/ 182736 w 235364"/>
              <a:gd name="connsiteY182" fmla="*/ 67300 h 243086"/>
              <a:gd name="connsiteX183" fmla="*/ 170291 w 235364"/>
              <a:gd name="connsiteY183" fmla="*/ 62339 h 243086"/>
              <a:gd name="connsiteX184" fmla="*/ 168786 w 235364"/>
              <a:gd name="connsiteY184" fmla="*/ 65887 h 243086"/>
              <a:gd name="connsiteX185" fmla="*/ 179239 w 235364"/>
              <a:gd name="connsiteY185" fmla="*/ 85561 h 243086"/>
              <a:gd name="connsiteX186" fmla="*/ 176705 w 235364"/>
              <a:gd name="connsiteY186" fmla="*/ 109821 h 243086"/>
              <a:gd name="connsiteX187" fmla="*/ 163696 w 235364"/>
              <a:gd name="connsiteY187" fmla="*/ 131743 h 243086"/>
              <a:gd name="connsiteX188" fmla="*/ 163593 w 235364"/>
              <a:gd name="connsiteY188" fmla="*/ 131995 h 243086"/>
              <a:gd name="connsiteX189" fmla="*/ 172131 w 235364"/>
              <a:gd name="connsiteY189" fmla="*/ 170636 h 243086"/>
              <a:gd name="connsiteX190" fmla="*/ 178471 w 235364"/>
              <a:gd name="connsiteY190" fmla="*/ 175003 h 243086"/>
              <a:gd name="connsiteX191" fmla="*/ 166600 w 235364"/>
              <a:gd name="connsiteY191" fmla="*/ 175003 h 243086"/>
              <a:gd name="connsiteX192" fmla="*/ 153602 w 235364"/>
              <a:gd name="connsiteY192" fmla="*/ 188005 h 243086"/>
              <a:gd name="connsiteX193" fmla="*/ 158979 w 235364"/>
              <a:gd name="connsiteY193" fmla="*/ 198520 h 243086"/>
              <a:gd name="connsiteX194" fmla="*/ 156082 w 235364"/>
              <a:gd name="connsiteY194" fmla="*/ 201420 h 243086"/>
              <a:gd name="connsiteX195" fmla="*/ 147654 w 235364"/>
              <a:gd name="connsiteY195" fmla="*/ 196209 h 243086"/>
              <a:gd name="connsiteX196" fmla="*/ 153229 w 235364"/>
              <a:gd name="connsiteY196" fmla="*/ 112946 h 243086"/>
              <a:gd name="connsiteX197" fmla="*/ 149042 w 235364"/>
              <a:gd name="connsiteY197" fmla="*/ 103237 h 243086"/>
              <a:gd name="connsiteX198" fmla="*/ 153234 w 235364"/>
              <a:gd name="connsiteY198" fmla="*/ 95948 h 243086"/>
              <a:gd name="connsiteX199" fmla="*/ 153234 w 235364"/>
              <a:gd name="connsiteY199" fmla="*/ 69568 h 243086"/>
              <a:gd name="connsiteX200" fmla="*/ 140495 w 235364"/>
              <a:gd name="connsiteY200" fmla="*/ 56833 h 243086"/>
              <a:gd name="connsiteX201" fmla="*/ 79852 w 235364"/>
              <a:gd name="connsiteY201" fmla="*/ 56852 h 243086"/>
              <a:gd name="connsiteX202" fmla="*/ 60370 w 235364"/>
              <a:gd name="connsiteY202" fmla="*/ 69502 h 243086"/>
              <a:gd name="connsiteX203" fmla="*/ 32802 w 235364"/>
              <a:gd name="connsiteY203" fmla="*/ 116531 h 243086"/>
              <a:gd name="connsiteX204" fmla="*/ 26761 w 235364"/>
              <a:gd name="connsiteY204" fmla="*/ 148025 h 243086"/>
              <a:gd name="connsiteX205" fmla="*/ 26761 w 235364"/>
              <a:gd name="connsiteY205" fmla="*/ 213249 h 243086"/>
              <a:gd name="connsiteX206" fmla="*/ 27654 w 235364"/>
              <a:gd name="connsiteY206" fmla="*/ 217087 h 243086"/>
              <a:gd name="connsiteX207" fmla="*/ 12998 w 235364"/>
              <a:gd name="connsiteY207" fmla="*/ 217087 h 243086"/>
              <a:gd name="connsiteX208" fmla="*/ 0 w 235364"/>
              <a:gd name="connsiteY208" fmla="*/ 230082 h 243086"/>
              <a:gd name="connsiteX209" fmla="*/ 12998 w 235364"/>
              <a:gd name="connsiteY209" fmla="*/ 243087 h 243086"/>
              <a:gd name="connsiteX210" fmla="*/ 68770 w 235364"/>
              <a:gd name="connsiteY210" fmla="*/ 243087 h 243086"/>
              <a:gd name="connsiteX211" fmla="*/ 79281 w 235364"/>
              <a:gd name="connsiteY211" fmla="*/ 237715 h 243086"/>
              <a:gd name="connsiteX212" fmla="*/ 89799 w 235364"/>
              <a:gd name="connsiteY212" fmla="*/ 243087 h 243086"/>
              <a:gd name="connsiteX213" fmla="*/ 145569 w 235364"/>
              <a:gd name="connsiteY213" fmla="*/ 243087 h 243086"/>
              <a:gd name="connsiteX214" fmla="*/ 156083 w 235364"/>
              <a:gd name="connsiteY214" fmla="*/ 237715 h 243086"/>
              <a:gd name="connsiteX215" fmla="*/ 166601 w 235364"/>
              <a:gd name="connsiteY215" fmla="*/ 243087 h 243086"/>
              <a:gd name="connsiteX216" fmla="*/ 222371 w 235364"/>
              <a:gd name="connsiteY216" fmla="*/ 243087 h 243086"/>
              <a:gd name="connsiteX217" fmla="*/ 235364 w 235364"/>
              <a:gd name="connsiteY217" fmla="*/ 230082 h 243086"/>
              <a:gd name="connsiteX218" fmla="*/ 229992 w 235364"/>
              <a:gd name="connsiteY218" fmla="*/ 219567 h 243086"/>
              <a:gd name="connsiteX219" fmla="*/ 235364 w 235364"/>
              <a:gd name="connsiteY219" fmla="*/ 209043 h 24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235364" h="243086">
                <a:moveTo>
                  <a:pt x="93951" y="4961"/>
                </a:moveTo>
                <a:cubicBezTo>
                  <a:pt x="104350" y="4961"/>
                  <a:pt x="112809" y="13420"/>
                  <a:pt x="112809" y="23816"/>
                </a:cubicBezTo>
                <a:cubicBezTo>
                  <a:pt x="112809" y="34220"/>
                  <a:pt x="104350" y="42678"/>
                  <a:pt x="93951" y="42678"/>
                </a:cubicBezTo>
                <a:cubicBezTo>
                  <a:pt x="83552" y="42678"/>
                  <a:pt x="75089" y="34220"/>
                  <a:pt x="75089" y="23816"/>
                </a:cubicBezTo>
                <a:cubicBezTo>
                  <a:pt x="75089" y="13420"/>
                  <a:pt x="83552" y="4961"/>
                  <a:pt x="93951" y="4961"/>
                </a:cubicBezTo>
                <a:close/>
                <a:moveTo>
                  <a:pt x="93951" y="47640"/>
                </a:moveTo>
                <a:cubicBezTo>
                  <a:pt x="107082" y="47640"/>
                  <a:pt x="117768" y="36955"/>
                  <a:pt x="117768" y="23816"/>
                </a:cubicBezTo>
                <a:cubicBezTo>
                  <a:pt x="117768" y="10686"/>
                  <a:pt x="107082" y="0"/>
                  <a:pt x="93951" y="0"/>
                </a:cubicBezTo>
                <a:cubicBezTo>
                  <a:pt x="80816" y="0"/>
                  <a:pt x="70130" y="10686"/>
                  <a:pt x="70130" y="23816"/>
                </a:cubicBezTo>
                <a:cubicBezTo>
                  <a:pt x="70130" y="36955"/>
                  <a:pt x="80816" y="47640"/>
                  <a:pt x="93951" y="47640"/>
                </a:cubicBezTo>
                <a:close/>
                <a:moveTo>
                  <a:pt x="196266" y="163017"/>
                </a:moveTo>
                <a:cubicBezTo>
                  <a:pt x="194891" y="163017"/>
                  <a:pt x="193786" y="161905"/>
                  <a:pt x="193786" y="160535"/>
                </a:cubicBezTo>
                <a:lnTo>
                  <a:pt x="193786" y="158571"/>
                </a:lnTo>
                <a:cubicBezTo>
                  <a:pt x="190115" y="158285"/>
                  <a:pt x="186597" y="157461"/>
                  <a:pt x="183289" y="156087"/>
                </a:cubicBezTo>
                <a:cubicBezTo>
                  <a:pt x="182023" y="155560"/>
                  <a:pt x="181423" y="154111"/>
                  <a:pt x="181950" y="152842"/>
                </a:cubicBezTo>
                <a:cubicBezTo>
                  <a:pt x="182475" y="151575"/>
                  <a:pt x="183928" y="150976"/>
                  <a:pt x="185193" y="151501"/>
                </a:cubicBezTo>
                <a:cubicBezTo>
                  <a:pt x="189990" y="153492"/>
                  <a:pt x="197026" y="154689"/>
                  <a:pt x="202086" y="152711"/>
                </a:cubicBezTo>
                <a:cubicBezTo>
                  <a:pt x="205082" y="151521"/>
                  <a:pt x="205674" y="150133"/>
                  <a:pt x="205798" y="149135"/>
                </a:cubicBezTo>
                <a:cubicBezTo>
                  <a:pt x="205723" y="148447"/>
                  <a:pt x="205319" y="146929"/>
                  <a:pt x="202065" y="145592"/>
                </a:cubicBezTo>
                <a:cubicBezTo>
                  <a:pt x="197385" y="143751"/>
                  <a:pt x="194551" y="145458"/>
                  <a:pt x="188839" y="143227"/>
                </a:cubicBezTo>
                <a:cubicBezTo>
                  <a:pt x="178006" y="138995"/>
                  <a:pt x="180149" y="127215"/>
                  <a:pt x="193787" y="125662"/>
                </a:cubicBezTo>
                <a:lnTo>
                  <a:pt x="193787" y="123662"/>
                </a:lnTo>
                <a:cubicBezTo>
                  <a:pt x="193787" y="120393"/>
                  <a:pt x="198746" y="120396"/>
                  <a:pt x="198746" y="123662"/>
                </a:cubicBezTo>
                <a:lnTo>
                  <a:pt x="198746" y="125636"/>
                </a:lnTo>
                <a:cubicBezTo>
                  <a:pt x="202612" y="125944"/>
                  <a:pt x="206059" y="126755"/>
                  <a:pt x="209215" y="128127"/>
                </a:cubicBezTo>
                <a:cubicBezTo>
                  <a:pt x="210475" y="128670"/>
                  <a:pt x="211051" y="130135"/>
                  <a:pt x="210505" y="131390"/>
                </a:cubicBezTo>
                <a:cubicBezTo>
                  <a:pt x="209959" y="132650"/>
                  <a:pt x="208494" y="133226"/>
                  <a:pt x="207239" y="132680"/>
                </a:cubicBezTo>
                <a:cubicBezTo>
                  <a:pt x="202751" y="130729"/>
                  <a:pt x="195686" y="129529"/>
                  <a:pt x="190647" y="131479"/>
                </a:cubicBezTo>
                <a:cubicBezTo>
                  <a:pt x="182829" y="134503"/>
                  <a:pt x="188555" y="139602"/>
                  <a:pt x="196362" y="139620"/>
                </a:cubicBezTo>
                <a:cubicBezTo>
                  <a:pt x="202933" y="139635"/>
                  <a:pt x="210355" y="142636"/>
                  <a:pt x="210764" y="148985"/>
                </a:cubicBezTo>
                <a:cubicBezTo>
                  <a:pt x="210771" y="149104"/>
                  <a:pt x="210771" y="149228"/>
                  <a:pt x="210764" y="149350"/>
                </a:cubicBezTo>
                <a:cubicBezTo>
                  <a:pt x="210397" y="154628"/>
                  <a:pt x="205059" y="157877"/>
                  <a:pt x="198746" y="158552"/>
                </a:cubicBezTo>
                <a:lnTo>
                  <a:pt x="198746" y="160535"/>
                </a:lnTo>
                <a:cubicBezTo>
                  <a:pt x="198745" y="161905"/>
                  <a:pt x="197635" y="163017"/>
                  <a:pt x="196266" y="163017"/>
                </a:cubicBezTo>
                <a:close/>
                <a:moveTo>
                  <a:pt x="222371" y="217087"/>
                </a:moveTo>
                <a:lnTo>
                  <a:pt x="166601" y="217087"/>
                </a:lnTo>
                <a:cubicBezTo>
                  <a:pt x="162169" y="217087"/>
                  <a:pt x="158562" y="213478"/>
                  <a:pt x="158562" y="209043"/>
                </a:cubicBezTo>
                <a:cubicBezTo>
                  <a:pt x="158562" y="204609"/>
                  <a:pt x="162169" y="201003"/>
                  <a:pt x="166601" y="201003"/>
                </a:cubicBezTo>
                <a:lnTo>
                  <a:pt x="222371" y="201003"/>
                </a:lnTo>
                <a:cubicBezTo>
                  <a:pt x="226800" y="201003"/>
                  <a:pt x="230402" y="204609"/>
                  <a:pt x="230402" y="209043"/>
                </a:cubicBezTo>
                <a:cubicBezTo>
                  <a:pt x="230402" y="213478"/>
                  <a:pt x="226800" y="217087"/>
                  <a:pt x="222371" y="217087"/>
                </a:cubicBezTo>
                <a:close/>
                <a:moveTo>
                  <a:pt x="230402" y="230082"/>
                </a:moveTo>
                <a:cubicBezTo>
                  <a:pt x="230402" y="234519"/>
                  <a:pt x="226800" y="238126"/>
                  <a:pt x="222371" y="238126"/>
                </a:cubicBezTo>
                <a:lnTo>
                  <a:pt x="166601" y="238126"/>
                </a:lnTo>
                <a:cubicBezTo>
                  <a:pt x="162169" y="238126"/>
                  <a:pt x="158562" y="234519"/>
                  <a:pt x="158562" y="230082"/>
                </a:cubicBezTo>
                <a:cubicBezTo>
                  <a:pt x="158562" y="225652"/>
                  <a:pt x="162169" y="222046"/>
                  <a:pt x="166601" y="222046"/>
                </a:cubicBezTo>
                <a:lnTo>
                  <a:pt x="222371" y="222046"/>
                </a:lnTo>
                <a:cubicBezTo>
                  <a:pt x="226800" y="222046"/>
                  <a:pt x="230402" y="225652"/>
                  <a:pt x="230402" y="230082"/>
                </a:cubicBezTo>
                <a:close/>
                <a:moveTo>
                  <a:pt x="145569" y="238126"/>
                </a:moveTo>
                <a:lnTo>
                  <a:pt x="89799" y="238126"/>
                </a:lnTo>
                <a:cubicBezTo>
                  <a:pt x="85370" y="238126"/>
                  <a:pt x="81763" y="234519"/>
                  <a:pt x="81763" y="230082"/>
                </a:cubicBezTo>
                <a:cubicBezTo>
                  <a:pt x="81763" y="225652"/>
                  <a:pt x="85370" y="222046"/>
                  <a:pt x="89799" y="222046"/>
                </a:cubicBezTo>
                <a:lnTo>
                  <a:pt x="145569" y="222046"/>
                </a:lnTo>
                <a:cubicBezTo>
                  <a:pt x="149999" y="222046"/>
                  <a:pt x="153603" y="225652"/>
                  <a:pt x="153603" y="230082"/>
                </a:cubicBezTo>
                <a:cubicBezTo>
                  <a:pt x="153603" y="234519"/>
                  <a:pt x="149999" y="238126"/>
                  <a:pt x="145569" y="238126"/>
                </a:cubicBezTo>
                <a:close/>
                <a:moveTo>
                  <a:pt x="68770" y="238126"/>
                </a:moveTo>
                <a:lnTo>
                  <a:pt x="12998" y="238126"/>
                </a:lnTo>
                <a:cubicBezTo>
                  <a:pt x="8568" y="238126"/>
                  <a:pt x="4961" y="234519"/>
                  <a:pt x="4961" y="230082"/>
                </a:cubicBezTo>
                <a:cubicBezTo>
                  <a:pt x="4961" y="225652"/>
                  <a:pt x="8568" y="222046"/>
                  <a:pt x="12998" y="222046"/>
                </a:cubicBezTo>
                <a:lnTo>
                  <a:pt x="68770" y="222046"/>
                </a:lnTo>
                <a:cubicBezTo>
                  <a:pt x="73200" y="222046"/>
                  <a:pt x="76801" y="225652"/>
                  <a:pt x="76801" y="230082"/>
                </a:cubicBezTo>
                <a:cubicBezTo>
                  <a:pt x="76801" y="234519"/>
                  <a:pt x="73200" y="238126"/>
                  <a:pt x="68770" y="238126"/>
                </a:cubicBezTo>
                <a:close/>
                <a:moveTo>
                  <a:pt x="31722" y="213249"/>
                </a:moveTo>
                <a:lnTo>
                  <a:pt x="31722" y="148025"/>
                </a:lnTo>
                <a:cubicBezTo>
                  <a:pt x="31722" y="136833"/>
                  <a:pt x="33586" y="126961"/>
                  <a:pt x="37276" y="118685"/>
                </a:cubicBezTo>
                <a:lnTo>
                  <a:pt x="64527" y="72206"/>
                </a:lnTo>
                <a:cubicBezTo>
                  <a:pt x="68761" y="65945"/>
                  <a:pt x="73781" y="62633"/>
                  <a:pt x="80310" y="61793"/>
                </a:cubicBezTo>
                <a:lnTo>
                  <a:pt x="140496" y="61793"/>
                </a:lnTo>
                <a:cubicBezTo>
                  <a:pt x="144785" y="61793"/>
                  <a:pt x="148273" y="65280"/>
                  <a:pt x="148273" y="69568"/>
                </a:cubicBezTo>
                <a:lnTo>
                  <a:pt x="148273" y="95948"/>
                </a:lnTo>
                <a:cubicBezTo>
                  <a:pt x="148273" y="97875"/>
                  <a:pt x="146705" y="99442"/>
                  <a:pt x="144781" y="99442"/>
                </a:cubicBezTo>
                <a:lnTo>
                  <a:pt x="136213" y="99442"/>
                </a:lnTo>
                <a:cubicBezTo>
                  <a:pt x="134289" y="99442"/>
                  <a:pt x="132721" y="97875"/>
                  <a:pt x="132721" y="95948"/>
                </a:cubicBezTo>
                <a:lnTo>
                  <a:pt x="132707" y="84693"/>
                </a:lnTo>
                <a:cubicBezTo>
                  <a:pt x="132275" y="80233"/>
                  <a:pt x="129304" y="77555"/>
                  <a:pt x="124566" y="77352"/>
                </a:cubicBezTo>
                <a:lnTo>
                  <a:pt x="108214" y="77371"/>
                </a:lnTo>
                <a:cubicBezTo>
                  <a:pt x="104510" y="77863"/>
                  <a:pt x="101389" y="79647"/>
                  <a:pt x="98948" y="82673"/>
                </a:cubicBezTo>
                <a:lnTo>
                  <a:pt x="73424" y="126256"/>
                </a:lnTo>
                <a:cubicBezTo>
                  <a:pt x="72458" y="127909"/>
                  <a:pt x="73651" y="129991"/>
                  <a:pt x="75567" y="129991"/>
                </a:cubicBezTo>
                <a:lnTo>
                  <a:pt x="101572" y="129991"/>
                </a:lnTo>
                <a:cubicBezTo>
                  <a:pt x="105857" y="129991"/>
                  <a:pt x="109349" y="133479"/>
                  <a:pt x="109349" y="137766"/>
                </a:cubicBezTo>
                <a:lnTo>
                  <a:pt x="109349" y="192211"/>
                </a:lnTo>
                <a:cubicBezTo>
                  <a:pt x="109349" y="194324"/>
                  <a:pt x="107628" y="196041"/>
                  <a:pt x="105515" y="196041"/>
                </a:cubicBezTo>
                <a:lnTo>
                  <a:pt x="97628" y="196041"/>
                </a:lnTo>
                <a:cubicBezTo>
                  <a:pt x="95514" y="196041"/>
                  <a:pt x="93793" y="194324"/>
                  <a:pt x="93793" y="192211"/>
                </a:cubicBezTo>
                <a:lnTo>
                  <a:pt x="93793" y="157405"/>
                </a:lnTo>
                <a:cubicBezTo>
                  <a:pt x="93930" y="149335"/>
                  <a:pt x="89695" y="145461"/>
                  <a:pt x="81560" y="145543"/>
                </a:cubicBezTo>
                <a:lnTo>
                  <a:pt x="57909" y="145543"/>
                </a:lnTo>
                <a:cubicBezTo>
                  <a:pt x="57876" y="145543"/>
                  <a:pt x="57842" y="145543"/>
                  <a:pt x="57806" y="145547"/>
                </a:cubicBezTo>
                <a:cubicBezTo>
                  <a:pt x="51109" y="145832"/>
                  <a:pt x="47372" y="149830"/>
                  <a:pt x="47279" y="156835"/>
                </a:cubicBezTo>
                <a:lnTo>
                  <a:pt x="47279" y="213249"/>
                </a:lnTo>
                <a:cubicBezTo>
                  <a:pt x="47279" y="215365"/>
                  <a:pt x="45557" y="217086"/>
                  <a:pt x="43444" y="217086"/>
                </a:cubicBezTo>
                <a:lnTo>
                  <a:pt x="35558" y="217086"/>
                </a:lnTo>
                <a:cubicBezTo>
                  <a:pt x="33444" y="217087"/>
                  <a:pt x="31722" y="215365"/>
                  <a:pt x="31722" y="213249"/>
                </a:cubicBezTo>
                <a:close/>
                <a:moveTo>
                  <a:pt x="148280" y="112613"/>
                </a:moveTo>
                <a:cubicBezTo>
                  <a:pt x="148403" y="110789"/>
                  <a:pt x="147734" y="108997"/>
                  <a:pt x="146397" y="107567"/>
                </a:cubicBezTo>
                <a:cubicBezTo>
                  <a:pt x="141293" y="102117"/>
                  <a:pt x="132279" y="106124"/>
                  <a:pt x="132716" y="112613"/>
                </a:cubicBezTo>
                <a:lnTo>
                  <a:pt x="138303" y="196041"/>
                </a:lnTo>
                <a:lnTo>
                  <a:pt x="142693" y="196041"/>
                </a:lnTo>
                <a:close/>
                <a:moveTo>
                  <a:pt x="101572" y="125030"/>
                </a:moveTo>
                <a:cubicBezTo>
                  <a:pt x="108596" y="125030"/>
                  <a:pt x="114311" y="130745"/>
                  <a:pt x="114311" y="137766"/>
                </a:cubicBezTo>
                <a:lnTo>
                  <a:pt x="114311" y="192211"/>
                </a:lnTo>
                <a:cubicBezTo>
                  <a:pt x="114311" y="193585"/>
                  <a:pt x="113984" y="194880"/>
                  <a:pt x="113417" y="196041"/>
                </a:cubicBezTo>
                <a:lnTo>
                  <a:pt x="133332" y="196041"/>
                </a:lnTo>
                <a:lnTo>
                  <a:pt x="127763" y="112946"/>
                </a:lnTo>
                <a:cubicBezTo>
                  <a:pt x="127520" y="109289"/>
                  <a:pt x="129124" y="105697"/>
                  <a:pt x="131951" y="103238"/>
                </a:cubicBezTo>
                <a:cubicBezTo>
                  <a:pt x="129448" y="101768"/>
                  <a:pt x="127761" y="99055"/>
                  <a:pt x="127761" y="95948"/>
                </a:cubicBezTo>
                <a:lnTo>
                  <a:pt x="127761" y="85066"/>
                </a:lnTo>
                <a:cubicBezTo>
                  <a:pt x="127576" y="83452"/>
                  <a:pt x="126926" y="82432"/>
                  <a:pt x="124402" y="82306"/>
                </a:cubicBezTo>
                <a:lnTo>
                  <a:pt x="108714" y="82306"/>
                </a:lnTo>
                <a:cubicBezTo>
                  <a:pt x="106403" y="82654"/>
                  <a:pt x="104504" y="83746"/>
                  <a:pt x="102915" y="85652"/>
                </a:cubicBezTo>
                <a:lnTo>
                  <a:pt x="79891" y="125030"/>
                </a:lnTo>
                <a:close/>
                <a:moveTo>
                  <a:pt x="79281" y="222459"/>
                </a:moveTo>
                <a:cubicBezTo>
                  <a:pt x="80091" y="221346"/>
                  <a:pt x="81068" y="220369"/>
                  <a:pt x="82178" y="219566"/>
                </a:cubicBezTo>
                <a:cubicBezTo>
                  <a:pt x="78924" y="217198"/>
                  <a:pt x="76801" y="213366"/>
                  <a:pt x="76801" y="209043"/>
                </a:cubicBezTo>
                <a:cubicBezTo>
                  <a:pt x="76801" y="201901"/>
                  <a:pt x="82591" y="196086"/>
                  <a:pt x="89725" y="196046"/>
                </a:cubicBezTo>
                <a:cubicBezTo>
                  <a:pt x="89157" y="194884"/>
                  <a:pt x="88831" y="193585"/>
                  <a:pt x="88831" y="192211"/>
                </a:cubicBezTo>
                <a:lnTo>
                  <a:pt x="88831" y="157361"/>
                </a:lnTo>
                <a:cubicBezTo>
                  <a:pt x="88831" y="154892"/>
                  <a:pt x="88606" y="153300"/>
                  <a:pt x="87427" y="152103"/>
                </a:cubicBezTo>
                <a:cubicBezTo>
                  <a:pt x="86250" y="150909"/>
                  <a:pt x="84388" y="150505"/>
                  <a:pt x="81583" y="150505"/>
                </a:cubicBezTo>
                <a:lnTo>
                  <a:pt x="57969" y="150505"/>
                </a:lnTo>
                <a:cubicBezTo>
                  <a:pt x="53955" y="150694"/>
                  <a:pt x="52294" y="152539"/>
                  <a:pt x="52235" y="156868"/>
                </a:cubicBezTo>
                <a:lnTo>
                  <a:pt x="52240" y="213249"/>
                </a:lnTo>
                <a:cubicBezTo>
                  <a:pt x="52240" y="214623"/>
                  <a:pt x="51911" y="215925"/>
                  <a:pt x="51346" y="217087"/>
                </a:cubicBezTo>
                <a:lnTo>
                  <a:pt x="68769" y="217087"/>
                </a:lnTo>
                <a:cubicBezTo>
                  <a:pt x="73086" y="217087"/>
                  <a:pt x="76920" y="219205"/>
                  <a:pt x="79281" y="222459"/>
                </a:cubicBezTo>
                <a:close/>
                <a:moveTo>
                  <a:pt x="158980" y="219567"/>
                </a:moveTo>
                <a:cubicBezTo>
                  <a:pt x="157869" y="218757"/>
                  <a:pt x="156890" y="217780"/>
                  <a:pt x="156083" y="216669"/>
                </a:cubicBezTo>
                <a:cubicBezTo>
                  <a:pt x="155278" y="217780"/>
                  <a:pt x="154300" y="218757"/>
                  <a:pt x="153190" y="219567"/>
                </a:cubicBezTo>
                <a:cubicBezTo>
                  <a:pt x="154300" y="220369"/>
                  <a:pt x="155278" y="221347"/>
                  <a:pt x="156083" y="222459"/>
                </a:cubicBezTo>
                <a:cubicBezTo>
                  <a:pt x="156890" y="221346"/>
                  <a:pt x="157869" y="220369"/>
                  <a:pt x="158980" y="219567"/>
                </a:cubicBezTo>
                <a:close/>
                <a:moveTo>
                  <a:pt x="153603" y="209043"/>
                </a:moveTo>
                <a:cubicBezTo>
                  <a:pt x="153603" y="204609"/>
                  <a:pt x="149999" y="201003"/>
                  <a:pt x="145569" y="201003"/>
                </a:cubicBezTo>
                <a:lnTo>
                  <a:pt x="89799" y="201003"/>
                </a:lnTo>
                <a:cubicBezTo>
                  <a:pt x="85370" y="201003"/>
                  <a:pt x="81763" y="204609"/>
                  <a:pt x="81763" y="209043"/>
                </a:cubicBezTo>
                <a:cubicBezTo>
                  <a:pt x="81763" y="213478"/>
                  <a:pt x="85370" y="217087"/>
                  <a:pt x="89799" y="217087"/>
                </a:cubicBezTo>
                <a:lnTo>
                  <a:pt x="145569" y="217087"/>
                </a:lnTo>
                <a:cubicBezTo>
                  <a:pt x="149999" y="217087"/>
                  <a:pt x="153603" y="213478"/>
                  <a:pt x="153603" y="209043"/>
                </a:cubicBezTo>
                <a:close/>
                <a:moveTo>
                  <a:pt x="158562" y="188005"/>
                </a:moveTo>
                <a:cubicBezTo>
                  <a:pt x="158562" y="183571"/>
                  <a:pt x="162169" y="179962"/>
                  <a:pt x="166601" y="179962"/>
                </a:cubicBezTo>
                <a:lnTo>
                  <a:pt x="222371" y="179962"/>
                </a:lnTo>
                <a:cubicBezTo>
                  <a:pt x="226800" y="179962"/>
                  <a:pt x="230402" y="183571"/>
                  <a:pt x="230402" y="188005"/>
                </a:cubicBezTo>
                <a:cubicBezTo>
                  <a:pt x="230402" y="192435"/>
                  <a:pt x="226800" y="196041"/>
                  <a:pt x="222371" y="196041"/>
                </a:cubicBezTo>
                <a:lnTo>
                  <a:pt x="166601" y="196041"/>
                </a:lnTo>
                <a:cubicBezTo>
                  <a:pt x="162169" y="196041"/>
                  <a:pt x="158562" y="192435"/>
                  <a:pt x="158562" y="188005"/>
                </a:cubicBezTo>
                <a:close/>
                <a:moveTo>
                  <a:pt x="175406" y="166911"/>
                </a:moveTo>
                <a:cubicBezTo>
                  <a:pt x="182677" y="172637"/>
                  <a:pt x="189205" y="175155"/>
                  <a:pt x="196666" y="175003"/>
                </a:cubicBezTo>
                <a:cubicBezTo>
                  <a:pt x="202477" y="174765"/>
                  <a:pt x="208246" y="172477"/>
                  <a:pt x="214050" y="168126"/>
                </a:cubicBezTo>
                <a:cubicBezTo>
                  <a:pt x="222207" y="161618"/>
                  <a:pt x="225871" y="153495"/>
                  <a:pt x="225253" y="143302"/>
                </a:cubicBezTo>
                <a:cubicBezTo>
                  <a:pt x="224766" y="136257"/>
                  <a:pt x="220163" y="128286"/>
                  <a:pt x="215708" y="120574"/>
                </a:cubicBezTo>
                <a:cubicBezTo>
                  <a:pt x="212857" y="115638"/>
                  <a:pt x="209331" y="109310"/>
                  <a:pt x="207110" y="104404"/>
                </a:cubicBezTo>
                <a:lnTo>
                  <a:pt x="185047" y="104404"/>
                </a:lnTo>
                <a:cubicBezTo>
                  <a:pt x="183047" y="109231"/>
                  <a:pt x="179010" y="115762"/>
                  <a:pt x="175921" y="120551"/>
                </a:cubicBezTo>
                <a:cubicBezTo>
                  <a:pt x="173255" y="124682"/>
                  <a:pt x="170502" y="128956"/>
                  <a:pt x="168240" y="133733"/>
                </a:cubicBezTo>
                <a:cubicBezTo>
                  <a:pt x="163594" y="147388"/>
                  <a:pt x="165933" y="158249"/>
                  <a:pt x="175406" y="166911"/>
                </a:cubicBezTo>
                <a:close/>
                <a:moveTo>
                  <a:pt x="186473" y="93666"/>
                </a:moveTo>
                <a:lnTo>
                  <a:pt x="204068" y="93666"/>
                </a:lnTo>
                <a:cubicBezTo>
                  <a:pt x="204227" y="95661"/>
                  <a:pt x="204614" y="97553"/>
                  <a:pt x="205195" y="99442"/>
                </a:cubicBezTo>
                <a:lnTo>
                  <a:pt x="186498" y="99442"/>
                </a:lnTo>
                <a:cubicBezTo>
                  <a:pt x="186771" y="97646"/>
                  <a:pt x="186771" y="95789"/>
                  <a:pt x="186473" y="93666"/>
                </a:cubicBezTo>
                <a:close/>
                <a:moveTo>
                  <a:pt x="175976" y="68837"/>
                </a:moveTo>
                <a:cubicBezTo>
                  <a:pt x="178548" y="70368"/>
                  <a:pt x="183588" y="74058"/>
                  <a:pt x="185213" y="74543"/>
                </a:cubicBezTo>
                <a:cubicBezTo>
                  <a:pt x="194315" y="77216"/>
                  <a:pt x="201950" y="75182"/>
                  <a:pt x="207920" y="68501"/>
                </a:cubicBezTo>
                <a:cubicBezTo>
                  <a:pt x="209819" y="66744"/>
                  <a:pt x="211923" y="65674"/>
                  <a:pt x="214363" y="65256"/>
                </a:cubicBezTo>
                <a:lnTo>
                  <a:pt x="206688" y="77881"/>
                </a:lnTo>
                <a:cubicBezTo>
                  <a:pt x="205256" y="82054"/>
                  <a:pt x="204442" y="85560"/>
                  <a:pt x="204129" y="88707"/>
                </a:cubicBezTo>
                <a:lnTo>
                  <a:pt x="185407" y="88707"/>
                </a:lnTo>
                <a:lnTo>
                  <a:pt x="183720" y="83414"/>
                </a:lnTo>
                <a:close/>
                <a:moveTo>
                  <a:pt x="235364" y="209043"/>
                </a:moveTo>
                <a:cubicBezTo>
                  <a:pt x="235364" y="204724"/>
                  <a:pt x="233243" y="200889"/>
                  <a:pt x="229992" y="198521"/>
                </a:cubicBezTo>
                <a:cubicBezTo>
                  <a:pt x="233243" y="196160"/>
                  <a:pt x="235364" y="192325"/>
                  <a:pt x="235364" y="188005"/>
                </a:cubicBezTo>
                <a:cubicBezTo>
                  <a:pt x="235364" y="180837"/>
                  <a:pt x="229534" y="175003"/>
                  <a:pt x="222371" y="175003"/>
                </a:cubicBezTo>
                <a:lnTo>
                  <a:pt x="212687" y="175003"/>
                </a:lnTo>
                <a:lnTo>
                  <a:pt x="217110" y="172031"/>
                </a:lnTo>
                <a:cubicBezTo>
                  <a:pt x="226518" y="164539"/>
                  <a:pt x="230917" y="154772"/>
                  <a:pt x="230203" y="142980"/>
                </a:cubicBezTo>
                <a:cubicBezTo>
                  <a:pt x="229512" y="132319"/>
                  <a:pt x="221059" y="120573"/>
                  <a:pt x="215683" y="110395"/>
                </a:cubicBezTo>
                <a:cubicBezTo>
                  <a:pt x="209333" y="98361"/>
                  <a:pt x="206683" y="93336"/>
                  <a:pt x="211292" y="79753"/>
                </a:cubicBezTo>
                <a:lnTo>
                  <a:pt x="220975" y="63958"/>
                </a:lnTo>
                <a:cubicBezTo>
                  <a:pt x="221933" y="62392"/>
                  <a:pt x="220916" y="60363"/>
                  <a:pt x="219090" y="60193"/>
                </a:cubicBezTo>
                <a:cubicBezTo>
                  <a:pt x="213233" y="59647"/>
                  <a:pt x="208444" y="61203"/>
                  <a:pt x="204446" y="64954"/>
                </a:cubicBezTo>
                <a:cubicBezTo>
                  <a:pt x="204387" y="65008"/>
                  <a:pt x="204336" y="65064"/>
                  <a:pt x="204282" y="65122"/>
                </a:cubicBezTo>
                <a:cubicBezTo>
                  <a:pt x="199664" y="70347"/>
                  <a:pt x="193930" y="71884"/>
                  <a:pt x="186764" y="69831"/>
                </a:cubicBezTo>
                <a:cubicBezTo>
                  <a:pt x="185807" y="69379"/>
                  <a:pt x="184315" y="68371"/>
                  <a:pt x="182736" y="67300"/>
                </a:cubicBezTo>
                <a:cubicBezTo>
                  <a:pt x="178380" y="64354"/>
                  <a:pt x="173881" y="61303"/>
                  <a:pt x="170291" y="62339"/>
                </a:cubicBezTo>
                <a:cubicBezTo>
                  <a:pt x="168782" y="62770"/>
                  <a:pt x="168056" y="64501"/>
                  <a:pt x="168786" y="65887"/>
                </a:cubicBezTo>
                <a:lnTo>
                  <a:pt x="179239" y="85561"/>
                </a:lnTo>
                <a:cubicBezTo>
                  <a:pt x="183281" y="97506"/>
                  <a:pt x="182423" y="99592"/>
                  <a:pt x="176705" y="109821"/>
                </a:cubicBezTo>
                <a:cubicBezTo>
                  <a:pt x="172492" y="117363"/>
                  <a:pt x="167722" y="123199"/>
                  <a:pt x="163696" y="131743"/>
                </a:cubicBezTo>
                <a:cubicBezTo>
                  <a:pt x="163656" y="131827"/>
                  <a:pt x="163621" y="131911"/>
                  <a:pt x="163593" y="131995"/>
                </a:cubicBezTo>
                <a:cubicBezTo>
                  <a:pt x="158235" y="147598"/>
                  <a:pt x="161106" y="160601"/>
                  <a:pt x="172131" y="170636"/>
                </a:cubicBezTo>
                <a:cubicBezTo>
                  <a:pt x="173267" y="171720"/>
                  <a:pt x="177181" y="174254"/>
                  <a:pt x="178471" y="175003"/>
                </a:cubicBezTo>
                <a:lnTo>
                  <a:pt x="166600" y="175003"/>
                </a:lnTo>
                <a:cubicBezTo>
                  <a:pt x="159434" y="175003"/>
                  <a:pt x="153602" y="180837"/>
                  <a:pt x="153602" y="188005"/>
                </a:cubicBezTo>
                <a:cubicBezTo>
                  <a:pt x="153602" y="192325"/>
                  <a:pt x="155725" y="196160"/>
                  <a:pt x="158979" y="198520"/>
                </a:cubicBezTo>
                <a:cubicBezTo>
                  <a:pt x="157869" y="199330"/>
                  <a:pt x="156889" y="200307"/>
                  <a:pt x="156082" y="201420"/>
                </a:cubicBezTo>
                <a:cubicBezTo>
                  <a:pt x="154106" y="198700"/>
                  <a:pt x="151106" y="196771"/>
                  <a:pt x="147654" y="196209"/>
                </a:cubicBezTo>
                <a:lnTo>
                  <a:pt x="153229" y="112946"/>
                </a:lnTo>
                <a:cubicBezTo>
                  <a:pt x="153476" y="109237"/>
                  <a:pt x="151881" y="105741"/>
                  <a:pt x="149042" y="103237"/>
                </a:cubicBezTo>
                <a:cubicBezTo>
                  <a:pt x="151542" y="101768"/>
                  <a:pt x="153234" y="99055"/>
                  <a:pt x="153234" y="95948"/>
                </a:cubicBezTo>
                <a:lnTo>
                  <a:pt x="153234" y="69568"/>
                </a:lnTo>
                <a:cubicBezTo>
                  <a:pt x="153234" y="62548"/>
                  <a:pt x="147519" y="56833"/>
                  <a:pt x="140495" y="56833"/>
                </a:cubicBezTo>
                <a:lnTo>
                  <a:pt x="79852" y="56852"/>
                </a:lnTo>
                <a:cubicBezTo>
                  <a:pt x="71809" y="57834"/>
                  <a:pt x="65436" y="61973"/>
                  <a:pt x="60370" y="69502"/>
                </a:cubicBezTo>
                <a:lnTo>
                  <a:pt x="32802" y="116531"/>
                </a:lnTo>
                <a:cubicBezTo>
                  <a:pt x="28795" y="125477"/>
                  <a:pt x="26761" y="136073"/>
                  <a:pt x="26761" y="148025"/>
                </a:cubicBezTo>
                <a:lnTo>
                  <a:pt x="26761" y="213249"/>
                </a:lnTo>
                <a:cubicBezTo>
                  <a:pt x="26761" y="214623"/>
                  <a:pt x="27088" y="215925"/>
                  <a:pt x="27654" y="217087"/>
                </a:cubicBezTo>
                <a:lnTo>
                  <a:pt x="12998" y="217087"/>
                </a:lnTo>
                <a:cubicBezTo>
                  <a:pt x="5829" y="217087"/>
                  <a:pt x="0" y="222914"/>
                  <a:pt x="0" y="230082"/>
                </a:cubicBezTo>
                <a:cubicBezTo>
                  <a:pt x="0" y="237250"/>
                  <a:pt x="5829" y="243087"/>
                  <a:pt x="12998" y="243087"/>
                </a:cubicBezTo>
                <a:lnTo>
                  <a:pt x="68770" y="243087"/>
                </a:lnTo>
                <a:cubicBezTo>
                  <a:pt x="73086" y="243087"/>
                  <a:pt x="76920" y="240962"/>
                  <a:pt x="79281" y="237715"/>
                </a:cubicBezTo>
                <a:cubicBezTo>
                  <a:pt x="81649" y="240962"/>
                  <a:pt x="85479" y="243087"/>
                  <a:pt x="89799" y="243087"/>
                </a:cubicBezTo>
                <a:lnTo>
                  <a:pt x="145569" y="243087"/>
                </a:lnTo>
                <a:cubicBezTo>
                  <a:pt x="149887" y="243087"/>
                  <a:pt x="153720" y="240962"/>
                  <a:pt x="156083" y="237715"/>
                </a:cubicBezTo>
                <a:cubicBezTo>
                  <a:pt x="158448" y="240962"/>
                  <a:pt x="162279" y="243087"/>
                  <a:pt x="166601" y="243087"/>
                </a:cubicBezTo>
                <a:lnTo>
                  <a:pt x="222371" y="243087"/>
                </a:lnTo>
                <a:cubicBezTo>
                  <a:pt x="229535" y="243087"/>
                  <a:pt x="235364" y="237250"/>
                  <a:pt x="235364" y="230082"/>
                </a:cubicBezTo>
                <a:cubicBezTo>
                  <a:pt x="235364" y="225762"/>
                  <a:pt x="233244" y="221927"/>
                  <a:pt x="229992" y="219567"/>
                </a:cubicBezTo>
                <a:cubicBezTo>
                  <a:pt x="233243" y="217199"/>
                  <a:pt x="235364" y="213366"/>
                  <a:pt x="235364" y="209043"/>
                </a:cubicBezTo>
                <a:close/>
              </a:path>
            </a:pathLst>
          </a:custGeom>
          <a:solidFill>
            <a:srgbClr val="000000"/>
          </a:solidFill>
          <a:ln w="484" cap="flat">
            <a:noFill/>
            <a:prstDash val="solid"/>
            <a:miter/>
          </a:ln>
        </p:spPr>
        <p:txBody>
          <a:bodyPr rtlCol="0" anchor="ctr"/>
          <a:lstStyle/>
          <a:p>
            <a:endParaRPr lang="en-GB"/>
          </a:p>
        </p:txBody>
      </p:sp>
      <p:sp>
        <p:nvSpPr>
          <p:cNvPr id="71" name="TextBox 70">
            <a:extLst>
              <a:ext uri="{FF2B5EF4-FFF2-40B4-BE49-F238E27FC236}">
                <a16:creationId xmlns:a16="http://schemas.microsoft.com/office/drawing/2014/main" id="{815CD932-D653-0845-285C-D7B18419018C}"/>
              </a:ext>
            </a:extLst>
          </p:cNvPr>
          <p:cNvSpPr txBox="1"/>
          <p:nvPr/>
        </p:nvSpPr>
        <p:spPr>
          <a:xfrm>
            <a:off x="2089580" y="3235598"/>
            <a:ext cx="2731802" cy="246221"/>
          </a:xfrm>
          <a:prstGeom prst="rect">
            <a:avLst/>
          </a:prstGeom>
          <a:noFill/>
        </p:spPr>
        <p:txBody>
          <a:bodyPr wrap="square" rtlCol="0">
            <a:spAutoFit/>
          </a:bodyPr>
          <a:lstStyle/>
          <a:p>
            <a:pPr algn="ctr"/>
            <a:r>
              <a:rPr lang="en-US" sz="1000" dirty="0"/>
              <a:t>Indirect</a:t>
            </a:r>
            <a:endParaRPr lang="en-CH" sz="1000" dirty="0"/>
          </a:p>
        </p:txBody>
      </p:sp>
      <p:sp>
        <p:nvSpPr>
          <p:cNvPr id="72" name="TextBox 71">
            <a:extLst>
              <a:ext uri="{FF2B5EF4-FFF2-40B4-BE49-F238E27FC236}">
                <a16:creationId xmlns:a16="http://schemas.microsoft.com/office/drawing/2014/main" id="{2B534748-4B09-F85F-F5A2-372E1836FFCD}"/>
              </a:ext>
            </a:extLst>
          </p:cNvPr>
          <p:cNvSpPr txBox="1"/>
          <p:nvPr/>
        </p:nvSpPr>
        <p:spPr>
          <a:xfrm>
            <a:off x="5479472" y="3235598"/>
            <a:ext cx="2731802" cy="246221"/>
          </a:xfrm>
          <a:prstGeom prst="rect">
            <a:avLst/>
          </a:prstGeom>
          <a:noFill/>
        </p:spPr>
        <p:txBody>
          <a:bodyPr wrap="square" rtlCol="0">
            <a:spAutoFit/>
          </a:bodyPr>
          <a:lstStyle/>
          <a:p>
            <a:pPr algn="ctr"/>
            <a:r>
              <a:rPr lang="en-US" sz="1000" dirty="0"/>
              <a:t>Direct</a:t>
            </a:r>
          </a:p>
        </p:txBody>
      </p:sp>
      <p:sp>
        <p:nvSpPr>
          <p:cNvPr id="73" name="TextBox 72">
            <a:extLst>
              <a:ext uri="{FF2B5EF4-FFF2-40B4-BE49-F238E27FC236}">
                <a16:creationId xmlns:a16="http://schemas.microsoft.com/office/drawing/2014/main" id="{01CCB745-493C-E7A4-745C-9BDFC54A9388}"/>
              </a:ext>
            </a:extLst>
          </p:cNvPr>
          <p:cNvSpPr txBox="1"/>
          <p:nvPr/>
        </p:nvSpPr>
        <p:spPr>
          <a:xfrm>
            <a:off x="705139" y="3235598"/>
            <a:ext cx="1116734" cy="400110"/>
          </a:xfrm>
          <a:prstGeom prst="rect">
            <a:avLst/>
          </a:prstGeom>
          <a:noFill/>
        </p:spPr>
        <p:txBody>
          <a:bodyPr wrap="square" rtlCol="0">
            <a:spAutoFit/>
          </a:bodyPr>
          <a:lstStyle/>
          <a:p>
            <a:r>
              <a:rPr lang="de-LI" sz="1000" b="1" dirty="0">
                <a:solidFill>
                  <a:schemeClr val="accent1"/>
                </a:solidFill>
              </a:rPr>
              <a:t>Link to bank deposits</a:t>
            </a:r>
            <a:endParaRPr lang="en-GB" sz="1000" dirty="0">
              <a:solidFill>
                <a:schemeClr val="accent1"/>
              </a:solidFill>
            </a:endParaRPr>
          </a:p>
        </p:txBody>
      </p:sp>
      <p:sp>
        <p:nvSpPr>
          <p:cNvPr id="74" name="TextBox 73">
            <a:extLst>
              <a:ext uri="{FF2B5EF4-FFF2-40B4-BE49-F238E27FC236}">
                <a16:creationId xmlns:a16="http://schemas.microsoft.com/office/drawing/2014/main" id="{EA3D59E0-B5FB-424F-D7BC-C5BF3CB65C38}"/>
              </a:ext>
            </a:extLst>
          </p:cNvPr>
          <p:cNvSpPr txBox="1"/>
          <p:nvPr/>
        </p:nvSpPr>
        <p:spPr>
          <a:xfrm>
            <a:off x="2089580" y="3656550"/>
            <a:ext cx="2731802"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t>Does not determine asset allocation</a:t>
            </a:r>
          </a:p>
          <a:p>
            <a:pPr marL="171450" indent="-171450">
              <a:buFont typeface="Arial" panose="020B0604020202020204" pitchFamily="34" charset="0"/>
              <a:buChar char="•"/>
            </a:pPr>
            <a:r>
              <a:rPr lang="en-US" sz="1000" dirty="0"/>
              <a:t>Only indirectly affects bank deposit levels</a:t>
            </a:r>
          </a:p>
          <a:p>
            <a:pPr marL="171450" indent="-171450">
              <a:buFont typeface="Arial" panose="020B0604020202020204" pitchFamily="34" charset="0"/>
              <a:buChar char="•"/>
            </a:pPr>
            <a:r>
              <a:rPr lang="en-US" sz="1000" dirty="0"/>
              <a:t>Even if we know the levels of wealth accumulation depending on system, we still need to know where this wealth is allocated</a:t>
            </a:r>
          </a:p>
        </p:txBody>
      </p:sp>
      <p:sp>
        <p:nvSpPr>
          <p:cNvPr id="75" name="TextBox 74">
            <a:extLst>
              <a:ext uri="{FF2B5EF4-FFF2-40B4-BE49-F238E27FC236}">
                <a16:creationId xmlns:a16="http://schemas.microsoft.com/office/drawing/2014/main" id="{5E715615-5EA5-2E7C-E4A4-3FABAC6D7434}"/>
              </a:ext>
            </a:extLst>
          </p:cNvPr>
          <p:cNvSpPr txBox="1"/>
          <p:nvPr/>
        </p:nvSpPr>
        <p:spPr>
          <a:xfrm>
            <a:off x="5479472" y="3656550"/>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a:t>Different measures exist</a:t>
            </a:r>
          </a:p>
          <a:p>
            <a:pPr marL="171450" indent="-171450">
              <a:buFont typeface="Arial" panose="020B0604020202020204" pitchFamily="34" charset="0"/>
              <a:buChar char="•"/>
            </a:pPr>
            <a:r>
              <a:rPr lang="en-US" sz="1000" dirty="0"/>
              <a:t>Evolvement of systems over time?</a:t>
            </a:r>
          </a:p>
        </p:txBody>
      </p:sp>
      <p:sp>
        <p:nvSpPr>
          <p:cNvPr id="76" name="TextBox 75">
            <a:extLst>
              <a:ext uri="{FF2B5EF4-FFF2-40B4-BE49-F238E27FC236}">
                <a16:creationId xmlns:a16="http://schemas.microsoft.com/office/drawing/2014/main" id="{6E5CF293-BD86-B00F-D92E-995BB1CE210D}"/>
              </a:ext>
            </a:extLst>
          </p:cNvPr>
          <p:cNvSpPr txBox="1"/>
          <p:nvPr/>
        </p:nvSpPr>
        <p:spPr>
          <a:xfrm>
            <a:off x="705139" y="3656550"/>
            <a:ext cx="1116734" cy="246221"/>
          </a:xfrm>
          <a:prstGeom prst="rect">
            <a:avLst/>
          </a:prstGeom>
          <a:noFill/>
        </p:spPr>
        <p:txBody>
          <a:bodyPr wrap="square" rtlCol="0">
            <a:spAutoFit/>
          </a:bodyPr>
          <a:lstStyle/>
          <a:p>
            <a:r>
              <a:rPr lang="de-LI" sz="1000" b="1" dirty="0">
                <a:solidFill>
                  <a:schemeClr val="accent1"/>
                </a:solidFill>
              </a:rPr>
              <a:t>Limitations</a:t>
            </a:r>
            <a:endParaRPr lang="en-GB" sz="1000" dirty="0">
              <a:solidFill>
                <a:schemeClr val="accent1"/>
              </a:solidFill>
            </a:endParaRPr>
          </a:p>
        </p:txBody>
      </p:sp>
      <p:cxnSp>
        <p:nvCxnSpPr>
          <p:cNvPr id="78" name="Connector: Elbow 77">
            <a:extLst>
              <a:ext uri="{FF2B5EF4-FFF2-40B4-BE49-F238E27FC236}">
                <a16:creationId xmlns:a16="http://schemas.microsoft.com/office/drawing/2014/main" id="{9BB7CF89-AF61-7447-4AD2-4EB0FA088BF2}"/>
              </a:ext>
            </a:extLst>
          </p:cNvPr>
          <p:cNvCxnSpPr>
            <a:stCxn id="74" idx="3"/>
            <a:endCxn id="20" idx="1"/>
          </p:cNvCxnSpPr>
          <p:nvPr/>
        </p:nvCxnSpPr>
        <p:spPr>
          <a:xfrm flipV="1">
            <a:off x="4821382" y="2331804"/>
            <a:ext cx="658090" cy="17556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93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8C8FC-6F5D-4367-6264-94D5C08607A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5E406B8-D396-256F-43B0-FA69C75F11E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D5E406B8-D396-256F-43B0-FA69C75F11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7AEA564-E0E6-15D0-6CEF-1182AB3F7063}"/>
              </a:ext>
            </a:extLst>
          </p:cNvPr>
          <p:cNvSpPr>
            <a:spLocks noGrp="1"/>
          </p:cNvSpPr>
          <p:nvPr>
            <p:ph type="title"/>
          </p:nvPr>
        </p:nvSpPr>
        <p:spPr/>
        <p:txBody>
          <a:bodyPr vert="horz" rIns="0"/>
          <a:lstStyle/>
          <a:p>
            <a:r>
              <a:rPr lang="de-LI" dirty="0"/>
              <a:t>Additional considerations</a:t>
            </a:r>
          </a:p>
        </p:txBody>
      </p:sp>
      <p:sp>
        <p:nvSpPr>
          <p:cNvPr id="3" name="Slide Number Placeholder 2">
            <a:extLst>
              <a:ext uri="{FF2B5EF4-FFF2-40B4-BE49-F238E27FC236}">
                <a16:creationId xmlns:a16="http://schemas.microsoft.com/office/drawing/2014/main" id="{4F0708A7-DA66-1C4B-A89E-5C72D56A49BA}"/>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11</a:t>
            </a:fld>
            <a:endParaRPr lang="en-GB"/>
          </a:p>
        </p:txBody>
      </p:sp>
      <p:sp>
        <p:nvSpPr>
          <p:cNvPr id="5" name="Rectangle 4">
            <a:extLst>
              <a:ext uri="{FF2B5EF4-FFF2-40B4-BE49-F238E27FC236}">
                <a16:creationId xmlns:a16="http://schemas.microsoft.com/office/drawing/2014/main" id="{335E5CA3-760E-6933-E312-D068B1C6E597}"/>
              </a:ext>
            </a:extLst>
          </p:cNvPr>
          <p:cNvSpPr/>
          <p:nvPr/>
        </p:nvSpPr>
        <p:spPr>
          <a:xfrm>
            <a:off x="1611006" y="1120899"/>
            <a:ext cx="2749296"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Suitable controls from dataset</a:t>
            </a:r>
          </a:p>
        </p:txBody>
      </p:sp>
      <p:sp>
        <p:nvSpPr>
          <p:cNvPr id="6" name="Rectangle 5">
            <a:extLst>
              <a:ext uri="{FF2B5EF4-FFF2-40B4-BE49-F238E27FC236}">
                <a16:creationId xmlns:a16="http://schemas.microsoft.com/office/drawing/2014/main" id="{81283D0E-EC67-FD63-BC0C-CEB9EE11FF6D}"/>
              </a:ext>
            </a:extLst>
          </p:cNvPr>
          <p:cNvSpPr/>
          <p:nvPr/>
        </p:nvSpPr>
        <p:spPr>
          <a:xfrm>
            <a:off x="4672183" y="1120899"/>
            <a:ext cx="2749296"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Pot. omitted variables</a:t>
            </a:r>
          </a:p>
        </p:txBody>
      </p:sp>
      <p:sp>
        <p:nvSpPr>
          <p:cNvPr id="7" name="Rectangle 6">
            <a:extLst>
              <a:ext uri="{FF2B5EF4-FFF2-40B4-BE49-F238E27FC236}">
                <a16:creationId xmlns:a16="http://schemas.microsoft.com/office/drawing/2014/main" id="{F178EC82-DD18-3E9E-AB1E-21BCFE760AFF}"/>
              </a:ext>
            </a:extLst>
          </p:cNvPr>
          <p:cNvSpPr/>
          <p:nvPr/>
        </p:nvSpPr>
        <p:spPr>
          <a:xfrm>
            <a:off x="1611006" y="1702790"/>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Bank size</a:t>
            </a:r>
            <a:br>
              <a:rPr lang="de-LI" sz="1100" dirty="0">
                <a:solidFill>
                  <a:schemeClr val="tx1"/>
                </a:solidFill>
              </a:rPr>
            </a:br>
            <a:r>
              <a:rPr lang="en-US" sz="1100" dirty="0">
                <a:solidFill>
                  <a:schemeClr val="tx1"/>
                </a:solidFill>
              </a:rPr>
              <a:t>(Large banks rely more on wholesale funding)</a:t>
            </a:r>
            <a:endParaRPr lang="en-GB" sz="1100" dirty="0">
              <a:solidFill>
                <a:schemeClr val="tx1"/>
              </a:solidFill>
            </a:endParaRPr>
          </a:p>
        </p:txBody>
      </p:sp>
      <p:sp>
        <p:nvSpPr>
          <p:cNvPr id="8" name="Rectangle 7">
            <a:extLst>
              <a:ext uri="{FF2B5EF4-FFF2-40B4-BE49-F238E27FC236}">
                <a16:creationId xmlns:a16="http://schemas.microsoft.com/office/drawing/2014/main" id="{E24A26E8-F876-D4A9-641F-3DBE9995A0D2}"/>
              </a:ext>
            </a:extLst>
          </p:cNvPr>
          <p:cNvSpPr/>
          <p:nvPr/>
        </p:nvSpPr>
        <p:spPr>
          <a:xfrm>
            <a:off x="1611006" y="2428921"/>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Loan ratio</a:t>
            </a:r>
            <a:br>
              <a:rPr lang="de-LI" sz="1100" dirty="0">
                <a:solidFill>
                  <a:schemeClr val="tx1"/>
                </a:solidFill>
              </a:rPr>
            </a:br>
            <a:r>
              <a:rPr lang="de-LI" sz="1100" dirty="0">
                <a:solidFill>
                  <a:schemeClr val="tx1"/>
                </a:solidFill>
              </a:rPr>
              <a:t>(</a:t>
            </a:r>
            <a:r>
              <a:rPr lang="en-US" sz="1100" dirty="0">
                <a:solidFill>
                  <a:schemeClr val="tx1"/>
                </a:solidFill>
              </a:rPr>
              <a:t>Banks with more loans need stable funding, which usually comes from deposits)</a:t>
            </a:r>
            <a:endParaRPr lang="en-GB" sz="1100" dirty="0">
              <a:solidFill>
                <a:schemeClr val="tx1"/>
              </a:solidFill>
            </a:endParaRPr>
          </a:p>
        </p:txBody>
      </p:sp>
      <p:sp>
        <p:nvSpPr>
          <p:cNvPr id="11" name="Rectangle 10">
            <a:extLst>
              <a:ext uri="{FF2B5EF4-FFF2-40B4-BE49-F238E27FC236}">
                <a16:creationId xmlns:a16="http://schemas.microsoft.com/office/drawing/2014/main" id="{20968CF4-4515-D1DD-5C78-EFF078CCC940}"/>
              </a:ext>
            </a:extLst>
          </p:cNvPr>
          <p:cNvSpPr/>
          <p:nvPr/>
        </p:nvSpPr>
        <p:spPr>
          <a:xfrm>
            <a:off x="4672183" y="1704133"/>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GDP development</a:t>
            </a:r>
            <a:br>
              <a:rPr lang="de-LI" sz="1100" dirty="0">
                <a:solidFill>
                  <a:schemeClr val="tx1"/>
                </a:solidFill>
              </a:rPr>
            </a:br>
            <a:r>
              <a:rPr lang="en-US" sz="1100" dirty="0">
                <a:solidFill>
                  <a:schemeClr val="tx1"/>
                </a:solidFill>
              </a:rPr>
              <a:t>If not controlled, the aging effect may actually capture economic development</a:t>
            </a:r>
            <a:endParaRPr lang="en-GB" sz="1100" dirty="0">
              <a:solidFill>
                <a:schemeClr val="tx1"/>
              </a:solidFill>
            </a:endParaRPr>
          </a:p>
        </p:txBody>
      </p:sp>
      <p:sp>
        <p:nvSpPr>
          <p:cNvPr id="17" name="Rectangle 16">
            <a:extLst>
              <a:ext uri="{FF2B5EF4-FFF2-40B4-BE49-F238E27FC236}">
                <a16:creationId xmlns:a16="http://schemas.microsoft.com/office/drawing/2014/main" id="{73370C09-E372-26AF-2348-49AF3AFD8010}"/>
              </a:ext>
            </a:extLst>
          </p:cNvPr>
          <p:cNvSpPr/>
          <p:nvPr/>
        </p:nvSpPr>
        <p:spPr>
          <a:xfrm>
            <a:off x="5938831" y="1019830"/>
            <a:ext cx="216000" cy="215989"/>
          </a:xfrm>
          <a:prstGeom prst="rect">
            <a:avLst/>
          </a:prstGeom>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dirty="0"/>
              <a:t>2</a:t>
            </a:r>
            <a:endParaRPr lang="en-GB" dirty="0"/>
          </a:p>
        </p:txBody>
      </p:sp>
      <p:sp>
        <p:nvSpPr>
          <p:cNvPr id="19" name="Rectangle 18">
            <a:extLst>
              <a:ext uri="{FF2B5EF4-FFF2-40B4-BE49-F238E27FC236}">
                <a16:creationId xmlns:a16="http://schemas.microsoft.com/office/drawing/2014/main" id="{AF9D11BE-057D-9084-3DC6-9B8B7A203D38}"/>
              </a:ext>
            </a:extLst>
          </p:cNvPr>
          <p:cNvSpPr/>
          <p:nvPr/>
        </p:nvSpPr>
        <p:spPr>
          <a:xfrm>
            <a:off x="2877654" y="1019830"/>
            <a:ext cx="216000" cy="215989"/>
          </a:xfrm>
          <a:prstGeom prst="rect">
            <a:avLst/>
          </a:prstGeom>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dirty="0"/>
              <a:t>1</a:t>
            </a:r>
            <a:endParaRPr lang="en-GB" dirty="0"/>
          </a:p>
        </p:txBody>
      </p:sp>
      <p:sp>
        <p:nvSpPr>
          <p:cNvPr id="27" name="Rectangle 26">
            <a:extLst>
              <a:ext uri="{FF2B5EF4-FFF2-40B4-BE49-F238E27FC236}">
                <a16:creationId xmlns:a16="http://schemas.microsoft.com/office/drawing/2014/main" id="{BC1FE6AC-CCB9-A794-9957-2BD4027AB7FC}"/>
              </a:ext>
            </a:extLst>
          </p:cNvPr>
          <p:cNvSpPr/>
          <p:nvPr/>
        </p:nvSpPr>
        <p:spPr>
          <a:xfrm>
            <a:off x="1611006" y="315505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Equity ratio</a:t>
            </a:r>
            <a:br>
              <a:rPr lang="de-LI" sz="1100" dirty="0">
                <a:solidFill>
                  <a:schemeClr val="tx1"/>
                </a:solidFill>
              </a:rPr>
            </a:br>
            <a:r>
              <a:rPr lang="de-LI" sz="1100" dirty="0">
                <a:solidFill>
                  <a:schemeClr val="tx1"/>
                </a:solidFill>
              </a:rPr>
              <a:t>(</a:t>
            </a:r>
            <a:r>
              <a:rPr lang="en-US" sz="1100" dirty="0">
                <a:solidFill>
                  <a:schemeClr val="tx1"/>
                </a:solidFill>
              </a:rPr>
              <a:t>Higher equity = less risk; hence less stable deposit funding needed)</a:t>
            </a:r>
            <a:endParaRPr lang="en-GB" sz="1100" dirty="0">
              <a:solidFill>
                <a:schemeClr val="tx1"/>
              </a:solidFill>
            </a:endParaRPr>
          </a:p>
        </p:txBody>
      </p:sp>
      <p:sp>
        <p:nvSpPr>
          <p:cNvPr id="28" name="Rectangle 27">
            <a:extLst>
              <a:ext uri="{FF2B5EF4-FFF2-40B4-BE49-F238E27FC236}">
                <a16:creationId xmlns:a16="http://schemas.microsoft.com/office/drawing/2014/main" id="{87530EA2-3E9C-04DC-059A-28594629465C}"/>
              </a:ext>
            </a:extLst>
          </p:cNvPr>
          <p:cNvSpPr/>
          <p:nvPr/>
        </p:nvSpPr>
        <p:spPr>
          <a:xfrm>
            <a:off x="1611006" y="388118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Profitability</a:t>
            </a:r>
            <a:br>
              <a:rPr lang="de-LI" sz="1100" b="1" dirty="0">
                <a:solidFill>
                  <a:schemeClr val="tx1"/>
                </a:solidFill>
              </a:rPr>
            </a:br>
            <a:r>
              <a:rPr lang="de-LI" sz="1100" dirty="0">
                <a:solidFill>
                  <a:schemeClr val="tx1"/>
                </a:solidFill>
              </a:rPr>
              <a:t>(</a:t>
            </a:r>
            <a:r>
              <a:rPr lang="en-US" sz="1100" dirty="0">
                <a:solidFill>
                  <a:schemeClr val="tx1"/>
                </a:solidFill>
              </a:rPr>
              <a:t>Profitable banks attract deposits due to stronger reputation)</a:t>
            </a:r>
            <a:endParaRPr lang="en-GB" sz="1100" dirty="0">
              <a:solidFill>
                <a:schemeClr val="tx1"/>
              </a:solidFill>
            </a:endParaRPr>
          </a:p>
        </p:txBody>
      </p:sp>
      <p:sp>
        <p:nvSpPr>
          <p:cNvPr id="29" name="Rectangle 28">
            <a:extLst>
              <a:ext uri="{FF2B5EF4-FFF2-40B4-BE49-F238E27FC236}">
                <a16:creationId xmlns:a16="http://schemas.microsoft.com/office/drawing/2014/main" id="{2BEFAE57-51E3-1372-E91C-1BB647F43DAE}"/>
              </a:ext>
            </a:extLst>
          </p:cNvPr>
          <p:cNvSpPr/>
          <p:nvPr/>
        </p:nvSpPr>
        <p:spPr>
          <a:xfrm>
            <a:off x="4672183" y="2428921"/>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Interest rate environment</a:t>
            </a:r>
            <a:br>
              <a:rPr lang="de-LI" sz="1100" dirty="0">
                <a:solidFill>
                  <a:schemeClr val="tx1"/>
                </a:solidFill>
              </a:rPr>
            </a:br>
            <a:r>
              <a:rPr lang="en-US" sz="1100" dirty="0">
                <a:solidFill>
                  <a:schemeClr val="tx1"/>
                </a:solidFill>
              </a:rPr>
              <a:t>Strongly affect deposit attractiveness</a:t>
            </a:r>
            <a:endParaRPr lang="en-GB" sz="1100" dirty="0">
              <a:solidFill>
                <a:schemeClr val="tx1"/>
              </a:solidFill>
            </a:endParaRPr>
          </a:p>
        </p:txBody>
      </p:sp>
      <p:sp>
        <p:nvSpPr>
          <p:cNvPr id="30" name="Rectangle 29">
            <a:extLst>
              <a:ext uri="{FF2B5EF4-FFF2-40B4-BE49-F238E27FC236}">
                <a16:creationId xmlns:a16="http://schemas.microsoft.com/office/drawing/2014/main" id="{65AE6E98-78B2-561D-ED83-03CA9903F5FA}"/>
              </a:ext>
            </a:extLst>
          </p:cNvPr>
          <p:cNvSpPr/>
          <p:nvPr/>
        </p:nvSpPr>
        <p:spPr>
          <a:xfrm>
            <a:off x="4672183" y="315505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Financial regulation</a:t>
            </a:r>
            <a:br>
              <a:rPr lang="de-LI" sz="1100" dirty="0">
                <a:solidFill>
                  <a:schemeClr val="tx1"/>
                </a:solidFill>
              </a:rPr>
            </a:br>
            <a:r>
              <a:rPr lang="en-US" sz="1100" dirty="0">
                <a:solidFill>
                  <a:schemeClr val="tx1"/>
                </a:solidFill>
              </a:rPr>
              <a:t>-&gt; Partly absorbed by bank fixed effects</a:t>
            </a:r>
            <a:endParaRPr lang="en-GB" sz="1100" dirty="0">
              <a:solidFill>
                <a:schemeClr val="tx1"/>
              </a:solidFill>
            </a:endParaRPr>
          </a:p>
        </p:txBody>
      </p:sp>
      <p:sp>
        <p:nvSpPr>
          <p:cNvPr id="31" name="Rectangle 30">
            <a:extLst>
              <a:ext uri="{FF2B5EF4-FFF2-40B4-BE49-F238E27FC236}">
                <a16:creationId xmlns:a16="http://schemas.microsoft.com/office/drawing/2014/main" id="{2664DCF6-DDFA-4B16-A5A2-BABADD91AB3A}"/>
              </a:ext>
            </a:extLst>
          </p:cNvPr>
          <p:cNvSpPr/>
          <p:nvPr/>
        </p:nvSpPr>
        <p:spPr>
          <a:xfrm>
            <a:off x="4672183" y="388118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dirty="0">
                <a:solidFill>
                  <a:schemeClr val="tx1"/>
                </a:solidFill>
              </a:rPr>
              <a:t>Banking structure</a:t>
            </a:r>
            <a:br>
              <a:rPr lang="de-LI" sz="1100" dirty="0">
                <a:solidFill>
                  <a:schemeClr val="tx1"/>
                </a:solidFill>
              </a:rPr>
            </a:br>
            <a:r>
              <a:rPr lang="en-US" sz="1100" dirty="0">
                <a:solidFill>
                  <a:schemeClr val="tx1"/>
                </a:solidFill>
              </a:rPr>
              <a:t>-&gt; Partly absorbed by bank fixed effects</a:t>
            </a:r>
            <a:endParaRPr lang="en-GB" sz="1100" dirty="0">
              <a:solidFill>
                <a:schemeClr val="tx1"/>
              </a:solidFill>
            </a:endParaRPr>
          </a:p>
        </p:txBody>
      </p:sp>
      <p:sp>
        <p:nvSpPr>
          <p:cNvPr id="32" name="Right Brace 31">
            <a:extLst>
              <a:ext uri="{FF2B5EF4-FFF2-40B4-BE49-F238E27FC236}">
                <a16:creationId xmlns:a16="http://schemas.microsoft.com/office/drawing/2014/main" id="{63B20DD0-2649-8773-035C-FD398105BE3C}"/>
              </a:ext>
            </a:extLst>
          </p:cNvPr>
          <p:cNvSpPr/>
          <p:nvPr/>
        </p:nvSpPr>
        <p:spPr>
          <a:xfrm>
            <a:off x="7560527" y="1702790"/>
            <a:ext cx="172833" cy="136587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TextBox 32">
            <a:extLst>
              <a:ext uri="{FF2B5EF4-FFF2-40B4-BE49-F238E27FC236}">
                <a16:creationId xmlns:a16="http://schemas.microsoft.com/office/drawing/2014/main" id="{81CAEBD5-AF31-06C3-DC11-CA79A2851277}"/>
              </a:ext>
            </a:extLst>
          </p:cNvPr>
          <p:cNvSpPr txBox="1"/>
          <p:nvPr/>
        </p:nvSpPr>
        <p:spPr>
          <a:xfrm>
            <a:off x="7753464" y="2002415"/>
            <a:ext cx="1196898" cy="769441"/>
          </a:xfrm>
          <a:prstGeom prst="rect">
            <a:avLst/>
          </a:prstGeom>
          <a:noFill/>
        </p:spPr>
        <p:txBody>
          <a:bodyPr wrap="square" rtlCol="0">
            <a:spAutoFit/>
          </a:bodyPr>
          <a:lstStyle/>
          <a:p>
            <a:r>
              <a:rPr lang="en-US" sz="1100" dirty="0"/>
              <a:t>Potentially to be controlled for to resolve omitted variable bias</a:t>
            </a:r>
          </a:p>
        </p:txBody>
      </p:sp>
    </p:spTree>
    <p:extLst>
      <p:ext uri="{BB962C8B-B14F-4D97-AF65-F5344CB8AC3E}">
        <p14:creationId xmlns:p14="http://schemas.microsoft.com/office/powerpoint/2010/main" val="333424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0BD3-C8D0-34E5-DE6D-83B571948DB0}"/>
              </a:ext>
            </a:extLst>
          </p:cNvPr>
          <p:cNvSpPr>
            <a:spLocks noGrp="1"/>
          </p:cNvSpPr>
          <p:nvPr>
            <p:ph type="title"/>
          </p:nvPr>
        </p:nvSpPr>
        <p:spPr/>
        <p:txBody>
          <a:bodyPr/>
          <a:lstStyle/>
          <a:p>
            <a:r>
              <a:rPr lang="en-GB" dirty="0"/>
              <a:t>Controlling for pension systems: pension replacement rate</a:t>
            </a:r>
            <a:endParaRPr lang="en-CH" dirty="0"/>
          </a:p>
        </p:txBody>
      </p:sp>
      <p:sp>
        <p:nvSpPr>
          <p:cNvPr id="3" name="Slide Number Placeholder 2">
            <a:extLst>
              <a:ext uri="{FF2B5EF4-FFF2-40B4-BE49-F238E27FC236}">
                <a16:creationId xmlns:a16="http://schemas.microsoft.com/office/drawing/2014/main" id="{D932C022-E2D5-C1D8-F8BA-DA420E7AFBC2}"/>
              </a:ext>
            </a:extLst>
          </p:cNvPr>
          <p:cNvSpPr>
            <a:spLocks noGrp="1"/>
          </p:cNvSpPr>
          <p:nvPr>
            <p:ph type="sldNum" sz="quarter" idx="12"/>
          </p:nvPr>
        </p:nvSpPr>
        <p:spPr/>
        <p:txBody>
          <a:bodyPr/>
          <a:lstStyle/>
          <a:p>
            <a:fld id="{7559FC98-AF75-4A00-A03C-DF9FEBF6BCB9}" type="slidenum">
              <a:rPr lang="en-GB" smtClean="0"/>
              <a:t>12</a:t>
            </a:fld>
            <a:endParaRPr lang="en-GB"/>
          </a:p>
        </p:txBody>
      </p:sp>
      <p:sp>
        <p:nvSpPr>
          <p:cNvPr id="47" name="TextBox 46">
            <a:extLst>
              <a:ext uri="{FF2B5EF4-FFF2-40B4-BE49-F238E27FC236}">
                <a16:creationId xmlns:a16="http://schemas.microsoft.com/office/drawing/2014/main" id="{A3EF6124-B510-008F-4BC4-26518A1FFC9B}"/>
              </a:ext>
            </a:extLst>
          </p:cNvPr>
          <p:cNvSpPr txBox="1"/>
          <p:nvPr/>
        </p:nvSpPr>
        <p:spPr>
          <a:xfrm>
            <a:off x="691375" y="1033562"/>
            <a:ext cx="1735874" cy="307777"/>
          </a:xfrm>
          <a:prstGeom prst="rect">
            <a:avLst/>
          </a:prstGeom>
          <a:noFill/>
        </p:spPr>
        <p:txBody>
          <a:bodyPr wrap="square" rtlCol="0">
            <a:spAutoFit/>
          </a:bodyPr>
          <a:lstStyle/>
          <a:p>
            <a:r>
              <a:rPr lang="en-GB" sz="1400" b="1" dirty="0">
                <a:solidFill>
                  <a:schemeClr val="accent1"/>
                </a:solidFill>
              </a:rPr>
              <a:t>Definition</a:t>
            </a:r>
            <a:endParaRPr lang="en-GB" sz="1400" dirty="0">
              <a:solidFill>
                <a:schemeClr val="accent1"/>
              </a:solidFill>
            </a:endParaRPr>
          </a:p>
        </p:txBody>
      </p:sp>
      <p:sp>
        <p:nvSpPr>
          <p:cNvPr id="48" name="TextBox 47">
            <a:extLst>
              <a:ext uri="{FF2B5EF4-FFF2-40B4-BE49-F238E27FC236}">
                <a16:creationId xmlns:a16="http://schemas.microsoft.com/office/drawing/2014/main" id="{AC7B6512-7D8E-00A2-621D-2C495A80B439}"/>
              </a:ext>
            </a:extLst>
          </p:cNvPr>
          <p:cNvSpPr txBox="1"/>
          <p:nvPr/>
        </p:nvSpPr>
        <p:spPr>
          <a:xfrm>
            <a:off x="691375" y="1571233"/>
            <a:ext cx="1735874" cy="307777"/>
          </a:xfrm>
          <a:prstGeom prst="rect">
            <a:avLst/>
          </a:prstGeom>
          <a:noFill/>
        </p:spPr>
        <p:txBody>
          <a:bodyPr wrap="square" rtlCol="0">
            <a:spAutoFit/>
          </a:bodyPr>
          <a:lstStyle/>
          <a:p>
            <a:r>
              <a:rPr lang="en-GB" sz="1400" b="1" dirty="0">
                <a:solidFill>
                  <a:schemeClr val="accent1"/>
                </a:solidFill>
              </a:rPr>
              <a:t>Formula</a:t>
            </a:r>
            <a:endParaRPr lang="en-GB" sz="1400" dirty="0">
              <a:solidFill>
                <a:schemeClr val="accent1"/>
              </a:solidFill>
            </a:endParaRPr>
          </a:p>
        </p:txBody>
      </p:sp>
      <p:sp>
        <p:nvSpPr>
          <p:cNvPr id="49" name="TextBox 48">
            <a:extLst>
              <a:ext uri="{FF2B5EF4-FFF2-40B4-BE49-F238E27FC236}">
                <a16:creationId xmlns:a16="http://schemas.microsoft.com/office/drawing/2014/main" id="{663CEC84-FCE6-58D6-EF1A-9BDF984842FC}"/>
              </a:ext>
            </a:extLst>
          </p:cNvPr>
          <p:cNvSpPr txBox="1"/>
          <p:nvPr/>
        </p:nvSpPr>
        <p:spPr>
          <a:xfrm>
            <a:off x="2154233" y="1063401"/>
            <a:ext cx="6298391" cy="400110"/>
          </a:xfrm>
          <a:prstGeom prst="rect">
            <a:avLst/>
          </a:prstGeom>
          <a:noFill/>
        </p:spPr>
        <p:txBody>
          <a:bodyPr wrap="square" rtlCol="0">
            <a:spAutoFit/>
          </a:bodyPr>
          <a:lstStyle/>
          <a:p>
            <a:r>
              <a:rPr lang="en-US" sz="1000" i="1" dirty="0"/>
              <a:t>The aggregate replacement ratio is gross median individual pension income of the population aged 65–74 relative to gross median individual earnings from work of the population aged 55–64, excluding other social benefits</a:t>
            </a:r>
          </a:p>
        </p:txBody>
      </p:sp>
      <p:pic>
        <p:nvPicPr>
          <p:cNvPr id="51" name="Picture 50">
            <a:extLst>
              <a:ext uri="{FF2B5EF4-FFF2-40B4-BE49-F238E27FC236}">
                <a16:creationId xmlns:a16="http://schemas.microsoft.com/office/drawing/2014/main" id="{136A5478-462D-080A-8A1D-7CE6635A2E45}"/>
              </a:ext>
            </a:extLst>
          </p:cNvPr>
          <p:cNvPicPr>
            <a:picLocks noChangeAspect="1"/>
          </p:cNvPicPr>
          <p:nvPr/>
        </p:nvPicPr>
        <p:blipFill>
          <a:blip r:embed="rId2"/>
          <a:stretch>
            <a:fillRect/>
          </a:stretch>
        </p:blipFill>
        <p:spPr>
          <a:xfrm>
            <a:off x="2154233" y="1533685"/>
            <a:ext cx="2724151" cy="487479"/>
          </a:xfrm>
          <a:prstGeom prst="rect">
            <a:avLst/>
          </a:prstGeom>
        </p:spPr>
      </p:pic>
      <p:sp>
        <p:nvSpPr>
          <p:cNvPr id="52" name="TextBox 51">
            <a:extLst>
              <a:ext uri="{FF2B5EF4-FFF2-40B4-BE49-F238E27FC236}">
                <a16:creationId xmlns:a16="http://schemas.microsoft.com/office/drawing/2014/main" id="{398F97FF-6052-4854-5DD3-EC8819341F08}"/>
              </a:ext>
            </a:extLst>
          </p:cNvPr>
          <p:cNvSpPr txBox="1"/>
          <p:nvPr/>
        </p:nvSpPr>
        <p:spPr>
          <a:xfrm>
            <a:off x="691375" y="2291670"/>
            <a:ext cx="1735874" cy="307777"/>
          </a:xfrm>
          <a:prstGeom prst="rect">
            <a:avLst/>
          </a:prstGeom>
          <a:noFill/>
        </p:spPr>
        <p:txBody>
          <a:bodyPr wrap="square" rtlCol="0">
            <a:spAutoFit/>
          </a:bodyPr>
          <a:lstStyle/>
          <a:p>
            <a:r>
              <a:rPr lang="en-GB" sz="1400" b="1" dirty="0">
                <a:solidFill>
                  <a:schemeClr val="accent1"/>
                </a:solidFill>
              </a:rPr>
              <a:t>Datasets</a:t>
            </a:r>
            <a:endParaRPr lang="en-GB" sz="1400" dirty="0">
              <a:solidFill>
                <a:schemeClr val="accent1"/>
              </a:solidFill>
            </a:endParaRPr>
          </a:p>
        </p:txBody>
      </p:sp>
      <p:sp>
        <p:nvSpPr>
          <p:cNvPr id="53" name="TextBox 52">
            <a:extLst>
              <a:ext uri="{FF2B5EF4-FFF2-40B4-BE49-F238E27FC236}">
                <a16:creationId xmlns:a16="http://schemas.microsoft.com/office/drawing/2014/main" id="{1D4CA743-ABEB-A9F8-ABCE-AE1217683CFC}"/>
              </a:ext>
            </a:extLst>
          </p:cNvPr>
          <p:cNvSpPr txBox="1"/>
          <p:nvPr/>
        </p:nvSpPr>
        <p:spPr>
          <a:xfrm>
            <a:off x="2154233" y="2338020"/>
            <a:ext cx="6298391" cy="2400657"/>
          </a:xfrm>
          <a:prstGeom prst="rect">
            <a:avLst/>
          </a:prstGeom>
          <a:noFill/>
        </p:spPr>
        <p:txBody>
          <a:bodyPr wrap="square" rtlCol="0">
            <a:spAutoFit/>
          </a:bodyPr>
          <a:lstStyle/>
          <a:p>
            <a:pPr marL="171450" indent="-171450">
              <a:buFont typeface="Arial" panose="020B0604020202020204" pitchFamily="34" charset="0"/>
              <a:buChar char="•"/>
            </a:pPr>
            <a:r>
              <a:rPr lang="en-US" sz="1000" dirty="0"/>
              <a:t>European Union: 2014-2025</a:t>
            </a:r>
          </a:p>
          <a:p>
            <a:pPr marL="514350" lvl="1" indent="-171450">
              <a:buFont typeface="Arial" panose="020B0604020202020204" pitchFamily="34" charset="0"/>
              <a:buChar char="•"/>
            </a:pPr>
            <a:r>
              <a:rPr lang="en-US" sz="1000" dirty="0">
                <a:hlinkClick r:id="rId3"/>
              </a:rPr>
              <a:t>https://ec.europa.eu/eurostat/databrowser/view/tespm100__custom_20473233/default/table</a:t>
            </a:r>
            <a:endParaRPr lang="en-US" sz="1000" dirty="0"/>
          </a:p>
          <a:p>
            <a:pPr marL="171450" indent="-171450">
              <a:buFont typeface="Arial" panose="020B0604020202020204" pitchFamily="34" charset="0"/>
              <a:buChar char="•"/>
            </a:pPr>
            <a:r>
              <a:rPr lang="en-US" sz="1000" dirty="0"/>
              <a:t>OECD 2013</a:t>
            </a:r>
          </a:p>
          <a:p>
            <a:pPr marL="514350" lvl="1" indent="-171450">
              <a:buFont typeface="Arial" panose="020B0604020202020204" pitchFamily="34" charset="0"/>
              <a:buChar char="•"/>
            </a:pPr>
            <a:r>
              <a:rPr lang="en-US" sz="1000" dirty="0">
                <a:hlinkClick r:id="rId4"/>
              </a:rPr>
              <a:t>https://www.oecd.org/content/dam/oecd/en/publications/reports/2013/11/pensions-at-a-glance-2013_g1g3404e/pension_glance-2013-en.pdf</a:t>
            </a:r>
            <a:endParaRPr lang="en-US" sz="1000" dirty="0"/>
          </a:p>
          <a:p>
            <a:pPr marL="171450" indent="-171450">
              <a:buFont typeface="Arial" panose="020B0604020202020204" pitchFamily="34" charset="0"/>
              <a:buChar char="•"/>
            </a:pPr>
            <a:r>
              <a:rPr lang="en-US" sz="1000" dirty="0"/>
              <a:t>OECD 2012</a:t>
            </a:r>
          </a:p>
          <a:p>
            <a:pPr marL="514350" lvl="1" indent="-171450">
              <a:buFont typeface="Arial" panose="020B0604020202020204" pitchFamily="34" charset="0"/>
              <a:buChar char="•"/>
            </a:pPr>
            <a:r>
              <a:rPr lang="en-US" sz="1000" dirty="0">
                <a:hlinkClick r:id="rId5"/>
              </a:rPr>
              <a:t>https://www.oecd.org/content/dam/oecd/en/publications/reports/2012/06/oecd-pensions-outlook-2012_g1g1aeb6/9789264169401-en.pdf</a:t>
            </a:r>
            <a:endParaRPr lang="en-US" sz="1000" dirty="0"/>
          </a:p>
          <a:p>
            <a:pPr marL="171450" indent="-171450">
              <a:buFont typeface="Arial" panose="020B0604020202020204" pitchFamily="34" charset="0"/>
              <a:buChar char="•"/>
            </a:pPr>
            <a:r>
              <a:rPr lang="en-US" sz="1000" dirty="0"/>
              <a:t>OECD 2011</a:t>
            </a:r>
          </a:p>
          <a:p>
            <a:pPr marL="514350" lvl="1" indent="-171450">
              <a:buFont typeface="Arial" panose="020B0604020202020204" pitchFamily="34" charset="0"/>
              <a:buChar char="•"/>
            </a:pPr>
            <a:r>
              <a:rPr lang="en-US" sz="1000" dirty="0">
                <a:hlinkClick r:id="rId6"/>
              </a:rPr>
              <a:t>https://www.oecd.org/content/dam/oecd/en/publications/reports/2011/03/pensions-at-a-glance-2011_g1g12126/pension_glance-2011-en.pdf</a:t>
            </a:r>
            <a:endParaRPr lang="en-US" sz="1000" dirty="0"/>
          </a:p>
          <a:p>
            <a:pPr marL="171450" indent="-171450">
              <a:buFont typeface="Arial" panose="020B0604020202020204" pitchFamily="34" charset="0"/>
              <a:buChar char="•"/>
            </a:pPr>
            <a:r>
              <a:rPr lang="en-US" sz="1000" dirty="0"/>
              <a:t>OECD 2009</a:t>
            </a:r>
          </a:p>
          <a:p>
            <a:pPr marL="514350" lvl="1" indent="-171450">
              <a:buFont typeface="Arial" panose="020B0604020202020204" pitchFamily="34" charset="0"/>
              <a:buChar char="•"/>
            </a:pPr>
            <a:r>
              <a:rPr lang="en-US" sz="1000" dirty="0">
                <a:hlinkClick r:id="rId7"/>
              </a:rPr>
              <a:t>https://www.oecd.org/content/dam/oecd/en/publications/reports/2009/09/pensions-at-a-glance-2009_g1ghab79/pension_glance-2009-en.pdf</a:t>
            </a:r>
            <a:endParaRPr lang="en-US" sz="1000" dirty="0"/>
          </a:p>
          <a:p>
            <a:pPr marL="514350" lvl="1" indent="-171450">
              <a:buFont typeface="Arial" panose="020B0604020202020204" pitchFamily="34" charset="0"/>
              <a:buChar char="•"/>
            </a:pPr>
            <a:endParaRPr lang="en-US" sz="1000" dirty="0"/>
          </a:p>
        </p:txBody>
      </p:sp>
    </p:spTree>
    <p:extLst>
      <p:ext uri="{BB962C8B-B14F-4D97-AF65-F5344CB8AC3E}">
        <p14:creationId xmlns:p14="http://schemas.microsoft.com/office/powerpoint/2010/main" val="78639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FA97-43E8-D0E6-6B86-E05207ECCC8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6297291-5381-F8AD-AE00-C9300F7E694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68AA9573-8466-7FA2-417E-35C6E5957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D9042D6-9398-C706-0F36-2ABFF829C9A1}"/>
              </a:ext>
            </a:extLst>
          </p:cNvPr>
          <p:cNvSpPr>
            <a:spLocks noGrp="1"/>
          </p:cNvSpPr>
          <p:nvPr>
            <p:ph type="title"/>
          </p:nvPr>
        </p:nvSpPr>
        <p:spPr/>
        <p:txBody>
          <a:bodyPr vert="horz" rIns="0"/>
          <a:lstStyle/>
          <a:p>
            <a:r>
              <a:rPr lang="en-US" dirty="0"/>
              <a:t>Separating “where” and “how much”</a:t>
            </a:r>
            <a:endParaRPr lang="de-LI" dirty="0"/>
          </a:p>
        </p:txBody>
      </p:sp>
      <p:sp>
        <p:nvSpPr>
          <p:cNvPr id="3" name="Slide Number Placeholder 2">
            <a:extLst>
              <a:ext uri="{FF2B5EF4-FFF2-40B4-BE49-F238E27FC236}">
                <a16:creationId xmlns:a16="http://schemas.microsoft.com/office/drawing/2014/main" id="{CDDBF973-AC88-473C-9F10-AA539EAB0B8C}"/>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13</a:t>
            </a:fld>
            <a:endParaRPr lang="en-GB"/>
          </a:p>
        </p:txBody>
      </p:sp>
      <p:sp>
        <p:nvSpPr>
          <p:cNvPr id="5" name="Rectangle 4">
            <a:extLst>
              <a:ext uri="{FF2B5EF4-FFF2-40B4-BE49-F238E27FC236}">
                <a16:creationId xmlns:a16="http://schemas.microsoft.com/office/drawing/2014/main" id="{E66935E1-D07A-FE6D-7927-554743B2B105}"/>
              </a:ext>
            </a:extLst>
          </p:cNvPr>
          <p:cNvSpPr/>
          <p:nvPr/>
        </p:nvSpPr>
        <p:spPr>
          <a:xfrm>
            <a:off x="2215437" y="837739"/>
            <a:ext cx="5904770" cy="24622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Pension </a:t>
            </a:r>
            <a:r>
              <a:rPr lang="de-LI" sz="1100" dirty="0" err="1"/>
              <a:t>system</a:t>
            </a:r>
            <a:endParaRPr lang="en-GB" sz="1100" dirty="0"/>
          </a:p>
        </p:txBody>
      </p:sp>
      <p:sp>
        <p:nvSpPr>
          <p:cNvPr id="74" name="TextBox 73">
            <a:extLst>
              <a:ext uri="{FF2B5EF4-FFF2-40B4-BE49-F238E27FC236}">
                <a16:creationId xmlns:a16="http://schemas.microsoft.com/office/drawing/2014/main" id="{2FB761E4-775B-B8B3-470D-12FD14DCBCDB}"/>
              </a:ext>
            </a:extLst>
          </p:cNvPr>
          <p:cNvSpPr txBox="1"/>
          <p:nvPr/>
        </p:nvSpPr>
        <p:spPr>
          <a:xfrm>
            <a:off x="2089580" y="3499535"/>
            <a:ext cx="2731802" cy="1015663"/>
          </a:xfrm>
          <a:prstGeom prst="rect">
            <a:avLst/>
          </a:prstGeom>
          <a:noFill/>
        </p:spPr>
        <p:txBody>
          <a:bodyPr wrap="square" rtlCol="0">
            <a:spAutoFit/>
          </a:bodyPr>
          <a:lstStyle/>
          <a:p>
            <a:pPr marL="171450" indent="-171450">
              <a:buFont typeface="Arial" panose="020B0604020202020204" pitchFamily="34" charset="0"/>
              <a:buChar char="•"/>
            </a:pPr>
            <a:r>
              <a:rPr lang="en-US" sz="1000" dirty="0"/>
              <a:t>Proxies the observable stock of funded retirement wealth in the economy</a:t>
            </a:r>
          </a:p>
          <a:p>
            <a:pPr marL="171450" indent="-171450">
              <a:buFont typeface="Arial" panose="020B0604020202020204" pitchFamily="34" charset="0"/>
              <a:buChar char="•"/>
            </a:pPr>
            <a:r>
              <a:rPr lang="en-US" sz="1000" dirty="0"/>
              <a:t>Reflects the outcome of asset allocation, not just retirement saving incentives</a:t>
            </a:r>
          </a:p>
          <a:p>
            <a:pPr marL="171450" indent="-171450">
              <a:buFont typeface="Arial" panose="020B0604020202020204" pitchFamily="34" charset="0"/>
              <a:buChar char="•"/>
            </a:pPr>
            <a:r>
              <a:rPr lang="en-US" sz="1000" dirty="0"/>
              <a:t>Multicollinearity threat (can move with broader financial development)</a:t>
            </a:r>
          </a:p>
        </p:txBody>
      </p:sp>
      <p:sp>
        <p:nvSpPr>
          <p:cNvPr id="76" name="TextBox 75">
            <a:extLst>
              <a:ext uri="{FF2B5EF4-FFF2-40B4-BE49-F238E27FC236}">
                <a16:creationId xmlns:a16="http://schemas.microsoft.com/office/drawing/2014/main" id="{53FEC240-5835-F262-0E25-2E73969C5DCE}"/>
              </a:ext>
            </a:extLst>
          </p:cNvPr>
          <p:cNvSpPr txBox="1"/>
          <p:nvPr/>
        </p:nvSpPr>
        <p:spPr>
          <a:xfrm>
            <a:off x="705139" y="3499535"/>
            <a:ext cx="1116734" cy="246221"/>
          </a:xfrm>
          <a:prstGeom prst="rect">
            <a:avLst/>
          </a:prstGeom>
          <a:noFill/>
        </p:spPr>
        <p:txBody>
          <a:bodyPr wrap="square" rtlCol="0">
            <a:spAutoFit/>
          </a:bodyPr>
          <a:lstStyle/>
          <a:p>
            <a:r>
              <a:rPr lang="de-LI" sz="1000" b="1" dirty="0">
                <a:solidFill>
                  <a:schemeClr val="accent1"/>
                </a:solidFill>
              </a:rPr>
              <a:t>Limitations</a:t>
            </a:r>
            <a:endParaRPr lang="en-GB" sz="1000" dirty="0">
              <a:solidFill>
                <a:schemeClr val="accent1"/>
              </a:solidFill>
            </a:endParaRPr>
          </a:p>
        </p:txBody>
      </p:sp>
      <p:sp>
        <p:nvSpPr>
          <p:cNvPr id="6" name="Rectangle 5">
            <a:extLst>
              <a:ext uri="{FF2B5EF4-FFF2-40B4-BE49-F238E27FC236}">
                <a16:creationId xmlns:a16="http://schemas.microsoft.com/office/drawing/2014/main" id="{90D29BF8-8C46-3AC8-9002-A8596C74870A}"/>
              </a:ext>
            </a:extLst>
          </p:cNvPr>
          <p:cNvSpPr/>
          <p:nvPr/>
        </p:nvSpPr>
        <p:spPr>
          <a:xfrm>
            <a:off x="2215437" y="3184332"/>
            <a:ext cx="2731802" cy="246222"/>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Pension Assets / GDP</a:t>
            </a:r>
          </a:p>
        </p:txBody>
      </p:sp>
      <p:sp>
        <p:nvSpPr>
          <p:cNvPr id="7" name="Rectangle 6">
            <a:extLst>
              <a:ext uri="{FF2B5EF4-FFF2-40B4-BE49-F238E27FC236}">
                <a16:creationId xmlns:a16="http://schemas.microsoft.com/office/drawing/2014/main" id="{FB2557F0-08B0-12DD-5342-41E021A0E623}"/>
              </a:ext>
            </a:extLst>
          </p:cNvPr>
          <p:cNvSpPr/>
          <p:nvPr/>
        </p:nvSpPr>
        <p:spPr>
          <a:xfrm>
            <a:off x="5388405" y="3184332"/>
            <a:ext cx="2731802" cy="246222"/>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err="1"/>
              <a:t>Replacement</a:t>
            </a:r>
            <a:r>
              <a:rPr lang="de-LI" sz="1100" dirty="0"/>
              <a:t> Ratio</a:t>
            </a:r>
            <a:endParaRPr lang="en-GB" sz="1100" dirty="0"/>
          </a:p>
        </p:txBody>
      </p:sp>
      <p:grpSp>
        <p:nvGrpSpPr>
          <p:cNvPr id="19" name="Group 18">
            <a:extLst>
              <a:ext uri="{FF2B5EF4-FFF2-40B4-BE49-F238E27FC236}">
                <a16:creationId xmlns:a16="http://schemas.microsoft.com/office/drawing/2014/main" id="{34C1EAE1-8F7C-0771-889E-E6EF861AA814}"/>
              </a:ext>
            </a:extLst>
          </p:cNvPr>
          <p:cNvGrpSpPr/>
          <p:nvPr/>
        </p:nvGrpSpPr>
        <p:grpSpPr>
          <a:xfrm>
            <a:off x="705139" y="1281357"/>
            <a:ext cx="7426371" cy="1503959"/>
            <a:chOff x="705139" y="2131749"/>
            <a:chExt cx="7426371" cy="1503959"/>
          </a:xfrm>
        </p:grpSpPr>
        <p:sp>
          <p:nvSpPr>
            <p:cNvPr id="13" name="TextBox 12">
              <a:extLst>
                <a:ext uri="{FF2B5EF4-FFF2-40B4-BE49-F238E27FC236}">
                  <a16:creationId xmlns:a16="http://schemas.microsoft.com/office/drawing/2014/main" id="{813B5EDC-D37C-4037-7083-09D01317C9E3}"/>
                </a:ext>
              </a:extLst>
            </p:cNvPr>
            <p:cNvSpPr txBox="1"/>
            <p:nvPr/>
          </p:nvSpPr>
          <p:spPr>
            <a:xfrm>
              <a:off x="2089580" y="2504148"/>
              <a:ext cx="2731802" cy="246221"/>
            </a:xfrm>
            <a:prstGeom prst="rect">
              <a:avLst/>
            </a:prstGeom>
            <a:noFill/>
          </p:spPr>
          <p:txBody>
            <a:bodyPr wrap="square" rtlCol="0">
              <a:spAutoFit/>
            </a:bodyPr>
            <a:lstStyle/>
            <a:p>
              <a:pPr algn="ctr"/>
              <a:r>
                <a:rPr lang="en-US" sz="1000" dirty="0">
                  <a:solidFill>
                    <a:schemeClr val="accent1"/>
                  </a:solidFill>
                </a:rPr>
                <a:t>→</a:t>
              </a:r>
              <a:r>
                <a:rPr lang="en-US" sz="1000" dirty="0"/>
                <a:t> </a:t>
              </a:r>
              <a:r>
                <a:rPr lang="en-US" sz="1000" i="1" dirty="0">
                  <a:solidFill>
                    <a:schemeClr val="accent1"/>
                  </a:solidFill>
                </a:rPr>
                <a:t>Affects and determines wealth accumulation</a:t>
              </a:r>
              <a:endParaRPr lang="en-CH" sz="1000" i="1" dirty="0">
                <a:solidFill>
                  <a:schemeClr val="accent1"/>
                </a:solidFill>
              </a:endParaRPr>
            </a:p>
          </p:txBody>
        </p:sp>
        <p:sp>
          <p:nvSpPr>
            <p:cNvPr id="18" name="TextBox 17">
              <a:extLst>
                <a:ext uri="{FF2B5EF4-FFF2-40B4-BE49-F238E27FC236}">
                  <a16:creationId xmlns:a16="http://schemas.microsoft.com/office/drawing/2014/main" id="{B75E4123-F65F-4023-46D9-8ABDEDF1C9BB}"/>
                </a:ext>
              </a:extLst>
            </p:cNvPr>
            <p:cNvSpPr txBox="1"/>
            <p:nvPr/>
          </p:nvSpPr>
          <p:spPr>
            <a:xfrm>
              <a:off x="2089580"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a:t>How much wealth needs to be accumulated for retirement?</a:t>
              </a:r>
              <a:endParaRPr lang="en-CH" sz="1000" dirty="0"/>
            </a:p>
          </p:txBody>
        </p:sp>
        <p:sp>
          <p:nvSpPr>
            <p:cNvPr id="22" name="TextBox 21">
              <a:extLst>
                <a:ext uri="{FF2B5EF4-FFF2-40B4-BE49-F238E27FC236}">
                  <a16:creationId xmlns:a16="http://schemas.microsoft.com/office/drawing/2014/main" id="{F6E479E5-EDA7-408A-9842-F695218A04DA}"/>
                </a:ext>
              </a:extLst>
            </p:cNvPr>
            <p:cNvSpPr txBox="1"/>
            <p:nvPr/>
          </p:nvSpPr>
          <p:spPr>
            <a:xfrm>
              <a:off x="705139" y="2131749"/>
              <a:ext cx="1116734" cy="246221"/>
            </a:xfrm>
            <a:prstGeom prst="rect">
              <a:avLst/>
            </a:prstGeom>
            <a:noFill/>
          </p:spPr>
          <p:txBody>
            <a:bodyPr wrap="square" rtlCol="0">
              <a:spAutoFit/>
            </a:bodyPr>
            <a:lstStyle/>
            <a:p>
              <a:r>
                <a:rPr lang="de-LI" sz="1000" b="1" dirty="0">
                  <a:solidFill>
                    <a:schemeClr val="accent1"/>
                  </a:solidFill>
                </a:rPr>
                <a:t>Key question</a:t>
              </a:r>
              <a:endParaRPr lang="en-GB" sz="1000" dirty="0">
                <a:solidFill>
                  <a:schemeClr val="accent1"/>
                </a:solidFill>
              </a:endParaRPr>
            </a:p>
          </p:txBody>
        </p:sp>
        <p:sp>
          <p:nvSpPr>
            <p:cNvPr id="23" name="TextBox 22">
              <a:extLst>
                <a:ext uri="{FF2B5EF4-FFF2-40B4-BE49-F238E27FC236}">
                  <a16:creationId xmlns:a16="http://schemas.microsoft.com/office/drawing/2014/main" id="{317DE886-3F67-1122-43BE-B034E5094012}"/>
                </a:ext>
              </a:extLst>
            </p:cNvPr>
            <p:cNvSpPr txBox="1"/>
            <p:nvPr/>
          </p:nvSpPr>
          <p:spPr>
            <a:xfrm>
              <a:off x="2089580"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t>Determines retirement saving needs</a:t>
              </a:r>
              <a:endParaRPr lang="en-CH" sz="1000" dirty="0"/>
            </a:p>
          </p:txBody>
        </p:sp>
        <p:sp>
          <p:nvSpPr>
            <p:cNvPr id="39" name="TextBox 38">
              <a:extLst>
                <a:ext uri="{FF2B5EF4-FFF2-40B4-BE49-F238E27FC236}">
                  <a16:creationId xmlns:a16="http://schemas.microsoft.com/office/drawing/2014/main" id="{3E9CE8A4-7BE1-82FF-F536-16C871342393}"/>
                </a:ext>
              </a:extLst>
            </p:cNvPr>
            <p:cNvSpPr txBox="1"/>
            <p:nvPr/>
          </p:nvSpPr>
          <p:spPr>
            <a:xfrm>
              <a:off x="705139" y="2871112"/>
              <a:ext cx="1116734" cy="246221"/>
            </a:xfrm>
            <a:prstGeom prst="rect">
              <a:avLst/>
            </a:prstGeom>
            <a:noFill/>
          </p:spPr>
          <p:txBody>
            <a:bodyPr wrap="square" rtlCol="0">
              <a:spAutoFit/>
            </a:bodyPr>
            <a:lstStyle/>
            <a:p>
              <a:r>
                <a:rPr lang="de-LI" sz="1000" b="1" dirty="0">
                  <a:solidFill>
                    <a:schemeClr val="accent1"/>
                  </a:solidFill>
                </a:rPr>
                <a:t>Mechanism</a:t>
              </a:r>
              <a:endParaRPr lang="en-GB" sz="1000" dirty="0">
                <a:solidFill>
                  <a:schemeClr val="accent1"/>
                </a:solidFill>
              </a:endParaRPr>
            </a:p>
          </p:txBody>
        </p:sp>
        <p:sp>
          <p:nvSpPr>
            <p:cNvPr id="71" name="TextBox 70">
              <a:extLst>
                <a:ext uri="{FF2B5EF4-FFF2-40B4-BE49-F238E27FC236}">
                  <a16:creationId xmlns:a16="http://schemas.microsoft.com/office/drawing/2014/main" id="{C0CE3368-498B-61B2-E592-29215A9C5280}"/>
                </a:ext>
              </a:extLst>
            </p:cNvPr>
            <p:cNvSpPr txBox="1"/>
            <p:nvPr/>
          </p:nvSpPr>
          <p:spPr>
            <a:xfrm>
              <a:off x="2089580" y="3235598"/>
              <a:ext cx="2731802" cy="246221"/>
            </a:xfrm>
            <a:prstGeom prst="rect">
              <a:avLst/>
            </a:prstGeom>
            <a:noFill/>
          </p:spPr>
          <p:txBody>
            <a:bodyPr wrap="square" rtlCol="0">
              <a:spAutoFit/>
            </a:bodyPr>
            <a:lstStyle/>
            <a:p>
              <a:pPr algn="ctr"/>
              <a:r>
                <a:rPr lang="en-US" sz="1000" dirty="0">
                  <a:solidFill>
                    <a:srgbClr val="C00000"/>
                  </a:solidFill>
                </a:rPr>
                <a:t>Indirect</a:t>
              </a:r>
              <a:endParaRPr lang="en-CH" sz="1000" dirty="0">
                <a:solidFill>
                  <a:srgbClr val="C00000"/>
                </a:solidFill>
              </a:endParaRPr>
            </a:p>
          </p:txBody>
        </p:sp>
        <p:sp>
          <p:nvSpPr>
            <p:cNvPr id="73" name="TextBox 72">
              <a:extLst>
                <a:ext uri="{FF2B5EF4-FFF2-40B4-BE49-F238E27FC236}">
                  <a16:creationId xmlns:a16="http://schemas.microsoft.com/office/drawing/2014/main" id="{025F380D-A8C2-3CA6-D52A-B38778C7B388}"/>
                </a:ext>
              </a:extLst>
            </p:cNvPr>
            <p:cNvSpPr txBox="1"/>
            <p:nvPr/>
          </p:nvSpPr>
          <p:spPr>
            <a:xfrm>
              <a:off x="705139" y="3235598"/>
              <a:ext cx="1116734" cy="400110"/>
            </a:xfrm>
            <a:prstGeom prst="rect">
              <a:avLst/>
            </a:prstGeom>
            <a:noFill/>
          </p:spPr>
          <p:txBody>
            <a:bodyPr wrap="square" rtlCol="0">
              <a:spAutoFit/>
            </a:bodyPr>
            <a:lstStyle/>
            <a:p>
              <a:r>
                <a:rPr lang="de-LI" sz="1000" b="1" dirty="0">
                  <a:solidFill>
                    <a:schemeClr val="accent1"/>
                  </a:solidFill>
                </a:rPr>
                <a:t>Link to bank deposits</a:t>
              </a:r>
              <a:endParaRPr lang="en-GB" sz="1000" dirty="0">
                <a:solidFill>
                  <a:schemeClr val="accent1"/>
                </a:solidFill>
              </a:endParaRPr>
            </a:p>
          </p:txBody>
        </p:sp>
        <p:sp>
          <p:nvSpPr>
            <p:cNvPr id="10" name="TextBox 9">
              <a:extLst>
                <a:ext uri="{FF2B5EF4-FFF2-40B4-BE49-F238E27FC236}">
                  <a16:creationId xmlns:a16="http://schemas.microsoft.com/office/drawing/2014/main" id="{9ED76238-0E57-5B23-50A4-CF174C1A3090}"/>
                </a:ext>
              </a:extLst>
            </p:cNvPr>
            <p:cNvSpPr txBox="1"/>
            <p:nvPr/>
          </p:nvSpPr>
          <p:spPr>
            <a:xfrm>
              <a:off x="5399708" y="2504148"/>
              <a:ext cx="2731802" cy="246221"/>
            </a:xfrm>
            <a:prstGeom prst="rect">
              <a:avLst/>
            </a:prstGeom>
            <a:noFill/>
          </p:spPr>
          <p:txBody>
            <a:bodyPr wrap="square" rtlCol="0">
              <a:spAutoFit/>
            </a:bodyPr>
            <a:lstStyle/>
            <a:p>
              <a:pPr algn="ctr"/>
              <a:r>
                <a:rPr lang="en-US" sz="1000" dirty="0">
                  <a:solidFill>
                    <a:schemeClr val="accent1"/>
                  </a:solidFill>
                </a:rPr>
                <a:t>→</a:t>
              </a:r>
              <a:r>
                <a:rPr lang="en-US" sz="1000" dirty="0"/>
                <a:t> </a:t>
              </a:r>
              <a:r>
                <a:rPr lang="en-US" sz="1000" i="1" dirty="0">
                  <a:solidFill>
                    <a:schemeClr val="accent1"/>
                  </a:solidFill>
                </a:rPr>
                <a:t>Affects and determines wealth accumulation</a:t>
              </a:r>
              <a:endParaRPr lang="en-CH" sz="1000" i="1" dirty="0">
                <a:solidFill>
                  <a:schemeClr val="accent1"/>
                </a:solidFill>
              </a:endParaRPr>
            </a:p>
          </p:txBody>
        </p:sp>
        <p:sp>
          <p:nvSpPr>
            <p:cNvPr id="11" name="TextBox 10">
              <a:extLst>
                <a:ext uri="{FF2B5EF4-FFF2-40B4-BE49-F238E27FC236}">
                  <a16:creationId xmlns:a16="http://schemas.microsoft.com/office/drawing/2014/main" id="{E9C71D20-4949-C68F-D9A4-0B0384E15DD1}"/>
                </a:ext>
              </a:extLst>
            </p:cNvPr>
            <p:cNvSpPr txBox="1"/>
            <p:nvPr/>
          </p:nvSpPr>
          <p:spPr>
            <a:xfrm>
              <a:off x="5399708"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a:t>How much wealth needs to be accumulated for retirement given public “generosity”</a:t>
              </a:r>
              <a:endParaRPr lang="en-CH" sz="1000" dirty="0"/>
            </a:p>
          </p:txBody>
        </p:sp>
        <p:sp>
          <p:nvSpPr>
            <p:cNvPr id="14" name="TextBox 13">
              <a:extLst>
                <a:ext uri="{FF2B5EF4-FFF2-40B4-BE49-F238E27FC236}">
                  <a16:creationId xmlns:a16="http://schemas.microsoft.com/office/drawing/2014/main" id="{5CBABD65-2247-98DB-27EF-93B45D1652C3}"/>
                </a:ext>
              </a:extLst>
            </p:cNvPr>
            <p:cNvSpPr txBox="1"/>
            <p:nvPr/>
          </p:nvSpPr>
          <p:spPr>
            <a:xfrm>
              <a:off x="5399708"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t>Determines retirement saving needs</a:t>
              </a:r>
              <a:endParaRPr lang="en-CH" sz="1000" dirty="0"/>
            </a:p>
          </p:txBody>
        </p:sp>
        <p:sp>
          <p:nvSpPr>
            <p:cNvPr id="16" name="TextBox 15">
              <a:extLst>
                <a:ext uri="{FF2B5EF4-FFF2-40B4-BE49-F238E27FC236}">
                  <a16:creationId xmlns:a16="http://schemas.microsoft.com/office/drawing/2014/main" id="{9127603D-FAB5-4B1B-C008-49EBE8A0E555}"/>
                </a:ext>
              </a:extLst>
            </p:cNvPr>
            <p:cNvSpPr txBox="1"/>
            <p:nvPr/>
          </p:nvSpPr>
          <p:spPr>
            <a:xfrm>
              <a:off x="5399708" y="3235598"/>
              <a:ext cx="2731802" cy="246221"/>
            </a:xfrm>
            <a:prstGeom prst="rect">
              <a:avLst/>
            </a:prstGeom>
            <a:noFill/>
          </p:spPr>
          <p:txBody>
            <a:bodyPr wrap="square" rtlCol="0">
              <a:spAutoFit/>
            </a:bodyPr>
            <a:lstStyle/>
            <a:p>
              <a:pPr algn="ctr"/>
              <a:r>
                <a:rPr lang="en-US" sz="1000" dirty="0">
                  <a:solidFill>
                    <a:srgbClr val="C00000"/>
                  </a:solidFill>
                </a:rPr>
                <a:t>Indirect</a:t>
              </a:r>
              <a:endParaRPr lang="en-CH" sz="1000" dirty="0">
                <a:solidFill>
                  <a:srgbClr val="C00000"/>
                </a:solidFill>
              </a:endParaRPr>
            </a:p>
          </p:txBody>
        </p:sp>
      </p:grpSp>
      <p:sp>
        <p:nvSpPr>
          <p:cNvPr id="17" name="TextBox 16">
            <a:extLst>
              <a:ext uri="{FF2B5EF4-FFF2-40B4-BE49-F238E27FC236}">
                <a16:creationId xmlns:a16="http://schemas.microsoft.com/office/drawing/2014/main" id="{CF29ABF1-B3B2-2ECF-ABF7-740864517C7D}"/>
              </a:ext>
            </a:extLst>
          </p:cNvPr>
          <p:cNvSpPr txBox="1"/>
          <p:nvPr/>
        </p:nvSpPr>
        <p:spPr>
          <a:xfrm>
            <a:off x="5399708" y="3499535"/>
            <a:ext cx="2731802" cy="1169551"/>
          </a:xfrm>
          <a:prstGeom prst="rect">
            <a:avLst/>
          </a:prstGeom>
          <a:noFill/>
        </p:spPr>
        <p:txBody>
          <a:bodyPr wrap="square" rtlCol="0">
            <a:spAutoFit/>
          </a:bodyPr>
          <a:lstStyle/>
          <a:p>
            <a:pPr marL="171450" indent="-171450">
              <a:buFont typeface="Arial" panose="020B0604020202020204" pitchFamily="34" charset="0"/>
              <a:buChar char="•"/>
            </a:pPr>
            <a:r>
              <a:rPr lang="en-US" sz="1000" dirty="0"/>
              <a:t>Proxies how much households need to save privately for retirement.</a:t>
            </a:r>
          </a:p>
          <a:p>
            <a:pPr marL="171450" indent="-171450">
              <a:buFont typeface="Arial" panose="020B0604020202020204" pitchFamily="34" charset="0"/>
              <a:buChar char="•"/>
            </a:pPr>
            <a:r>
              <a:rPr lang="en-US" sz="1000" dirty="0"/>
              <a:t>Is closer to the underlying saving incentive</a:t>
            </a:r>
          </a:p>
          <a:p>
            <a:pPr marL="171450" indent="-171450">
              <a:buFont typeface="Arial" panose="020B0604020202020204" pitchFamily="34" charset="0"/>
              <a:buChar char="•"/>
            </a:pPr>
            <a:r>
              <a:rPr lang="en-US" sz="1000" dirty="0"/>
              <a:t>Helps separate how much households need to save from where those savings are held</a:t>
            </a:r>
          </a:p>
          <a:p>
            <a:pPr marL="171450" indent="-171450">
              <a:buFont typeface="Arial" panose="020B0604020202020204" pitchFamily="34" charset="0"/>
              <a:buChar char="•"/>
            </a:pPr>
            <a:r>
              <a:rPr lang="en-US" sz="1000" dirty="0"/>
              <a:t>Depending on focus might be harder to get (clean data for EU 2014-2025)</a:t>
            </a:r>
          </a:p>
        </p:txBody>
      </p:sp>
      <p:cxnSp>
        <p:nvCxnSpPr>
          <p:cNvPr id="25" name="Straight Connector 24">
            <a:extLst>
              <a:ext uri="{FF2B5EF4-FFF2-40B4-BE49-F238E27FC236}">
                <a16:creationId xmlns:a16="http://schemas.microsoft.com/office/drawing/2014/main" id="{8F0D0CF0-F4A5-AA33-45E2-4D4FC5DCF33B}"/>
              </a:ext>
            </a:extLst>
          </p:cNvPr>
          <p:cNvCxnSpPr/>
          <p:nvPr/>
        </p:nvCxnSpPr>
        <p:spPr>
          <a:xfrm>
            <a:off x="2215437" y="2980944"/>
            <a:ext cx="577641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8" name="Down Arrow 27">
            <a:extLst>
              <a:ext uri="{FF2B5EF4-FFF2-40B4-BE49-F238E27FC236}">
                <a16:creationId xmlns:a16="http://schemas.microsoft.com/office/drawing/2014/main" id="{2EE27215-7C8F-D35D-FE4B-0EA3E0E4EF85}"/>
              </a:ext>
            </a:extLst>
          </p:cNvPr>
          <p:cNvSpPr/>
          <p:nvPr/>
        </p:nvSpPr>
        <p:spPr>
          <a:xfrm>
            <a:off x="3990108" y="2780048"/>
            <a:ext cx="2305491" cy="317984"/>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TextBox 26">
            <a:extLst>
              <a:ext uri="{FF2B5EF4-FFF2-40B4-BE49-F238E27FC236}">
                <a16:creationId xmlns:a16="http://schemas.microsoft.com/office/drawing/2014/main" id="{E0F41BC7-07B5-FE05-3042-6A13DD562F2D}"/>
              </a:ext>
            </a:extLst>
          </p:cNvPr>
          <p:cNvSpPr txBox="1"/>
          <p:nvPr/>
        </p:nvSpPr>
        <p:spPr>
          <a:xfrm>
            <a:off x="4793819" y="2844670"/>
            <a:ext cx="698068" cy="153888"/>
          </a:xfrm>
          <a:prstGeom prst="rect">
            <a:avLst/>
          </a:prstGeom>
          <a:solidFill>
            <a:schemeClr val="bg1"/>
          </a:solidFill>
        </p:spPr>
        <p:txBody>
          <a:bodyPr wrap="square" lIns="0" tIns="0" rIns="0" bIns="0" rtlCol="0">
            <a:spAutoFit/>
          </a:bodyPr>
          <a:lstStyle/>
          <a:p>
            <a:pPr algn="ctr"/>
            <a:r>
              <a:rPr lang="en-US" sz="1000" dirty="0"/>
              <a:t>Measures</a:t>
            </a:r>
          </a:p>
        </p:txBody>
      </p:sp>
      <p:sp>
        <p:nvSpPr>
          <p:cNvPr id="29" name="Rectangle 28">
            <a:extLst>
              <a:ext uri="{FF2B5EF4-FFF2-40B4-BE49-F238E27FC236}">
                <a16:creationId xmlns:a16="http://schemas.microsoft.com/office/drawing/2014/main" id="{C2CCB592-2C81-FF46-3072-AD2E36714683}"/>
              </a:ext>
            </a:extLst>
          </p:cNvPr>
          <p:cNvSpPr/>
          <p:nvPr/>
        </p:nvSpPr>
        <p:spPr>
          <a:xfrm>
            <a:off x="8131510" y="0"/>
            <a:ext cx="1012490" cy="37623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dirty="0">
                <a:solidFill>
                  <a:sysClr val="windowText" lastClr="000000"/>
                </a:solidFill>
              </a:rPr>
              <a:t>Discussion</a:t>
            </a:r>
          </a:p>
        </p:txBody>
      </p:sp>
    </p:spTree>
    <p:extLst>
      <p:ext uri="{BB962C8B-B14F-4D97-AF65-F5344CB8AC3E}">
        <p14:creationId xmlns:p14="http://schemas.microsoft.com/office/powerpoint/2010/main" val="2701324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3843-E13C-5737-780A-7E422879BBBE}"/>
              </a:ext>
            </a:extLst>
          </p:cNvPr>
          <p:cNvSpPr>
            <a:spLocks noGrp="1"/>
          </p:cNvSpPr>
          <p:nvPr>
            <p:ph type="title"/>
          </p:nvPr>
        </p:nvSpPr>
        <p:spPr>
          <a:xfrm>
            <a:off x="358775" y="376238"/>
            <a:ext cx="8426450" cy="609662"/>
          </a:xfrm>
        </p:spPr>
        <p:txBody>
          <a:bodyPr/>
          <a:lstStyle/>
          <a:p>
            <a:r>
              <a:rPr lang="en-CH" dirty="0"/>
              <a:t>Motivation (TBD)</a:t>
            </a:r>
          </a:p>
        </p:txBody>
      </p:sp>
      <p:sp>
        <p:nvSpPr>
          <p:cNvPr id="3" name="Slide Number Placeholder 2">
            <a:extLst>
              <a:ext uri="{FF2B5EF4-FFF2-40B4-BE49-F238E27FC236}">
                <a16:creationId xmlns:a16="http://schemas.microsoft.com/office/drawing/2014/main" id="{39C1DF82-ABED-751D-B4FD-AA13097A0293}"/>
              </a:ext>
            </a:extLst>
          </p:cNvPr>
          <p:cNvSpPr>
            <a:spLocks noGrp="1"/>
          </p:cNvSpPr>
          <p:nvPr>
            <p:ph type="sldNum" sz="quarter" idx="12"/>
          </p:nvPr>
        </p:nvSpPr>
        <p:spPr/>
        <p:txBody>
          <a:bodyPr/>
          <a:lstStyle/>
          <a:p>
            <a:fld id="{7559FC98-AF75-4A00-A03C-DF9FEBF6BCB9}" type="slidenum">
              <a:rPr lang="en-GB" smtClean="0"/>
              <a:t>14</a:t>
            </a:fld>
            <a:endParaRPr lang="en-GB"/>
          </a:p>
        </p:txBody>
      </p:sp>
      <p:sp>
        <p:nvSpPr>
          <p:cNvPr id="4" name="Rectangle 3">
            <a:extLst>
              <a:ext uri="{FF2B5EF4-FFF2-40B4-BE49-F238E27FC236}">
                <a16:creationId xmlns:a16="http://schemas.microsoft.com/office/drawing/2014/main" id="{B48D57CA-122C-3627-1C74-528FCFCAE9ED}"/>
              </a:ext>
            </a:extLst>
          </p:cNvPr>
          <p:cNvSpPr/>
          <p:nvPr/>
        </p:nvSpPr>
        <p:spPr>
          <a:xfrm>
            <a:off x="358775" y="1024372"/>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sz="1100" dirty="0"/>
              <a:t>Motivation</a:t>
            </a:r>
            <a:endParaRPr lang="en-GB" sz="1100" dirty="0"/>
          </a:p>
        </p:txBody>
      </p:sp>
      <p:sp>
        <p:nvSpPr>
          <p:cNvPr id="5" name="TextBox 4">
            <a:extLst>
              <a:ext uri="{FF2B5EF4-FFF2-40B4-BE49-F238E27FC236}">
                <a16:creationId xmlns:a16="http://schemas.microsoft.com/office/drawing/2014/main" id="{F9A2D694-52F9-74DF-822F-6CCEE77657A3}"/>
              </a:ext>
            </a:extLst>
          </p:cNvPr>
          <p:cNvSpPr txBox="1"/>
          <p:nvPr/>
        </p:nvSpPr>
        <p:spPr>
          <a:xfrm>
            <a:off x="2142165" y="1024372"/>
            <a:ext cx="6559936" cy="600164"/>
          </a:xfrm>
          <a:prstGeom prst="rect">
            <a:avLst/>
          </a:prstGeom>
          <a:noFill/>
        </p:spPr>
        <p:txBody>
          <a:bodyPr wrap="square" rtlCol="0">
            <a:spAutoFit/>
          </a:bodyPr>
          <a:lstStyle/>
          <a:p>
            <a:pPr marL="171450" indent="-171450">
              <a:buFont typeface="Arial" panose="020B0604020202020204" pitchFamily="34" charset="0"/>
              <a:buChar char="•"/>
            </a:pPr>
            <a:r>
              <a:rPr lang="en-GB" sz="1100" dirty="0"/>
              <a:t>Lifecycle theory (Modigliani and Brumberg, 1954): As households age, loan demand falls while demand for safe retirement assets rises, implying that aging can increase deposit-type savings and reduce borrowing</a:t>
            </a:r>
          </a:p>
          <a:p>
            <a:pPr marL="171450" indent="-171450">
              <a:buFont typeface="Arial" panose="020B0604020202020204" pitchFamily="34" charset="0"/>
              <a:buChar char="•"/>
            </a:pPr>
            <a:r>
              <a:rPr lang="en-GB" sz="1100" dirty="0">
                <a:highlight>
                  <a:srgbClr val="FFFF00"/>
                </a:highlight>
              </a:rPr>
              <a:t>XXX Bank vs Market</a:t>
            </a:r>
          </a:p>
        </p:txBody>
      </p:sp>
      <p:sp>
        <p:nvSpPr>
          <p:cNvPr id="6" name="Rectangle 5">
            <a:extLst>
              <a:ext uri="{FF2B5EF4-FFF2-40B4-BE49-F238E27FC236}">
                <a16:creationId xmlns:a16="http://schemas.microsoft.com/office/drawing/2014/main" id="{57DF70A7-EA4C-813A-5250-3DFB355BCC09}"/>
              </a:ext>
            </a:extLst>
          </p:cNvPr>
          <p:cNvSpPr/>
          <p:nvPr/>
        </p:nvSpPr>
        <p:spPr>
          <a:xfrm>
            <a:off x="358775" y="1892590"/>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sz="1100" dirty="0"/>
              <a:t>Motivation</a:t>
            </a:r>
            <a:endParaRPr lang="en-GB" sz="1100" dirty="0"/>
          </a:p>
        </p:txBody>
      </p:sp>
      <p:sp>
        <p:nvSpPr>
          <p:cNvPr id="7" name="TextBox 6">
            <a:extLst>
              <a:ext uri="{FF2B5EF4-FFF2-40B4-BE49-F238E27FC236}">
                <a16:creationId xmlns:a16="http://schemas.microsoft.com/office/drawing/2014/main" id="{3D2C6A97-7B71-1206-5BA4-9650D4C6A743}"/>
              </a:ext>
            </a:extLst>
          </p:cNvPr>
          <p:cNvSpPr txBox="1"/>
          <p:nvPr/>
        </p:nvSpPr>
        <p:spPr>
          <a:xfrm>
            <a:off x="2142165" y="1892590"/>
            <a:ext cx="6559936" cy="600164"/>
          </a:xfrm>
          <a:prstGeom prst="rect">
            <a:avLst/>
          </a:prstGeom>
          <a:noFill/>
        </p:spPr>
        <p:txBody>
          <a:bodyPr wrap="square" rtlCol="0">
            <a:spAutoFit/>
          </a:bodyPr>
          <a:lstStyle/>
          <a:p>
            <a:pPr marL="171450" indent="-171450">
              <a:buFont typeface="Arial" panose="020B0604020202020204" pitchFamily="34" charset="0"/>
              <a:buChar char="•"/>
            </a:pPr>
            <a:r>
              <a:rPr lang="en-GB" sz="1100" dirty="0"/>
              <a:t>Lifecycle theory (Modigliani and Brumberg, 1954): As households age, loan demand falls while demand for safe retirement assets rises, implying that aging can increase deposit-type savings and reduce borrowing</a:t>
            </a:r>
          </a:p>
          <a:p>
            <a:pPr marL="171450" indent="-171450">
              <a:buFont typeface="Arial" panose="020B0604020202020204" pitchFamily="34" charset="0"/>
              <a:buChar char="•"/>
            </a:pPr>
            <a:r>
              <a:rPr lang="en-GB" sz="1100" dirty="0"/>
              <a:t>XXX</a:t>
            </a:r>
          </a:p>
        </p:txBody>
      </p:sp>
    </p:spTree>
    <p:extLst>
      <p:ext uri="{BB962C8B-B14F-4D97-AF65-F5344CB8AC3E}">
        <p14:creationId xmlns:p14="http://schemas.microsoft.com/office/powerpoint/2010/main" val="4218477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F26C-A33F-C6DE-77CB-6E089C6A891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E19EF81-DFA9-A9D9-826A-DF7446E49A5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8CE32BEF-A252-EEA9-04C3-3BA9C22EA0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100DB42-26ED-F9BD-F103-06DEE30A360E}"/>
              </a:ext>
            </a:extLst>
          </p:cNvPr>
          <p:cNvSpPr>
            <a:spLocks noGrp="1"/>
          </p:cNvSpPr>
          <p:nvPr>
            <p:ph type="title"/>
          </p:nvPr>
        </p:nvSpPr>
        <p:spPr/>
        <p:txBody>
          <a:bodyPr vert="horz" rIns="0"/>
          <a:lstStyle/>
          <a:p>
            <a:r>
              <a:rPr lang="de-LI" dirty="0" err="1"/>
              <a:t>Revised</a:t>
            </a:r>
            <a:r>
              <a:rPr lang="de-LI" dirty="0"/>
              <a:t>: </a:t>
            </a:r>
            <a:r>
              <a:rPr lang="de-LI" dirty="0" err="1"/>
              <a:t>components</a:t>
            </a:r>
            <a:r>
              <a:rPr lang="de-LI" dirty="0"/>
              <a:t> </a:t>
            </a:r>
            <a:r>
              <a:rPr lang="de-LI" dirty="0" err="1"/>
              <a:t>of</a:t>
            </a:r>
            <a:r>
              <a:rPr lang="de-LI" dirty="0"/>
              <a:t> </a:t>
            </a:r>
            <a:r>
              <a:rPr lang="de-LI" dirty="0" err="1"/>
              <a:t>the</a:t>
            </a:r>
            <a:r>
              <a:rPr lang="de-LI" dirty="0"/>
              <a:t> </a:t>
            </a:r>
            <a:r>
              <a:rPr lang="de-LI" dirty="0" err="1"/>
              <a:t>refined</a:t>
            </a:r>
            <a:r>
              <a:rPr lang="de-LI" dirty="0"/>
              <a:t> </a:t>
            </a:r>
            <a:r>
              <a:rPr lang="de-LI" dirty="0" err="1"/>
              <a:t>regression</a:t>
            </a:r>
            <a:r>
              <a:rPr lang="de-LI" dirty="0"/>
              <a:t> </a:t>
            </a:r>
            <a:r>
              <a:rPr lang="de-LI" dirty="0" err="1"/>
              <a:t>model</a:t>
            </a:r>
            <a:endParaRPr lang="de-LI" dirty="0"/>
          </a:p>
        </p:txBody>
      </p:sp>
      <p:sp>
        <p:nvSpPr>
          <p:cNvPr id="3" name="Slide Number Placeholder 2">
            <a:extLst>
              <a:ext uri="{FF2B5EF4-FFF2-40B4-BE49-F238E27FC236}">
                <a16:creationId xmlns:a16="http://schemas.microsoft.com/office/drawing/2014/main" id="{FA4F7EB7-5D78-9607-AC05-32C0866067B8}"/>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15</a:t>
            </a:fld>
            <a:endParaRPr lang="en-GB"/>
          </a:p>
        </p:txBody>
      </p:sp>
      <p:pic>
        <p:nvPicPr>
          <p:cNvPr id="6" name="Picture 5">
            <a:extLst>
              <a:ext uri="{FF2B5EF4-FFF2-40B4-BE49-F238E27FC236}">
                <a16:creationId xmlns:a16="http://schemas.microsoft.com/office/drawing/2014/main" id="{93CBF024-3885-BC23-2412-9C5191FA87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38804" y="1848520"/>
            <a:ext cx="4831438" cy="2274760"/>
          </a:xfrm>
          <a:prstGeom prst="rect">
            <a:avLst/>
          </a:prstGeom>
        </p:spPr>
      </p:pic>
      <p:sp>
        <p:nvSpPr>
          <p:cNvPr id="7" name="Rectangle 6">
            <a:extLst>
              <a:ext uri="{FF2B5EF4-FFF2-40B4-BE49-F238E27FC236}">
                <a16:creationId xmlns:a16="http://schemas.microsoft.com/office/drawing/2014/main" id="{B1330F6C-1E82-FE48-3597-2A62B5A4374B}"/>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Regression</a:t>
            </a:r>
            <a:br>
              <a:rPr lang="de-LI" sz="1100" dirty="0"/>
            </a:br>
            <a:r>
              <a:rPr lang="de-LI" sz="1100" dirty="0"/>
              <a:t>component</a:t>
            </a:r>
            <a:endParaRPr lang="en-GB" sz="1100" dirty="0"/>
          </a:p>
        </p:txBody>
      </p:sp>
      <p:sp>
        <p:nvSpPr>
          <p:cNvPr id="8" name="Rectangle 7">
            <a:extLst>
              <a:ext uri="{FF2B5EF4-FFF2-40B4-BE49-F238E27FC236}">
                <a16:creationId xmlns:a16="http://schemas.microsoft.com/office/drawing/2014/main" id="{90459473-210E-08D2-D380-D851CAFB1FB4}"/>
              </a:ext>
            </a:extLst>
          </p:cNvPr>
          <p:cNvSpPr/>
          <p:nvPr/>
        </p:nvSpPr>
        <p:spPr>
          <a:xfrm>
            <a:off x="5645727" y="1114427"/>
            <a:ext cx="2925873"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dirty="0"/>
              <a:t>Explanation</a:t>
            </a:r>
            <a:endParaRPr lang="en-GB" sz="1100" dirty="0"/>
          </a:p>
        </p:txBody>
      </p:sp>
      <p:grpSp>
        <p:nvGrpSpPr>
          <p:cNvPr id="38" name="Group 37">
            <a:extLst>
              <a:ext uri="{FF2B5EF4-FFF2-40B4-BE49-F238E27FC236}">
                <a16:creationId xmlns:a16="http://schemas.microsoft.com/office/drawing/2014/main" id="{7747A665-F714-FBE5-6E92-0DA51E935C19}"/>
              </a:ext>
            </a:extLst>
          </p:cNvPr>
          <p:cNvGrpSpPr/>
          <p:nvPr/>
        </p:nvGrpSpPr>
        <p:grpSpPr>
          <a:xfrm>
            <a:off x="5118100" y="1824637"/>
            <a:ext cx="230909" cy="2089518"/>
            <a:chOff x="5176289" y="1734582"/>
            <a:chExt cx="230909" cy="2089518"/>
          </a:xfrm>
        </p:grpSpPr>
        <p:grpSp>
          <p:nvGrpSpPr>
            <p:cNvPr id="9" name="Down arrow">
              <a:extLst>
                <a:ext uri="{FF2B5EF4-FFF2-40B4-BE49-F238E27FC236}">
                  <a16:creationId xmlns:a16="http://schemas.microsoft.com/office/drawing/2014/main" id="{3DDEE280-5785-A133-43A2-E869CEAA10B2}"/>
                </a:ext>
              </a:extLst>
            </p:cNvPr>
            <p:cNvGrpSpPr>
              <a:grpSpLocks noChangeAspect="1"/>
            </p:cNvGrpSpPr>
            <p:nvPr/>
          </p:nvGrpSpPr>
          <p:grpSpPr>
            <a:xfrm rot="5400000" flipV="1">
              <a:off x="5176289" y="1734582"/>
              <a:ext cx="230909" cy="230909"/>
              <a:chOff x="1413494" y="4670360"/>
              <a:chExt cx="442162" cy="456033"/>
            </a:xfrm>
          </p:grpSpPr>
          <p:sp>
            <p:nvSpPr>
              <p:cNvPr id="10" name="Ellipse 69">
                <a:extLst>
                  <a:ext uri="{FF2B5EF4-FFF2-40B4-BE49-F238E27FC236}">
                    <a16:creationId xmlns:a16="http://schemas.microsoft.com/office/drawing/2014/main" id="{619FE211-DD81-B9AD-522A-77756B0545E0}"/>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1" name="Flèche vers la droite 45">
                <a:extLst>
                  <a:ext uri="{FF2B5EF4-FFF2-40B4-BE49-F238E27FC236}">
                    <a16:creationId xmlns:a16="http://schemas.microsoft.com/office/drawing/2014/main" id="{DABC72C8-1EC0-CA38-3254-DA97178B308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4" name="Down arrow">
              <a:extLst>
                <a:ext uri="{FF2B5EF4-FFF2-40B4-BE49-F238E27FC236}">
                  <a16:creationId xmlns:a16="http://schemas.microsoft.com/office/drawing/2014/main" id="{81E5D20C-85CE-C7A2-250B-23C1FDE3498D}"/>
                </a:ext>
              </a:extLst>
            </p:cNvPr>
            <p:cNvGrpSpPr>
              <a:grpSpLocks noChangeAspect="1"/>
            </p:cNvGrpSpPr>
            <p:nvPr/>
          </p:nvGrpSpPr>
          <p:grpSpPr>
            <a:xfrm rot="5400000" flipV="1">
              <a:off x="5176289" y="2044350"/>
              <a:ext cx="230909" cy="230909"/>
              <a:chOff x="1413494" y="4670360"/>
              <a:chExt cx="442162" cy="456033"/>
            </a:xfrm>
          </p:grpSpPr>
          <p:sp>
            <p:nvSpPr>
              <p:cNvPr id="16" name="Ellipse 69">
                <a:extLst>
                  <a:ext uri="{FF2B5EF4-FFF2-40B4-BE49-F238E27FC236}">
                    <a16:creationId xmlns:a16="http://schemas.microsoft.com/office/drawing/2014/main" id="{6DB59B85-203F-E07F-DB4C-516DF11CEDFE}"/>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7" name="Flèche vers la droite 45">
                <a:extLst>
                  <a:ext uri="{FF2B5EF4-FFF2-40B4-BE49-F238E27FC236}">
                    <a16:creationId xmlns:a16="http://schemas.microsoft.com/office/drawing/2014/main" id="{31E58972-2ACA-CF61-20DA-0431E08EFF9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9" name="Down arrow">
              <a:extLst>
                <a:ext uri="{FF2B5EF4-FFF2-40B4-BE49-F238E27FC236}">
                  <a16:creationId xmlns:a16="http://schemas.microsoft.com/office/drawing/2014/main" id="{72C28A31-E3DD-8E0B-9CDD-67C43565999B}"/>
                </a:ext>
              </a:extLst>
            </p:cNvPr>
            <p:cNvGrpSpPr>
              <a:grpSpLocks noChangeAspect="1"/>
            </p:cNvGrpSpPr>
            <p:nvPr/>
          </p:nvGrpSpPr>
          <p:grpSpPr>
            <a:xfrm rot="5400000" flipV="1">
              <a:off x="5176289" y="2354118"/>
              <a:ext cx="230909" cy="230909"/>
              <a:chOff x="1413494" y="4670360"/>
              <a:chExt cx="442162" cy="456033"/>
            </a:xfrm>
          </p:grpSpPr>
          <p:sp>
            <p:nvSpPr>
              <p:cNvPr id="21" name="Ellipse 69">
                <a:extLst>
                  <a:ext uri="{FF2B5EF4-FFF2-40B4-BE49-F238E27FC236}">
                    <a16:creationId xmlns:a16="http://schemas.microsoft.com/office/drawing/2014/main" id="{E0D1608E-A61D-4BEF-A5B8-35A7D272BC7C}"/>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5" name="Flèche vers la droite 45">
                <a:extLst>
                  <a:ext uri="{FF2B5EF4-FFF2-40B4-BE49-F238E27FC236}">
                    <a16:creationId xmlns:a16="http://schemas.microsoft.com/office/drawing/2014/main" id="{E99E5B27-48E3-02B0-FCF8-9FB528B26BD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6" name="Down arrow">
              <a:extLst>
                <a:ext uri="{FF2B5EF4-FFF2-40B4-BE49-F238E27FC236}">
                  <a16:creationId xmlns:a16="http://schemas.microsoft.com/office/drawing/2014/main" id="{4BB7DB84-DC01-6C63-0D3F-9296776DF6A6}"/>
                </a:ext>
              </a:extLst>
            </p:cNvPr>
            <p:cNvGrpSpPr>
              <a:grpSpLocks noChangeAspect="1"/>
            </p:cNvGrpSpPr>
            <p:nvPr/>
          </p:nvGrpSpPr>
          <p:grpSpPr>
            <a:xfrm rot="5400000" flipV="1">
              <a:off x="5176289" y="2663886"/>
              <a:ext cx="230909" cy="230909"/>
              <a:chOff x="1413494" y="4670360"/>
              <a:chExt cx="442162" cy="456033"/>
            </a:xfrm>
          </p:grpSpPr>
          <p:sp>
            <p:nvSpPr>
              <p:cNvPr id="27" name="Ellipse 69">
                <a:extLst>
                  <a:ext uri="{FF2B5EF4-FFF2-40B4-BE49-F238E27FC236}">
                    <a16:creationId xmlns:a16="http://schemas.microsoft.com/office/drawing/2014/main" id="{147EE60F-FB88-6A25-960E-88AF4229437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30A70F63-9C43-9942-C10F-5C4A7E9D441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9" name="Down arrow">
              <a:extLst>
                <a:ext uri="{FF2B5EF4-FFF2-40B4-BE49-F238E27FC236}">
                  <a16:creationId xmlns:a16="http://schemas.microsoft.com/office/drawing/2014/main" id="{6E6C1E09-1A81-58C8-2647-97AC4FDDF9B8}"/>
                </a:ext>
              </a:extLst>
            </p:cNvPr>
            <p:cNvGrpSpPr>
              <a:grpSpLocks noChangeAspect="1"/>
            </p:cNvGrpSpPr>
            <p:nvPr/>
          </p:nvGrpSpPr>
          <p:grpSpPr>
            <a:xfrm rot="5400000" flipV="1">
              <a:off x="5176289" y="2973654"/>
              <a:ext cx="230909" cy="230909"/>
              <a:chOff x="1413494" y="4670360"/>
              <a:chExt cx="442162" cy="456033"/>
            </a:xfrm>
          </p:grpSpPr>
          <p:sp>
            <p:nvSpPr>
              <p:cNvPr id="30" name="Ellipse 69">
                <a:extLst>
                  <a:ext uri="{FF2B5EF4-FFF2-40B4-BE49-F238E27FC236}">
                    <a16:creationId xmlns:a16="http://schemas.microsoft.com/office/drawing/2014/main" id="{84723FF5-D464-497F-4F8D-4B910E02A7D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1" name="Flèche vers la droite 45">
                <a:extLst>
                  <a:ext uri="{FF2B5EF4-FFF2-40B4-BE49-F238E27FC236}">
                    <a16:creationId xmlns:a16="http://schemas.microsoft.com/office/drawing/2014/main" id="{1471886D-E16B-8C16-FEAC-305CC9C0421E}"/>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2" name="Down arrow">
              <a:extLst>
                <a:ext uri="{FF2B5EF4-FFF2-40B4-BE49-F238E27FC236}">
                  <a16:creationId xmlns:a16="http://schemas.microsoft.com/office/drawing/2014/main" id="{9647DA70-2ED1-5D3A-A2FC-0F042A787157}"/>
                </a:ext>
              </a:extLst>
            </p:cNvPr>
            <p:cNvGrpSpPr>
              <a:grpSpLocks noChangeAspect="1"/>
            </p:cNvGrpSpPr>
            <p:nvPr/>
          </p:nvGrpSpPr>
          <p:grpSpPr>
            <a:xfrm rot="5400000" flipV="1">
              <a:off x="5176289" y="3283422"/>
              <a:ext cx="230909" cy="230909"/>
              <a:chOff x="1413494" y="4670360"/>
              <a:chExt cx="442162" cy="456033"/>
            </a:xfrm>
          </p:grpSpPr>
          <p:sp>
            <p:nvSpPr>
              <p:cNvPr id="33" name="Ellipse 69">
                <a:extLst>
                  <a:ext uri="{FF2B5EF4-FFF2-40B4-BE49-F238E27FC236}">
                    <a16:creationId xmlns:a16="http://schemas.microsoft.com/office/drawing/2014/main" id="{422373E2-FCF4-88F8-7685-EDD0BCF79D59}"/>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4" name="Flèche vers la droite 45">
                <a:extLst>
                  <a:ext uri="{FF2B5EF4-FFF2-40B4-BE49-F238E27FC236}">
                    <a16:creationId xmlns:a16="http://schemas.microsoft.com/office/drawing/2014/main" id="{DB7F82CA-0950-D186-EC3C-4E8B31C1FADF}"/>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5" name="Down arrow">
              <a:extLst>
                <a:ext uri="{FF2B5EF4-FFF2-40B4-BE49-F238E27FC236}">
                  <a16:creationId xmlns:a16="http://schemas.microsoft.com/office/drawing/2014/main" id="{4A793800-AB78-38DA-647C-9C4B4B9F0DBB}"/>
                </a:ext>
              </a:extLst>
            </p:cNvPr>
            <p:cNvGrpSpPr>
              <a:grpSpLocks noChangeAspect="1"/>
            </p:cNvGrpSpPr>
            <p:nvPr/>
          </p:nvGrpSpPr>
          <p:grpSpPr>
            <a:xfrm rot="5400000" flipV="1">
              <a:off x="5176289" y="3593191"/>
              <a:ext cx="230909" cy="230909"/>
              <a:chOff x="1413494" y="4670360"/>
              <a:chExt cx="442162" cy="456033"/>
            </a:xfrm>
          </p:grpSpPr>
          <p:sp>
            <p:nvSpPr>
              <p:cNvPr id="36" name="Ellipse 69">
                <a:extLst>
                  <a:ext uri="{FF2B5EF4-FFF2-40B4-BE49-F238E27FC236}">
                    <a16:creationId xmlns:a16="http://schemas.microsoft.com/office/drawing/2014/main" id="{96F65A51-D9EB-4CB0-1938-6B0744D13163}"/>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7" name="Flèche vers la droite 45">
                <a:extLst>
                  <a:ext uri="{FF2B5EF4-FFF2-40B4-BE49-F238E27FC236}">
                    <a16:creationId xmlns:a16="http://schemas.microsoft.com/office/drawing/2014/main" id="{7F16D62C-B900-0022-CE35-0BBED5E300E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sp>
        <p:nvSpPr>
          <p:cNvPr id="40" name="TextBox 39">
            <a:extLst>
              <a:ext uri="{FF2B5EF4-FFF2-40B4-BE49-F238E27FC236}">
                <a16:creationId xmlns:a16="http://schemas.microsoft.com/office/drawing/2014/main" id="{437679D4-96A9-80EC-7F6C-B5ADFBAB025F}"/>
              </a:ext>
            </a:extLst>
          </p:cNvPr>
          <p:cNvSpPr txBox="1"/>
          <p:nvPr/>
        </p:nvSpPr>
        <p:spPr>
          <a:xfrm>
            <a:off x="5645728" y="1816683"/>
            <a:ext cx="2925872" cy="246221"/>
          </a:xfrm>
          <a:prstGeom prst="rect">
            <a:avLst/>
          </a:prstGeom>
          <a:noFill/>
        </p:spPr>
        <p:txBody>
          <a:bodyPr wrap="square" rtlCol="0">
            <a:spAutoFit/>
          </a:bodyPr>
          <a:lstStyle/>
          <a:p>
            <a:r>
              <a:rPr lang="en-US" sz="1000" dirty="0"/>
              <a:t>Baseline aging effect</a:t>
            </a:r>
            <a:endParaRPr lang="en-CH" sz="1000" dirty="0"/>
          </a:p>
        </p:txBody>
      </p:sp>
      <p:sp>
        <p:nvSpPr>
          <p:cNvPr id="41" name="TextBox 40">
            <a:extLst>
              <a:ext uri="{FF2B5EF4-FFF2-40B4-BE49-F238E27FC236}">
                <a16:creationId xmlns:a16="http://schemas.microsoft.com/office/drawing/2014/main" id="{D32D996C-AC9E-8FCB-1463-DAE611985E6C}"/>
              </a:ext>
            </a:extLst>
          </p:cNvPr>
          <p:cNvSpPr txBox="1"/>
          <p:nvPr/>
        </p:nvSpPr>
        <p:spPr>
          <a:xfrm>
            <a:off x="5645728" y="2128390"/>
            <a:ext cx="2925872" cy="246221"/>
          </a:xfrm>
          <a:prstGeom prst="rect">
            <a:avLst/>
          </a:prstGeom>
          <a:noFill/>
        </p:spPr>
        <p:txBody>
          <a:bodyPr wrap="square" rtlCol="0">
            <a:spAutoFit/>
          </a:bodyPr>
          <a:lstStyle/>
          <a:p>
            <a:r>
              <a:rPr lang="en-US" sz="1000" dirty="0"/>
              <a:t>Financial system structure effect</a:t>
            </a:r>
            <a:endParaRPr lang="en-CH" sz="1000" dirty="0"/>
          </a:p>
        </p:txBody>
      </p:sp>
      <p:sp>
        <p:nvSpPr>
          <p:cNvPr id="42" name="TextBox 41">
            <a:extLst>
              <a:ext uri="{FF2B5EF4-FFF2-40B4-BE49-F238E27FC236}">
                <a16:creationId xmlns:a16="http://schemas.microsoft.com/office/drawing/2014/main" id="{B9CE49EF-82C5-5982-5E24-E9EAA63640AF}"/>
              </a:ext>
            </a:extLst>
          </p:cNvPr>
          <p:cNvSpPr txBox="1"/>
          <p:nvPr/>
        </p:nvSpPr>
        <p:spPr>
          <a:xfrm>
            <a:off x="5645727" y="2440097"/>
            <a:ext cx="3034145" cy="246221"/>
          </a:xfrm>
          <a:prstGeom prst="rect">
            <a:avLst/>
          </a:prstGeom>
          <a:noFill/>
        </p:spPr>
        <p:txBody>
          <a:bodyPr wrap="square" rtlCol="0">
            <a:spAutoFit/>
          </a:bodyPr>
          <a:lstStyle/>
          <a:p>
            <a:r>
              <a:rPr lang="en-US" sz="1000" dirty="0"/>
              <a:t>Aging effect depending on structure (interaction term)</a:t>
            </a:r>
            <a:endParaRPr lang="en-CH" sz="1000" dirty="0"/>
          </a:p>
        </p:txBody>
      </p:sp>
      <p:sp>
        <p:nvSpPr>
          <p:cNvPr id="43" name="TextBox 42">
            <a:extLst>
              <a:ext uri="{FF2B5EF4-FFF2-40B4-BE49-F238E27FC236}">
                <a16:creationId xmlns:a16="http://schemas.microsoft.com/office/drawing/2014/main" id="{5572F924-7C99-CF76-8ADD-B7B2DFB64718}"/>
              </a:ext>
            </a:extLst>
          </p:cNvPr>
          <p:cNvSpPr txBox="1"/>
          <p:nvPr/>
        </p:nvSpPr>
        <p:spPr>
          <a:xfrm>
            <a:off x="5645728" y="2751804"/>
            <a:ext cx="2925872" cy="246221"/>
          </a:xfrm>
          <a:prstGeom prst="rect">
            <a:avLst/>
          </a:prstGeom>
          <a:noFill/>
        </p:spPr>
        <p:txBody>
          <a:bodyPr wrap="square" rtlCol="0">
            <a:spAutoFit/>
          </a:bodyPr>
          <a:lstStyle/>
          <a:p>
            <a:r>
              <a:rPr lang="en-US" sz="1000" dirty="0"/>
              <a:t>Pension system control variable</a:t>
            </a:r>
            <a:endParaRPr lang="en-CH" sz="1000" dirty="0"/>
          </a:p>
        </p:txBody>
      </p:sp>
      <p:sp>
        <p:nvSpPr>
          <p:cNvPr id="44" name="TextBox 43">
            <a:extLst>
              <a:ext uri="{FF2B5EF4-FFF2-40B4-BE49-F238E27FC236}">
                <a16:creationId xmlns:a16="http://schemas.microsoft.com/office/drawing/2014/main" id="{024C854D-1B0C-DEBD-5AF5-48D4783D1FE5}"/>
              </a:ext>
            </a:extLst>
          </p:cNvPr>
          <p:cNvSpPr txBox="1"/>
          <p:nvPr/>
        </p:nvSpPr>
        <p:spPr>
          <a:xfrm>
            <a:off x="5645728" y="3063511"/>
            <a:ext cx="2925872" cy="246221"/>
          </a:xfrm>
          <a:prstGeom prst="rect">
            <a:avLst/>
          </a:prstGeom>
          <a:noFill/>
        </p:spPr>
        <p:txBody>
          <a:bodyPr wrap="square" rtlCol="0">
            <a:spAutoFit/>
          </a:bodyPr>
          <a:lstStyle/>
          <a:p>
            <a:r>
              <a:rPr lang="en-US" sz="1000" dirty="0"/>
              <a:t>Very old population effect</a:t>
            </a:r>
            <a:endParaRPr lang="en-CH" sz="1000" dirty="0"/>
          </a:p>
        </p:txBody>
      </p:sp>
      <p:sp>
        <p:nvSpPr>
          <p:cNvPr id="45" name="TextBox 44">
            <a:extLst>
              <a:ext uri="{FF2B5EF4-FFF2-40B4-BE49-F238E27FC236}">
                <a16:creationId xmlns:a16="http://schemas.microsoft.com/office/drawing/2014/main" id="{44B37FB0-544D-4DB2-C525-5CEACBD11E6E}"/>
              </a:ext>
            </a:extLst>
          </p:cNvPr>
          <p:cNvSpPr txBox="1"/>
          <p:nvPr/>
        </p:nvSpPr>
        <p:spPr>
          <a:xfrm>
            <a:off x="5645728" y="3375218"/>
            <a:ext cx="2925872" cy="246221"/>
          </a:xfrm>
          <a:prstGeom prst="rect">
            <a:avLst/>
          </a:prstGeom>
          <a:noFill/>
        </p:spPr>
        <p:txBody>
          <a:bodyPr wrap="square" rtlCol="0">
            <a:spAutoFit/>
          </a:bodyPr>
          <a:lstStyle/>
          <a:p>
            <a:r>
              <a:rPr lang="en-US" sz="1000" dirty="0"/>
              <a:t>Bank-level control variables (see next slides)</a:t>
            </a:r>
            <a:endParaRPr lang="en-CH" sz="1000" dirty="0"/>
          </a:p>
        </p:txBody>
      </p:sp>
      <p:sp>
        <p:nvSpPr>
          <p:cNvPr id="46" name="TextBox 45">
            <a:extLst>
              <a:ext uri="{FF2B5EF4-FFF2-40B4-BE49-F238E27FC236}">
                <a16:creationId xmlns:a16="http://schemas.microsoft.com/office/drawing/2014/main" id="{C90EBFEE-2DE6-0ABF-B4D9-95E0F6202D0A}"/>
              </a:ext>
            </a:extLst>
          </p:cNvPr>
          <p:cNvSpPr txBox="1"/>
          <p:nvPr/>
        </p:nvSpPr>
        <p:spPr>
          <a:xfrm>
            <a:off x="5645728" y="3686925"/>
            <a:ext cx="2925872" cy="246221"/>
          </a:xfrm>
          <a:prstGeom prst="rect">
            <a:avLst/>
          </a:prstGeom>
          <a:noFill/>
        </p:spPr>
        <p:txBody>
          <a:bodyPr wrap="square" rtlCol="0">
            <a:spAutoFit/>
          </a:bodyPr>
          <a:lstStyle/>
          <a:p>
            <a:r>
              <a:rPr lang="de-LI" sz="1000" dirty="0"/>
              <a:t>Bank &amp; year fixed effects; error term</a:t>
            </a:r>
            <a:endParaRPr lang="en-CH" sz="1000" dirty="0"/>
          </a:p>
        </p:txBody>
      </p:sp>
      <p:sp>
        <p:nvSpPr>
          <p:cNvPr id="55" name="Rectangle 54">
            <a:extLst>
              <a:ext uri="{FF2B5EF4-FFF2-40B4-BE49-F238E27FC236}">
                <a16:creationId xmlns:a16="http://schemas.microsoft.com/office/drawing/2014/main" id="{DB0FDF66-71AE-5658-F557-0FD15614A1F2}"/>
              </a:ext>
            </a:extLst>
          </p:cNvPr>
          <p:cNvSpPr/>
          <p:nvPr/>
        </p:nvSpPr>
        <p:spPr>
          <a:xfrm>
            <a:off x="2043400" y="2734326"/>
            <a:ext cx="2323093" cy="311707"/>
          </a:xfrm>
          <a:prstGeom prst="rect">
            <a:avLst/>
          </a:pr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endParaRPr>
          </a:p>
        </p:txBody>
      </p:sp>
      <p:sp>
        <p:nvSpPr>
          <p:cNvPr id="56" name="TextBox 55">
            <a:extLst>
              <a:ext uri="{FF2B5EF4-FFF2-40B4-BE49-F238E27FC236}">
                <a16:creationId xmlns:a16="http://schemas.microsoft.com/office/drawing/2014/main" id="{7D53EA14-1DA8-1F51-CF44-338A37C4BBAF}"/>
              </a:ext>
            </a:extLst>
          </p:cNvPr>
          <p:cNvSpPr txBox="1"/>
          <p:nvPr/>
        </p:nvSpPr>
        <p:spPr>
          <a:xfrm>
            <a:off x="979420" y="2778688"/>
            <a:ext cx="1587501" cy="246221"/>
          </a:xfrm>
          <a:prstGeom prst="rect">
            <a:avLst/>
          </a:prstGeom>
          <a:noFill/>
        </p:spPr>
        <p:txBody>
          <a:bodyPr wrap="square" rtlCol="0">
            <a:spAutoFit/>
          </a:bodyPr>
          <a:lstStyle/>
          <a:p>
            <a:r>
              <a:rPr lang="de-LI" sz="1000" i="1" dirty="0" err="1">
                <a:solidFill>
                  <a:srgbClr val="00B0F0"/>
                </a:solidFill>
              </a:rPr>
              <a:t>Revised</a:t>
            </a:r>
            <a:r>
              <a:rPr lang="de-LI" sz="1000" i="1" dirty="0">
                <a:solidFill>
                  <a:srgbClr val="00B0F0"/>
                </a:solidFill>
              </a:rPr>
              <a:t> variable</a:t>
            </a:r>
            <a:endParaRPr lang="en-CH" sz="1000" i="1" dirty="0">
              <a:solidFill>
                <a:srgbClr val="00B0F0"/>
              </a:solidFill>
            </a:endParaRPr>
          </a:p>
        </p:txBody>
      </p:sp>
      <p:sp>
        <p:nvSpPr>
          <p:cNvPr id="5" name="Rectangle 4">
            <a:extLst>
              <a:ext uri="{FF2B5EF4-FFF2-40B4-BE49-F238E27FC236}">
                <a16:creationId xmlns:a16="http://schemas.microsoft.com/office/drawing/2014/main" id="{CD0B7AAB-56E9-7D6F-AA70-BEC79F3CA496}"/>
              </a:ext>
            </a:extLst>
          </p:cNvPr>
          <p:cNvSpPr/>
          <p:nvPr/>
        </p:nvSpPr>
        <p:spPr>
          <a:xfrm>
            <a:off x="8131510" y="0"/>
            <a:ext cx="1012490" cy="37623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dirty="0">
                <a:solidFill>
                  <a:sysClr val="windowText" lastClr="000000"/>
                </a:solidFill>
              </a:rPr>
              <a:t>Discussion</a:t>
            </a:r>
          </a:p>
        </p:txBody>
      </p:sp>
    </p:spTree>
    <p:extLst>
      <p:ext uri="{BB962C8B-B14F-4D97-AF65-F5344CB8AC3E}">
        <p14:creationId xmlns:p14="http://schemas.microsoft.com/office/powerpoint/2010/main" val="31804193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48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NISG PPT">
  <a:themeElements>
    <a:clrScheme name="uni stgallen Colors">
      <a:dk1>
        <a:sysClr val="windowText" lastClr="000000"/>
      </a:dk1>
      <a:lt1>
        <a:sysClr val="window" lastClr="FFFFFF"/>
      </a:lt1>
      <a:dk2>
        <a:srgbClr val="0A5F2D"/>
      </a:dk2>
      <a:lt2>
        <a:srgbClr val="FFFFFF"/>
      </a:lt2>
      <a:accent1>
        <a:srgbClr val="00802F"/>
      </a:accent1>
      <a:accent2>
        <a:srgbClr val="E1D7C3"/>
      </a:accent2>
      <a:accent3>
        <a:srgbClr val="EB6969"/>
      </a:accent3>
      <a:accent4>
        <a:srgbClr val="73A5AF"/>
      </a:accent4>
      <a:accent5>
        <a:srgbClr val="FFF04B"/>
      </a:accent5>
      <a:accent6>
        <a:srgbClr val="0A5F2D"/>
      </a:accent6>
      <a:hlink>
        <a:srgbClr val="00802F"/>
      </a:hlink>
      <a:folHlink>
        <a:srgbClr val="0A5F2D"/>
      </a:folHlink>
    </a:clrScheme>
    <a:fontScheme name="uni stgallen Font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_stgallen_master_01.potx" id="{30835CC8-2B5A-4E70-B341-DDAB901ED00B}" vid="{29D780FA-9373-4C8E-8A10-29358CDEA5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870F55-7693-4BED-BB93-08298D6C04B0}">
  <we:reference id="94886107-76f9-4f92-aa81-ee726374f3e7"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TemplateConfiguration><![CDATA[{"elementsMetadata":[{"type":"shape","id":"8e687d5a-037f-4f24-a199-2d950c5df88f","elementConfiguration":{"binding":"{{FormatDateTime(Form.Date,Translate(\"DateFormat\"),DocumentLanguage)}}","type":"text","disableUpdates":false}},{"type":"shape","id":"8a58044d-47eb-4d6e-9ca4-af1763910190","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6f8add69-85c2-40c7-9973-8bbd2effdf02","elementConfiguration":{"binding":"{{Form.Footer}}","type":"text","disableUpdates":false}},{"type":"shape","id":"41d8c364-9428-4db7-aa0c-4eaa985a9522","elementConfiguration":{"binding":"{{UserProfile.Department.DepartmentName}}","visibility":"{{IfElse(Form.FooterLogo, VisibilityType.Hidden,VisibilityType.Visible)}}","type":"text","disableUpdates":false}},{"type":"shape","id":"83a1c2a2-c5ce-461f-94a3-7bf4eb5a6a7a","elementConfiguration":{"width":"{{UserProfile.Department.REFDepartmentLogo.WidthPNGPPT}}","height":"{{UserProfile.Department.REFDepartmentLogo.HeightPNGPPT}}","image":"{{UserProfile.Department.REFDepartmentLogo.ImagePNG}}","type":"image","disableUpdates":false}},{"type":"shape","id":"6b7dbdc9-b930-48a1-b054-0486b079e669","elementConfiguration":{"binding":"{{UserProfile.Department.DepartmentName}} \n{{UserProfile.Department.DepartmentStreet}} {{UserProfile.Department.DepartmentStreetNumber}} \n{{UserProfile.Department.DepartmentPOBox}} {{UserProfile.Department.DepartmentCity}} \n{{UserProfile.Department.DepartmentCountry}} \n{{UserProfile.Department.DepartmentWebsite}}","type":"text","disableUpdates":false}},{"type":"shape","id":"5cce6515-ac04-4d9a-8376-12efa4e71373","elementConfiguration":{"width":"{{UserProfile.Department.REFDepartmentLogo.WidthPNGPPT}}","height":"{{UserProfile.Department.REFDepartmentLogo.HeightPNGPPT}}","image":"{{UserProfile.Department.REFDepartmentLogo.ImagePNG}}","type":"image","disableUpdates":false}},{"type":"shape","id":"72a3a3be-e050-47d5-94d9-e6cb5f8c7f03","elementConfiguration":{"binding":"{{FormatDateTime(Form.Date,Translate(\"DateFormat\"),DocumentLanguage)}}","type":"text","disableUpdates":false}},{"type":"shape","id":"77e1a5e9-b037-42ca-85a0-d5636c9ac5b3","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8b77cfe1-601f-4616-9ce4-864cfa8534fd","elementConfiguration":{"binding":"{{Form.Footer}}","type":"text","disableUpdates":false}},{"type":"shape","id":"2f4be301-7db5-44d0-ae7c-4ec34c731e7b","elementConfiguration":{"binding":"{{UserProfile.Department.DepartmentName}}","visibility":"{{IfElse(Form.FooterLogo, VisibilityType.Hidden,VisibilityType.Visible)}}","type":"text","disableUpdates":false}},{"type":"shape","id":"51713646-4b5d-4189-98b0-0b0bb394ba3a","elementConfiguration":{"width":"{{UserProfile.Department.REFDepartmentLogo.WidthPNGPPT}}","height":"{{UserProfile.Department.REFDepartmentLogo.HeightPNGPPT}}","image":"{{UserProfile.Department.REFDepartmentLogo.ImagePNG}}","type":"image","disableUpdates":false}},{"type":"shape","id":"9ce69437-fe7b-4dee-8cfc-9988023a4741","elementConfiguration":{"binding":"{{FormatDateTime(Form.Date,Translate(\"DateFormat\"),DocumentLanguage)}}","type":"text","disableUpdates":false}},{"type":"shape","id":"e71f292f-c887-405d-8ce7-c2554695bcfc","elementConfiguration":{"width":"{{UserProfile.Department.REFDepartmentLogo.WidthPNGPPT}}","height":"{{UserProfile.Department.REFDepartmentLogo.HeightPNGPPT}}","image":"{{UserProfile.Department.REFDepartmentLogo.ImagePNG}}","type":"image","disableUpdates":false}},{"type":"shape","id":"a5b776ce-7578-4a04-b539-7870c0decfe5","elementConfiguration":{"binding":"{{FormatDateTime(Form.Date,Translate(\"DateFormat\"),DocumentLanguage)}}","type":"text","disableUpdates":false}},{"type":"shape","id":"a686ddd6-f847-45d7-8410-5ee4c6292e19","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d6049c18-5439-4cb6-ba74-6982f0f3a19f","elementConfiguration":{"binding":"{{Form.Footer}}","type":"text","disableUpdates":false}},{"type":"shape","id":"0bfa71f2-5450-4936-a878-527a7ee69f0e","elementConfiguration":{"binding":"{{UserProfile.Department.DepartmentName}}","visibility":"{{IfElse(Form.FooterLogo, VisibilityType.Hidden,VisibilityType.Visible)}}","type":"text","disableUpdates":false}},{"type":"shape","id":"c0c6f633-ff8e-42d8-9a55-e82bd295c373","elementConfiguration":{"binding":"{{FormatDateTime(Form.Date,Translate(\"DateFormat\"),DocumentLanguage)}}","type":"text","disableUpdates":false}},{"type":"shape","id":"3be152c8-0b65-4297-9cb0-c63496367b51","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48adc353-1a34-40df-b860-395e9b5f349d","elementConfiguration":{"binding":"{{Form.Footer}}","type":"text","disableUpdates":false}},{"type":"shape","id":"4780b9c7-75d7-49af-995d-3035d682835c","elementConfiguration":{"binding":"{{UserProfile.Department.DepartmentName}}","visibility":"{{IfElse(Form.FooterLogo, VisibilityType.Hidden,VisibilityType.Visible)}}","type":"text","disableUpdates":false}},{"type":"shape","id":"879ad7e6-7cb7-4494-9174-c3323cc290b2","elementConfiguration":{"binding":"{{FormatDateTime(Form.Date,Translate(\"DateFormat\"),DocumentLanguage)}}","type":"text","disableUpdates":false}},{"type":"shape","id":"422c643c-1be7-4851-a609-740cb9e3f0bf","elementConfiguration":{"binding":"{{FormatDateTime(Form.Date,Translate(\"DateFormat\"),DocumentLanguage)}}","type":"text","disableUpdates":false}},{"type":"shape","id":"82521580-3cb5-4a4b-8383-ffa8620c9e28","elementConfiguration":{"binding":"{{Form.Footer}}","type":"text","disableUpdates":false}},{"type":"shape","id":"98f65843-8754-4b5b-8931-09667ac59bb2","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57fa69e2-e601-4bd0-9df7-d22060b419e4","elementConfiguration":{"binding":"{{UserProfile.Department.DepartmentName}}","visibility":"{{IfElse(Form.FooterLogo, VisibilityType.Hidden,VisibilityType.Visible)}}","type":"text","disableUpdates":false}},{"type":"shape","id":"c9dac91e-5ebd-45da-9bcc-81ff89bbac85","elementConfiguration":{"binding":"{{FormatDateTime(Form.Date,Translate(\"DateFormat\"),DocumentLanguage)}}","type":"text","disableUpdates":false}},{"type":"shape","id":"b3e9e11c-3587-4ed3-8daa-a5e24e1d55f2","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3e52716e-0e5c-470b-b521-4ace67d1a08e","elementConfiguration":{"binding":"{{Form.Footer}}","type":"text","disableUpdates":false}},{"type":"shape","id":"0ff56024-4d1f-4773-bfc1-9ba6a6a51b39","elementConfiguration":{"binding":"{{UserProfile.Department.DepartmentName}}","visibility":"{{IfElse(Form.FooterLogo, VisibilityType.Hidden,VisibilityType.Visible)}}","type":"text","disableUpdates":false}}],"transformationConfigurations":[{"language":"{{UserProfile.DocumentLanguage.Language}}","disableUpdates":false,"type":"proofingLanguage"},{"propertyName":"creator","propertyValue":"{{UserProfile.FirstName}} {{UserProfile.LastName}}","disableUpdates":false,"type":"documentProperty"},{"propertyName":"title","propertyValue":"Presentation - University of St.Gallen","disableUpdates":false,"type":"documentProperty"}],"templateName":"UNISG Präsentation","templateDescription":"","enableDocumentContentUpdater":true,"version":"2.0"}]]></TemplafyTemplateConfiguration>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7c8a24f-8b40-44ca-950f-ae5db2c4fa23">
      <Terms xmlns="http://schemas.microsoft.com/office/infopath/2007/PartnerControls"/>
    </lcf76f155ced4ddcb4097134ff3c332f>
    <TaxCatchAll xmlns="71d337dc-809a-4269-a690-d6cd31b4acd0" xsi:nil="true"/>
  </documentManagement>
</p:properties>
</file>

<file path=customXml/item3.xml><?xml version="1.0" encoding="utf-8"?>
<TemplafySlideFormConfiguration><![CDATA[{"formFields":[],"formDataEntries":[]}]]></TemplafySlideFormConfiguration>
</file>

<file path=customXml/item4.xml><?xml version="1.0" encoding="utf-8"?>
<Templafy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name":"Date","value":"GWQNnVvw4p+d5nt4iqNbow=="},{"name":"Footer","value":"iK6lkyMB5lod1GJZ+MBE/w=="},{"name":"FooterLogo","value":"iTzqZGj1P6MRGUQq8ahlhA=="}]}]]></Templafy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34C2EED3AEDAB24AB48AF05A7A255DF4" ma:contentTypeVersion="21" ma:contentTypeDescription="Create a new document." ma:contentTypeScope="" ma:versionID="274d9017fadbcc8b67afbe4b22a55600">
  <xsd:schema xmlns:xsd="http://www.w3.org/2001/XMLSchema" xmlns:xs="http://www.w3.org/2001/XMLSchema" xmlns:p="http://schemas.microsoft.com/office/2006/metadata/properties" xmlns:ns2="07c8a24f-8b40-44ca-950f-ae5db2c4fa23" xmlns:ns3="71d337dc-809a-4269-a690-d6cd31b4acd0" targetNamespace="http://schemas.microsoft.com/office/2006/metadata/properties" ma:root="true" ma:fieldsID="0b58614a3de855f8a451fa93eb2e43b4" ns2:_="" ns3:_="">
    <xsd:import namespace="07c8a24f-8b40-44ca-950f-ae5db2c4fa23"/>
    <xsd:import namespace="71d337dc-809a-4269-a690-d6cd31b4acd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c8a24f-8b40-44ca-950f-ae5db2c4f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a650111-7fb8-408c-8449-112adb6e2edd"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d337dc-809a-4269-a690-d6cd31b4acd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f3f5698-4e7b-49a9-bf00-a8b38c5133ff}" ma:internalName="TaxCatchAll" ma:showField="CatchAllData" ma:web="71d337dc-809a-4269-a690-d6cd31b4a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6457","enableDocumentContentUpdater":true,"version":"2.0"}]]></TemplafySlideTemplateConfiguration>
</file>

<file path=customXml/itemProps1.xml><?xml version="1.0" encoding="utf-8"?>
<ds:datastoreItem xmlns:ds="http://schemas.openxmlformats.org/officeDocument/2006/customXml" ds:itemID="{DD23DDCC-ABAF-42D1-9CB2-07E72D883C32}">
  <ds:schemaRefs/>
</ds:datastoreItem>
</file>

<file path=customXml/itemProps2.xml><?xml version="1.0" encoding="utf-8"?>
<ds:datastoreItem xmlns:ds="http://schemas.openxmlformats.org/officeDocument/2006/customXml" ds:itemID="{6567BD5C-CC0C-4648-BED2-6CE28F06E5A9}">
  <ds:schemaRefs>
    <ds:schemaRef ds:uri="71d337dc-809a-4269-a690-d6cd31b4acd0"/>
    <ds:schemaRef ds:uri="http://purl.org/dc/dcmitype/"/>
    <ds:schemaRef ds:uri="http://schemas.microsoft.com/office/2006/documentManagement/types"/>
    <ds:schemaRef ds:uri="http://schemas.microsoft.com/office/infopath/2007/PartnerControls"/>
    <ds:schemaRef ds:uri="http://schemas.microsoft.com/office/2006/metadata/properties"/>
    <ds:schemaRef ds:uri="07c8a24f-8b40-44ca-950f-ae5db2c4fa23"/>
    <ds:schemaRef ds:uri="http://purl.org/dc/elements/1.1/"/>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EEC5A0E2-D785-49C7-B13F-357B56B32321}">
  <ds:schemaRefs/>
</ds:datastoreItem>
</file>

<file path=customXml/itemProps4.xml><?xml version="1.0" encoding="utf-8"?>
<ds:datastoreItem xmlns:ds="http://schemas.openxmlformats.org/officeDocument/2006/customXml" ds:itemID="{9BA6235D-7E1A-4B9C-ADE5-24E162A87D03}">
  <ds:schemaRefs/>
</ds:datastoreItem>
</file>

<file path=customXml/itemProps5.xml><?xml version="1.0" encoding="utf-8"?>
<ds:datastoreItem xmlns:ds="http://schemas.openxmlformats.org/officeDocument/2006/customXml" ds:itemID="{329B48A9-5067-463C-80F4-7C90FDDEC2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c8a24f-8b40-44ca-950f-ae5db2c4fa23"/>
    <ds:schemaRef ds:uri="71d337dc-809a-4269-a690-d6cd31b4ac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ED2A37DE-9640-4BAD-87EB-02349D3561C8}">
  <ds:schemaRefs>
    <ds:schemaRef ds:uri="http://schemas.microsoft.com/sharepoint/v3/contenttype/forms"/>
  </ds:schemaRefs>
</ds:datastoreItem>
</file>

<file path=customXml/itemProps7.xml><?xml version="1.0" encoding="utf-8"?>
<ds:datastoreItem xmlns:ds="http://schemas.openxmlformats.org/officeDocument/2006/customXml" ds:itemID="{9F4CC4C9-BB74-44FC-A406-BC7313C6CC46}">
  <ds:schemaRefs/>
</ds:datastoreItem>
</file>

<file path=docProps/app.xml><?xml version="1.0" encoding="utf-8"?>
<Properties xmlns="http://schemas.openxmlformats.org/officeDocument/2006/extended-properties" xmlns:vt="http://schemas.openxmlformats.org/officeDocument/2006/docPropsVTypes">
  <Template>uni_stgallen_master_01</Template>
  <TotalTime>148</TotalTime>
  <Words>1898</Words>
  <Application>Microsoft Macintosh PowerPoint</Application>
  <PresentationFormat>On-screen Show (16:9)</PresentationFormat>
  <Paragraphs>286</Paragraphs>
  <Slides>15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4" baseType="lpstr">
      <vt:lpstr>Arial</vt:lpstr>
      <vt:lpstr>Calibri</vt:lpstr>
      <vt:lpstr>Gill Alt One MT Light</vt:lpstr>
      <vt:lpstr>Gill Sans Nova</vt:lpstr>
      <vt:lpstr>Gill Sans Nova Light</vt:lpstr>
      <vt:lpstr>Lato</vt:lpstr>
      <vt:lpstr>Wingdings</vt:lpstr>
      <vt:lpstr>UNISG PPT</vt:lpstr>
      <vt:lpstr>think-cell Slide</vt:lpstr>
      <vt:lpstr>Research Seminar – Question Suggestion in Financial Institutions</vt:lpstr>
      <vt:lpstr>Proposed research question &amp; hypotheses</vt:lpstr>
      <vt:lpstr>Overview of the economic intuition</vt:lpstr>
      <vt:lpstr>Academic papers supporting the theory (1/2)</vt:lpstr>
      <vt:lpstr>Academic papers supporting the theory (2/2)</vt:lpstr>
      <vt:lpstr>Academic papers on pension systems &amp; classification (1/2)</vt:lpstr>
      <vt:lpstr>Academic papers on pension systems &amp; classification (2/2)</vt:lpstr>
      <vt:lpstr>Datasets which may be used</vt:lpstr>
      <vt:lpstr>Components of the refined regression model</vt:lpstr>
      <vt:lpstr>Financial system structure as the key explanatory mechanism</vt:lpstr>
      <vt:lpstr>Additional considerations</vt:lpstr>
      <vt:lpstr>Controlling for pension systems: pension replacement rate</vt:lpstr>
      <vt:lpstr>Separating “where” and “how much”</vt:lpstr>
      <vt:lpstr>Motivation (TBD)</vt:lpstr>
      <vt:lpstr>Revised: components of the refined regression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University of St.Gallen</dc:title>
  <dc:creator>Noel Bruehlmann</dc:creator>
  <cp:lastModifiedBy>Brenni, Giovanni</cp:lastModifiedBy>
  <cp:revision>73</cp:revision>
  <dcterms:created xsi:type="dcterms:W3CDTF">2025-10-02T15:41:57Z</dcterms:created>
  <dcterms:modified xsi:type="dcterms:W3CDTF">2026-03-11T15:43:35Z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0x01010034C2EED3AEDAB24AB48AF05A7A255DF4</vt:lpwstr>
  </property>
  <property fmtid="{D5CDD505-2E9C-101B-9397-08002B2CF9AE}" pid="3" name="MediaServiceImageTags">
    <vt:lpwstr/>
  </property>
  <property fmtid="{D5CDD505-2E9C-101B-9397-08002B2CF9AE}" pid="4" name="TemplafyTimeStamp">
    <vt:lpwstr>2024-03-11T15:36:41</vt:lpwstr>
  </property>
  <property fmtid="{D5CDD505-2E9C-101B-9397-08002B2CF9AE}" pid="5" name="TemplafyTenantId">
    <vt:lpwstr>unisg</vt:lpwstr>
  </property>
  <property fmtid="{D5CDD505-2E9C-101B-9397-08002B2CF9AE}" pid="6" name="TemplafyTemplateId">
    <vt:lpwstr>637700762909751978</vt:lpwstr>
  </property>
  <property fmtid="{D5CDD505-2E9C-101B-9397-08002B2CF9AE}" pid="7" name="TemplafyUserProfileId">
    <vt:lpwstr>1044471381414641664</vt:lpwstr>
  </property>
  <property fmtid="{D5CDD505-2E9C-101B-9397-08002B2CF9AE}" pid="8" name="TemplafyLanguageCode">
    <vt:lpwstr>en-GB</vt:lpwstr>
  </property>
  <property fmtid="{D5CDD505-2E9C-101B-9397-08002B2CF9AE}" pid="9" name="TemplafyFromBlank">
    <vt:bool>false</vt:bool>
  </property>
</Properties>
</file>