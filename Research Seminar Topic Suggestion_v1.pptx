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8"/>
  </p:sldMasterIdLst>
  <p:notesMasterIdLst>
    <p:notesMasterId r:id="rId17"/>
  </p:notesMasterIdLst>
  <p:handoutMasterIdLst>
    <p:handoutMasterId r:id="rId18"/>
  </p:handoutMasterIdLst>
  <p:sldIdLst>
    <p:sldId id="299" r:id="rId9"/>
    <p:sldId id="302" r:id="rId10"/>
    <p:sldId id="307" r:id="rId11"/>
    <p:sldId id="306" r:id="rId12"/>
    <p:sldId id="309" r:id="rId13"/>
    <p:sldId id="304" r:id="rId14"/>
    <p:sldId id="305" r:id="rId15"/>
    <p:sldId id="308" r:id="rId16"/>
  </p:sldIdLst>
  <p:sldSz cx="9144000" cy="5143500" type="screen16x9"/>
  <p:notesSz cx="6858000" cy="9144000"/>
  <p:custDataLst>
    <p:tags r:id="rId19"/>
  </p:custDataLst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DFCB"/>
    <a:srgbClr val="E31C3D"/>
    <a:srgbClr val="F46A01"/>
    <a:srgbClr val="00802F"/>
    <a:srgbClr val="E1D7C3"/>
    <a:srgbClr val="FFF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877EB5-E803-4FC8-8091-A624CE05C0AE}" v="2" dt="2026-03-11T09:01:55.721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73" autoAdjust="0"/>
  </p:normalViewPr>
  <p:slideViewPr>
    <p:cSldViewPr snapToGrid="0" showGuides="1">
      <p:cViewPr varScale="1">
        <p:scale>
          <a:sx n="138" d="100"/>
          <a:sy n="138" d="100"/>
        </p:scale>
        <p:origin x="870" y="120"/>
      </p:cViewPr>
      <p:guideLst>
        <p:guide orient="horz" pos="1643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273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1.xml"/><Relationship Id="rId13" Type="http://schemas.openxmlformats.org/officeDocument/2006/relationships/slide" Target="slides/slide5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customXml" Target="../customXml/item7.xml"/><Relationship Id="rId12" Type="http://schemas.openxmlformats.org/officeDocument/2006/relationships/slide" Target="slides/slide4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3.xml"/><Relationship Id="rId24" Type="http://schemas.microsoft.com/office/2015/10/relationships/revisionInfo" Target="revisionInfo.xml"/><Relationship Id="rId5" Type="http://schemas.openxmlformats.org/officeDocument/2006/relationships/customXml" Target="../customXml/item5.xml"/><Relationship Id="rId15" Type="http://schemas.openxmlformats.org/officeDocument/2006/relationships/slide" Target="slides/slide7.xml"/><Relationship Id="rId23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45CE27-0FC1-4345-A9D1-813E9F3C96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FAFF02-ADA2-494F-92F2-18E0CD47E8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4C96F-5C6D-48ED-8D42-B768302B23AD}" type="datetimeFigureOut">
              <a:rPr lang="de-CH" smtClean="0"/>
              <a:t>11.03.2026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7311C-885A-4219-9687-E8E9C81D34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55352-F100-4DC1-827B-1EFA0F247A0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6BEFE-BF9F-47C0-9B2B-37E6860B00C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454366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D3A44-FA09-4C0A-99A6-1BA009890161}" type="datetimeFigureOut">
              <a:rPr lang="de-CH" smtClean="0"/>
              <a:t>11.03.2026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E3F1-1C0D-4780-BCDC-4F7033F6C9E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87218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skating, building, ramp, board&#10;&#10;Description automatically generated">
            <a:extLst>
              <a:ext uri="{FF2B5EF4-FFF2-40B4-BE49-F238E27FC236}">
                <a16:creationId xmlns:a16="http://schemas.microsoft.com/office/drawing/2014/main" id="{9F7E1813-5682-4AAE-8DC8-5A613DE12B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9" r="7910" b="19850"/>
          <a:stretch/>
        </p:blipFill>
        <p:spPr>
          <a:xfrm>
            <a:off x="0" y="0"/>
            <a:ext cx="9136420" cy="514350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3D7A234-EBF8-4A9A-ACFF-4329BD747ADC}"/>
              </a:ext>
            </a:extLst>
          </p:cNvPr>
          <p:cNvSpPr>
            <a:spLocks noChangeAspect="1"/>
          </p:cNvSpPr>
          <p:nvPr userDrawn="1"/>
        </p:nvSpPr>
        <p:spPr>
          <a:xfrm>
            <a:off x="4575791" y="3166310"/>
            <a:ext cx="4568210" cy="5009983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B6FC2A-29C4-4742-B32D-604659C0CB22}"/>
              </a:ext>
            </a:extLst>
          </p:cNvPr>
          <p:cNvSpPr txBox="1"/>
          <p:nvPr userDrawn="1"/>
        </p:nvSpPr>
        <p:spPr>
          <a:xfrm>
            <a:off x="6789318" y="4613375"/>
            <a:ext cx="199590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1000" dirty="0">
                <a:solidFill>
                  <a:schemeClr val="bg2"/>
                </a:solidFill>
              </a:rPr>
              <a:t>From insight to impact.</a:t>
            </a:r>
          </a:p>
        </p:txBody>
      </p:sp>
      <p:pic>
        <p:nvPicPr>
          <p:cNvPr id="1703305363" name="Rectangle 2" descr="{&quot;templafy&quot;:{&quot;id&quot;:&quot;e71f292f-c887-405d-8ce7-c2554695bcfc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73" y="313025"/>
            <a:ext cx="2221200" cy="4608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891F29F-BED8-4555-9938-829D3AC33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15" y="1098178"/>
            <a:ext cx="7958210" cy="1792800"/>
          </a:xfrm>
        </p:spPr>
        <p:txBody>
          <a:bodyPr anchor="b"/>
          <a:lstStyle>
            <a:lvl1pPr>
              <a:lnSpc>
                <a:spcPts val="4200"/>
              </a:lnSpc>
              <a:defRPr sz="4000">
                <a:latin typeface="Gill Sans Nova Light" panose="020B03020201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654089-CB0E-4321-8557-8E0B4ACD84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1027" y="3123868"/>
            <a:ext cx="3650486" cy="1356057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spcAft>
                <a:spcPts val="0"/>
              </a:spcAft>
              <a:buNone/>
              <a:defRPr sz="1600"/>
            </a:lvl2pPr>
            <a:lvl3pPr marL="0" indent="0">
              <a:spcAft>
                <a:spcPts val="0"/>
              </a:spcAft>
              <a:buNone/>
              <a:defRPr sz="1600"/>
            </a:lvl3pPr>
            <a:lvl4pPr marL="0" indent="0">
              <a:spcAft>
                <a:spcPts val="0"/>
              </a:spcAft>
              <a:buNone/>
              <a:defRPr sz="1600"/>
            </a:lvl4pPr>
            <a:lvl5pPr marL="0" indent="0"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5765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9B6FC2A-29C4-4742-B32D-604659C0CB22}"/>
              </a:ext>
            </a:extLst>
          </p:cNvPr>
          <p:cNvSpPr txBox="1"/>
          <p:nvPr userDrawn="1"/>
        </p:nvSpPr>
        <p:spPr>
          <a:xfrm>
            <a:off x="828000" y="4613375"/>
            <a:ext cx="19975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1000" dirty="0">
                <a:solidFill>
                  <a:schemeClr val="tx1"/>
                </a:solidFill>
              </a:rPr>
              <a:t>From </a:t>
            </a:r>
            <a:r>
              <a:rPr lang="en-GB" sz="1000" dirty="0" err="1">
                <a:solidFill>
                  <a:schemeClr val="tx1"/>
                </a:solidFill>
              </a:rPr>
              <a:t>insight</a:t>
            </a:r>
            <a:r>
              <a:rPr lang="en-GB" sz="1000" dirty="0">
                <a:solidFill>
                  <a:schemeClr val="tx1"/>
                </a:solidFill>
              </a:rPr>
              <a:t> </a:t>
            </a:r>
            <a:r>
              <a:rPr lang="en-GB" sz="1000" dirty="0" err="1">
                <a:solidFill>
                  <a:schemeClr val="tx1"/>
                </a:solidFill>
              </a:rPr>
              <a:t>to</a:t>
            </a:r>
            <a:r>
              <a:rPr lang="en-GB" sz="1000" dirty="0">
                <a:solidFill>
                  <a:schemeClr val="tx1"/>
                </a:solidFill>
              </a:rPr>
              <a:t> </a:t>
            </a:r>
            <a:r>
              <a:rPr lang="en-GB" sz="1000" dirty="0" err="1">
                <a:solidFill>
                  <a:schemeClr val="tx1"/>
                </a:solidFill>
              </a:rPr>
              <a:t>impact</a:t>
            </a:r>
            <a:r>
              <a:rPr lang="en-GB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CACC6D5-D1D4-442A-84CB-4AA5E5B9EC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65200" y="0"/>
            <a:ext cx="3178800" cy="51435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pic>
        <p:nvPicPr>
          <p:cNvPr id="1311272286" name="Rectangle 8" descr="{&quot;templafy&quot;:{&quot;id&quot;:&quot;51713646-4b5d-4189-98b0-0b0bb394ba3a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313025"/>
            <a:ext cx="2221200" cy="460800"/>
          </a:xfrm>
          <a:prstGeom prst="rect">
            <a:avLst/>
          </a:prstGeom>
        </p:spPr>
      </p:pic>
      <p:sp>
        <p:nvSpPr>
          <p:cNvPr id="10" name="Title 4">
            <a:extLst>
              <a:ext uri="{FF2B5EF4-FFF2-40B4-BE49-F238E27FC236}">
                <a16:creationId xmlns:a16="http://schemas.microsoft.com/office/drawing/2014/main" id="{80E529E2-449E-41BE-B0F7-70294EC17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13" y="1276350"/>
            <a:ext cx="4764489" cy="1942874"/>
          </a:xfrm>
        </p:spPr>
        <p:txBody>
          <a:bodyPr anchor="b"/>
          <a:lstStyle>
            <a:lvl1pPr>
              <a:lnSpc>
                <a:spcPts val="4200"/>
              </a:lnSpc>
              <a:defRPr sz="4000">
                <a:latin typeface="Gill Sans Nova Light" panose="020B03020201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3CEDF5E3-A68C-469F-902C-69F694A0D4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1027" y="3452115"/>
            <a:ext cx="3034391" cy="1027810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spcAft>
                <a:spcPts val="0"/>
              </a:spcAft>
              <a:buNone/>
              <a:defRPr sz="1600"/>
            </a:lvl2pPr>
            <a:lvl3pPr marL="0" indent="0">
              <a:spcAft>
                <a:spcPts val="0"/>
              </a:spcAft>
              <a:buNone/>
              <a:defRPr sz="1600"/>
            </a:lvl3pPr>
            <a:lvl4pPr marL="0" indent="0">
              <a:spcAft>
                <a:spcPts val="0"/>
              </a:spcAft>
              <a:buNone/>
              <a:defRPr sz="1600"/>
            </a:lvl4pPr>
            <a:lvl5pPr marL="0" indent="0"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90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9">
            <a:extLst>
              <a:ext uri="{FF2B5EF4-FFF2-40B4-BE49-F238E27FC236}">
                <a16:creationId xmlns:a16="http://schemas.microsoft.com/office/drawing/2014/main" id="{2B100237-7431-49D0-8F7C-9E1F2717B96C}"/>
              </a:ext>
            </a:extLst>
          </p:cNvPr>
          <p:cNvSpPr/>
          <p:nvPr userDrawn="1"/>
        </p:nvSpPr>
        <p:spPr>
          <a:xfrm>
            <a:off x="5761585" y="1624745"/>
            <a:ext cx="2419577" cy="2689737"/>
          </a:xfrm>
          <a:custGeom>
            <a:avLst/>
            <a:gdLst>
              <a:gd name="connsiteX0" fmla="*/ 0 w 1861343"/>
              <a:gd name="connsiteY0" fmla="*/ 0 h 2329962"/>
              <a:gd name="connsiteX1" fmla="*/ 1861343 w 1861343"/>
              <a:gd name="connsiteY1" fmla="*/ 0 h 2329962"/>
              <a:gd name="connsiteX2" fmla="*/ 1861343 w 1861343"/>
              <a:gd name="connsiteY2" fmla="*/ 2329962 h 2329962"/>
              <a:gd name="connsiteX3" fmla="*/ 0 w 1861343"/>
              <a:gd name="connsiteY3" fmla="*/ 2329962 h 2329962"/>
              <a:gd name="connsiteX4" fmla="*/ 0 w 1861343"/>
              <a:gd name="connsiteY4" fmla="*/ 0 h 2329962"/>
              <a:gd name="connsiteX0" fmla="*/ 0 w 3408789"/>
              <a:gd name="connsiteY0" fmla="*/ 852854 h 2329962"/>
              <a:gd name="connsiteX1" fmla="*/ 3408789 w 3408789"/>
              <a:gd name="connsiteY1" fmla="*/ 0 h 2329962"/>
              <a:gd name="connsiteX2" fmla="*/ 3408789 w 3408789"/>
              <a:gd name="connsiteY2" fmla="*/ 2329962 h 2329962"/>
              <a:gd name="connsiteX3" fmla="*/ 1547446 w 3408789"/>
              <a:gd name="connsiteY3" fmla="*/ 2329962 h 2329962"/>
              <a:gd name="connsiteX4" fmla="*/ 0 w 3408789"/>
              <a:gd name="connsiteY4" fmla="*/ 852854 h 2329962"/>
              <a:gd name="connsiteX0" fmla="*/ 0 w 3408789"/>
              <a:gd name="connsiteY0" fmla="*/ 852854 h 3516924"/>
              <a:gd name="connsiteX1" fmla="*/ 3408789 w 3408789"/>
              <a:gd name="connsiteY1" fmla="*/ 0 h 3516924"/>
              <a:gd name="connsiteX2" fmla="*/ 3408789 w 3408789"/>
              <a:gd name="connsiteY2" fmla="*/ 2329962 h 3516924"/>
              <a:gd name="connsiteX3" fmla="*/ 483577 w 3408789"/>
              <a:gd name="connsiteY3" fmla="*/ 3516924 h 3516924"/>
              <a:gd name="connsiteX4" fmla="*/ 0 w 3408789"/>
              <a:gd name="connsiteY4" fmla="*/ 852854 h 3516924"/>
              <a:gd name="connsiteX0" fmla="*/ 0 w 3417582"/>
              <a:gd name="connsiteY0" fmla="*/ 852854 h 3789485"/>
              <a:gd name="connsiteX1" fmla="*/ 3408789 w 3417582"/>
              <a:gd name="connsiteY1" fmla="*/ 0 h 3789485"/>
              <a:gd name="connsiteX2" fmla="*/ 3417582 w 3417582"/>
              <a:gd name="connsiteY2" fmla="*/ 3789485 h 3789485"/>
              <a:gd name="connsiteX3" fmla="*/ 483577 w 3417582"/>
              <a:gd name="connsiteY3" fmla="*/ 3516924 h 3789485"/>
              <a:gd name="connsiteX4" fmla="*/ 0 w 3417582"/>
              <a:gd name="connsiteY4" fmla="*/ 852854 h 3789485"/>
              <a:gd name="connsiteX0" fmla="*/ 0 w 3417582"/>
              <a:gd name="connsiteY0" fmla="*/ 852854 h 3789485"/>
              <a:gd name="connsiteX1" fmla="*/ 3408789 w 3417582"/>
              <a:gd name="connsiteY1" fmla="*/ 0 h 3789485"/>
              <a:gd name="connsiteX2" fmla="*/ 3417582 w 3417582"/>
              <a:gd name="connsiteY2" fmla="*/ 3789485 h 3789485"/>
              <a:gd name="connsiteX3" fmla="*/ 501162 w 3417582"/>
              <a:gd name="connsiteY3" fmla="*/ 3570549 h 3789485"/>
              <a:gd name="connsiteX4" fmla="*/ 0 w 3417582"/>
              <a:gd name="connsiteY4" fmla="*/ 852854 h 3789485"/>
              <a:gd name="connsiteX0" fmla="*/ 0 w 3408789"/>
              <a:gd name="connsiteY0" fmla="*/ 852854 h 3852049"/>
              <a:gd name="connsiteX1" fmla="*/ 3408789 w 3408789"/>
              <a:gd name="connsiteY1" fmla="*/ 0 h 3852049"/>
              <a:gd name="connsiteX2" fmla="*/ 3399997 w 3408789"/>
              <a:gd name="connsiteY2" fmla="*/ 3852049 h 3852049"/>
              <a:gd name="connsiteX3" fmla="*/ 501162 w 3408789"/>
              <a:gd name="connsiteY3" fmla="*/ 3570549 h 3852049"/>
              <a:gd name="connsiteX4" fmla="*/ 0 w 3408789"/>
              <a:gd name="connsiteY4" fmla="*/ 852854 h 3852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08789" h="3852049">
                <a:moveTo>
                  <a:pt x="0" y="852854"/>
                </a:moveTo>
                <a:lnTo>
                  <a:pt x="3408789" y="0"/>
                </a:lnTo>
                <a:cubicBezTo>
                  <a:pt x="3405858" y="1284016"/>
                  <a:pt x="3402928" y="2568033"/>
                  <a:pt x="3399997" y="3852049"/>
                </a:cubicBezTo>
                <a:lnTo>
                  <a:pt x="501162" y="3570549"/>
                </a:lnTo>
                <a:lnTo>
                  <a:pt x="0" y="852854"/>
                </a:lnTo>
                <a:close/>
              </a:path>
            </a:pathLst>
          </a:cu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9714C5-06E3-4370-A728-9DC7B080DE43}"/>
              </a:ext>
            </a:extLst>
          </p:cNvPr>
          <p:cNvSpPr txBox="1"/>
          <p:nvPr userDrawn="1"/>
        </p:nvSpPr>
        <p:spPr>
          <a:xfrm>
            <a:off x="6787662" y="4613375"/>
            <a:ext cx="19975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1000" dirty="0">
                <a:solidFill>
                  <a:schemeClr val="tx1"/>
                </a:solidFill>
              </a:rPr>
              <a:t>From </a:t>
            </a:r>
            <a:r>
              <a:rPr lang="en-GB" sz="1000" dirty="0" err="1">
                <a:solidFill>
                  <a:schemeClr val="tx1"/>
                </a:solidFill>
              </a:rPr>
              <a:t>insight</a:t>
            </a:r>
            <a:r>
              <a:rPr lang="en-GB" sz="1000" dirty="0">
                <a:solidFill>
                  <a:schemeClr val="tx1"/>
                </a:solidFill>
              </a:rPr>
              <a:t> </a:t>
            </a:r>
            <a:r>
              <a:rPr lang="en-GB" sz="1000" dirty="0" err="1">
                <a:solidFill>
                  <a:schemeClr val="tx1"/>
                </a:solidFill>
              </a:rPr>
              <a:t>to</a:t>
            </a:r>
            <a:r>
              <a:rPr lang="en-GB" sz="1000" dirty="0">
                <a:solidFill>
                  <a:schemeClr val="tx1"/>
                </a:solidFill>
              </a:rPr>
              <a:t> </a:t>
            </a:r>
            <a:r>
              <a:rPr lang="en-GB" sz="1000" dirty="0" err="1">
                <a:solidFill>
                  <a:schemeClr val="tx1"/>
                </a:solidFill>
              </a:rPr>
              <a:t>impact</a:t>
            </a:r>
            <a:r>
              <a:rPr lang="en-GB" sz="10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057249515" name="Rectangle 7" descr="{&quot;templafy&quot;:{&quot;id&quot;:&quot;5cce6515-ac04-4d9a-8376-12efa4e71373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313025"/>
            <a:ext cx="2221200" cy="460800"/>
          </a:xfrm>
          <a:prstGeom prst="rect">
            <a:avLst/>
          </a:prstGeom>
        </p:spPr>
      </p:pic>
      <p:sp>
        <p:nvSpPr>
          <p:cNvPr id="13" name="Title 4">
            <a:extLst>
              <a:ext uri="{FF2B5EF4-FFF2-40B4-BE49-F238E27FC236}">
                <a16:creationId xmlns:a16="http://schemas.microsoft.com/office/drawing/2014/main" id="{77013848-41F0-44AD-9301-BEF9A1A48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13" y="1276350"/>
            <a:ext cx="4503600" cy="1942874"/>
          </a:xfrm>
        </p:spPr>
        <p:txBody>
          <a:bodyPr anchor="b"/>
          <a:lstStyle>
            <a:lvl1pPr>
              <a:lnSpc>
                <a:spcPts val="4200"/>
              </a:lnSpc>
              <a:defRPr sz="4000">
                <a:latin typeface="Gill Sans Nova Light" panose="020B03020201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245421C-670F-4227-B79D-994FE547F9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1027" y="3452115"/>
            <a:ext cx="3650486" cy="1027810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spcAft>
                <a:spcPts val="0"/>
              </a:spcAft>
              <a:buNone/>
              <a:defRPr sz="1600"/>
            </a:lvl2pPr>
            <a:lvl3pPr marL="0" indent="0">
              <a:spcAft>
                <a:spcPts val="0"/>
              </a:spcAft>
              <a:buNone/>
              <a:defRPr sz="1600"/>
            </a:lvl3pPr>
            <a:lvl4pPr marL="0" indent="0">
              <a:spcAft>
                <a:spcPts val="0"/>
              </a:spcAft>
              <a:buNone/>
              <a:defRPr sz="1600"/>
            </a:lvl4pPr>
            <a:lvl5pPr marL="0" indent="0"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endParaRPr lang="en-GB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334A812-F883-AF52-F92E-916B48E7D3E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52800" y="447950"/>
            <a:ext cx="3404886" cy="3798786"/>
          </a:xfrm>
          <a:custGeom>
            <a:avLst/>
            <a:gdLst>
              <a:gd name="connsiteX0" fmla="*/ 0 w 3392932"/>
              <a:gd name="connsiteY0" fmla="*/ 0 h 3804762"/>
              <a:gd name="connsiteX1" fmla="*/ 3392932 w 3392932"/>
              <a:gd name="connsiteY1" fmla="*/ 0 h 3804762"/>
              <a:gd name="connsiteX2" fmla="*/ 3392932 w 3392932"/>
              <a:gd name="connsiteY2" fmla="*/ 3804762 h 3804762"/>
              <a:gd name="connsiteX3" fmla="*/ 0 w 3392932"/>
              <a:gd name="connsiteY3" fmla="*/ 3804762 h 3804762"/>
              <a:gd name="connsiteX4" fmla="*/ 0 w 3392932"/>
              <a:gd name="connsiteY4" fmla="*/ 0 h 3804762"/>
              <a:gd name="connsiteX0" fmla="*/ 741082 w 3392932"/>
              <a:gd name="connsiteY0" fmla="*/ 753035 h 3804762"/>
              <a:gd name="connsiteX1" fmla="*/ 3392932 w 3392932"/>
              <a:gd name="connsiteY1" fmla="*/ 0 h 3804762"/>
              <a:gd name="connsiteX2" fmla="*/ 3392932 w 3392932"/>
              <a:gd name="connsiteY2" fmla="*/ 3804762 h 3804762"/>
              <a:gd name="connsiteX3" fmla="*/ 0 w 3392932"/>
              <a:gd name="connsiteY3" fmla="*/ 3804762 h 3804762"/>
              <a:gd name="connsiteX4" fmla="*/ 741082 w 3392932"/>
              <a:gd name="connsiteY4" fmla="*/ 753035 h 3804762"/>
              <a:gd name="connsiteX0" fmla="*/ 0 w 2651850"/>
              <a:gd name="connsiteY0" fmla="*/ 753035 h 3804762"/>
              <a:gd name="connsiteX1" fmla="*/ 2651850 w 2651850"/>
              <a:gd name="connsiteY1" fmla="*/ 0 h 3804762"/>
              <a:gd name="connsiteX2" fmla="*/ 2651850 w 2651850"/>
              <a:gd name="connsiteY2" fmla="*/ 3804762 h 3804762"/>
              <a:gd name="connsiteX3" fmla="*/ 29883 w 2651850"/>
              <a:gd name="connsiteY3" fmla="*/ 3380433 h 3804762"/>
              <a:gd name="connsiteX4" fmla="*/ 0 w 2651850"/>
              <a:gd name="connsiteY4" fmla="*/ 753035 h 3804762"/>
              <a:gd name="connsiteX0" fmla="*/ 239058 w 2890908"/>
              <a:gd name="connsiteY0" fmla="*/ 753035 h 3804762"/>
              <a:gd name="connsiteX1" fmla="*/ 2890908 w 2890908"/>
              <a:gd name="connsiteY1" fmla="*/ 0 h 3804762"/>
              <a:gd name="connsiteX2" fmla="*/ 2890908 w 2890908"/>
              <a:gd name="connsiteY2" fmla="*/ 3804762 h 3804762"/>
              <a:gd name="connsiteX3" fmla="*/ 0 w 2890908"/>
              <a:gd name="connsiteY3" fmla="*/ 3517892 h 3804762"/>
              <a:gd name="connsiteX4" fmla="*/ 239058 w 2890908"/>
              <a:gd name="connsiteY4" fmla="*/ 753035 h 3804762"/>
              <a:gd name="connsiteX0" fmla="*/ 0 w 3410862"/>
              <a:gd name="connsiteY0" fmla="*/ 842682 h 3804762"/>
              <a:gd name="connsiteX1" fmla="*/ 3410862 w 3410862"/>
              <a:gd name="connsiteY1" fmla="*/ 0 h 3804762"/>
              <a:gd name="connsiteX2" fmla="*/ 3410862 w 3410862"/>
              <a:gd name="connsiteY2" fmla="*/ 3804762 h 3804762"/>
              <a:gd name="connsiteX3" fmla="*/ 519954 w 3410862"/>
              <a:gd name="connsiteY3" fmla="*/ 3517892 h 3804762"/>
              <a:gd name="connsiteX4" fmla="*/ 0 w 3410862"/>
              <a:gd name="connsiteY4" fmla="*/ 842682 h 3804762"/>
              <a:gd name="connsiteX0" fmla="*/ 0 w 3410862"/>
              <a:gd name="connsiteY0" fmla="*/ 842682 h 3517892"/>
              <a:gd name="connsiteX1" fmla="*/ 3410862 w 3410862"/>
              <a:gd name="connsiteY1" fmla="*/ 0 h 3517892"/>
              <a:gd name="connsiteX2" fmla="*/ 3034344 w 3410862"/>
              <a:gd name="connsiteY2" fmla="*/ 3398362 h 3517892"/>
              <a:gd name="connsiteX3" fmla="*/ 519954 w 3410862"/>
              <a:gd name="connsiteY3" fmla="*/ 3517892 h 3517892"/>
              <a:gd name="connsiteX4" fmla="*/ 0 w 3410862"/>
              <a:gd name="connsiteY4" fmla="*/ 842682 h 3517892"/>
              <a:gd name="connsiteX0" fmla="*/ 0 w 3410862"/>
              <a:gd name="connsiteY0" fmla="*/ 842682 h 3774879"/>
              <a:gd name="connsiteX1" fmla="*/ 3410862 w 3410862"/>
              <a:gd name="connsiteY1" fmla="*/ 0 h 3774879"/>
              <a:gd name="connsiteX2" fmla="*/ 3410862 w 3410862"/>
              <a:gd name="connsiteY2" fmla="*/ 3774879 h 3774879"/>
              <a:gd name="connsiteX3" fmla="*/ 519954 w 3410862"/>
              <a:gd name="connsiteY3" fmla="*/ 3517892 h 3774879"/>
              <a:gd name="connsiteX4" fmla="*/ 0 w 3410862"/>
              <a:gd name="connsiteY4" fmla="*/ 842682 h 3774879"/>
              <a:gd name="connsiteX0" fmla="*/ 0 w 3410862"/>
              <a:gd name="connsiteY0" fmla="*/ 842682 h 3810738"/>
              <a:gd name="connsiteX1" fmla="*/ 3410862 w 3410862"/>
              <a:gd name="connsiteY1" fmla="*/ 0 h 3810738"/>
              <a:gd name="connsiteX2" fmla="*/ 3404886 w 3410862"/>
              <a:gd name="connsiteY2" fmla="*/ 3810738 h 3810738"/>
              <a:gd name="connsiteX3" fmla="*/ 519954 w 3410862"/>
              <a:gd name="connsiteY3" fmla="*/ 3517892 h 3810738"/>
              <a:gd name="connsiteX4" fmla="*/ 0 w 3410862"/>
              <a:gd name="connsiteY4" fmla="*/ 842682 h 3810738"/>
              <a:gd name="connsiteX0" fmla="*/ 0 w 3404886"/>
              <a:gd name="connsiteY0" fmla="*/ 280894 h 3248950"/>
              <a:gd name="connsiteX1" fmla="*/ 3135945 w 3404886"/>
              <a:gd name="connsiteY1" fmla="*/ 0 h 3248950"/>
              <a:gd name="connsiteX2" fmla="*/ 3404886 w 3404886"/>
              <a:gd name="connsiteY2" fmla="*/ 3248950 h 3248950"/>
              <a:gd name="connsiteX3" fmla="*/ 519954 w 3404886"/>
              <a:gd name="connsiteY3" fmla="*/ 2956104 h 3248950"/>
              <a:gd name="connsiteX4" fmla="*/ 0 w 3404886"/>
              <a:gd name="connsiteY4" fmla="*/ 280894 h 3248950"/>
              <a:gd name="connsiteX0" fmla="*/ 0 w 3404886"/>
              <a:gd name="connsiteY0" fmla="*/ 830730 h 3798786"/>
              <a:gd name="connsiteX1" fmla="*/ 3404886 w 3404886"/>
              <a:gd name="connsiteY1" fmla="*/ 0 h 3798786"/>
              <a:gd name="connsiteX2" fmla="*/ 3404886 w 3404886"/>
              <a:gd name="connsiteY2" fmla="*/ 3798786 h 3798786"/>
              <a:gd name="connsiteX3" fmla="*/ 519954 w 3404886"/>
              <a:gd name="connsiteY3" fmla="*/ 3505940 h 3798786"/>
              <a:gd name="connsiteX4" fmla="*/ 0 w 3404886"/>
              <a:gd name="connsiteY4" fmla="*/ 830730 h 3798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04886" h="3798786">
                <a:moveTo>
                  <a:pt x="0" y="830730"/>
                </a:moveTo>
                <a:lnTo>
                  <a:pt x="3404886" y="0"/>
                </a:lnTo>
                <a:lnTo>
                  <a:pt x="3404886" y="3798786"/>
                </a:lnTo>
                <a:lnTo>
                  <a:pt x="519954" y="3505940"/>
                </a:lnTo>
                <a:lnTo>
                  <a:pt x="0" y="8307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4516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skating, building, ramp, board&#10;&#10;Description automatically generated">
            <a:extLst>
              <a:ext uri="{FF2B5EF4-FFF2-40B4-BE49-F238E27FC236}">
                <a16:creationId xmlns:a16="http://schemas.microsoft.com/office/drawing/2014/main" id="{71655C6F-D683-4181-8A76-C2CF9E2F41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763"/>
          <a:stretch/>
        </p:blipFill>
        <p:spPr>
          <a:xfrm>
            <a:off x="5963683" y="0"/>
            <a:ext cx="3180318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9D5294-8509-42D7-B32F-8FB3BCBBB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5" y="376238"/>
            <a:ext cx="5464509" cy="675727"/>
          </a:xfrm>
        </p:spPr>
        <p:txBody>
          <a:bodyPr/>
          <a:lstStyle>
            <a:lvl1pPr>
              <a:lnSpc>
                <a:spcPts val="4400"/>
              </a:lnSpc>
              <a:defRPr sz="4000">
                <a:latin typeface="Gill Sans Nova Light" panose="020B0302020104020203" pitchFamily="34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3237B-A6D8-401E-A0E8-75ED37DDC0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1276350"/>
            <a:ext cx="5000404" cy="3203575"/>
          </a:xfrm>
        </p:spPr>
        <p:txBody>
          <a:bodyPr>
            <a:normAutofit/>
          </a:bodyPr>
          <a:lstStyle>
            <a:lvl1pPr marL="396000" indent="-396000">
              <a:spcAft>
                <a:spcPts val="600"/>
              </a:spcAft>
              <a:buFont typeface="+mj-lt"/>
              <a:buAutoNum type="arabicPeriod"/>
              <a:defRPr sz="1600"/>
            </a:lvl1pPr>
            <a:lvl2pPr marL="720000" indent="-288000">
              <a:spcAft>
                <a:spcPts val="400"/>
              </a:spcAft>
              <a:buFont typeface="Arial" panose="020B0604020202020204" pitchFamily="34" charset="0"/>
              <a:buChar char="‒"/>
              <a:defRPr sz="1600"/>
            </a:lvl2pPr>
            <a:lvl3pPr marL="1008000" indent="-288000"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  <a:defRPr sz="1600"/>
            </a:lvl3pPr>
            <a:lvl4pPr marL="1296000" indent="-288000">
              <a:spcAft>
                <a:spcPts val="400"/>
              </a:spcAft>
              <a:buFont typeface="Arial" panose="020B0604020202020204" pitchFamily="34" charset="0"/>
              <a:buChar char="◦"/>
              <a:defRPr sz="1600"/>
            </a:lvl4pPr>
            <a:lvl5pPr marL="1296000" indent="-288000">
              <a:spcAft>
                <a:spcPts val="400"/>
              </a:spcAft>
              <a:buFont typeface="Arial" panose="020B0604020202020204" pitchFamily="34" charset="0"/>
              <a:buChar char="◦"/>
              <a:defRPr sz="1600"/>
            </a:lvl5pPr>
            <a:lvl6pPr marL="1296000" indent="-288000">
              <a:defRPr sz="1600"/>
            </a:lvl6pPr>
            <a:lvl7pPr marL="1296000" indent="-288000">
              <a:defRPr sz="1600"/>
            </a:lvl7pPr>
            <a:lvl8pPr marL="1296000" indent="-288000">
              <a:defRPr sz="1600"/>
            </a:lvl8pPr>
            <a:lvl9pPr marL="1296000" indent="-288000">
              <a:defRPr sz="1600"/>
            </a:lvl9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 err="1"/>
              <a:t>Zweite</a:t>
            </a:r>
            <a:r>
              <a:rPr lang="en-GB" dirty="0"/>
              <a:t> Ebene</a:t>
            </a:r>
            <a:endParaRPr lang="en-GB"/>
          </a:p>
          <a:p>
            <a:pPr lvl="2"/>
            <a:r>
              <a:rPr lang="en-GB" dirty="0" err="1"/>
              <a:t>Dritte</a:t>
            </a:r>
            <a:r>
              <a:rPr lang="en-GB" dirty="0"/>
              <a:t> Ebene</a:t>
            </a:r>
            <a:endParaRPr lang="en-GB"/>
          </a:p>
          <a:p>
            <a:pPr lvl="3"/>
            <a:r>
              <a:rPr lang="en-GB" dirty="0" err="1"/>
              <a:t>Vierte</a:t>
            </a:r>
            <a:r>
              <a:rPr lang="en-GB" dirty="0"/>
              <a:t> Ebene</a:t>
            </a:r>
            <a:endParaRPr lang="en-GB"/>
          </a:p>
          <a:p>
            <a:pPr lvl="4"/>
            <a:r>
              <a:rPr lang="en-GB" dirty="0" err="1"/>
              <a:t>Fünfte</a:t>
            </a:r>
            <a:r>
              <a:rPr lang="en-GB" dirty="0"/>
              <a:t> Ebene</a:t>
            </a:r>
            <a:endParaRPr lang="en-GB"/>
          </a:p>
          <a:p>
            <a:pPr lvl="5"/>
            <a:r>
              <a:rPr lang="en-GB" dirty="0" err="1"/>
              <a:t>Sechste</a:t>
            </a:r>
            <a:r>
              <a:rPr lang="en-GB" dirty="0"/>
              <a:t> Ebene</a:t>
            </a:r>
            <a:endParaRPr lang="en-GB"/>
          </a:p>
          <a:p>
            <a:pPr lvl="6"/>
            <a:r>
              <a:rPr lang="en-GB" dirty="0" err="1"/>
              <a:t>Siebte</a:t>
            </a:r>
            <a:r>
              <a:rPr lang="en-GB" dirty="0"/>
              <a:t> Ebene</a:t>
            </a:r>
            <a:endParaRPr lang="en-GB"/>
          </a:p>
          <a:p>
            <a:pPr lvl="7"/>
            <a:r>
              <a:rPr lang="en-GB" dirty="0" err="1"/>
              <a:t>Achte</a:t>
            </a:r>
            <a:r>
              <a:rPr lang="en-GB" dirty="0"/>
              <a:t> Ebene</a:t>
            </a:r>
            <a:endParaRPr lang="en-GB"/>
          </a:p>
          <a:p>
            <a:pPr lvl="8"/>
            <a:r>
              <a:rPr lang="en-GB" dirty="0" err="1"/>
              <a:t>Neunte</a:t>
            </a:r>
            <a:r>
              <a:rPr lang="en-GB" dirty="0"/>
              <a:t> Ebene</a:t>
            </a:r>
            <a:endParaRPr lang="en-GB"/>
          </a:p>
        </p:txBody>
      </p:sp>
      <p:sp>
        <p:nvSpPr>
          <p:cNvPr id="13" name="Rectangle 12" descr="{&quot;templafy&quot;:{&quot;id&quot;:&quot;57fa69e2-e601-4bd0-9df7-d22060b419e4&quot;}}" hidden="1">
            <a:extLst>
              <a:ext uri="{FF2B5EF4-FFF2-40B4-BE49-F238E27FC236}">
                <a16:creationId xmlns:a16="http://schemas.microsoft.com/office/drawing/2014/main" id="{829DC8B1-9D54-4E8C-B174-7B9355FD57F9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u="none" dirty="0">
                <a:solidFill>
                  <a:schemeClr val="tx1"/>
                </a:solidFill>
              </a:rPr>
              <a:t>School of Finance (SoF-HSG)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996A659-F272-FD50-65D2-285E28569550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9C4DE21-6B1C-1D32-611F-A475D0674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600" y="4767263"/>
            <a:ext cx="216000" cy="273844"/>
          </a:xfrm>
        </p:spPr>
        <p:txBody>
          <a:bodyPr/>
          <a:lstStyle/>
          <a:p>
            <a:fld id="{7559FC98-AF75-4A00-A03C-DF9FEBF6BCB9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Rectangle 9" descr="{&quot;templafy&quot;:{&quot;id&quot;:&quot;a686ddd6-f847-45d7-8410-5ee4c6292e19&quot;}}">
            <a:extLst>
              <a:ext uri="{FF2B5EF4-FFF2-40B4-BE49-F238E27FC236}">
                <a16:creationId xmlns:a16="http://schemas.microsoft.com/office/drawing/2014/main" id="{0C5F4D98-1367-F2BD-57DF-1153168391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775" y="4668427"/>
            <a:ext cx="1026000" cy="212400"/>
          </a:xfrm>
          <a:prstGeom prst="rect">
            <a:avLst/>
          </a:prstGeom>
        </p:spPr>
      </p:pic>
      <p:sp>
        <p:nvSpPr>
          <p:cNvPr id="11" name="Rectangle 10" descr="{&quot;templafy&quot;:{&quot;id&quot;:&quot;72a3a3be-e050-47d5-94d9-e6cb5f8c7f03&quot;}}">
            <a:extLst>
              <a:ext uri="{FF2B5EF4-FFF2-40B4-BE49-F238E27FC236}">
                <a16:creationId xmlns:a16="http://schemas.microsoft.com/office/drawing/2014/main" id="{649014B4-8A96-0B64-4ABB-963D239BD6E9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dirty="0">
                <a:solidFill>
                  <a:schemeClr val="tx1"/>
                </a:solidFill>
              </a:rPr>
              <a:t>March 2026</a:t>
            </a:r>
          </a:p>
        </p:txBody>
      </p:sp>
      <p:sp>
        <p:nvSpPr>
          <p:cNvPr id="14" name="Rectangle 13" descr="{&quot;templafy&quot;:{&quot;id&quot;:&quot;8b77cfe1-601f-4616-9ce4-864cfa8534fd&quot;}}">
            <a:extLst>
              <a:ext uri="{FF2B5EF4-FFF2-40B4-BE49-F238E27FC236}">
                <a16:creationId xmlns:a16="http://schemas.microsoft.com/office/drawing/2014/main" id="{4FFF5A03-CA94-2A40-1138-F49CF1EE9231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dirty="0">
                <a:solidFill>
                  <a:schemeClr val="tx1"/>
                </a:solidFill>
              </a:rPr>
              <a:t>Research Seminar – Topic Discussion</a:t>
            </a:r>
          </a:p>
        </p:txBody>
      </p:sp>
    </p:spTree>
    <p:extLst>
      <p:ext uri="{BB962C8B-B14F-4D97-AF65-F5344CB8AC3E}">
        <p14:creationId xmlns:p14="http://schemas.microsoft.com/office/powerpoint/2010/main" val="234139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B88CA-EB6E-49E8-8E20-86448C522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0" y="376238"/>
            <a:ext cx="7237225" cy="2496171"/>
          </a:xfrm>
        </p:spPr>
        <p:txBody>
          <a:bodyPr anchor="b">
            <a:normAutofit/>
          </a:bodyPr>
          <a:lstStyle>
            <a:lvl1pPr marL="0" indent="0" algn="l">
              <a:lnSpc>
                <a:spcPts val="5200"/>
              </a:lnSpc>
              <a:buFont typeface="+mj-lt"/>
              <a:buNone/>
              <a:defRPr sz="5000">
                <a:solidFill>
                  <a:schemeClr val="bg2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82261-379D-435B-BB30-A2A9B6CF3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0" y="3001618"/>
            <a:ext cx="6025617" cy="147830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A3A5247-554A-42FF-BCCF-A11D65465AA4}"/>
              </a:ext>
            </a:extLst>
          </p:cNvPr>
          <p:cNvSpPr>
            <a:spLocks noChangeAspect="1"/>
          </p:cNvSpPr>
          <p:nvPr userDrawn="1"/>
        </p:nvSpPr>
        <p:spPr>
          <a:xfrm>
            <a:off x="4572001" y="3166310"/>
            <a:ext cx="4572000" cy="5009983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7247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DC68F798-C07C-4BF8-8573-0552735B83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4B88CA-EB6E-49E8-8E20-86448C522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0" y="376238"/>
            <a:ext cx="7237225" cy="2496171"/>
          </a:xfrm>
        </p:spPr>
        <p:txBody>
          <a:bodyPr anchor="b">
            <a:normAutofit/>
          </a:bodyPr>
          <a:lstStyle>
            <a:lvl1pPr marL="0" indent="0" algn="l">
              <a:lnSpc>
                <a:spcPts val="5200"/>
              </a:lnSpc>
              <a:buFont typeface="+mj-lt"/>
              <a:buNone/>
              <a:defRPr sz="50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82261-379D-435B-BB30-A2A9B6CF3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0" y="3001618"/>
            <a:ext cx="6025617" cy="147830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1138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zwei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952E-FCB6-493B-899A-78F0FFCB3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7A6B4-FE62-49DA-AB92-A00E16DDD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8776" y="1276349"/>
            <a:ext cx="4122738" cy="3203576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DB25E-F340-4288-90DE-3831A8F49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2487" y="1276350"/>
            <a:ext cx="4122737" cy="3203575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Rectangle 6" descr="{&quot;templafy&quot;:{&quot;id&quot;:&quot;2f4be301-7db5-44d0-ae7c-4ec34c731e7b&quot;}}" hidden="1">
            <a:extLst>
              <a:ext uri="{FF2B5EF4-FFF2-40B4-BE49-F238E27FC236}">
                <a16:creationId xmlns:a16="http://schemas.microsoft.com/office/drawing/2014/main" id="{B915E154-BDC4-452C-BDE7-882BE349B509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u="none" dirty="0">
                <a:solidFill>
                  <a:schemeClr val="tx1"/>
                </a:solidFill>
              </a:rPr>
              <a:t>School of Finance (SoF-HSG)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1DC7FD6-78B5-D37D-A962-B78595D23753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1ACBBA7C-1793-BDDC-FE22-C995AF393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600" y="4767263"/>
            <a:ext cx="216000" cy="273844"/>
          </a:xfrm>
        </p:spPr>
        <p:txBody>
          <a:bodyPr/>
          <a:lstStyle/>
          <a:p>
            <a:fld id="{7559FC98-AF75-4A00-A03C-DF9FEBF6BCB9}" type="slidenum">
              <a:rPr lang="en-GB" smtClean="0"/>
              <a:t>‹#›</a:t>
            </a:fld>
            <a:endParaRPr lang="en-GB"/>
          </a:p>
        </p:txBody>
      </p:sp>
      <p:pic>
        <p:nvPicPr>
          <p:cNvPr id="12" name="Rectangle 9" descr="{&quot;templafy&quot;:{&quot;id&quot;:&quot;a686ddd6-f847-45d7-8410-5ee4c6292e19&quot;}}">
            <a:extLst>
              <a:ext uri="{FF2B5EF4-FFF2-40B4-BE49-F238E27FC236}">
                <a16:creationId xmlns:a16="http://schemas.microsoft.com/office/drawing/2014/main" id="{AD8275D9-1FE2-A52D-09BD-FF0D016C41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775" y="4668427"/>
            <a:ext cx="1026000" cy="212400"/>
          </a:xfrm>
          <a:prstGeom prst="rect">
            <a:avLst/>
          </a:prstGeom>
        </p:spPr>
      </p:pic>
      <p:sp>
        <p:nvSpPr>
          <p:cNvPr id="14" name="Rectangle 13" descr="{&quot;templafy&quot;:{&quot;id&quot;:&quot;72a3a3be-e050-47d5-94d9-e6cb5f8c7f03&quot;}}">
            <a:extLst>
              <a:ext uri="{FF2B5EF4-FFF2-40B4-BE49-F238E27FC236}">
                <a16:creationId xmlns:a16="http://schemas.microsoft.com/office/drawing/2014/main" id="{2D774627-C965-756D-B30B-E10E54C17F8B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dirty="0">
                <a:solidFill>
                  <a:schemeClr val="tx1"/>
                </a:solidFill>
              </a:rPr>
              <a:t>March 2026</a:t>
            </a:r>
          </a:p>
        </p:txBody>
      </p:sp>
      <p:sp>
        <p:nvSpPr>
          <p:cNvPr id="15" name="Rectangle 14" descr="{&quot;templafy&quot;:{&quot;id&quot;:&quot;8b77cfe1-601f-4616-9ce4-864cfa8534fd&quot;}}">
            <a:extLst>
              <a:ext uri="{FF2B5EF4-FFF2-40B4-BE49-F238E27FC236}">
                <a16:creationId xmlns:a16="http://schemas.microsoft.com/office/drawing/2014/main" id="{81A0655A-9E62-C06F-FD70-9D47055CFC90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dirty="0">
                <a:solidFill>
                  <a:schemeClr val="tx1"/>
                </a:solidFill>
              </a:rPr>
              <a:t>Research Seminar – Topic Discussion</a:t>
            </a:r>
          </a:p>
        </p:txBody>
      </p:sp>
    </p:spTree>
    <p:extLst>
      <p:ext uri="{BB962C8B-B14F-4D97-AF65-F5344CB8AC3E}">
        <p14:creationId xmlns:p14="http://schemas.microsoft.com/office/powerpoint/2010/main" val="850542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D5294-8509-42D7-B32F-8FB3BCBB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DFF60-9E69-4915-A0DD-67FF25328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Rectangle 8" descr="{&quot;templafy&quot;:{&quot;id&quot;:&quot;41d8c364-9428-4db7-aa0c-4eaa985a9522&quot;}}" hidden="1">
            <a:extLst>
              <a:ext uri="{FF2B5EF4-FFF2-40B4-BE49-F238E27FC236}">
                <a16:creationId xmlns:a16="http://schemas.microsoft.com/office/drawing/2014/main" id="{2B2F7145-7DCA-4B3F-A8AE-07622CB5DF8E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u="none" dirty="0">
                <a:solidFill>
                  <a:schemeClr val="tx1"/>
                </a:solidFill>
              </a:rPr>
              <a:t>School of Finance (SoF-HSG)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3A8DF6F-0F56-3257-EBDA-56E41644FAFB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D0BE63-4096-A535-D71C-3CEE24B41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600" y="4767263"/>
            <a:ext cx="216000" cy="273844"/>
          </a:xfrm>
        </p:spPr>
        <p:txBody>
          <a:bodyPr/>
          <a:lstStyle/>
          <a:p>
            <a:fld id="{7559FC98-AF75-4A00-A03C-DF9FEBF6BCB9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Rectangle 9" descr="{&quot;templafy&quot;:{&quot;id&quot;:&quot;a686ddd6-f847-45d7-8410-5ee4c6292e19&quot;}}">
            <a:extLst>
              <a:ext uri="{FF2B5EF4-FFF2-40B4-BE49-F238E27FC236}">
                <a16:creationId xmlns:a16="http://schemas.microsoft.com/office/drawing/2014/main" id="{BDB8732E-F13D-603A-B3F8-83C12A4E6D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775" y="4668427"/>
            <a:ext cx="1026000" cy="212400"/>
          </a:xfrm>
          <a:prstGeom prst="rect">
            <a:avLst/>
          </a:prstGeom>
        </p:spPr>
      </p:pic>
      <p:sp>
        <p:nvSpPr>
          <p:cNvPr id="10" name="Rectangle 9" descr="{&quot;templafy&quot;:{&quot;id&quot;:&quot;72a3a3be-e050-47d5-94d9-e6cb5f8c7f03&quot;}}">
            <a:extLst>
              <a:ext uri="{FF2B5EF4-FFF2-40B4-BE49-F238E27FC236}">
                <a16:creationId xmlns:a16="http://schemas.microsoft.com/office/drawing/2014/main" id="{A4AF5C95-C949-81DC-D669-38210C0547DB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dirty="0">
                <a:solidFill>
                  <a:schemeClr val="tx1"/>
                </a:solidFill>
              </a:rPr>
              <a:t>March 2026</a:t>
            </a:r>
          </a:p>
        </p:txBody>
      </p:sp>
      <p:sp>
        <p:nvSpPr>
          <p:cNvPr id="14" name="Rectangle 13" descr="{&quot;templafy&quot;:{&quot;id&quot;:&quot;8b77cfe1-601f-4616-9ce4-864cfa8534fd&quot;}}">
            <a:extLst>
              <a:ext uri="{FF2B5EF4-FFF2-40B4-BE49-F238E27FC236}">
                <a16:creationId xmlns:a16="http://schemas.microsoft.com/office/drawing/2014/main" id="{A2D82699-381C-3AE9-44CD-10F0582A2BBA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dirty="0">
                <a:solidFill>
                  <a:schemeClr val="tx1"/>
                </a:solidFill>
              </a:rPr>
              <a:t>Research Seminar – Topic Discussion</a:t>
            </a:r>
          </a:p>
        </p:txBody>
      </p:sp>
    </p:spTree>
    <p:extLst>
      <p:ext uri="{BB962C8B-B14F-4D97-AF65-F5344CB8AC3E}">
        <p14:creationId xmlns:p14="http://schemas.microsoft.com/office/powerpoint/2010/main" val="4154111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952E-FCB6-493B-899A-78F0FFCB3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6547A73-96B4-4B49-A320-28015EA72F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4" y="1276350"/>
            <a:ext cx="4213225" cy="3203576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3F6FA5C-D25E-4346-815E-CF6B33F724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1276350"/>
            <a:ext cx="4213225" cy="320357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5" name="Rectangle 14" descr="{&quot;templafy&quot;:{&quot;id&quot;:&quot;0ff56024-4d1f-4773-bfc1-9ba6a6a51b39&quot;}}" hidden="1">
            <a:extLst>
              <a:ext uri="{FF2B5EF4-FFF2-40B4-BE49-F238E27FC236}">
                <a16:creationId xmlns:a16="http://schemas.microsoft.com/office/drawing/2014/main" id="{544AC9A2-9666-4133-BC67-BE44B6459332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u="none" dirty="0">
                <a:solidFill>
                  <a:schemeClr val="tx1"/>
                </a:solidFill>
              </a:rPr>
              <a:t>School of Finance (SoF-HSG)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828AA86-4257-6F97-61D5-8126E02D1F1E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BE3CB348-12A7-965A-4290-4B67ED162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600" y="4767263"/>
            <a:ext cx="216000" cy="273844"/>
          </a:xfrm>
        </p:spPr>
        <p:txBody>
          <a:bodyPr/>
          <a:lstStyle/>
          <a:p>
            <a:fld id="{7559FC98-AF75-4A00-A03C-DF9FEBF6BCB9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Rectangle 9" descr="{&quot;templafy&quot;:{&quot;id&quot;:&quot;a686ddd6-f847-45d7-8410-5ee4c6292e19&quot;}}">
            <a:extLst>
              <a:ext uri="{FF2B5EF4-FFF2-40B4-BE49-F238E27FC236}">
                <a16:creationId xmlns:a16="http://schemas.microsoft.com/office/drawing/2014/main" id="{53B0BF2C-A6C0-9504-CEE9-C1C1C729EF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775" y="4668427"/>
            <a:ext cx="1026000" cy="212400"/>
          </a:xfrm>
          <a:prstGeom prst="rect">
            <a:avLst/>
          </a:prstGeom>
        </p:spPr>
      </p:pic>
      <p:sp>
        <p:nvSpPr>
          <p:cNvPr id="9" name="Rectangle 8" descr="{&quot;templafy&quot;:{&quot;id&quot;:&quot;72a3a3be-e050-47d5-94d9-e6cb5f8c7f03&quot;}}">
            <a:extLst>
              <a:ext uri="{FF2B5EF4-FFF2-40B4-BE49-F238E27FC236}">
                <a16:creationId xmlns:a16="http://schemas.microsoft.com/office/drawing/2014/main" id="{4ADBBC90-46EC-30E2-B8CC-509E30071567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dirty="0">
                <a:solidFill>
                  <a:schemeClr val="tx1"/>
                </a:solidFill>
              </a:rPr>
              <a:t>March 2026</a:t>
            </a:r>
          </a:p>
        </p:txBody>
      </p:sp>
      <p:sp>
        <p:nvSpPr>
          <p:cNvPr id="14" name="Rectangle 13" descr="{&quot;templafy&quot;:{&quot;id&quot;:&quot;8b77cfe1-601f-4616-9ce4-864cfa8534fd&quot;}}">
            <a:extLst>
              <a:ext uri="{FF2B5EF4-FFF2-40B4-BE49-F238E27FC236}">
                <a16:creationId xmlns:a16="http://schemas.microsoft.com/office/drawing/2014/main" id="{BA02F510-AE6D-4051-C6F9-2B2B39A47E41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dirty="0">
                <a:solidFill>
                  <a:schemeClr val="tx1"/>
                </a:solidFill>
              </a:rPr>
              <a:t>Research Seminar – Topic Discussion</a:t>
            </a:r>
          </a:p>
        </p:txBody>
      </p:sp>
    </p:spTree>
    <p:extLst>
      <p:ext uri="{BB962C8B-B14F-4D97-AF65-F5344CB8AC3E}">
        <p14:creationId xmlns:p14="http://schemas.microsoft.com/office/powerpoint/2010/main" val="3479676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 mit Le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6547A73-96B4-4B49-A320-28015EA72F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571999" cy="388759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3F6FA5C-D25E-4346-815E-CF6B33F724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0"/>
            <a:ext cx="4572000" cy="388759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FAD45-6EEE-4522-8CA6-5189DCDD48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8775" y="3989388"/>
            <a:ext cx="4122738" cy="490537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0" indent="0"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47F9A9E-BA08-4C8F-96E1-0E7C7D71B3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2487" y="3989387"/>
            <a:ext cx="4122738" cy="490537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0" indent="0"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Rectangle 15" descr="{&quot;templafy&quot;:{&quot;id&quot;:&quot;4780b9c7-75d7-49af-995d-3035d682835c&quot;}}" hidden="1">
            <a:extLst>
              <a:ext uri="{FF2B5EF4-FFF2-40B4-BE49-F238E27FC236}">
                <a16:creationId xmlns:a16="http://schemas.microsoft.com/office/drawing/2014/main" id="{97ACC166-7757-4B59-A180-1D797D03E7B1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u="none" dirty="0">
                <a:solidFill>
                  <a:schemeClr val="tx1"/>
                </a:solidFill>
              </a:rPr>
              <a:t>School of Finance (SoF-HSG)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6076EB4-F755-4C21-00F7-8A448E1EF3B1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51B7B72-6F46-8B5E-CFCE-2C40E7C6E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600" y="4767263"/>
            <a:ext cx="216000" cy="273844"/>
          </a:xfrm>
        </p:spPr>
        <p:txBody>
          <a:bodyPr/>
          <a:lstStyle/>
          <a:p>
            <a:fld id="{7559FC98-AF75-4A00-A03C-DF9FEBF6BCB9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Rectangle 9" descr="{&quot;templafy&quot;:{&quot;id&quot;:&quot;a686ddd6-f847-45d7-8410-5ee4c6292e19&quot;}}">
            <a:extLst>
              <a:ext uri="{FF2B5EF4-FFF2-40B4-BE49-F238E27FC236}">
                <a16:creationId xmlns:a16="http://schemas.microsoft.com/office/drawing/2014/main" id="{DD865BEC-A047-C82E-38E0-D8C2ED5B75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775" y="4668427"/>
            <a:ext cx="1026000" cy="212400"/>
          </a:xfrm>
          <a:prstGeom prst="rect">
            <a:avLst/>
          </a:prstGeom>
        </p:spPr>
      </p:pic>
      <p:sp>
        <p:nvSpPr>
          <p:cNvPr id="9" name="Rectangle 8" descr="{&quot;templafy&quot;:{&quot;id&quot;:&quot;72a3a3be-e050-47d5-94d9-e6cb5f8c7f03&quot;}}">
            <a:extLst>
              <a:ext uri="{FF2B5EF4-FFF2-40B4-BE49-F238E27FC236}">
                <a16:creationId xmlns:a16="http://schemas.microsoft.com/office/drawing/2014/main" id="{F6ED04CD-52C8-47E2-CA03-951B59EA3E9E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dirty="0">
                <a:solidFill>
                  <a:schemeClr val="tx1"/>
                </a:solidFill>
              </a:rPr>
              <a:t>March 2026</a:t>
            </a:r>
          </a:p>
        </p:txBody>
      </p:sp>
      <p:sp>
        <p:nvSpPr>
          <p:cNvPr id="15" name="Rectangle 14" descr="{&quot;templafy&quot;:{&quot;id&quot;:&quot;8b77cfe1-601f-4616-9ce4-864cfa8534fd&quot;}}">
            <a:extLst>
              <a:ext uri="{FF2B5EF4-FFF2-40B4-BE49-F238E27FC236}">
                <a16:creationId xmlns:a16="http://schemas.microsoft.com/office/drawing/2014/main" id="{41661903-13D9-9366-C1BF-B6B35F6F471C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dirty="0">
                <a:solidFill>
                  <a:schemeClr val="tx1"/>
                </a:solidFill>
              </a:rPr>
              <a:t>Research Seminar – Topic Discussion</a:t>
            </a:r>
          </a:p>
        </p:txBody>
      </p:sp>
    </p:spTree>
    <p:extLst>
      <p:ext uri="{BB962C8B-B14F-4D97-AF65-F5344CB8AC3E}">
        <p14:creationId xmlns:p14="http://schemas.microsoft.com/office/powerpoint/2010/main" val="2081201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FF4CC-30A2-4B7B-BA9D-1A66D4764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2" name="Rectangle 11" descr="{&quot;templafy&quot;:{&quot;id&quot;:&quot;0bfa71f2-5450-4936-a878-527a7ee69f0e&quot;}}" hidden="1">
            <a:extLst>
              <a:ext uri="{FF2B5EF4-FFF2-40B4-BE49-F238E27FC236}">
                <a16:creationId xmlns:a16="http://schemas.microsoft.com/office/drawing/2014/main" id="{87F7EA06-4518-4086-9E1C-ACD1F4782ADD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u="none" dirty="0">
                <a:solidFill>
                  <a:schemeClr val="tx1"/>
                </a:solidFill>
              </a:rPr>
              <a:t>School of Finance (SoF-HSG)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79255CD-4FAC-0CAA-FA66-EB78CF3B2035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82C844E2-E511-DBF7-1CE7-0E81BA8CD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600" y="4767263"/>
            <a:ext cx="216000" cy="273844"/>
          </a:xfrm>
        </p:spPr>
        <p:txBody>
          <a:bodyPr/>
          <a:lstStyle/>
          <a:p>
            <a:fld id="{7559FC98-AF75-4A00-A03C-DF9FEBF6BCB9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Rectangle 9" descr="{&quot;templafy&quot;:{&quot;id&quot;:&quot;a686ddd6-f847-45d7-8410-5ee4c6292e19&quot;}}">
            <a:extLst>
              <a:ext uri="{FF2B5EF4-FFF2-40B4-BE49-F238E27FC236}">
                <a16:creationId xmlns:a16="http://schemas.microsoft.com/office/drawing/2014/main" id="{53F0B1EF-F75C-BF03-BFD4-332298EE5A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775" y="4668427"/>
            <a:ext cx="1026000" cy="212400"/>
          </a:xfrm>
          <a:prstGeom prst="rect">
            <a:avLst/>
          </a:prstGeom>
        </p:spPr>
      </p:pic>
      <p:sp>
        <p:nvSpPr>
          <p:cNvPr id="10" name="Rectangle 9" descr="{&quot;templafy&quot;:{&quot;id&quot;:&quot;72a3a3be-e050-47d5-94d9-e6cb5f8c7f03&quot;}}">
            <a:extLst>
              <a:ext uri="{FF2B5EF4-FFF2-40B4-BE49-F238E27FC236}">
                <a16:creationId xmlns:a16="http://schemas.microsoft.com/office/drawing/2014/main" id="{D9B2BCF8-92A1-2BD3-C63A-5384BE781D81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dirty="0">
                <a:solidFill>
                  <a:schemeClr val="tx1"/>
                </a:solidFill>
              </a:rPr>
              <a:t>March 2026</a:t>
            </a:r>
          </a:p>
        </p:txBody>
      </p:sp>
      <p:sp>
        <p:nvSpPr>
          <p:cNvPr id="11" name="Rectangle 10" descr="{&quot;templafy&quot;:{&quot;id&quot;:&quot;8b77cfe1-601f-4616-9ce4-864cfa8534fd&quot;}}">
            <a:extLst>
              <a:ext uri="{FF2B5EF4-FFF2-40B4-BE49-F238E27FC236}">
                <a16:creationId xmlns:a16="http://schemas.microsoft.com/office/drawing/2014/main" id="{50828103-FA40-77BE-B71E-489AFDE8121C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dirty="0">
                <a:solidFill>
                  <a:schemeClr val="tx1"/>
                </a:solidFill>
              </a:rPr>
              <a:t>Research Seminar – Topic Discussion</a:t>
            </a:r>
          </a:p>
        </p:txBody>
      </p:sp>
    </p:spTree>
    <p:extLst>
      <p:ext uri="{BB962C8B-B14F-4D97-AF65-F5344CB8AC3E}">
        <p14:creationId xmlns:p14="http://schemas.microsoft.com/office/powerpoint/2010/main" val="3851403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C11C186-C392-4982-A2C0-7824EE98FA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89334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schwarze Schrif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5F94A4-74DF-4FC6-AF8D-8F883B56E7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8000" y="735013"/>
            <a:ext cx="7957225" cy="2525712"/>
          </a:xfrm>
        </p:spPr>
        <p:txBody>
          <a:bodyPr anchor="b">
            <a:normAutofit/>
          </a:bodyPr>
          <a:lstStyle>
            <a:lvl1pPr marL="0">
              <a:lnSpc>
                <a:spcPct val="110000"/>
              </a:lnSpc>
              <a:buFontTx/>
              <a:buNone/>
              <a:defRPr sz="50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  <a:lvl2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2pPr>
            <a:lvl3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3pPr>
            <a:lvl4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4pPr>
            <a:lvl5pPr marL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D8D12DF-4F43-44AF-B5F9-5E632D8CD5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7999" y="3548063"/>
            <a:ext cx="5741765" cy="93186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0" indent="0">
              <a:buNone/>
              <a:defRPr sz="1800"/>
            </a:lvl2pPr>
            <a:lvl3pPr marL="0" indent="0">
              <a:buNone/>
              <a:defRPr sz="1800"/>
            </a:lvl3pPr>
            <a:lvl4pPr marL="0" indent="0">
              <a:buNone/>
              <a:defRPr sz="1800"/>
            </a:lvl4pPr>
            <a:lvl5pPr marL="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4120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weisse Schrif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5F94A4-74DF-4FC6-AF8D-8F883B56E7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8000" y="735013"/>
            <a:ext cx="7957225" cy="2525712"/>
          </a:xfrm>
        </p:spPr>
        <p:txBody>
          <a:bodyPr anchor="b">
            <a:normAutofit/>
          </a:bodyPr>
          <a:lstStyle>
            <a:lvl1pPr marL="0">
              <a:lnSpc>
                <a:spcPct val="110000"/>
              </a:lnSpc>
              <a:buFontTx/>
              <a:buNone/>
              <a:defRPr sz="50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  <a:lvl2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2pPr>
            <a:lvl3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3pPr>
            <a:lvl4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4pPr>
            <a:lvl5pPr marL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D8D12DF-4F43-44AF-B5F9-5E632D8CD5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7999" y="3548063"/>
            <a:ext cx="5741765" cy="93186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0" indent="0">
              <a:buNone/>
              <a:defRPr sz="1800"/>
            </a:lvl2pPr>
            <a:lvl3pPr marL="0" indent="0">
              <a:buNone/>
              <a:defRPr sz="1800"/>
            </a:lvl3pPr>
            <a:lvl4pPr marL="0" indent="0">
              <a:buNone/>
              <a:defRPr sz="1800"/>
            </a:lvl4pPr>
            <a:lvl5pPr marL="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8851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1F60-1436-43F1-AAD9-4C2415299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735013"/>
            <a:ext cx="5148000" cy="372867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7900">
                <a:solidFill>
                  <a:schemeClr val="bg2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40949B5-E4F8-48A4-9D3A-2312F9CD46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25225" y="735013"/>
            <a:ext cx="2160000" cy="2160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558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1F60-1436-43F1-AAD9-4C2415299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998" y="735013"/>
            <a:ext cx="5148000" cy="372867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79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40949B5-E4F8-48A4-9D3A-2312F9CD46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25225" y="735013"/>
            <a:ext cx="2160000" cy="2160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02494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0218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81B0-6792-4738-ACB8-050730738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44000"/>
            <a:ext cx="7957225" cy="685801"/>
          </a:xfrm>
        </p:spPr>
        <p:txBody>
          <a:bodyPr/>
          <a:lstStyle>
            <a:lvl1pPr>
              <a:lnSpc>
                <a:spcPts val="5200"/>
              </a:lnSpc>
              <a:defRPr sz="5000"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87D0F6F-53A1-4152-9807-5EC1BBC88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8000" y="2626419"/>
            <a:ext cx="1908000" cy="862219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24BC02-7B0E-4C56-B49A-5A28F9E62B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8000" y="2090947"/>
            <a:ext cx="1908000" cy="504411"/>
          </a:xfrm>
        </p:spPr>
        <p:txBody>
          <a:bodyPr anchor="b"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4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DF580D6-76FA-48E5-A6F9-C7D7F9ECA0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86816" y="2626419"/>
            <a:ext cx="1908000" cy="862219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6CE2E2F-1BA4-4018-8B3C-5192B4A35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86816" y="2090947"/>
            <a:ext cx="1908000" cy="504411"/>
          </a:xfrm>
        </p:spPr>
        <p:txBody>
          <a:bodyPr anchor="b"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4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780CD93-461B-4895-AFE1-B11CB717CA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45933" y="2626419"/>
            <a:ext cx="1908000" cy="862219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670DE1A-52CE-4331-B7C3-9D35588A292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45933" y="2090947"/>
            <a:ext cx="1908000" cy="504411"/>
          </a:xfrm>
        </p:spPr>
        <p:txBody>
          <a:bodyPr anchor="b"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4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22201520" name="Rectangle 10" descr="{&quot;templafy&quot;:{&quot;id&quot;:&quot;83a1c2a2-c5ce-461f-94a3-7bf4eb5a6a7a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16" y="4048055"/>
            <a:ext cx="2221200" cy="460800"/>
          </a:xfrm>
          <a:prstGeom prst="rect">
            <a:avLst/>
          </a:prstGeom>
        </p:spPr>
      </p:pic>
      <p:sp>
        <p:nvSpPr>
          <p:cNvPr id="3" name="Rectangle 2" descr="{&quot;templafy&quot;:{&quot;id&quot;:&quot;6b7dbdc9-b930-48a1-b054-0486b079e669&quot;}}">
            <a:extLst>
              <a:ext uri="{FF2B5EF4-FFF2-40B4-BE49-F238E27FC236}">
                <a16:creationId xmlns:a16="http://schemas.microsoft.com/office/drawing/2014/main" id="{36F02173-B0F5-4193-B6FF-8607454762B4}"/>
              </a:ext>
            </a:extLst>
          </p:cNvPr>
          <p:cNvSpPr/>
          <p:nvPr userDrawn="1"/>
        </p:nvSpPr>
        <p:spPr>
          <a:xfrm>
            <a:off x="4945930" y="3515014"/>
            <a:ext cx="2038450" cy="9912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l">
              <a:lnSpc>
                <a:spcPts val="1200"/>
              </a:lnSpc>
            </a:pPr>
            <a:r>
              <a:rPr lang="en-GB" sz="1000" dirty="0">
                <a:solidFill>
                  <a:schemeClr val="tx1"/>
                </a:solidFill>
              </a:rPr>
              <a:t>School of Finance (SoF-HSG) 
Unterer Graben 21 
9000 St.Gallen 
unisg.ch/universitaet/schools/finance</a:t>
            </a:r>
          </a:p>
        </p:txBody>
      </p:sp>
    </p:spTree>
    <p:extLst>
      <p:ext uri="{BB962C8B-B14F-4D97-AF65-F5344CB8AC3E}">
        <p14:creationId xmlns:p14="http://schemas.microsoft.com/office/powerpoint/2010/main" val="5187094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072C7-786E-4CDF-B498-A0E43C94C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7AB401-27B1-4459-8033-ADE495ECD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39B70-EA91-4D1E-AD6F-9A1F4FF3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 descr="{&quot;templafy&quot;:{&quot;id&quot;:&quot;879ad7e6-7cb7-4494-9174-c3323cc290b2&quot;}}">
            <a:extLst>
              <a:ext uri="{FF2B5EF4-FFF2-40B4-BE49-F238E27FC236}">
                <a16:creationId xmlns:a16="http://schemas.microsoft.com/office/drawing/2014/main" id="{BB3C8683-B834-4D63-9D68-06A85DD6080E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dirty="0">
                <a:solidFill>
                  <a:schemeClr val="tx1"/>
                </a:solidFill>
              </a:rPr>
              <a:t>Dezember 2025</a:t>
            </a:r>
          </a:p>
        </p:txBody>
      </p:sp>
    </p:spTree>
    <p:extLst>
      <p:ext uri="{BB962C8B-B14F-4D97-AF65-F5344CB8AC3E}">
        <p14:creationId xmlns:p14="http://schemas.microsoft.com/office/powerpoint/2010/main" val="18372074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A27F37-4AAD-450C-8838-DE5B9F07D8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86A52-83BF-4684-B707-32690AD3C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5666C-0F9A-44A4-B3AC-35B212491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 descr="{&quot;templafy&quot;:{&quot;id&quot;:&quot;9ce69437-fe7b-4dee-8cfc-9988023a4741&quot;}}">
            <a:extLst>
              <a:ext uri="{FF2B5EF4-FFF2-40B4-BE49-F238E27FC236}">
                <a16:creationId xmlns:a16="http://schemas.microsoft.com/office/drawing/2014/main" id="{D21A4773-433D-4BA4-8284-587A192E038E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dirty="0">
                <a:solidFill>
                  <a:schemeClr val="tx1"/>
                </a:solidFill>
              </a:rPr>
              <a:t>Dezember 2025</a:t>
            </a:r>
          </a:p>
        </p:txBody>
      </p:sp>
    </p:spTree>
    <p:extLst>
      <p:ext uri="{BB962C8B-B14F-4D97-AF65-F5344CB8AC3E}">
        <p14:creationId xmlns:p14="http://schemas.microsoft.com/office/powerpoint/2010/main" val="851528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8526C4E-7639-88E6-EA4D-E7C5D11716BD}"/>
              </a:ext>
            </a:extLst>
          </p:cNvPr>
          <p:cNvGraphicFramePr>
            <a:graphicFrameLocks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6545954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425" imgH="424" progId="TCLayout.ActiveDocument.1">
                  <p:embed/>
                </p:oleObj>
              </mc:Choice>
              <mc:Fallback>
                <p:oleObj name="think-cell Slide" r:id="rId23" imgW="425" imgH="42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8526C4E-7639-88E6-EA4D-E7C5D11716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501321-794C-47B8-ABDC-7DAF88C9D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5" y="376238"/>
            <a:ext cx="8426450" cy="609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F94A2-50F8-430F-B46C-2D50472D7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8775" y="1276350"/>
            <a:ext cx="8426450" cy="32035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CEDF7-309C-40F3-8700-9F4DBE766E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04000" y="4770375"/>
            <a:ext cx="1177196" cy="18433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D8FFC02-F414-406A-9AF9-AE6E7846E736}" type="datetime4">
              <a:rPr lang="en-GB" smtClean="0"/>
              <a:t>11 March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B08D8-7EDB-4388-A7EE-8AB294EA78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999" y="4770374"/>
            <a:ext cx="3086100" cy="18433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Corporate Design - Power Point Master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6C2A0-BCAA-4FD2-BD67-F5225215B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1600" y="4767263"/>
            <a:ext cx="216000" cy="27384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800" spc="-30" baseline="0">
                <a:solidFill>
                  <a:schemeClr val="bg2"/>
                </a:solidFill>
              </a:defRPr>
            </a:lvl1pPr>
          </a:lstStyle>
          <a:p>
            <a:fld id="{7559FC98-AF75-4A00-A03C-DF9FEBF6BCB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6037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8" r:id="rId2"/>
    <p:sldLayoutId id="2147483689" r:id="rId3"/>
    <p:sldLayoutId id="2147483677" r:id="rId4"/>
    <p:sldLayoutId id="2147483663" r:id="rId5"/>
    <p:sldLayoutId id="2147483686" r:id="rId6"/>
    <p:sldLayoutId id="2147483664" r:id="rId7"/>
    <p:sldLayoutId id="2147483662" r:id="rId8"/>
    <p:sldLayoutId id="2147483672" r:id="rId9"/>
    <p:sldLayoutId id="2147483673" r:id="rId10"/>
    <p:sldLayoutId id="2147483666" r:id="rId11"/>
    <p:sldLayoutId id="2147483680" r:id="rId12"/>
    <p:sldLayoutId id="2147483678" r:id="rId13"/>
    <p:sldLayoutId id="2147483679" r:id="rId14"/>
    <p:sldLayoutId id="2147483675" r:id="rId15"/>
    <p:sldLayoutId id="2147483683" r:id="rId16"/>
    <p:sldLayoutId id="2147483667" r:id="rId17"/>
    <p:sldLayoutId id="2147483681" r:id="rId18"/>
    <p:sldLayoutId id="2147483670" r:id="rId19"/>
    <p:sldLayoutId id="2147483671" r:id="rId20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3">
          <p15:clr>
            <a:srgbClr val="F26B43"/>
          </p15:clr>
        </p15:guide>
        <p15:guide id="3" pos="226">
          <p15:clr>
            <a:srgbClr val="F26B43"/>
          </p15:clr>
        </p15:guide>
        <p15:guide id="4" pos="5534">
          <p15:clr>
            <a:srgbClr val="F26B43"/>
          </p15:clr>
        </p15:guide>
        <p15:guide id="5" orient="horz" pos="237">
          <p15:clr>
            <a:srgbClr val="F26B43"/>
          </p15:clr>
        </p15:guide>
        <p15:guide id="6" orient="horz" pos="804" userDrawn="1">
          <p15:clr>
            <a:srgbClr val="F26B43"/>
          </p15:clr>
        </p15:guide>
        <p15:guide id="7" orient="horz" pos="2822">
          <p15:clr>
            <a:srgbClr val="F26B43"/>
          </p15:clr>
        </p15:guide>
        <p15:guide id="8" pos="2823">
          <p15:clr>
            <a:srgbClr val="F26B43"/>
          </p15:clr>
        </p15:guide>
        <p15:guide id="9" pos="2937">
          <p15:clr>
            <a:srgbClr val="F26B43"/>
          </p15:clr>
        </p15:guide>
        <p15:guide id="10" orient="horz" pos="4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7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.worldbank.org/indicator/FD.AST.PRVT.GD.ZS?utm_source=chatgpt.com" TargetMode="External"/><Relationship Id="rId3" Type="http://schemas.openxmlformats.org/officeDocument/2006/relationships/oleObject" Target="../embeddings/oleObject4.bin"/><Relationship Id="rId7" Type="http://schemas.openxmlformats.org/officeDocument/2006/relationships/hyperlink" Target="https://data.worldbank.org/indicator/CM.MKT.LCAP.GD.ZS?utm_source=chatgpt.com" TargetMode="Externa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8.xml"/><Relationship Id="rId6" Type="http://schemas.openxmlformats.org/officeDocument/2006/relationships/hyperlink" Target="https://www.census.gov/data-tools/demo/idb/#/dashboard?dashboard_page=country&amp;COUNTRY_YR_ANIM=2026" TargetMode="External"/><Relationship Id="rId5" Type="http://schemas.openxmlformats.org/officeDocument/2006/relationships/hyperlink" Target="https://data.worldbank.org/indicator/SP.POP.65UP.TO.ZS" TargetMode="External"/><Relationship Id="rId4" Type="http://schemas.openxmlformats.org/officeDocument/2006/relationships/image" Target="../media/image1.emf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9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2B148-A860-ECBA-2ED8-01762B022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F70F8C0-1CD5-3F78-623F-DE23DD2564F6}"/>
              </a:ext>
            </a:extLst>
          </p:cNvPr>
          <p:cNvGraphicFramePr>
            <a:graphicFrameLocks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721136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4" progId="TCLayout.ActiveDocument.1">
                  <p:embed/>
                </p:oleObj>
              </mc:Choice>
              <mc:Fallback>
                <p:oleObj name="think-cell Slide" r:id="rId5" imgW="425" imgH="42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70F8C0-1CD5-3F78-623F-DE23DD2564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80DA267-FE76-AC4A-F116-66E2ADC23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15" y="1098178"/>
            <a:ext cx="7958210" cy="1792800"/>
          </a:xfrm>
        </p:spPr>
        <p:txBody>
          <a:bodyPr vert="horz" rIns="0"/>
          <a:lstStyle/>
          <a:p>
            <a:r>
              <a:rPr lang="de-LI" dirty="0"/>
              <a:t>Research Seminar – Question Suggestion in Financial Institutions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B647C-51AF-7D10-406E-85F1508DE8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1027" y="3123868"/>
            <a:ext cx="3650486" cy="1356057"/>
          </a:xfrm>
        </p:spPr>
        <p:txBody>
          <a:bodyPr/>
          <a:lstStyle/>
          <a:p>
            <a:r>
              <a:rPr lang="en-GB" dirty="0"/>
              <a:t>St.Gallen, </a:t>
            </a:r>
            <a:r>
              <a:rPr lang="de-LI" dirty="0"/>
              <a:t>07th March 2026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98718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AA628-B905-8D22-0295-7AF765D1E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7DFFB23-4C37-E815-4A9C-7CAE2C4165E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87882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DFFB23-4C37-E815-4A9C-7CAE2C4165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E246792-BAF2-99E5-1C72-12F35839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LI" dirty="0"/>
              <a:t>Proposed research question &amp; hypotheses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22791F-8E99-917F-09C5-C3713F6E5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600" y="4767263"/>
            <a:ext cx="216000" cy="273844"/>
          </a:xfrm>
        </p:spPr>
        <p:txBody>
          <a:bodyPr/>
          <a:lstStyle/>
          <a:p>
            <a:fld id="{7559FC98-AF75-4A00-A03C-DF9FEBF6BCB9}" type="slidenum">
              <a:rPr lang="en-GB" smtClean="0"/>
              <a:t>2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F9D5DE-8D30-2E2C-716F-9C0D4BC46E6F}"/>
              </a:ext>
            </a:extLst>
          </p:cNvPr>
          <p:cNvSpPr txBox="1"/>
          <p:nvPr/>
        </p:nvSpPr>
        <p:spPr>
          <a:xfrm>
            <a:off x="2656632" y="1033562"/>
            <a:ext cx="54046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/>
              <a:t>Do demographics affect bank funding?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60FAF3-B3A3-AB14-E29C-A7C3B3ADEC33}"/>
              </a:ext>
            </a:extLst>
          </p:cNvPr>
          <p:cNvSpPr txBox="1"/>
          <p:nvPr/>
        </p:nvSpPr>
        <p:spPr>
          <a:xfrm>
            <a:off x="2656632" y="1571233"/>
            <a:ext cx="5404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Does the impact of demographic aging on bank funding depend on the structure of the financial system?</a:t>
            </a:r>
            <a:endParaRPr lang="en-GB" sz="12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1A0D64-2157-56F9-7708-46C2D09B5BA9}"/>
              </a:ext>
            </a:extLst>
          </p:cNvPr>
          <p:cNvSpPr txBox="1"/>
          <p:nvPr/>
        </p:nvSpPr>
        <p:spPr>
          <a:xfrm>
            <a:off x="691375" y="1033562"/>
            <a:ext cx="173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chemeClr val="accent1"/>
                </a:solidFill>
              </a:rPr>
              <a:t>Generic question</a:t>
            </a:r>
            <a:br>
              <a:rPr lang="en-GB" sz="1200" b="1" dirty="0">
                <a:solidFill>
                  <a:schemeClr val="accent1"/>
                </a:solidFill>
              </a:rPr>
            </a:br>
            <a:r>
              <a:rPr lang="en-GB" sz="1200" dirty="0">
                <a:solidFill>
                  <a:schemeClr val="accent1"/>
                </a:solidFill>
              </a:rPr>
              <a:t>(allocated)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3581C9-6A06-5757-5515-2A9CD68F1D97}"/>
              </a:ext>
            </a:extLst>
          </p:cNvPr>
          <p:cNvSpPr txBox="1"/>
          <p:nvPr/>
        </p:nvSpPr>
        <p:spPr>
          <a:xfrm>
            <a:off x="691375" y="1571233"/>
            <a:ext cx="173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chemeClr val="accent1"/>
                </a:solidFill>
              </a:rPr>
              <a:t>Specific question</a:t>
            </a:r>
            <a:br>
              <a:rPr lang="en-GB" sz="1200" b="1" dirty="0">
                <a:solidFill>
                  <a:schemeClr val="accent1"/>
                </a:solidFill>
              </a:rPr>
            </a:br>
            <a:r>
              <a:rPr lang="en-GB" sz="1200" dirty="0">
                <a:solidFill>
                  <a:schemeClr val="accent1"/>
                </a:solidFill>
              </a:rPr>
              <a:t>(to be defined)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2FAFB4-7C71-863F-413A-872ABE7526F6}"/>
              </a:ext>
            </a:extLst>
          </p:cNvPr>
          <p:cNvSpPr txBox="1"/>
          <p:nvPr/>
        </p:nvSpPr>
        <p:spPr>
          <a:xfrm>
            <a:off x="691375" y="2617749"/>
            <a:ext cx="17358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chemeClr val="accent1"/>
                </a:solidFill>
              </a:rPr>
              <a:t>Hypotheses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256112-E54B-10D8-40BE-DA2FC7AA814E}"/>
              </a:ext>
            </a:extLst>
          </p:cNvPr>
          <p:cNvSpPr txBox="1"/>
          <p:nvPr/>
        </p:nvSpPr>
        <p:spPr>
          <a:xfrm>
            <a:off x="2656632" y="2617749"/>
            <a:ext cx="61285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i="1" dirty="0"/>
              <a:t>H1:</a:t>
            </a:r>
            <a:r>
              <a:rPr lang="en-GB" sz="1200" i="1" dirty="0"/>
              <a:t> </a:t>
            </a:r>
            <a:r>
              <a:rPr lang="en-US" sz="1200" i="1" dirty="0"/>
              <a:t>In bank-based financial systems, an increase in the share of older households increases banks’ reliance on deposit funding; in market-based financial systems, the effect of population aging on banks’ reliance on deposit funding is weaker or absent because households can substitute deposits with alternative safe assets</a:t>
            </a:r>
            <a:br>
              <a:rPr lang="en-US" sz="1200" i="1" dirty="0"/>
            </a:br>
            <a:r>
              <a:rPr lang="en-US" sz="1200" i="1" dirty="0"/>
              <a:t>(</a:t>
            </a:r>
            <a:r>
              <a:rPr lang="en-US" sz="1200" dirty="0"/>
              <a:t>DepositRatio ↑ with Population</a:t>
            </a:r>
            <a:r>
              <a:rPr lang="en-US" sz="1200" baseline="-25000" dirty="0"/>
              <a:t>65+</a:t>
            </a:r>
            <a:r>
              <a:rPr lang="en-US" sz="1200" dirty="0"/>
              <a:t>​ ↑ for bank-based systems)</a:t>
            </a:r>
            <a:endParaRPr lang="en-US" sz="1200" i="1" dirty="0"/>
          </a:p>
          <a:p>
            <a:endParaRPr lang="en-GB" sz="1200" i="1" dirty="0"/>
          </a:p>
          <a:p>
            <a:r>
              <a:rPr lang="en-GB" sz="1200" b="1" i="1" dirty="0"/>
              <a:t>H2:</a:t>
            </a:r>
            <a:r>
              <a:rPr lang="en-GB" sz="1200" i="1" dirty="0"/>
              <a:t> </a:t>
            </a:r>
            <a:r>
              <a:rPr lang="en-US" sz="1200" i="1" dirty="0"/>
              <a:t>The share of very old households (85+) is positively associated with banks’ deposit funding, as households at advanced ages simplify portfolios and increase liquid holdings</a:t>
            </a:r>
            <a:br>
              <a:rPr lang="en-US" sz="1200" dirty="0"/>
            </a:br>
            <a:r>
              <a:rPr lang="en-GB" sz="1200" i="1" dirty="0"/>
              <a:t>(</a:t>
            </a:r>
            <a:r>
              <a:rPr lang="en-US" sz="1200" dirty="0"/>
              <a:t>DepositRatio ↑ with Population</a:t>
            </a:r>
            <a:r>
              <a:rPr lang="en-US" sz="1200" baseline="-25000" dirty="0"/>
              <a:t>85+</a:t>
            </a:r>
            <a:r>
              <a:rPr lang="en-US" sz="1200" dirty="0"/>
              <a:t>​ ↑ for all systems)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15440E-AD03-CDB5-99C7-FBC3EBB42BB8}"/>
              </a:ext>
            </a:extLst>
          </p:cNvPr>
          <p:cNvCxnSpPr>
            <a:cxnSpLocks/>
          </p:cNvCxnSpPr>
          <p:nvPr/>
        </p:nvCxnSpPr>
        <p:spPr>
          <a:xfrm>
            <a:off x="795454" y="2319456"/>
            <a:ext cx="756796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8" name="Down arrow">
            <a:extLst>
              <a:ext uri="{FF2B5EF4-FFF2-40B4-BE49-F238E27FC236}">
                <a16:creationId xmlns:a16="http://schemas.microsoft.com/office/drawing/2014/main" id="{22781C76-7737-F7E0-406C-AE13C693ADD4}"/>
              </a:ext>
            </a:extLst>
          </p:cNvPr>
          <p:cNvGrpSpPr>
            <a:grpSpLocks noChangeAspect="1"/>
          </p:cNvGrpSpPr>
          <p:nvPr/>
        </p:nvGrpSpPr>
        <p:grpSpPr>
          <a:xfrm rot="10800000" flipV="1">
            <a:off x="4410397" y="2150419"/>
            <a:ext cx="338074" cy="338074"/>
            <a:chOff x="1413494" y="4670360"/>
            <a:chExt cx="442162" cy="456033"/>
          </a:xfrm>
        </p:grpSpPr>
        <p:sp>
          <p:nvSpPr>
            <p:cNvPr id="19" name="Ellipse 69">
              <a:extLst>
                <a:ext uri="{FF2B5EF4-FFF2-40B4-BE49-F238E27FC236}">
                  <a16:creationId xmlns:a16="http://schemas.microsoft.com/office/drawing/2014/main" id="{634D9E76-3793-E6DB-86CD-2D7837F7B13E}"/>
                </a:ext>
              </a:extLst>
            </p:cNvPr>
            <p:cNvSpPr/>
            <p:nvPr/>
          </p:nvSpPr>
          <p:spPr bwMode="auto">
            <a:xfrm>
              <a:off x="1413494" y="4670360"/>
              <a:ext cx="442162" cy="456033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  <p:sp>
          <p:nvSpPr>
            <p:cNvPr id="20" name="Flèche vers la droite 45">
              <a:extLst>
                <a:ext uri="{FF2B5EF4-FFF2-40B4-BE49-F238E27FC236}">
                  <a16:creationId xmlns:a16="http://schemas.microsoft.com/office/drawing/2014/main" id="{C23C2D03-E673-615D-7BF4-08ACC7F41297}"/>
                </a:ext>
              </a:extLst>
            </p:cNvPr>
            <p:cNvSpPr/>
            <p:nvPr/>
          </p:nvSpPr>
          <p:spPr bwMode="auto">
            <a:xfrm rot="5400000">
              <a:off x="1520568" y="4787836"/>
              <a:ext cx="228016" cy="221081"/>
            </a:xfrm>
            <a:prstGeom prst="rightArrow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55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11623-87D2-2016-7BF6-A6EBCDC0F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9CB0C3B-E310-AB56-0AB1-3C782CB83BD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5EB0F2-7B97-6E7A-C6BF-B680F409E0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D6679A7-6F32-7F71-90F2-C71638D47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LI" dirty="0"/>
              <a:t>Overview of the economic intuition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AEF1E4-BDE0-0A34-61D3-E2B942F06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600" y="4767263"/>
            <a:ext cx="216000" cy="273844"/>
          </a:xfrm>
        </p:spPr>
        <p:txBody>
          <a:bodyPr/>
          <a:lstStyle/>
          <a:p>
            <a:fld id="{7559FC98-AF75-4A00-A03C-DF9FEBF6BCB9}" type="slidenum">
              <a:rPr lang="en-GB" smtClean="0"/>
              <a:t>3</a:t>
            </a:fld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E841A1-68B6-CEEC-FAA2-58C4B5B16CBD}"/>
              </a:ext>
            </a:extLst>
          </p:cNvPr>
          <p:cNvSpPr txBox="1"/>
          <p:nvPr/>
        </p:nvSpPr>
        <p:spPr>
          <a:xfrm>
            <a:off x="276922" y="1134688"/>
            <a:ext cx="8549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chemeClr val="accent1"/>
                </a:solidFill>
              </a:rPr>
              <a:t>H1</a:t>
            </a:r>
            <a:endParaRPr lang="en-GB" sz="1100" dirty="0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AA8B21-42D6-950F-8D03-1ACF33505DB9}"/>
              </a:ext>
            </a:extLst>
          </p:cNvPr>
          <p:cNvSpPr txBox="1"/>
          <p:nvPr/>
        </p:nvSpPr>
        <p:spPr>
          <a:xfrm>
            <a:off x="276922" y="2956880"/>
            <a:ext cx="8549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chemeClr val="accent1"/>
                </a:solidFill>
              </a:rPr>
              <a:t>H2</a:t>
            </a:r>
            <a:endParaRPr lang="en-GB" sz="11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358DAF-E46C-5C16-7180-0B9DD568C128}"/>
              </a:ext>
            </a:extLst>
          </p:cNvPr>
          <p:cNvSpPr txBox="1"/>
          <p:nvPr/>
        </p:nvSpPr>
        <p:spPr>
          <a:xfrm>
            <a:off x="1107689" y="2956880"/>
            <a:ext cx="119689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Very old households face estate planning; want to simplify portfolios, ensure liquidity for healthcare costs, make inheritance easier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A36AB4-0B4A-DBBB-7361-6010FA57B29D}"/>
              </a:ext>
            </a:extLst>
          </p:cNvPr>
          <p:cNvSpPr txBox="1"/>
          <p:nvPr/>
        </p:nvSpPr>
        <p:spPr>
          <a:xfrm>
            <a:off x="2727848" y="2956880"/>
            <a:ext cx="119689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Complex assets (e.g., stocks, funds, private investments, …) are gradually liquidated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3E1E16-E0E1-29FE-A2A2-816499CBE3B2}"/>
              </a:ext>
            </a:extLst>
          </p:cNvPr>
          <p:cNvSpPr txBox="1"/>
          <p:nvPr/>
        </p:nvSpPr>
        <p:spPr>
          <a:xfrm>
            <a:off x="4348007" y="2956880"/>
            <a:ext cx="11968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Wealth moves into the simplest liquid accounts (i.e., bank deposits)</a:t>
            </a:r>
          </a:p>
        </p:txBody>
      </p:sp>
      <p:grpSp>
        <p:nvGrpSpPr>
          <p:cNvPr id="11" name="Down arrow">
            <a:extLst>
              <a:ext uri="{FF2B5EF4-FFF2-40B4-BE49-F238E27FC236}">
                <a16:creationId xmlns:a16="http://schemas.microsoft.com/office/drawing/2014/main" id="{0909B879-8EB9-22E8-3BC8-E0736DD06368}"/>
              </a:ext>
            </a:extLst>
          </p:cNvPr>
          <p:cNvGrpSpPr>
            <a:grpSpLocks noChangeAspect="1"/>
          </p:cNvGrpSpPr>
          <p:nvPr/>
        </p:nvGrpSpPr>
        <p:grpSpPr>
          <a:xfrm rot="5400000" flipV="1">
            <a:off x="2362547" y="3035647"/>
            <a:ext cx="307340" cy="307340"/>
            <a:chOff x="1413494" y="4670360"/>
            <a:chExt cx="442162" cy="456033"/>
          </a:xfrm>
        </p:grpSpPr>
        <p:sp>
          <p:nvSpPr>
            <p:cNvPr id="12" name="Ellipse 69">
              <a:extLst>
                <a:ext uri="{FF2B5EF4-FFF2-40B4-BE49-F238E27FC236}">
                  <a16:creationId xmlns:a16="http://schemas.microsoft.com/office/drawing/2014/main" id="{7DA5453F-02D6-6DF6-18B2-9488153FB8F3}"/>
                </a:ext>
              </a:extLst>
            </p:cNvPr>
            <p:cNvSpPr/>
            <p:nvPr/>
          </p:nvSpPr>
          <p:spPr bwMode="auto">
            <a:xfrm>
              <a:off x="1413494" y="4670360"/>
              <a:ext cx="442162" cy="456033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  <p:sp>
          <p:nvSpPr>
            <p:cNvPr id="15" name="Flèche vers la droite 45">
              <a:extLst>
                <a:ext uri="{FF2B5EF4-FFF2-40B4-BE49-F238E27FC236}">
                  <a16:creationId xmlns:a16="http://schemas.microsoft.com/office/drawing/2014/main" id="{E2989131-786C-C4CF-2393-2F40E5C57A91}"/>
                </a:ext>
              </a:extLst>
            </p:cNvPr>
            <p:cNvSpPr/>
            <p:nvPr/>
          </p:nvSpPr>
          <p:spPr bwMode="auto">
            <a:xfrm rot="5400000">
              <a:off x="1520568" y="4787836"/>
              <a:ext cx="228016" cy="221081"/>
            </a:xfrm>
            <a:prstGeom prst="rightArrow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</p:grpSp>
      <p:grpSp>
        <p:nvGrpSpPr>
          <p:cNvPr id="16" name="Down arrow">
            <a:extLst>
              <a:ext uri="{FF2B5EF4-FFF2-40B4-BE49-F238E27FC236}">
                <a16:creationId xmlns:a16="http://schemas.microsoft.com/office/drawing/2014/main" id="{9BDE0665-A531-2082-5B6C-E9FE0B74B842}"/>
              </a:ext>
            </a:extLst>
          </p:cNvPr>
          <p:cNvGrpSpPr>
            <a:grpSpLocks noChangeAspect="1"/>
          </p:cNvGrpSpPr>
          <p:nvPr/>
        </p:nvGrpSpPr>
        <p:grpSpPr>
          <a:xfrm rot="5400000" flipV="1">
            <a:off x="3982706" y="3035647"/>
            <a:ext cx="307340" cy="307340"/>
            <a:chOff x="1413494" y="4670360"/>
            <a:chExt cx="442162" cy="456033"/>
          </a:xfrm>
        </p:grpSpPr>
        <p:sp>
          <p:nvSpPr>
            <p:cNvPr id="19" name="Ellipse 69">
              <a:extLst>
                <a:ext uri="{FF2B5EF4-FFF2-40B4-BE49-F238E27FC236}">
                  <a16:creationId xmlns:a16="http://schemas.microsoft.com/office/drawing/2014/main" id="{5AD55213-E855-54E5-6F78-0A86D0BAB46F}"/>
                </a:ext>
              </a:extLst>
            </p:cNvPr>
            <p:cNvSpPr/>
            <p:nvPr/>
          </p:nvSpPr>
          <p:spPr bwMode="auto">
            <a:xfrm>
              <a:off x="1413494" y="4670360"/>
              <a:ext cx="442162" cy="456033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  <p:sp>
          <p:nvSpPr>
            <p:cNvPr id="42" name="Flèche vers la droite 45">
              <a:extLst>
                <a:ext uri="{FF2B5EF4-FFF2-40B4-BE49-F238E27FC236}">
                  <a16:creationId xmlns:a16="http://schemas.microsoft.com/office/drawing/2014/main" id="{889AD119-D52D-284F-BE7B-E6D2CC257D3B}"/>
                </a:ext>
              </a:extLst>
            </p:cNvPr>
            <p:cNvSpPr/>
            <p:nvPr/>
          </p:nvSpPr>
          <p:spPr bwMode="auto">
            <a:xfrm rot="5400000">
              <a:off x="1520568" y="4787836"/>
              <a:ext cx="228016" cy="221081"/>
            </a:xfrm>
            <a:prstGeom prst="rightArrow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4C1D42D-3594-B77A-DC5C-831547E1F397}"/>
              </a:ext>
            </a:extLst>
          </p:cNvPr>
          <p:cNvCxnSpPr>
            <a:cxnSpLocks/>
          </p:cNvCxnSpPr>
          <p:nvPr/>
        </p:nvCxnSpPr>
        <p:spPr>
          <a:xfrm>
            <a:off x="358775" y="2720903"/>
            <a:ext cx="842645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07D5F33-E060-22C9-96A1-158115066B2D}"/>
              </a:ext>
            </a:extLst>
          </p:cNvPr>
          <p:cNvSpPr txBox="1"/>
          <p:nvPr/>
        </p:nvSpPr>
        <p:spPr>
          <a:xfrm>
            <a:off x="1107689" y="1130418"/>
            <a:ext cx="1196898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Older households have lower risk tolerance due to shorter investment horizons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E566856-7BF8-9573-C9A9-83FEAC4C89CE}"/>
              </a:ext>
            </a:extLst>
          </p:cNvPr>
          <p:cNvSpPr txBox="1"/>
          <p:nvPr/>
        </p:nvSpPr>
        <p:spPr>
          <a:xfrm>
            <a:off x="2727848" y="1130418"/>
            <a:ext cx="119689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Higher demand for safe assets as result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4BF5B29-E9E6-00EA-E3F9-E3E857EF7611}"/>
              </a:ext>
            </a:extLst>
          </p:cNvPr>
          <p:cNvSpPr txBox="1"/>
          <p:nvPr/>
        </p:nvSpPr>
        <p:spPr>
          <a:xfrm>
            <a:off x="5968166" y="1130418"/>
            <a:ext cx="11968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/>
              <a:t>Bank-based: </a:t>
            </a:r>
            <a:r>
              <a:rPr lang="en-GB" sz="1100" dirty="0"/>
              <a:t>Safe assets = bank deposits</a:t>
            </a:r>
            <a:br>
              <a:rPr lang="en-GB" sz="1100" b="1" dirty="0"/>
            </a:br>
            <a:br>
              <a:rPr lang="en-GB" sz="1100" b="1" dirty="0"/>
            </a:br>
            <a:r>
              <a:rPr lang="en-GB" sz="1100" b="1" dirty="0"/>
              <a:t>Market-based: </a:t>
            </a:r>
            <a:r>
              <a:rPr lang="en-GB" sz="1100" dirty="0"/>
              <a:t>Safe assets = govt bonds, bond ETFS, …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1A713BE-348E-CE1E-0E9D-185BB46A1CB4}"/>
              </a:ext>
            </a:extLst>
          </p:cNvPr>
          <p:cNvSpPr txBox="1"/>
          <p:nvPr/>
        </p:nvSpPr>
        <p:spPr>
          <a:xfrm>
            <a:off x="4348007" y="1130418"/>
            <a:ext cx="11968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Households rebalance portfolios toward low-risk assets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C4278F-2325-D9DC-39C9-BA216BE25D4E}"/>
              </a:ext>
            </a:extLst>
          </p:cNvPr>
          <p:cNvSpPr txBox="1"/>
          <p:nvPr/>
        </p:nvSpPr>
        <p:spPr>
          <a:xfrm>
            <a:off x="7588327" y="1130418"/>
            <a:ext cx="11968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In bank-based systems: Deposits increase</a:t>
            </a:r>
            <a:br>
              <a:rPr lang="en-US" sz="1100" dirty="0"/>
            </a:br>
            <a:br>
              <a:rPr lang="en-US" sz="1100" dirty="0"/>
            </a:br>
            <a:r>
              <a:rPr lang="en-US" sz="1100" dirty="0"/>
              <a:t>In market-based systems: Deposits increase less or not at all</a:t>
            </a:r>
          </a:p>
        </p:txBody>
      </p:sp>
      <p:grpSp>
        <p:nvGrpSpPr>
          <p:cNvPr id="57" name="Down arrow">
            <a:extLst>
              <a:ext uri="{FF2B5EF4-FFF2-40B4-BE49-F238E27FC236}">
                <a16:creationId xmlns:a16="http://schemas.microsoft.com/office/drawing/2014/main" id="{5A86EA59-5D5D-B5FC-A0D8-5A28DDB6A4B2}"/>
              </a:ext>
            </a:extLst>
          </p:cNvPr>
          <p:cNvGrpSpPr>
            <a:grpSpLocks noChangeAspect="1"/>
          </p:cNvGrpSpPr>
          <p:nvPr/>
        </p:nvGrpSpPr>
        <p:grpSpPr>
          <a:xfrm rot="5400000" flipV="1">
            <a:off x="2362547" y="1169274"/>
            <a:ext cx="307340" cy="307340"/>
            <a:chOff x="1413494" y="4670360"/>
            <a:chExt cx="442162" cy="456033"/>
          </a:xfrm>
        </p:grpSpPr>
        <p:sp>
          <p:nvSpPr>
            <p:cNvPr id="58" name="Ellipse 69">
              <a:extLst>
                <a:ext uri="{FF2B5EF4-FFF2-40B4-BE49-F238E27FC236}">
                  <a16:creationId xmlns:a16="http://schemas.microsoft.com/office/drawing/2014/main" id="{F2BAF445-95FE-4E33-0DCD-187FD35EAC95}"/>
                </a:ext>
              </a:extLst>
            </p:cNvPr>
            <p:cNvSpPr/>
            <p:nvPr/>
          </p:nvSpPr>
          <p:spPr bwMode="auto">
            <a:xfrm>
              <a:off x="1413494" y="4670360"/>
              <a:ext cx="442162" cy="456033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  <p:sp>
          <p:nvSpPr>
            <p:cNvPr id="59" name="Flèche vers la droite 45">
              <a:extLst>
                <a:ext uri="{FF2B5EF4-FFF2-40B4-BE49-F238E27FC236}">
                  <a16:creationId xmlns:a16="http://schemas.microsoft.com/office/drawing/2014/main" id="{AB289334-6779-26C7-6B0A-9338BF4742CC}"/>
                </a:ext>
              </a:extLst>
            </p:cNvPr>
            <p:cNvSpPr/>
            <p:nvPr/>
          </p:nvSpPr>
          <p:spPr bwMode="auto">
            <a:xfrm rot="5400000">
              <a:off x="1520568" y="4787836"/>
              <a:ext cx="228016" cy="221081"/>
            </a:xfrm>
            <a:prstGeom prst="rightArrow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</p:grpSp>
      <p:grpSp>
        <p:nvGrpSpPr>
          <p:cNvPr id="60" name="Down arrow">
            <a:extLst>
              <a:ext uri="{FF2B5EF4-FFF2-40B4-BE49-F238E27FC236}">
                <a16:creationId xmlns:a16="http://schemas.microsoft.com/office/drawing/2014/main" id="{3DC532D4-0391-E36B-7D3F-801FAF11F8BD}"/>
              </a:ext>
            </a:extLst>
          </p:cNvPr>
          <p:cNvGrpSpPr>
            <a:grpSpLocks noChangeAspect="1"/>
          </p:cNvGrpSpPr>
          <p:nvPr/>
        </p:nvGrpSpPr>
        <p:grpSpPr>
          <a:xfrm rot="5400000" flipV="1">
            <a:off x="3982706" y="1169274"/>
            <a:ext cx="307340" cy="307340"/>
            <a:chOff x="1413494" y="4670360"/>
            <a:chExt cx="442162" cy="456033"/>
          </a:xfrm>
        </p:grpSpPr>
        <p:sp>
          <p:nvSpPr>
            <p:cNvPr id="61" name="Ellipse 69">
              <a:extLst>
                <a:ext uri="{FF2B5EF4-FFF2-40B4-BE49-F238E27FC236}">
                  <a16:creationId xmlns:a16="http://schemas.microsoft.com/office/drawing/2014/main" id="{9D18EF50-C3C0-2DF9-6032-038A300EEF2F}"/>
                </a:ext>
              </a:extLst>
            </p:cNvPr>
            <p:cNvSpPr/>
            <p:nvPr/>
          </p:nvSpPr>
          <p:spPr bwMode="auto">
            <a:xfrm>
              <a:off x="1413494" y="4670360"/>
              <a:ext cx="442162" cy="456033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  <p:sp>
          <p:nvSpPr>
            <p:cNvPr id="62" name="Flèche vers la droite 45">
              <a:extLst>
                <a:ext uri="{FF2B5EF4-FFF2-40B4-BE49-F238E27FC236}">
                  <a16:creationId xmlns:a16="http://schemas.microsoft.com/office/drawing/2014/main" id="{D2FF3705-3AEA-F61D-DAA1-08D57AC97176}"/>
                </a:ext>
              </a:extLst>
            </p:cNvPr>
            <p:cNvSpPr/>
            <p:nvPr/>
          </p:nvSpPr>
          <p:spPr bwMode="auto">
            <a:xfrm rot="5400000">
              <a:off x="1520568" y="4787836"/>
              <a:ext cx="228016" cy="221081"/>
            </a:xfrm>
            <a:prstGeom prst="rightArrow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</p:grpSp>
      <p:grpSp>
        <p:nvGrpSpPr>
          <p:cNvPr id="63" name="Down arrow">
            <a:extLst>
              <a:ext uri="{FF2B5EF4-FFF2-40B4-BE49-F238E27FC236}">
                <a16:creationId xmlns:a16="http://schemas.microsoft.com/office/drawing/2014/main" id="{F3CC6FB9-5BC4-5FA8-F33F-F998433F8377}"/>
              </a:ext>
            </a:extLst>
          </p:cNvPr>
          <p:cNvGrpSpPr>
            <a:grpSpLocks noChangeAspect="1"/>
          </p:cNvGrpSpPr>
          <p:nvPr/>
        </p:nvGrpSpPr>
        <p:grpSpPr>
          <a:xfrm rot="5400000" flipV="1">
            <a:off x="5602865" y="1169274"/>
            <a:ext cx="307340" cy="307340"/>
            <a:chOff x="1413494" y="4670360"/>
            <a:chExt cx="442162" cy="456033"/>
          </a:xfrm>
        </p:grpSpPr>
        <p:sp>
          <p:nvSpPr>
            <p:cNvPr id="64" name="Ellipse 69">
              <a:extLst>
                <a:ext uri="{FF2B5EF4-FFF2-40B4-BE49-F238E27FC236}">
                  <a16:creationId xmlns:a16="http://schemas.microsoft.com/office/drawing/2014/main" id="{D3A4B153-102C-7258-267B-7CCF289F60EF}"/>
                </a:ext>
              </a:extLst>
            </p:cNvPr>
            <p:cNvSpPr/>
            <p:nvPr/>
          </p:nvSpPr>
          <p:spPr bwMode="auto">
            <a:xfrm>
              <a:off x="1413494" y="4670360"/>
              <a:ext cx="442162" cy="456033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  <p:sp>
          <p:nvSpPr>
            <p:cNvPr id="65" name="Flèche vers la droite 45">
              <a:extLst>
                <a:ext uri="{FF2B5EF4-FFF2-40B4-BE49-F238E27FC236}">
                  <a16:creationId xmlns:a16="http://schemas.microsoft.com/office/drawing/2014/main" id="{7C101E6A-A18F-2405-89EB-A1B5540DB241}"/>
                </a:ext>
              </a:extLst>
            </p:cNvPr>
            <p:cNvSpPr/>
            <p:nvPr/>
          </p:nvSpPr>
          <p:spPr bwMode="auto">
            <a:xfrm rot="5400000">
              <a:off x="1520568" y="4787836"/>
              <a:ext cx="228016" cy="221081"/>
            </a:xfrm>
            <a:prstGeom prst="rightArrow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</p:grpSp>
      <p:grpSp>
        <p:nvGrpSpPr>
          <p:cNvPr id="66" name="Down arrow">
            <a:extLst>
              <a:ext uri="{FF2B5EF4-FFF2-40B4-BE49-F238E27FC236}">
                <a16:creationId xmlns:a16="http://schemas.microsoft.com/office/drawing/2014/main" id="{C1608F51-425D-A377-AF53-A0BB78C419AA}"/>
              </a:ext>
            </a:extLst>
          </p:cNvPr>
          <p:cNvGrpSpPr>
            <a:grpSpLocks noChangeAspect="1"/>
          </p:cNvGrpSpPr>
          <p:nvPr/>
        </p:nvGrpSpPr>
        <p:grpSpPr>
          <a:xfrm rot="5400000" flipV="1">
            <a:off x="7178421" y="1169274"/>
            <a:ext cx="307340" cy="307340"/>
            <a:chOff x="1413494" y="4670360"/>
            <a:chExt cx="442162" cy="456033"/>
          </a:xfrm>
        </p:grpSpPr>
        <p:sp>
          <p:nvSpPr>
            <p:cNvPr id="67" name="Ellipse 69">
              <a:extLst>
                <a:ext uri="{FF2B5EF4-FFF2-40B4-BE49-F238E27FC236}">
                  <a16:creationId xmlns:a16="http://schemas.microsoft.com/office/drawing/2014/main" id="{1AB04E4B-C046-9C91-3AA1-23243ACD6475}"/>
                </a:ext>
              </a:extLst>
            </p:cNvPr>
            <p:cNvSpPr/>
            <p:nvPr/>
          </p:nvSpPr>
          <p:spPr bwMode="auto">
            <a:xfrm>
              <a:off x="1413494" y="4670360"/>
              <a:ext cx="442162" cy="456033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  <p:sp>
          <p:nvSpPr>
            <p:cNvPr id="68" name="Flèche vers la droite 45">
              <a:extLst>
                <a:ext uri="{FF2B5EF4-FFF2-40B4-BE49-F238E27FC236}">
                  <a16:creationId xmlns:a16="http://schemas.microsoft.com/office/drawing/2014/main" id="{40F8AFDE-B2C5-5EAD-35A5-CC2D38BC6223}"/>
                </a:ext>
              </a:extLst>
            </p:cNvPr>
            <p:cNvSpPr/>
            <p:nvPr/>
          </p:nvSpPr>
          <p:spPr bwMode="auto">
            <a:xfrm rot="5400000">
              <a:off x="1520568" y="4787836"/>
              <a:ext cx="228016" cy="221081"/>
            </a:xfrm>
            <a:prstGeom prst="rightArrow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294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944D1-26AF-70EC-7A89-D832556C5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1C25FE5-CFE6-CF8F-0B95-FA4BC6707A1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8EA462-2628-649C-4615-FCAEDC08F2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A9725D4-5EAA-D7EC-9D4E-A21F39C2A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LI" dirty="0"/>
              <a:t>Academic papers supporting the theory (1/2)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263496-AE91-B5B1-C258-9199E7889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600" y="4767263"/>
            <a:ext cx="216000" cy="273844"/>
          </a:xfrm>
        </p:spPr>
        <p:txBody>
          <a:bodyPr/>
          <a:lstStyle/>
          <a:p>
            <a:fld id="{7559FC98-AF75-4A00-A03C-DF9FEBF6BCB9}" type="slidenum">
              <a:rPr lang="en-GB" smtClean="0"/>
              <a:t>4</a:t>
            </a:fld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CFCFFF-47D0-D3A4-64A4-0EABCA121B64}"/>
              </a:ext>
            </a:extLst>
          </p:cNvPr>
          <p:cNvSpPr/>
          <p:nvPr/>
        </p:nvSpPr>
        <p:spPr>
          <a:xfrm>
            <a:off x="1563107" y="1024372"/>
            <a:ext cx="1589029" cy="4710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LI" sz="1100" dirty="0"/>
              <a:t>Household portfolios</a:t>
            </a:r>
            <a:br>
              <a:rPr lang="de-LI" sz="1100" dirty="0"/>
            </a:br>
            <a:r>
              <a:rPr lang="en-CH" sz="1100" dirty="0"/>
              <a:t>(</a:t>
            </a:r>
            <a:r>
              <a:rPr lang="de-LI" sz="1100" dirty="0"/>
              <a:t>Guiso et al.</a:t>
            </a:r>
            <a:r>
              <a:rPr lang="en-CH" sz="1100" dirty="0"/>
              <a:t>)</a:t>
            </a:r>
            <a:endParaRPr lang="en-GB" sz="1100" dirty="0"/>
          </a:p>
        </p:txBody>
      </p:sp>
      <p:grpSp>
        <p:nvGrpSpPr>
          <p:cNvPr id="25" name="Down arrow">
            <a:extLst>
              <a:ext uri="{FF2B5EF4-FFF2-40B4-BE49-F238E27FC236}">
                <a16:creationId xmlns:a16="http://schemas.microsoft.com/office/drawing/2014/main" id="{12161DF6-AD8F-9A58-7627-ABFB3663F2D0}"/>
              </a:ext>
            </a:extLst>
          </p:cNvPr>
          <p:cNvGrpSpPr>
            <a:grpSpLocks noChangeAspect="1"/>
          </p:cNvGrpSpPr>
          <p:nvPr/>
        </p:nvGrpSpPr>
        <p:grpSpPr>
          <a:xfrm rot="10800000" flipV="1">
            <a:off x="2203951" y="3825572"/>
            <a:ext cx="307340" cy="307340"/>
            <a:chOff x="1413494" y="4670360"/>
            <a:chExt cx="442162" cy="456033"/>
          </a:xfrm>
        </p:grpSpPr>
        <p:sp>
          <p:nvSpPr>
            <p:cNvPr id="26" name="Ellipse 69">
              <a:extLst>
                <a:ext uri="{FF2B5EF4-FFF2-40B4-BE49-F238E27FC236}">
                  <a16:creationId xmlns:a16="http://schemas.microsoft.com/office/drawing/2014/main" id="{F901888E-D77B-4629-042B-38CAC8C6580C}"/>
                </a:ext>
              </a:extLst>
            </p:cNvPr>
            <p:cNvSpPr/>
            <p:nvPr/>
          </p:nvSpPr>
          <p:spPr bwMode="auto">
            <a:xfrm>
              <a:off x="1413494" y="4670360"/>
              <a:ext cx="442162" cy="456033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  <p:sp>
          <p:nvSpPr>
            <p:cNvPr id="27" name="Flèche vers la droite 45">
              <a:extLst>
                <a:ext uri="{FF2B5EF4-FFF2-40B4-BE49-F238E27FC236}">
                  <a16:creationId xmlns:a16="http://schemas.microsoft.com/office/drawing/2014/main" id="{C5D20004-8F18-F854-D6BA-CDC14D0AA4F5}"/>
                </a:ext>
              </a:extLst>
            </p:cNvPr>
            <p:cNvSpPr/>
            <p:nvPr/>
          </p:nvSpPr>
          <p:spPr bwMode="auto">
            <a:xfrm rot="5400000">
              <a:off x="1520568" y="4787836"/>
              <a:ext cx="228016" cy="221081"/>
            </a:xfrm>
            <a:prstGeom prst="rightArrow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715F6B14-4433-4C73-28B5-7BE4C0164DD6}"/>
              </a:ext>
            </a:extLst>
          </p:cNvPr>
          <p:cNvSpPr/>
          <p:nvPr/>
        </p:nvSpPr>
        <p:spPr>
          <a:xfrm>
            <a:off x="3440803" y="1024372"/>
            <a:ext cx="1589029" cy="4710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100" dirty="0"/>
              <a:t>Life cycle model</a:t>
            </a:r>
            <a:br>
              <a:rPr lang="de-LI" sz="1100" dirty="0"/>
            </a:br>
            <a:r>
              <a:rPr lang="de-LI" sz="1100" dirty="0"/>
              <a:t>(Danziger et al.)</a:t>
            </a:r>
            <a:endParaRPr lang="en-GB" sz="1100" dirty="0"/>
          </a:p>
        </p:txBody>
      </p:sp>
      <p:grpSp>
        <p:nvGrpSpPr>
          <p:cNvPr id="51" name="Down arrow">
            <a:extLst>
              <a:ext uri="{FF2B5EF4-FFF2-40B4-BE49-F238E27FC236}">
                <a16:creationId xmlns:a16="http://schemas.microsoft.com/office/drawing/2014/main" id="{304C5B10-9394-4E1F-2E15-B7B4FBBC56D1}"/>
              </a:ext>
            </a:extLst>
          </p:cNvPr>
          <p:cNvGrpSpPr>
            <a:grpSpLocks noChangeAspect="1"/>
          </p:cNvGrpSpPr>
          <p:nvPr/>
        </p:nvGrpSpPr>
        <p:grpSpPr>
          <a:xfrm rot="10800000" flipV="1">
            <a:off x="4081647" y="3825572"/>
            <a:ext cx="307340" cy="307340"/>
            <a:chOff x="1413494" y="4670360"/>
            <a:chExt cx="442162" cy="456033"/>
          </a:xfrm>
        </p:grpSpPr>
        <p:sp>
          <p:nvSpPr>
            <p:cNvPr id="52" name="Ellipse 69">
              <a:extLst>
                <a:ext uri="{FF2B5EF4-FFF2-40B4-BE49-F238E27FC236}">
                  <a16:creationId xmlns:a16="http://schemas.microsoft.com/office/drawing/2014/main" id="{6FC27C4B-17BA-0822-A25F-21B8460A1C9B}"/>
                </a:ext>
              </a:extLst>
            </p:cNvPr>
            <p:cNvSpPr/>
            <p:nvPr/>
          </p:nvSpPr>
          <p:spPr bwMode="auto">
            <a:xfrm>
              <a:off x="1413494" y="4670360"/>
              <a:ext cx="442162" cy="456033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  <p:sp>
          <p:nvSpPr>
            <p:cNvPr id="53" name="Flèche vers la droite 45">
              <a:extLst>
                <a:ext uri="{FF2B5EF4-FFF2-40B4-BE49-F238E27FC236}">
                  <a16:creationId xmlns:a16="http://schemas.microsoft.com/office/drawing/2014/main" id="{E4902DD5-66B3-A909-5F5C-BA079546F452}"/>
                </a:ext>
              </a:extLst>
            </p:cNvPr>
            <p:cNvSpPr/>
            <p:nvPr/>
          </p:nvSpPr>
          <p:spPr bwMode="auto">
            <a:xfrm rot="5400000">
              <a:off x="1520568" y="4787836"/>
              <a:ext cx="228016" cy="221081"/>
            </a:xfrm>
            <a:prstGeom prst="rightArrow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A5EF5983-FADB-BDEA-95C5-80C3188CAA90}"/>
              </a:ext>
            </a:extLst>
          </p:cNvPr>
          <p:cNvSpPr/>
          <p:nvPr/>
        </p:nvSpPr>
        <p:spPr>
          <a:xfrm>
            <a:off x="5318499" y="1024372"/>
            <a:ext cx="1589029" cy="4710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Household Finance</a:t>
            </a:r>
            <a:br>
              <a:rPr lang="en-GB" sz="1100" dirty="0"/>
            </a:br>
            <a:r>
              <a:rPr lang="en-GB" sz="1100" dirty="0"/>
              <a:t>(Campbell)</a:t>
            </a:r>
          </a:p>
        </p:txBody>
      </p:sp>
      <p:grpSp>
        <p:nvGrpSpPr>
          <p:cNvPr id="56" name="Down arrow">
            <a:extLst>
              <a:ext uri="{FF2B5EF4-FFF2-40B4-BE49-F238E27FC236}">
                <a16:creationId xmlns:a16="http://schemas.microsoft.com/office/drawing/2014/main" id="{AEAD4985-FD3C-154E-EFA3-04DD25EA48DE}"/>
              </a:ext>
            </a:extLst>
          </p:cNvPr>
          <p:cNvGrpSpPr>
            <a:grpSpLocks noChangeAspect="1"/>
          </p:cNvGrpSpPr>
          <p:nvPr/>
        </p:nvGrpSpPr>
        <p:grpSpPr>
          <a:xfrm rot="10800000" flipV="1">
            <a:off x="5959343" y="3825572"/>
            <a:ext cx="307340" cy="307340"/>
            <a:chOff x="1413494" y="4670360"/>
            <a:chExt cx="442162" cy="456033"/>
          </a:xfrm>
        </p:grpSpPr>
        <p:sp>
          <p:nvSpPr>
            <p:cNvPr id="57" name="Ellipse 69">
              <a:extLst>
                <a:ext uri="{FF2B5EF4-FFF2-40B4-BE49-F238E27FC236}">
                  <a16:creationId xmlns:a16="http://schemas.microsoft.com/office/drawing/2014/main" id="{FC44B479-F414-C331-2B98-2E0BB1110FF7}"/>
                </a:ext>
              </a:extLst>
            </p:cNvPr>
            <p:cNvSpPr/>
            <p:nvPr/>
          </p:nvSpPr>
          <p:spPr bwMode="auto">
            <a:xfrm>
              <a:off x="1413494" y="4670360"/>
              <a:ext cx="442162" cy="456033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  <p:sp>
          <p:nvSpPr>
            <p:cNvPr id="58" name="Flèche vers la droite 45">
              <a:extLst>
                <a:ext uri="{FF2B5EF4-FFF2-40B4-BE49-F238E27FC236}">
                  <a16:creationId xmlns:a16="http://schemas.microsoft.com/office/drawing/2014/main" id="{2EEAFDE5-4421-266C-3CFB-9BBBD623AB31}"/>
                </a:ext>
              </a:extLst>
            </p:cNvPr>
            <p:cNvSpPr/>
            <p:nvPr/>
          </p:nvSpPr>
          <p:spPr bwMode="auto">
            <a:xfrm rot="5400000">
              <a:off x="1520568" y="4787836"/>
              <a:ext cx="228016" cy="221081"/>
            </a:xfrm>
            <a:prstGeom prst="rightArrow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48F2C340-EE11-044C-81C3-C56517905165}"/>
              </a:ext>
            </a:extLst>
          </p:cNvPr>
          <p:cNvSpPr/>
          <p:nvPr/>
        </p:nvSpPr>
        <p:spPr>
          <a:xfrm>
            <a:off x="7196196" y="1024372"/>
            <a:ext cx="1589029" cy="4710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100" dirty="0"/>
              <a:t>Financial systems</a:t>
            </a:r>
            <a:endParaRPr lang="en-GB" sz="1100" dirty="0"/>
          </a:p>
        </p:txBody>
      </p:sp>
      <p:grpSp>
        <p:nvGrpSpPr>
          <p:cNvPr id="65" name="Down arrow">
            <a:extLst>
              <a:ext uri="{FF2B5EF4-FFF2-40B4-BE49-F238E27FC236}">
                <a16:creationId xmlns:a16="http://schemas.microsoft.com/office/drawing/2014/main" id="{24DEA024-3780-1F27-B421-08F8507753F5}"/>
              </a:ext>
            </a:extLst>
          </p:cNvPr>
          <p:cNvGrpSpPr>
            <a:grpSpLocks noChangeAspect="1"/>
          </p:cNvGrpSpPr>
          <p:nvPr/>
        </p:nvGrpSpPr>
        <p:grpSpPr>
          <a:xfrm rot="10800000" flipV="1">
            <a:off x="7837040" y="3825572"/>
            <a:ext cx="307340" cy="307340"/>
            <a:chOff x="1413494" y="4670360"/>
            <a:chExt cx="442162" cy="456033"/>
          </a:xfrm>
        </p:grpSpPr>
        <p:sp>
          <p:nvSpPr>
            <p:cNvPr id="66" name="Ellipse 69">
              <a:extLst>
                <a:ext uri="{FF2B5EF4-FFF2-40B4-BE49-F238E27FC236}">
                  <a16:creationId xmlns:a16="http://schemas.microsoft.com/office/drawing/2014/main" id="{56BE5086-23E3-0A64-89C2-7784859C1428}"/>
                </a:ext>
              </a:extLst>
            </p:cNvPr>
            <p:cNvSpPr/>
            <p:nvPr/>
          </p:nvSpPr>
          <p:spPr bwMode="auto">
            <a:xfrm>
              <a:off x="1413494" y="4670360"/>
              <a:ext cx="442162" cy="456033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  <p:sp>
          <p:nvSpPr>
            <p:cNvPr id="67" name="Flèche vers la droite 45">
              <a:extLst>
                <a:ext uri="{FF2B5EF4-FFF2-40B4-BE49-F238E27FC236}">
                  <a16:creationId xmlns:a16="http://schemas.microsoft.com/office/drawing/2014/main" id="{8D68A094-335B-8623-1C63-16E6770BC04A}"/>
                </a:ext>
              </a:extLst>
            </p:cNvPr>
            <p:cNvSpPr/>
            <p:nvPr/>
          </p:nvSpPr>
          <p:spPr bwMode="auto">
            <a:xfrm rot="5400000">
              <a:off x="1520568" y="4787836"/>
              <a:ext cx="228016" cy="221081"/>
            </a:xfrm>
            <a:prstGeom prst="rightArrow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25363D27-3146-9201-6DA4-04C01BCD5E78}"/>
              </a:ext>
            </a:extLst>
          </p:cNvPr>
          <p:cNvSpPr txBox="1"/>
          <p:nvPr/>
        </p:nvSpPr>
        <p:spPr>
          <a:xfrm>
            <a:off x="358775" y="1606787"/>
            <a:ext cx="8549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100" b="1" dirty="0">
                <a:solidFill>
                  <a:schemeClr val="accent1"/>
                </a:solidFill>
              </a:rPr>
              <a:t>Topic</a:t>
            </a:r>
            <a:endParaRPr lang="en-GB" sz="1100" dirty="0">
              <a:solidFill>
                <a:schemeClr val="accent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DA92D50-408C-D55C-DCCD-52C054E7AE5E}"/>
              </a:ext>
            </a:extLst>
          </p:cNvPr>
          <p:cNvSpPr txBox="1"/>
          <p:nvPr/>
        </p:nvSpPr>
        <p:spPr>
          <a:xfrm>
            <a:off x="1563106" y="1602517"/>
            <a:ext cx="15890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LI" sz="1100" dirty="0"/>
              <a:t>Theoretical &amp; empirical analysis of household portfolio structure</a:t>
            </a:r>
            <a:endParaRPr lang="en-GB" sz="11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E2C2428-02CD-34B7-3CCF-4275AF5ED162}"/>
              </a:ext>
            </a:extLst>
          </p:cNvPr>
          <p:cNvSpPr txBox="1"/>
          <p:nvPr/>
        </p:nvSpPr>
        <p:spPr>
          <a:xfrm>
            <a:off x="358775" y="2198462"/>
            <a:ext cx="8549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100" b="1" dirty="0">
                <a:solidFill>
                  <a:schemeClr val="accent1"/>
                </a:solidFill>
              </a:rPr>
              <a:t>Year</a:t>
            </a:r>
            <a:endParaRPr lang="en-GB" sz="1100" dirty="0">
              <a:solidFill>
                <a:schemeClr val="accent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AF98DD7-1101-7237-92A4-4AB68CE8E511}"/>
              </a:ext>
            </a:extLst>
          </p:cNvPr>
          <p:cNvSpPr txBox="1"/>
          <p:nvPr/>
        </p:nvSpPr>
        <p:spPr>
          <a:xfrm>
            <a:off x="1563106" y="2194192"/>
            <a:ext cx="1589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LI" sz="1100" dirty="0"/>
              <a:t>2002</a:t>
            </a:r>
            <a:endParaRPr lang="en-GB" sz="11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0A76AF6-8A7D-931D-539E-D4B6304A487D}"/>
              </a:ext>
            </a:extLst>
          </p:cNvPr>
          <p:cNvSpPr txBox="1"/>
          <p:nvPr/>
        </p:nvSpPr>
        <p:spPr>
          <a:xfrm>
            <a:off x="358775" y="2559209"/>
            <a:ext cx="8549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100" b="1" dirty="0">
                <a:solidFill>
                  <a:schemeClr val="accent1"/>
                </a:solidFill>
              </a:rPr>
              <a:t>Journal</a:t>
            </a:r>
            <a:endParaRPr lang="en-GB" sz="1100" dirty="0">
              <a:solidFill>
                <a:schemeClr val="accent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C6C5725-E1B0-2744-A8D1-5050F25F5A65}"/>
              </a:ext>
            </a:extLst>
          </p:cNvPr>
          <p:cNvSpPr txBox="1"/>
          <p:nvPr/>
        </p:nvSpPr>
        <p:spPr>
          <a:xfrm>
            <a:off x="1563106" y="2554939"/>
            <a:ext cx="1589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LI" sz="1100" dirty="0"/>
              <a:t>Book</a:t>
            </a:r>
            <a:endParaRPr lang="en-GB" sz="11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3AB9748-0394-5FEC-5759-4B046ACD0CCB}"/>
              </a:ext>
            </a:extLst>
          </p:cNvPr>
          <p:cNvSpPr txBox="1"/>
          <p:nvPr/>
        </p:nvSpPr>
        <p:spPr>
          <a:xfrm>
            <a:off x="358775" y="3066157"/>
            <a:ext cx="9868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100" b="1" dirty="0">
                <a:solidFill>
                  <a:schemeClr val="accent1"/>
                </a:solidFill>
              </a:rPr>
              <a:t>Key findings</a:t>
            </a:r>
            <a:endParaRPr lang="en-GB" sz="1100" dirty="0">
              <a:solidFill>
                <a:schemeClr val="accent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837D2E6-1C4B-571D-9381-7A8416B08FE8}"/>
              </a:ext>
            </a:extLst>
          </p:cNvPr>
          <p:cNvSpPr txBox="1"/>
          <p:nvPr/>
        </p:nvSpPr>
        <p:spPr>
          <a:xfrm>
            <a:off x="1563106" y="3061887"/>
            <a:ext cx="15890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Older households systematically shift wealth toward safe assets</a:t>
            </a:r>
            <a:endParaRPr lang="en-GB" sz="11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4AE7FA3-59FC-89EA-3DF6-8B37782CF097}"/>
              </a:ext>
            </a:extLst>
          </p:cNvPr>
          <p:cNvSpPr txBox="1"/>
          <p:nvPr/>
        </p:nvSpPr>
        <p:spPr>
          <a:xfrm>
            <a:off x="3440803" y="1602517"/>
            <a:ext cx="15890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Consumption Behavior of the Elderly in the Society</a:t>
            </a:r>
            <a:endParaRPr lang="en-GB" sz="11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472CAB2-F26B-2110-FE2B-0E41AEF65DCD}"/>
              </a:ext>
            </a:extLst>
          </p:cNvPr>
          <p:cNvSpPr txBox="1"/>
          <p:nvPr/>
        </p:nvSpPr>
        <p:spPr>
          <a:xfrm>
            <a:off x="3440803" y="2194192"/>
            <a:ext cx="1589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LI" sz="1100" dirty="0"/>
              <a:t>1982</a:t>
            </a:r>
            <a:endParaRPr lang="en-GB" sz="11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3509875-AA5C-4D2B-EAB0-75AE861D005A}"/>
              </a:ext>
            </a:extLst>
          </p:cNvPr>
          <p:cNvSpPr txBox="1"/>
          <p:nvPr/>
        </p:nvSpPr>
        <p:spPr>
          <a:xfrm>
            <a:off x="3440803" y="2554939"/>
            <a:ext cx="15890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LI" sz="1100" dirty="0"/>
              <a:t>Journal of Post Keynesian Economics</a:t>
            </a:r>
            <a:endParaRPr lang="en-GB" sz="11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7F5E816-BC8C-01D9-D1FB-20766C8472D0}"/>
              </a:ext>
            </a:extLst>
          </p:cNvPr>
          <p:cNvSpPr txBox="1"/>
          <p:nvPr/>
        </p:nvSpPr>
        <p:spPr>
          <a:xfrm>
            <a:off x="3440803" y="3061887"/>
            <a:ext cx="15890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LI" sz="1100" dirty="0"/>
              <a:t>The elderly save more than the young people</a:t>
            </a:r>
            <a:endParaRPr lang="en-GB" sz="11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41B05C5-DC2D-776E-6654-0C1E3C235C20}"/>
              </a:ext>
            </a:extLst>
          </p:cNvPr>
          <p:cNvSpPr txBox="1"/>
          <p:nvPr/>
        </p:nvSpPr>
        <p:spPr>
          <a:xfrm>
            <a:off x="5318501" y="1602517"/>
            <a:ext cx="15890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LI" sz="1100" dirty="0"/>
              <a:t>Theoretical &amp; empirical analysis of household portfolio structure</a:t>
            </a:r>
            <a:endParaRPr lang="en-GB" sz="11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6898A07-16C5-3E1B-B015-6E3090D5EEAC}"/>
              </a:ext>
            </a:extLst>
          </p:cNvPr>
          <p:cNvSpPr txBox="1"/>
          <p:nvPr/>
        </p:nvSpPr>
        <p:spPr>
          <a:xfrm>
            <a:off x="5318501" y="2194192"/>
            <a:ext cx="1589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LI" sz="1100" dirty="0"/>
              <a:t>2006</a:t>
            </a:r>
            <a:endParaRPr lang="en-GB" sz="11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CCF5E12-E41E-352E-DEC9-FA524572F44F}"/>
              </a:ext>
            </a:extLst>
          </p:cNvPr>
          <p:cNvSpPr txBox="1"/>
          <p:nvPr/>
        </p:nvSpPr>
        <p:spPr>
          <a:xfrm>
            <a:off x="5318501" y="2554939"/>
            <a:ext cx="1589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LI" sz="1100" dirty="0"/>
              <a:t>Journal of Finance</a:t>
            </a:r>
            <a:endParaRPr lang="en-GB" sz="11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F24CE6A-2884-6E49-19CE-76B263657C0A}"/>
              </a:ext>
            </a:extLst>
          </p:cNvPr>
          <p:cNvSpPr txBox="1"/>
          <p:nvPr/>
        </p:nvSpPr>
        <p:spPr>
          <a:xfrm>
            <a:off x="5318501" y="3061887"/>
            <a:ext cx="15890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Older households allocate a larger share of their portfolios to safe and liquid assets</a:t>
            </a:r>
            <a:endParaRPr lang="en-GB" sz="11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7383F7E-A9A6-C4E6-969C-7A97863245A0}"/>
              </a:ext>
            </a:extLst>
          </p:cNvPr>
          <p:cNvSpPr txBox="1"/>
          <p:nvPr/>
        </p:nvSpPr>
        <p:spPr>
          <a:xfrm>
            <a:off x="7196198" y="1602517"/>
            <a:ext cx="15890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100" dirty="0"/>
              <a:t>Bank-based vs. market-based financial systems</a:t>
            </a:r>
            <a:endParaRPr lang="en-GB" sz="11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B90F80D-D1FA-2493-8FAA-C61F8EE2ACB0}"/>
              </a:ext>
            </a:extLst>
          </p:cNvPr>
          <p:cNvSpPr txBox="1"/>
          <p:nvPr/>
        </p:nvSpPr>
        <p:spPr>
          <a:xfrm>
            <a:off x="7196198" y="2194192"/>
            <a:ext cx="1589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100" dirty="0"/>
              <a:t>2002</a:t>
            </a:r>
            <a:endParaRPr lang="en-GB" sz="11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A8120EB-D08E-B326-6D0A-FB396D852EDC}"/>
              </a:ext>
            </a:extLst>
          </p:cNvPr>
          <p:cNvSpPr txBox="1"/>
          <p:nvPr/>
        </p:nvSpPr>
        <p:spPr>
          <a:xfrm>
            <a:off x="7196198" y="2554939"/>
            <a:ext cx="15890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100" dirty="0"/>
              <a:t>Journal of Financial Intermediation </a:t>
            </a:r>
            <a:endParaRPr lang="en-GB" sz="11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9391502-4DA6-2653-556D-13C80754FF2F}"/>
              </a:ext>
            </a:extLst>
          </p:cNvPr>
          <p:cNvSpPr txBox="1"/>
          <p:nvPr/>
        </p:nvSpPr>
        <p:spPr>
          <a:xfrm>
            <a:off x="7196198" y="3061887"/>
            <a:ext cx="15890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100" dirty="0"/>
              <a:t>No system is superior for economic growth</a:t>
            </a:r>
            <a:endParaRPr lang="en-GB" sz="11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0B2F91A-9CFC-7B41-F35A-A5297FEE90EB}"/>
              </a:ext>
            </a:extLst>
          </p:cNvPr>
          <p:cNvSpPr txBox="1"/>
          <p:nvPr/>
        </p:nvSpPr>
        <p:spPr>
          <a:xfrm>
            <a:off x="1563106" y="4175588"/>
            <a:ext cx="15890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/>
              <a:t>Supports H1 on broad level</a:t>
            </a:r>
            <a:endParaRPr lang="en-GB" sz="1100" i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5003AED-6EAA-4CB7-3545-1A1FA88B03C8}"/>
              </a:ext>
            </a:extLst>
          </p:cNvPr>
          <p:cNvSpPr txBox="1"/>
          <p:nvPr/>
        </p:nvSpPr>
        <p:spPr>
          <a:xfrm>
            <a:off x="3440803" y="4175588"/>
            <a:ext cx="15890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LI" sz="1100" i="1" dirty="0"/>
              <a:t>Supports H1 specifically, indicates support for H2</a:t>
            </a:r>
            <a:endParaRPr lang="en-GB" sz="1100" i="1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2B73729-5818-F181-5899-1D9C1750E5FB}"/>
              </a:ext>
            </a:extLst>
          </p:cNvPr>
          <p:cNvSpPr txBox="1"/>
          <p:nvPr/>
        </p:nvSpPr>
        <p:spPr>
          <a:xfrm>
            <a:off x="5318501" y="4175588"/>
            <a:ext cx="1589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LI" sz="1100" i="1" dirty="0"/>
              <a:t>Mainly supports H1</a:t>
            </a:r>
            <a:endParaRPr lang="en-GB" sz="1100" i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5B2220A-144A-C059-A8E7-7F54C49DDCF9}"/>
              </a:ext>
            </a:extLst>
          </p:cNvPr>
          <p:cNvSpPr txBox="1"/>
          <p:nvPr/>
        </p:nvSpPr>
        <p:spPr>
          <a:xfrm>
            <a:off x="7196198" y="4175588"/>
            <a:ext cx="15890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LI" sz="1100" i="1" dirty="0"/>
              <a:t>Helps to distinguish between systems (H1)</a:t>
            </a:r>
            <a:endParaRPr lang="en-GB" sz="1100" i="1" dirty="0"/>
          </a:p>
        </p:txBody>
      </p:sp>
    </p:spTree>
    <p:extLst>
      <p:ext uri="{BB962C8B-B14F-4D97-AF65-F5344CB8AC3E}">
        <p14:creationId xmlns:p14="http://schemas.microsoft.com/office/powerpoint/2010/main" val="1807499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63C01-342F-9778-119E-E19121BB8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C19A380-5C06-085B-90DC-C07677727E1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C25FE5-CFE6-CF8F-0B95-FA4BC6707A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11EE040-4F40-DC93-5A48-49AEB3EC6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LI" dirty="0"/>
              <a:t>Academic papers supporting the theory (2/2)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C47F98-630E-4EE3-6D32-5601E2377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600" y="4767263"/>
            <a:ext cx="216000" cy="273844"/>
          </a:xfrm>
        </p:spPr>
        <p:txBody>
          <a:bodyPr/>
          <a:lstStyle/>
          <a:p>
            <a:fld id="{7559FC98-AF75-4A00-A03C-DF9FEBF6BCB9}" type="slidenum">
              <a:rPr lang="en-GB" smtClean="0"/>
              <a:t>5</a:t>
            </a:fld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2612F6-2542-BDCF-B52B-5E847EC2D6A2}"/>
              </a:ext>
            </a:extLst>
          </p:cNvPr>
          <p:cNvSpPr/>
          <p:nvPr/>
        </p:nvSpPr>
        <p:spPr>
          <a:xfrm>
            <a:off x="1563107" y="1024372"/>
            <a:ext cx="1589029" cy="4710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LI" sz="1100" dirty="0"/>
              <a:t>Population ageing &amp; bank risk taking</a:t>
            </a:r>
            <a:br>
              <a:rPr lang="de-LI" sz="1100" dirty="0"/>
            </a:br>
            <a:r>
              <a:rPr lang="de-LI" sz="1100" dirty="0"/>
              <a:t>(Doerr et al.)</a:t>
            </a:r>
            <a:endParaRPr lang="en-GB" sz="1100" dirty="0"/>
          </a:p>
        </p:txBody>
      </p:sp>
      <p:grpSp>
        <p:nvGrpSpPr>
          <p:cNvPr id="25" name="Down arrow">
            <a:extLst>
              <a:ext uri="{FF2B5EF4-FFF2-40B4-BE49-F238E27FC236}">
                <a16:creationId xmlns:a16="http://schemas.microsoft.com/office/drawing/2014/main" id="{067F3BC2-457D-46EE-CC28-119F9439FC44}"/>
              </a:ext>
            </a:extLst>
          </p:cNvPr>
          <p:cNvGrpSpPr>
            <a:grpSpLocks noChangeAspect="1"/>
          </p:cNvGrpSpPr>
          <p:nvPr/>
        </p:nvGrpSpPr>
        <p:grpSpPr>
          <a:xfrm rot="10800000" flipV="1">
            <a:off x="2203951" y="3825572"/>
            <a:ext cx="307340" cy="307340"/>
            <a:chOff x="1413494" y="4670360"/>
            <a:chExt cx="442162" cy="456033"/>
          </a:xfrm>
        </p:grpSpPr>
        <p:sp>
          <p:nvSpPr>
            <p:cNvPr id="26" name="Ellipse 69">
              <a:extLst>
                <a:ext uri="{FF2B5EF4-FFF2-40B4-BE49-F238E27FC236}">
                  <a16:creationId xmlns:a16="http://schemas.microsoft.com/office/drawing/2014/main" id="{DD20CCDA-0ED1-DE18-0D54-8763A16EDFCF}"/>
                </a:ext>
              </a:extLst>
            </p:cNvPr>
            <p:cNvSpPr/>
            <p:nvPr/>
          </p:nvSpPr>
          <p:spPr bwMode="auto">
            <a:xfrm>
              <a:off x="1413494" y="4670360"/>
              <a:ext cx="442162" cy="456033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  <p:sp>
          <p:nvSpPr>
            <p:cNvPr id="27" name="Flèche vers la droite 45">
              <a:extLst>
                <a:ext uri="{FF2B5EF4-FFF2-40B4-BE49-F238E27FC236}">
                  <a16:creationId xmlns:a16="http://schemas.microsoft.com/office/drawing/2014/main" id="{6334DF22-AD7C-B8F9-B479-DB8DF309E2CC}"/>
                </a:ext>
              </a:extLst>
            </p:cNvPr>
            <p:cNvSpPr/>
            <p:nvPr/>
          </p:nvSpPr>
          <p:spPr bwMode="auto">
            <a:xfrm rot="5400000">
              <a:off x="1520568" y="4787836"/>
              <a:ext cx="228016" cy="221081"/>
            </a:xfrm>
            <a:prstGeom prst="rightArrow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6CAA2D51-9DD1-ACF2-79E7-FDD1575AD2D7}"/>
              </a:ext>
            </a:extLst>
          </p:cNvPr>
          <p:cNvSpPr/>
          <p:nvPr/>
        </p:nvSpPr>
        <p:spPr>
          <a:xfrm>
            <a:off x="3440803" y="1024372"/>
            <a:ext cx="1589029" cy="4710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LI" sz="1100" dirty="0"/>
              <a:t>Banking on demography</a:t>
            </a:r>
            <a:br>
              <a:rPr lang="de-LI" sz="1100" dirty="0"/>
            </a:br>
            <a:r>
              <a:rPr lang="de-LI" sz="1100" dirty="0"/>
              <a:t>(Doerr &amp; Kabas)</a:t>
            </a:r>
            <a:endParaRPr lang="en-GB" sz="1100" dirty="0"/>
          </a:p>
        </p:txBody>
      </p:sp>
      <p:grpSp>
        <p:nvGrpSpPr>
          <p:cNvPr id="51" name="Down arrow">
            <a:extLst>
              <a:ext uri="{FF2B5EF4-FFF2-40B4-BE49-F238E27FC236}">
                <a16:creationId xmlns:a16="http://schemas.microsoft.com/office/drawing/2014/main" id="{098F8DAD-BC8D-67D6-4F3F-DD900A2A9C9B}"/>
              </a:ext>
            </a:extLst>
          </p:cNvPr>
          <p:cNvGrpSpPr>
            <a:grpSpLocks noChangeAspect="1"/>
          </p:cNvGrpSpPr>
          <p:nvPr/>
        </p:nvGrpSpPr>
        <p:grpSpPr>
          <a:xfrm rot="10800000" flipV="1">
            <a:off x="4081647" y="3825572"/>
            <a:ext cx="307340" cy="307340"/>
            <a:chOff x="1413494" y="4670360"/>
            <a:chExt cx="442162" cy="456033"/>
          </a:xfrm>
        </p:grpSpPr>
        <p:sp>
          <p:nvSpPr>
            <p:cNvPr id="52" name="Ellipse 69">
              <a:extLst>
                <a:ext uri="{FF2B5EF4-FFF2-40B4-BE49-F238E27FC236}">
                  <a16:creationId xmlns:a16="http://schemas.microsoft.com/office/drawing/2014/main" id="{652D05E1-D80D-EC0C-F447-B31AA4432C8A}"/>
                </a:ext>
              </a:extLst>
            </p:cNvPr>
            <p:cNvSpPr/>
            <p:nvPr/>
          </p:nvSpPr>
          <p:spPr bwMode="auto">
            <a:xfrm>
              <a:off x="1413494" y="4670360"/>
              <a:ext cx="442162" cy="456033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  <p:sp>
          <p:nvSpPr>
            <p:cNvPr id="53" name="Flèche vers la droite 45">
              <a:extLst>
                <a:ext uri="{FF2B5EF4-FFF2-40B4-BE49-F238E27FC236}">
                  <a16:creationId xmlns:a16="http://schemas.microsoft.com/office/drawing/2014/main" id="{C8C0A881-ADB2-7099-C4C0-6BFA181B1BAD}"/>
                </a:ext>
              </a:extLst>
            </p:cNvPr>
            <p:cNvSpPr/>
            <p:nvPr/>
          </p:nvSpPr>
          <p:spPr bwMode="auto">
            <a:xfrm rot="5400000">
              <a:off x="1520568" y="4787836"/>
              <a:ext cx="228016" cy="221081"/>
            </a:xfrm>
            <a:prstGeom prst="rightArrow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1BA75A29-D528-587A-1B2E-384C33ED805B}"/>
              </a:ext>
            </a:extLst>
          </p:cNvPr>
          <p:cNvSpPr/>
          <p:nvPr/>
        </p:nvSpPr>
        <p:spPr>
          <a:xfrm>
            <a:off x="5318499" y="1024372"/>
            <a:ext cx="1589029" cy="4710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Demographics &amp; structure of bank BS</a:t>
            </a:r>
            <a:br>
              <a:rPr lang="en-GB" sz="1100" dirty="0"/>
            </a:br>
            <a:r>
              <a:rPr lang="en-GB" sz="1100" dirty="0"/>
              <a:t>(Avramidis &amp; Pennacchi)</a:t>
            </a:r>
          </a:p>
        </p:txBody>
      </p:sp>
      <p:grpSp>
        <p:nvGrpSpPr>
          <p:cNvPr id="56" name="Down arrow">
            <a:extLst>
              <a:ext uri="{FF2B5EF4-FFF2-40B4-BE49-F238E27FC236}">
                <a16:creationId xmlns:a16="http://schemas.microsoft.com/office/drawing/2014/main" id="{9E09EE23-7667-5AEE-AE97-50FD810AC8FF}"/>
              </a:ext>
            </a:extLst>
          </p:cNvPr>
          <p:cNvGrpSpPr>
            <a:grpSpLocks noChangeAspect="1"/>
          </p:cNvGrpSpPr>
          <p:nvPr/>
        </p:nvGrpSpPr>
        <p:grpSpPr>
          <a:xfrm rot="10800000" flipV="1">
            <a:off x="5959343" y="3825572"/>
            <a:ext cx="307340" cy="307340"/>
            <a:chOff x="1413494" y="4670360"/>
            <a:chExt cx="442162" cy="456033"/>
          </a:xfrm>
        </p:grpSpPr>
        <p:sp>
          <p:nvSpPr>
            <p:cNvPr id="57" name="Ellipse 69">
              <a:extLst>
                <a:ext uri="{FF2B5EF4-FFF2-40B4-BE49-F238E27FC236}">
                  <a16:creationId xmlns:a16="http://schemas.microsoft.com/office/drawing/2014/main" id="{E6EE182A-D72C-FB3F-DE6C-B747613CD8C1}"/>
                </a:ext>
              </a:extLst>
            </p:cNvPr>
            <p:cNvSpPr/>
            <p:nvPr/>
          </p:nvSpPr>
          <p:spPr bwMode="auto">
            <a:xfrm>
              <a:off x="1413494" y="4670360"/>
              <a:ext cx="442162" cy="456033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  <p:sp>
          <p:nvSpPr>
            <p:cNvPr id="58" name="Flèche vers la droite 45">
              <a:extLst>
                <a:ext uri="{FF2B5EF4-FFF2-40B4-BE49-F238E27FC236}">
                  <a16:creationId xmlns:a16="http://schemas.microsoft.com/office/drawing/2014/main" id="{19A8F4F4-B6BE-4D37-8545-E4842326933D}"/>
                </a:ext>
              </a:extLst>
            </p:cNvPr>
            <p:cNvSpPr/>
            <p:nvPr/>
          </p:nvSpPr>
          <p:spPr bwMode="auto">
            <a:xfrm rot="5400000">
              <a:off x="1520568" y="4787836"/>
              <a:ext cx="228016" cy="221081"/>
            </a:xfrm>
            <a:prstGeom prst="rightArrow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7CD9DB22-53D1-75D9-231F-950F98E5F1F2}"/>
              </a:ext>
            </a:extLst>
          </p:cNvPr>
          <p:cNvSpPr/>
          <p:nvPr/>
        </p:nvSpPr>
        <p:spPr>
          <a:xfrm>
            <a:off x="7196196" y="1024372"/>
            <a:ext cx="1589029" cy="4710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LI" sz="1100" dirty="0"/>
              <a:t>Bank-based system growth</a:t>
            </a:r>
            <a:br>
              <a:rPr lang="de-LI" sz="1100" dirty="0"/>
            </a:br>
            <a:r>
              <a:rPr lang="de-LI" sz="1100" dirty="0"/>
              <a:t>(Beck et al.)</a:t>
            </a:r>
            <a:endParaRPr lang="en-GB" sz="1100" dirty="0"/>
          </a:p>
        </p:txBody>
      </p:sp>
      <p:grpSp>
        <p:nvGrpSpPr>
          <p:cNvPr id="65" name="Down arrow">
            <a:extLst>
              <a:ext uri="{FF2B5EF4-FFF2-40B4-BE49-F238E27FC236}">
                <a16:creationId xmlns:a16="http://schemas.microsoft.com/office/drawing/2014/main" id="{F9778E33-6B6C-16EC-563B-F6CBB403E056}"/>
              </a:ext>
            </a:extLst>
          </p:cNvPr>
          <p:cNvGrpSpPr>
            <a:grpSpLocks noChangeAspect="1"/>
          </p:cNvGrpSpPr>
          <p:nvPr/>
        </p:nvGrpSpPr>
        <p:grpSpPr>
          <a:xfrm rot="10800000" flipV="1">
            <a:off x="7837040" y="3825572"/>
            <a:ext cx="307340" cy="307340"/>
            <a:chOff x="1413494" y="4670360"/>
            <a:chExt cx="442162" cy="456033"/>
          </a:xfrm>
        </p:grpSpPr>
        <p:sp>
          <p:nvSpPr>
            <p:cNvPr id="66" name="Ellipse 69">
              <a:extLst>
                <a:ext uri="{FF2B5EF4-FFF2-40B4-BE49-F238E27FC236}">
                  <a16:creationId xmlns:a16="http://schemas.microsoft.com/office/drawing/2014/main" id="{F08AF08D-2C24-D601-A5D7-84F25EED1356}"/>
                </a:ext>
              </a:extLst>
            </p:cNvPr>
            <p:cNvSpPr/>
            <p:nvPr/>
          </p:nvSpPr>
          <p:spPr bwMode="auto">
            <a:xfrm>
              <a:off x="1413494" y="4670360"/>
              <a:ext cx="442162" cy="456033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  <p:sp>
          <p:nvSpPr>
            <p:cNvPr id="67" name="Flèche vers la droite 45">
              <a:extLst>
                <a:ext uri="{FF2B5EF4-FFF2-40B4-BE49-F238E27FC236}">
                  <a16:creationId xmlns:a16="http://schemas.microsoft.com/office/drawing/2014/main" id="{29E66249-7A75-0C26-C857-6B540339D76A}"/>
                </a:ext>
              </a:extLst>
            </p:cNvPr>
            <p:cNvSpPr/>
            <p:nvPr/>
          </p:nvSpPr>
          <p:spPr bwMode="auto">
            <a:xfrm rot="5400000">
              <a:off x="1520568" y="4787836"/>
              <a:ext cx="228016" cy="221081"/>
            </a:xfrm>
            <a:prstGeom prst="rightArrow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EC71A7E1-5415-5251-47FB-EC4FCEE8C118}"/>
              </a:ext>
            </a:extLst>
          </p:cNvPr>
          <p:cNvSpPr txBox="1"/>
          <p:nvPr/>
        </p:nvSpPr>
        <p:spPr>
          <a:xfrm>
            <a:off x="358775" y="1606787"/>
            <a:ext cx="8549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100" b="1" dirty="0">
                <a:solidFill>
                  <a:schemeClr val="accent1"/>
                </a:solidFill>
              </a:rPr>
              <a:t>Topic</a:t>
            </a:r>
            <a:endParaRPr lang="en-GB" sz="1100" dirty="0">
              <a:solidFill>
                <a:schemeClr val="accent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AE23196-8E77-1F8D-3C8A-E9188314749F}"/>
              </a:ext>
            </a:extLst>
          </p:cNvPr>
          <p:cNvSpPr txBox="1"/>
          <p:nvPr/>
        </p:nvSpPr>
        <p:spPr>
          <a:xfrm>
            <a:off x="1563106" y="1602517"/>
            <a:ext cx="15890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What are the impl. of an aging population for financial stability?</a:t>
            </a:r>
            <a:endParaRPr lang="en-GB" sz="11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5912DBB-A65B-0EA4-24E0-3D5429B818EB}"/>
              </a:ext>
            </a:extLst>
          </p:cNvPr>
          <p:cNvSpPr txBox="1"/>
          <p:nvPr/>
        </p:nvSpPr>
        <p:spPr>
          <a:xfrm>
            <a:off x="358775" y="2198462"/>
            <a:ext cx="8549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100" b="1" dirty="0">
                <a:solidFill>
                  <a:schemeClr val="accent1"/>
                </a:solidFill>
              </a:rPr>
              <a:t>Year</a:t>
            </a:r>
            <a:endParaRPr lang="en-GB" sz="1100" dirty="0">
              <a:solidFill>
                <a:schemeClr val="accent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87088CA-4A19-2555-26D7-DD458D6CDD3E}"/>
              </a:ext>
            </a:extLst>
          </p:cNvPr>
          <p:cNvSpPr txBox="1"/>
          <p:nvPr/>
        </p:nvSpPr>
        <p:spPr>
          <a:xfrm>
            <a:off x="1563106" y="2194192"/>
            <a:ext cx="1589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LI" sz="1100" dirty="0"/>
              <a:t>2022</a:t>
            </a:r>
            <a:endParaRPr lang="en-GB" sz="11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7C52042-C597-DEB5-79B2-3FBC93C669F3}"/>
              </a:ext>
            </a:extLst>
          </p:cNvPr>
          <p:cNvSpPr txBox="1"/>
          <p:nvPr/>
        </p:nvSpPr>
        <p:spPr>
          <a:xfrm>
            <a:off x="358775" y="2559209"/>
            <a:ext cx="8549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100" b="1" dirty="0">
                <a:solidFill>
                  <a:schemeClr val="accent1"/>
                </a:solidFill>
              </a:rPr>
              <a:t>Journal</a:t>
            </a:r>
            <a:endParaRPr lang="en-GB" sz="1100" dirty="0">
              <a:solidFill>
                <a:schemeClr val="accent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3EABE43-D81F-C7F0-886A-C857A3A10443}"/>
              </a:ext>
            </a:extLst>
          </p:cNvPr>
          <p:cNvSpPr txBox="1"/>
          <p:nvPr/>
        </p:nvSpPr>
        <p:spPr>
          <a:xfrm>
            <a:off x="1563106" y="2554939"/>
            <a:ext cx="1589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LI" sz="1100" dirty="0"/>
              <a:t>BIS Working Paper</a:t>
            </a:r>
            <a:endParaRPr lang="en-GB" sz="11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A66518D-28EB-F0A2-D991-1E7B791C752E}"/>
              </a:ext>
            </a:extLst>
          </p:cNvPr>
          <p:cNvSpPr txBox="1"/>
          <p:nvPr/>
        </p:nvSpPr>
        <p:spPr>
          <a:xfrm>
            <a:off x="358775" y="3066157"/>
            <a:ext cx="9868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100" b="1" dirty="0">
                <a:solidFill>
                  <a:schemeClr val="accent1"/>
                </a:solidFill>
              </a:rPr>
              <a:t>Key findings</a:t>
            </a:r>
            <a:endParaRPr lang="en-GB" sz="1100" dirty="0">
              <a:solidFill>
                <a:schemeClr val="accent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E3B3BEC-2771-BD93-EF6A-40992415B7B1}"/>
              </a:ext>
            </a:extLst>
          </p:cNvPr>
          <p:cNvSpPr txBox="1"/>
          <p:nvPr/>
        </p:nvSpPr>
        <p:spPr>
          <a:xfrm>
            <a:off x="1563106" y="3061887"/>
            <a:ext cx="15890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Areas with more elderly people experience higher bank deposits</a:t>
            </a:r>
            <a:endParaRPr lang="en-GB" sz="11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9F881A2-16F5-A9C0-FB83-1C25B3A4329A}"/>
              </a:ext>
            </a:extLst>
          </p:cNvPr>
          <p:cNvSpPr txBox="1"/>
          <p:nvPr/>
        </p:nvSpPr>
        <p:spPr>
          <a:xfrm>
            <a:off x="3440803" y="1602517"/>
            <a:ext cx="15890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Impact of ageing population on banking sector</a:t>
            </a:r>
            <a:endParaRPr lang="en-GB" sz="11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E2A8F12-C5BC-B64C-5CF2-D3E232D68CD3}"/>
              </a:ext>
            </a:extLst>
          </p:cNvPr>
          <p:cNvSpPr txBox="1"/>
          <p:nvPr/>
        </p:nvSpPr>
        <p:spPr>
          <a:xfrm>
            <a:off x="3440803" y="2194192"/>
            <a:ext cx="1589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LI" sz="1100" dirty="0"/>
              <a:t>2019</a:t>
            </a:r>
            <a:endParaRPr lang="en-GB" sz="11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212CA17-3427-BE18-96C3-6845B0245825}"/>
              </a:ext>
            </a:extLst>
          </p:cNvPr>
          <p:cNvSpPr txBox="1"/>
          <p:nvPr/>
        </p:nvSpPr>
        <p:spPr>
          <a:xfrm>
            <a:off x="3440803" y="2554939"/>
            <a:ext cx="1589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LI" sz="1100" dirty="0"/>
              <a:t>N.a.</a:t>
            </a:r>
            <a:endParaRPr lang="en-GB" sz="11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2295E64-D5C0-5EB1-169A-95B97580970F}"/>
              </a:ext>
            </a:extLst>
          </p:cNvPr>
          <p:cNvSpPr txBox="1"/>
          <p:nvPr/>
        </p:nvSpPr>
        <p:spPr>
          <a:xfrm>
            <a:off x="3440803" y="3061887"/>
            <a:ext cx="15890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 10% increase in the elderly population increases bank deposits by about 4.6%</a:t>
            </a:r>
            <a:endParaRPr lang="en-GB" sz="11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EB5C026-6A78-821E-7015-5E5F3C9F5986}"/>
              </a:ext>
            </a:extLst>
          </p:cNvPr>
          <p:cNvSpPr txBox="1"/>
          <p:nvPr/>
        </p:nvSpPr>
        <p:spPr>
          <a:xfrm>
            <a:off x="5318501" y="1602517"/>
            <a:ext cx="15890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 Effects of an Aging Population on the Structure of Bank BS</a:t>
            </a:r>
            <a:endParaRPr lang="en-GB" sz="11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83DDC51-6444-A38D-CBD8-01F712175980}"/>
              </a:ext>
            </a:extLst>
          </p:cNvPr>
          <p:cNvSpPr txBox="1"/>
          <p:nvPr/>
        </p:nvSpPr>
        <p:spPr>
          <a:xfrm>
            <a:off x="5318501" y="2194192"/>
            <a:ext cx="1589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LI" sz="1100" dirty="0"/>
              <a:t>2025</a:t>
            </a:r>
            <a:endParaRPr lang="en-GB" sz="11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8C524B0-82AD-703E-B8F8-5CCC6DEE8CAD}"/>
              </a:ext>
            </a:extLst>
          </p:cNvPr>
          <p:cNvSpPr txBox="1"/>
          <p:nvPr/>
        </p:nvSpPr>
        <p:spPr>
          <a:xfrm>
            <a:off x="5318501" y="2554939"/>
            <a:ext cx="15890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LI" sz="1100" dirty="0"/>
              <a:t>Journal of Money, Credit, Banking</a:t>
            </a:r>
            <a:endParaRPr lang="en-GB" sz="11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A6921A7-350B-BA30-2109-0BAC554ECF15}"/>
              </a:ext>
            </a:extLst>
          </p:cNvPr>
          <p:cNvSpPr txBox="1"/>
          <p:nvPr/>
        </p:nvSpPr>
        <p:spPr>
          <a:xfrm>
            <a:off x="5318501" y="3061887"/>
            <a:ext cx="15890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Banks in older regions rely more on retail deposits and less on wholesale funding</a:t>
            </a:r>
            <a:endParaRPr lang="en-GB" sz="11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592DA2B-6199-37DF-A959-85C99F70B398}"/>
              </a:ext>
            </a:extLst>
          </p:cNvPr>
          <p:cNvSpPr txBox="1"/>
          <p:nvPr/>
        </p:nvSpPr>
        <p:spPr>
          <a:xfrm>
            <a:off x="7196198" y="1602517"/>
            <a:ext cx="15890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LI" sz="1100" dirty="0"/>
              <a:t>Financial intermediary and private saving rates</a:t>
            </a:r>
            <a:endParaRPr lang="en-GB" sz="11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D05FE3E-F3A2-DC67-15FC-288E7380E330}"/>
              </a:ext>
            </a:extLst>
          </p:cNvPr>
          <p:cNvSpPr txBox="1"/>
          <p:nvPr/>
        </p:nvSpPr>
        <p:spPr>
          <a:xfrm>
            <a:off x="7196198" y="2194192"/>
            <a:ext cx="1589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LI" sz="1100" dirty="0"/>
              <a:t>2000</a:t>
            </a:r>
            <a:endParaRPr lang="en-GB" sz="11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1EEF867-64BD-759B-7B28-F3168B22F470}"/>
              </a:ext>
            </a:extLst>
          </p:cNvPr>
          <p:cNvSpPr txBox="1"/>
          <p:nvPr/>
        </p:nvSpPr>
        <p:spPr>
          <a:xfrm>
            <a:off x="7196198" y="2554939"/>
            <a:ext cx="15890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LI" sz="1100" dirty="0"/>
              <a:t>Journal of Financial Economics</a:t>
            </a:r>
            <a:endParaRPr lang="en-GB" sz="11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F8E80AE-D592-EC6F-C581-042700A975E3}"/>
              </a:ext>
            </a:extLst>
          </p:cNvPr>
          <p:cNvSpPr txBox="1"/>
          <p:nvPr/>
        </p:nvSpPr>
        <p:spPr>
          <a:xfrm>
            <a:off x="7196198" y="3061887"/>
            <a:ext cx="15890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Bank-based financial systems rely heavily on deposits as the main savings channel</a:t>
            </a:r>
            <a:endParaRPr lang="en-GB" sz="11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113DB48-E8F5-7D0B-3D46-3D3C24EDA71C}"/>
              </a:ext>
            </a:extLst>
          </p:cNvPr>
          <p:cNvSpPr txBox="1"/>
          <p:nvPr/>
        </p:nvSpPr>
        <p:spPr>
          <a:xfrm>
            <a:off x="1563106" y="4175588"/>
            <a:ext cx="1589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/>
              <a:t>Strong support for H1</a:t>
            </a:r>
            <a:endParaRPr lang="en-GB" sz="1100" i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40F5BFD-2DC4-2E4F-2E7B-3F030BB5A7C1}"/>
              </a:ext>
            </a:extLst>
          </p:cNvPr>
          <p:cNvSpPr txBox="1"/>
          <p:nvPr/>
        </p:nvSpPr>
        <p:spPr>
          <a:xfrm>
            <a:off x="3440803" y="4175588"/>
            <a:ext cx="1589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/>
              <a:t>Strong support for H1</a:t>
            </a:r>
            <a:endParaRPr lang="en-GB" sz="1100" i="1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FC0F028-2731-A103-3B7F-CA7D2BDDDFEB}"/>
              </a:ext>
            </a:extLst>
          </p:cNvPr>
          <p:cNvSpPr txBox="1"/>
          <p:nvPr/>
        </p:nvSpPr>
        <p:spPr>
          <a:xfrm>
            <a:off x="5318501" y="4175588"/>
            <a:ext cx="1589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/>
              <a:t>Strong support for H1</a:t>
            </a:r>
            <a:endParaRPr lang="en-GB" sz="1100" i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E722EBC-90ED-9909-889E-38F402C5F278}"/>
              </a:ext>
            </a:extLst>
          </p:cNvPr>
          <p:cNvSpPr txBox="1"/>
          <p:nvPr/>
        </p:nvSpPr>
        <p:spPr>
          <a:xfrm>
            <a:off x="7196198" y="4175588"/>
            <a:ext cx="15890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LI" sz="1100" i="1" dirty="0"/>
              <a:t>Supports intuition behind H1 split by system</a:t>
            </a:r>
            <a:endParaRPr lang="en-GB" sz="1100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561ECE-C27C-0227-B646-4CB5FC8A15C2}"/>
              </a:ext>
            </a:extLst>
          </p:cNvPr>
          <p:cNvSpPr/>
          <p:nvPr/>
        </p:nvSpPr>
        <p:spPr>
          <a:xfrm>
            <a:off x="1471961" y="801864"/>
            <a:ext cx="5516137" cy="3710664"/>
          </a:xfrm>
          <a:prstGeom prst="rect">
            <a:avLst/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0BEB4E-C18E-734A-7C47-0FEB163DB55B}"/>
              </a:ext>
            </a:extLst>
          </p:cNvPr>
          <p:cNvSpPr txBox="1"/>
          <p:nvPr/>
        </p:nvSpPr>
        <p:spPr>
          <a:xfrm>
            <a:off x="5078104" y="772128"/>
            <a:ext cx="20171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100" b="1" i="1" dirty="0">
                <a:solidFill>
                  <a:schemeClr val="accent3"/>
                </a:solidFill>
              </a:rPr>
              <a:t>Strongly supporting &amp; recent</a:t>
            </a:r>
            <a:endParaRPr lang="en-GB" sz="1100" b="1" i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039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54D68-03A3-DEB3-9AD6-66FE21B44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5F6CDF5-C518-259A-46D7-E122FCFC5B5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5EB0F2-7B97-6E7A-C6BF-B680F409E0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8499DFC-DF66-B56A-EB2B-21F8EF20D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LI" dirty="0"/>
              <a:t>Datasets which may be used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E65613-A407-13F3-DC75-AA474FEE5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600" y="4767263"/>
            <a:ext cx="216000" cy="273844"/>
          </a:xfrm>
        </p:spPr>
        <p:txBody>
          <a:bodyPr/>
          <a:lstStyle/>
          <a:p>
            <a:fld id="{7559FC98-AF75-4A00-A03C-DF9FEBF6BCB9}" type="slidenum">
              <a:rPr lang="en-GB" smtClean="0"/>
              <a:t>6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79825E-61A1-6BA8-7DFC-A4FE7DBA59D3}"/>
              </a:ext>
            </a:extLst>
          </p:cNvPr>
          <p:cNvSpPr/>
          <p:nvPr/>
        </p:nvSpPr>
        <p:spPr>
          <a:xfrm>
            <a:off x="1626872" y="1024372"/>
            <a:ext cx="1589029" cy="4710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Provided CSV</a:t>
            </a:r>
            <a:br>
              <a:rPr lang="en-GB" dirty="0"/>
            </a:br>
            <a:r>
              <a:rPr lang="en-GB" dirty="0"/>
              <a:t>file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69133B-D0DA-8394-416F-1BFA93916376}"/>
              </a:ext>
            </a:extLst>
          </p:cNvPr>
          <p:cNvSpPr/>
          <p:nvPr/>
        </p:nvSpPr>
        <p:spPr>
          <a:xfrm>
            <a:off x="1626873" y="4185963"/>
            <a:ext cx="1589028" cy="272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100" i="1" dirty="0">
                <a:solidFill>
                  <a:schemeClr val="tx1"/>
                </a:solidFill>
              </a:rPr>
              <a:t>Core dataset with dep./indep. variables</a:t>
            </a:r>
            <a:endParaRPr lang="en-GB" i="1" dirty="0">
              <a:solidFill>
                <a:schemeClr val="tx1"/>
              </a:solidFill>
            </a:endParaRPr>
          </a:p>
        </p:txBody>
      </p:sp>
      <p:grpSp>
        <p:nvGrpSpPr>
          <p:cNvPr id="8" name="Down arrow">
            <a:extLst>
              <a:ext uri="{FF2B5EF4-FFF2-40B4-BE49-F238E27FC236}">
                <a16:creationId xmlns:a16="http://schemas.microsoft.com/office/drawing/2014/main" id="{14273005-5452-784A-5C80-A110917D67FA}"/>
              </a:ext>
            </a:extLst>
          </p:cNvPr>
          <p:cNvGrpSpPr>
            <a:grpSpLocks noChangeAspect="1"/>
          </p:cNvGrpSpPr>
          <p:nvPr/>
        </p:nvGrpSpPr>
        <p:grpSpPr>
          <a:xfrm rot="10800000" flipV="1">
            <a:off x="2267716" y="3788402"/>
            <a:ext cx="307340" cy="307340"/>
            <a:chOff x="1413494" y="4670360"/>
            <a:chExt cx="442162" cy="456033"/>
          </a:xfrm>
        </p:grpSpPr>
        <p:sp>
          <p:nvSpPr>
            <p:cNvPr id="9" name="Ellipse 69">
              <a:extLst>
                <a:ext uri="{FF2B5EF4-FFF2-40B4-BE49-F238E27FC236}">
                  <a16:creationId xmlns:a16="http://schemas.microsoft.com/office/drawing/2014/main" id="{1B478053-7E7D-AB33-26AF-19D262C440FD}"/>
                </a:ext>
              </a:extLst>
            </p:cNvPr>
            <p:cNvSpPr/>
            <p:nvPr/>
          </p:nvSpPr>
          <p:spPr bwMode="auto">
            <a:xfrm>
              <a:off x="1413494" y="4670360"/>
              <a:ext cx="442162" cy="456033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  <p:sp>
          <p:nvSpPr>
            <p:cNvPr id="10" name="Flèche vers la droite 45">
              <a:extLst>
                <a:ext uri="{FF2B5EF4-FFF2-40B4-BE49-F238E27FC236}">
                  <a16:creationId xmlns:a16="http://schemas.microsoft.com/office/drawing/2014/main" id="{E2AA74FC-A850-7EBC-6F93-123EFD05245F}"/>
                </a:ext>
              </a:extLst>
            </p:cNvPr>
            <p:cNvSpPr/>
            <p:nvPr/>
          </p:nvSpPr>
          <p:spPr bwMode="auto">
            <a:xfrm rot="5400000">
              <a:off x="1520568" y="4787836"/>
              <a:ext cx="228016" cy="221081"/>
            </a:xfrm>
            <a:prstGeom prst="rightArrow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F31B109-FB3B-D554-184E-4FF8C5D6961E}"/>
              </a:ext>
            </a:extLst>
          </p:cNvPr>
          <p:cNvSpPr/>
          <p:nvPr/>
        </p:nvSpPr>
        <p:spPr>
          <a:xfrm>
            <a:off x="3504568" y="1024372"/>
            <a:ext cx="1589029" cy="4710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Demographic</a:t>
            </a:r>
            <a:br>
              <a:rPr lang="en-GB" dirty="0"/>
            </a:br>
            <a:r>
              <a:rPr lang="en-GB" dirty="0"/>
              <a:t>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4B9789-2D40-2AB8-938F-2CBAA2601CFC}"/>
              </a:ext>
            </a:extLst>
          </p:cNvPr>
          <p:cNvSpPr/>
          <p:nvPr/>
        </p:nvSpPr>
        <p:spPr>
          <a:xfrm>
            <a:off x="3504569" y="4277414"/>
            <a:ext cx="1589028" cy="272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100" i="1" dirty="0">
                <a:solidFill>
                  <a:schemeClr val="tx1"/>
                </a:solidFill>
              </a:rPr>
              <a:t>Key data on demographics across countries</a:t>
            </a:r>
          </a:p>
        </p:txBody>
      </p:sp>
      <p:grpSp>
        <p:nvGrpSpPr>
          <p:cNvPr id="14" name="Down arrow">
            <a:extLst>
              <a:ext uri="{FF2B5EF4-FFF2-40B4-BE49-F238E27FC236}">
                <a16:creationId xmlns:a16="http://schemas.microsoft.com/office/drawing/2014/main" id="{363C0E34-8A6E-2CFD-5ECA-979AE3FE0620}"/>
              </a:ext>
            </a:extLst>
          </p:cNvPr>
          <p:cNvGrpSpPr>
            <a:grpSpLocks noChangeAspect="1"/>
          </p:cNvGrpSpPr>
          <p:nvPr/>
        </p:nvGrpSpPr>
        <p:grpSpPr>
          <a:xfrm rot="10800000" flipV="1">
            <a:off x="4145412" y="3788402"/>
            <a:ext cx="307340" cy="307340"/>
            <a:chOff x="1413494" y="4670360"/>
            <a:chExt cx="442162" cy="456033"/>
          </a:xfrm>
        </p:grpSpPr>
        <p:sp>
          <p:nvSpPr>
            <p:cNvPr id="15" name="Ellipse 69">
              <a:extLst>
                <a:ext uri="{FF2B5EF4-FFF2-40B4-BE49-F238E27FC236}">
                  <a16:creationId xmlns:a16="http://schemas.microsoft.com/office/drawing/2014/main" id="{A2E293B0-D966-8EF6-A834-652E10746369}"/>
                </a:ext>
              </a:extLst>
            </p:cNvPr>
            <p:cNvSpPr/>
            <p:nvPr/>
          </p:nvSpPr>
          <p:spPr bwMode="auto">
            <a:xfrm>
              <a:off x="1413494" y="4670360"/>
              <a:ext cx="442162" cy="456033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  <p:sp>
          <p:nvSpPr>
            <p:cNvPr id="16" name="Flèche vers la droite 45">
              <a:extLst>
                <a:ext uri="{FF2B5EF4-FFF2-40B4-BE49-F238E27FC236}">
                  <a16:creationId xmlns:a16="http://schemas.microsoft.com/office/drawing/2014/main" id="{0E8C19CA-553F-97B6-042B-2523B190A109}"/>
                </a:ext>
              </a:extLst>
            </p:cNvPr>
            <p:cNvSpPr/>
            <p:nvPr/>
          </p:nvSpPr>
          <p:spPr bwMode="auto">
            <a:xfrm rot="5400000">
              <a:off x="1520568" y="4787836"/>
              <a:ext cx="228016" cy="221081"/>
            </a:xfrm>
            <a:prstGeom prst="rightArrow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78BFA99-55B9-5176-99E5-9AD705746141}"/>
              </a:ext>
            </a:extLst>
          </p:cNvPr>
          <p:cNvSpPr/>
          <p:nvPr/>
        </p:nvSpPr>
        <p:spPr>
          <a:xfrm>
            <a:off x="5382265" y="1024372"/>
            <a:ext cx="3402960" cy="4710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Market structure classification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61307-8D76-CBA6-DD6C-510AEACA3C57}"/>
              </a:ext>
            </a:extLst>
          </p:cNvPr>
          <p:cNvSpPr/>
          <p:nvPr/>
        </p:nvSpPr>
        <p:spPr>
          <a:xfrm>
            <a:off x="5382267" y="4185963"/>
            <a:ext cx="3402958" cy="272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100" i="1" dirty="0">
                <a:solidFill>
                  <a:schemeClr val="tx1"/>
                </a:solidFill>
              </a:rPr>
              <a:t>Enables classification</a:t>
            </a:r>
            <a:r>
              <a:rPr lang="en-US" sz="1100" i="1" dirty="0">
                <a:solidFill>
                  <a:schemeClr val="tx1"/>
                </a:solidFill>
              </a:rPr>
              <a:t> of bank-based vs. market-based</a:t>
            </a:r>
            <a:r>
              <a:rPr lang="en-CH" sz="1100" i="1" dirty="0">
                <a:solidFill>
                  <a:schemeClr val="tx1"/>
                </a:solidFill>
              </a:rPr>
              <a:t> systems through continuous variable (better than binary)</a:t>
            </a:r>
            <a:endParaRPr lang="en-US" sz="1100" i="1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FCB93D-5E9E-F548-DBC1-64224FD9D5A3}"/>
              </a:ext>
            </a:extLst>
          </p:cNvPr>
          <p:cNvSpPr txBox="1"/>
          <p:nvPr/>
        </p:nvSpPr>
        <p:spPr>
          <a:xfrm>
            <a:off x="358775" y="1554749"/>
            <a:ext cx="8549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100" b="1" dirty="0">
                <a:solidFill>
                  <a:schemeClr val="accent1"/>
                </a:solidFill>
              </a:rPr>
              <a:t>Sources</a:t>
            </a:r>
            <a:endParaRPr lang="en-GB" sz="1100" dirty="0">
              <a:solidFill>
                <a:schemeClr val="accen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B94954-CDDC-F111-B28B-3E478897B9EE}"/>
              </a:ext>
            </a:extLst>
          </p:cNvPr>
          <p:cNvSpPr txBox="1"/>
          <p:nvPr/>
        </p:nvSpPr>
        <p:spPr>
          <a:xfrm>
            <a:off x="3504568" y="1550479"/>
            <a:ext cx="158902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H" sz="1100" dirty="0"/>
              <a:t>World Bank: </a:t>
            </a:r>
            <a:r>
              <a:rPr lang="en-US" sz="1100" dirty="0">
                <a:hlinkClick r:id="rId5"/>
              </a:rPr>
              <a:t>https://data.worldbank.org/indicator/SP.POP.65UP.TO.ZS</a:t>
            </a:r>
            <a:endParaRPr lang="en-CH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H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H" sz="1100" dirty="0"/>
              <a:t>US Census Bureau: </a:t>
            </a:r>
            <a:r>
              <a:rPr lang="en-US" sz="1100" dirty="0">
                <a:hlinkClick r:id="rId6"/>
              </a:rPr>
              <a:t>https://www.census.gov/data-tools/demo/idb/#/dashboard?dashboard_page=country&amp;COUNTRY_YR_ANIM=2026</a:t>
            </a:r>
            <a:endParaRPr lang="en-CH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427D58-F21A-33C7-4722-11D76D25AB60}"/>
              </a:ext>
            </a:extLst>
          </p:cNvPr>
          <p:cNvSpPr txBox="1"/>
          <p:nvPr/>
        </p:nvSpPr>
        <p:spPr>
          <a:xfrm>
            <a:off x="5382265" y="1550479"/>
            <a:ext cx="340296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H" sz="1100" b="1" dirty="0"/>
          </a:p>
          <a:p>
            <a:endParaRPr lang="en-CH" sz="1100" b="1" dirty="0"/>
          </a:p>
          <a:p>
            <a:endParaRPr lang="en-CH" sz="1100" b="1" dirty="0"/>
          </a:p>
          <a:p>
            <a:endParaRPr lang="en-CH" sz="1100" b="1" dirty="0"/>
          </a:p>
          <a:p>
            <a:r>
              <a:rPr lang="en-CH" sz="1100" b="1" dirty="0"/>
              <a:t>Stock market cap as % of GDP: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H" sz="1100" dirty="0"/>
              <a:t>World Bank: </a:t>
            </a:r>
            <a:r>
              <a:rPr lang="en-US" sz="1100" dirty="0">
                <a:hlinkClick r:id="rId7"/>
              </a:rPr>
              <a:t>https://data.worldbank.org/indicator/CM.MKT.LCAP.GD.ZS?utm_source=chatgpt.com</a:t>
            </a:r>
            <a:endParaRPr lang="en-CH" sz="1100" dirty="0"/>
          </a:p>
          <a:p>
            <a:endParaRPr lang="en-CH" sz="1100" dirty="0"/>
          </a:p>
          <a:p>
            <a:r>
              <a:rPr lang="en-CH" sz="1100" b="1" dirty="0"/>
              <a:t>Private credit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hlinkClick r:id="rId8"/>
              </a:rPr>
              <a:t>https://data.worldbank.org/indicator/FD.AST.PRVT.GD.ZS?utm_source=chatgpt.com</a:t>
            </a:r>
            <a:endParaRPr lang="en-CH" sz="1100" dirty="0"/>
          </a:p>
          <a:p>
            <a:endParaRPr lang="en-CH" sz="1100" dirty="0"/>
          </a:p>
          <a:p>
            <a:endParaRPr lang="en-CH" sz="1100" dirty="0"/>
          </a:p>
          <a:p>
            <a:endParaRPr lang="en-CH" sz="1100" dirty="0"/>
          </a:p>
        </p:txBody>
      </p:sp>
      <p:grpSp>
        <p:nvGrpSpPr>
          <p:cNvPr id="26" name="Down arrow">
            <a:extLst>
              <a:ext uri="{FF2B5EF4-FFF2-40B4-BE49-F238E27FC236}">
                <a16:creationId xmlns:a16="http://schemas.microsoft.com/office/drawing/2014/main" id="{8C3B7076-7D53-D7AA-E01B-7D4BA681D94A}"/>
              </a:ext>
            </a:extLst>
          </p:cNvPr>
          <p:cNvGrpSpPr>
            <a:grpSpLocks noChangeAspect="1"/>
          </p:cNvGrpSpPr>
          <p:nvPr/>
        </p:nvGrpSpPr>
        <p:grpSpPr>
          <a:xfrm rot="10800000" flipV="1">
            <a:off x="6930075" y="3788402"/>
            <a:ext cx="307340" cy="307340"/>
            <a:chOff x="1413494" y="4670360"/>
            <a:chExt cx="442162" cy="456033"/>
          </a:xfrm>
        </p:grpSpPr>
        <p:sp>
          <p:nvSpPr>
            <p:cNvPr id="27" name="Ellipse 69">
              <a:extLst>
                <a:ext uri="{FF2B5EF4-FFF2-40B4-BE49-F238E27FC236}">
                  <a16:creationId xmlns:a16="http://schemas.microsoft.com/office/drawing/2014/main" id="{0DD2DD3F-EB89-338A-E8DB-0693E71AD68A}"/>
                </a:ext>
              </a:extLst>
            </p:cNvPr>
            <p:cNvSpPr/>
            <p:nvPr/>
          </p:nvSpPr>
          <p:spPr bwMode="auto">
            <a:xfrm>
              <a:off x="1413494" y="4670360"/>
              <a:ext cx="442162" cy="456033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  <p:sp>
          <p:nvSpPr>
            <p:cNvPr id="28" name="Flèche vers la droite 45">
              <a:extLst>
                <a:ext uri="{FF2B5EF4-FFF2-40B4-BE49-F238E27FC236}">
                  <a16:creationId xmlns:a16="http://schemas.microsoft.com/office/drawing/2014/main" id="{E22E23AD-CC9B-C24A-EAD4-74BEB2A261D0}"/>
                </a:ext>
              </a:extLst>
            </p:cNvPr>
            <p:cNvSpPr/>
            <p:nvPr/>
          </p:nvSpPr>
          <p:spPr bwMode="auto">
            <a:xfrm rot="5400000">
              <a:off x="1520568" y="4787836"/>
              <a:ext cx="228016" cy="221081"/>
            </a:xfrm>
            <a:prstGeom prst="rightArrow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Lato" panose="020F0502020204030203" pitchFamily="34" charset="77"/>
              </a:endParaRPr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9911DB4A-7C02-B2E2-36A3-A644EC6597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6054" y="1618603"/>
            <a:ext cx="3274995" cy="47865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A7B97FD-5DE5-467D-2B61-27DD0CE402E1}"/>
              </a:ext>
            </a:extLst>
          </p:cNvPr>
          <p:cNvSpPr txBox="1"/>
          <p:nvPr/>
        </p:nvSpPr>
        <p:spPr>
          <a:xfrm>
            <a:off x="1626872" y="1550479"/>
            <a:ext cx="158902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100" b="1" dirty="0"/>
              <a:t>Dependent Variable: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H" sz="1100" dirty="0"/>
              <a:t>Total Deposits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H" sz="1100" dirty="0"/>
              <a:t>Total Assets</a:t>
            </a:r>
          </a:p>
          <a:p>
            <a:endParaRPr lang="en-CH" sz="1100" dirty="0"/>
          </a:p>
          <a:p>
            <a:r>
              <a:rPr lang="en-CH" sz="1100" b="1" dirty="0"/>
              <a:t>Control Variable: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H" sz="1100" dirty="0"/>
              <a:t>Total Net Loans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H" sz="1100" dirty="0"/>
              <a:t>Total Equity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H" sz="1100" dirty="0"/>
              <a:t>Total Assets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H" sz="1100" dirty="0"/>
              <a:t>Net Income Before Taxes</a:t>
            </a:r>
          </a:p>
        </p:txBody>
      </p:sp>
    </p:spTree>
    <p:extLst>
      <p:ext uri="{BB962C8B-B14F-4D97-AF65-F5344CB8AC3E}">
        <p14:creationId xmlns:p14="http://schemas.microsoft.com/office/powerpoint/2010/main" val="4115001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6A9C0-73FB-1449-59EA-FD217D2E2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08EA462-2628-649C-4615-FCAEDC08F2D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F6CDF5-C518-259A-46D7-E122FCFC5B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99447B7-5979-54F2-10D0-E5E554FD9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LI" dirty="0"/>
              <a:t>Potential regression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E23209-A97D-3DF0-4C49-C92C1F676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600" y="4767263"/>
            <a:ext cx="216000" cy="273844"/>
          </a:xfrm>
        </p:spPr>
        <p:txBody>
          <a:bodyPr/>
          <a:lstStyle/>
          <a:p>
            <a:fld id="{7559FC98-AF75-4A00-A03C-DF9FEBF6BCB9}" type="slidenum">
              <a:rPr lang="en-GB" smtClean="0"/>
              <a:t>7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A0B985-6CC4-C486-C7C8-DA588D426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393" y="1302270"/>
            <a:ext cx="7087215" cy="353322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0B802F5-78E2-004C-D76F-8B4A36AE5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585490"/>
              </p:ext>
            </p:extLst>
          </p:nvPr>
        </p:nvGraphicFramePr>
        <p:xfrm>
          <a:off x="1028392" y="1806500"/>
          <a:ext cx="7087215" cy="2751347"/>
        </p:xfrm>
        <a:graphic>
          <a:graphicData uri="http://schemas.openxmlformats.org/drawingml/2006/table">
            <a:tbl>
              <a:tblPr>
                <a:tableStyleId>{37CE84F3-28C3-443E-9E96-99CF82512B78}</a:tableStyleId>
              </a:tblPr>
              <a:tblGrid>
                <a:gridCol w="1417443">
                  <a:extLst>
                    <a:ext uri="{9D8B030D-6E8A-4147-A177-3AD203B41FA5}">
                      <a16:colId xmlns:a16="http://schemas.microsoft.com/office/drawing/2014/main" val="2360688879"/>
                    </a:ext>
                  </a:extLst>
                </a:gridCol>
                <a:gridCol w="1417443">
                  <a:extLst>
                    <a:ext uri="{9D8B030D-6E8A-4147-A177-3AD203B41FA5}">
                      <a16:colId xmlns:a16="http://schemas.microsoft.com/office/drawing/2014/main" val="1612708499"/>
                    </a:ext>
                  </a:extLst>
                </a:gridCol>
                <a:gridCol w="1417443">
                  <a:extLst>
                    <a:ext uri="{9D8B030D-6E8A-4147-A177-3AD203B41FA5}">
                      <a16:colId xmlns:a16="http://schemas.microsoft.com/office/drawing/2014/main" val="1499283489"/>
                    </a:ext>
                  </a:extLst>
                </a:gridCol>
                <a:gridCol w="1417443">
                  <a:extLst>
                    <a:ext uri="{9D8B030D-6E8A-4147-A177-3AD203B41FA5}">
                      <a16:colId xmlns:a16="http://schemas.microsoft.com/office/drawing/2014/main" val="374318085"/>
                    </a:ext>
                  </a:extLst>
                </a:gridCol>
                <a:gridCol w="1417443">
                  <a:extLst>
                    <a:ext uri="{9D8B030D-6E8A-4147-A177-3AD203B41FA5}">
                      <a16:colId xmlns:a16="http://schemas.microsoft.com/office/drawing/2014/main" val="4294817032"/>
                    </a:ext>
                  </a:extLst>
                </a:gridCol>
              </a:tblGrid>
              <a:tr h="141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/>
                        <a:t>Coefficient</a:t>
                      </a:r>
                    </a:p>
                  </a:txBody>
                  <a:tcPr marL="41605" marR="41605" marT="20802" marB="20802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/>
                        <a:t>Variable</a:t>
                      </a:r>
                    </a:p>
                  </a:txBody>
                  <a:tcPr marL="41605" marR="41605" marT="20802" marB="20802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/>
                        <a:t>What it measures</a:t>
                      </a:r>
                    </a:p>
                  </a:txBody>
                  <a:tcPr marL="41605" marR="41605" marT="20802" marB="20802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/>
                        <a:t>Expected sign</a:t>
                      </a:r>
                    </a:p>
                  </a:txBody>
                  <a:tcPr marL="41605" marR="41605" marT="20802" marB="20802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/>
                        <a:t>Interpretation</a:t>
                      </a:r>
                    </a:p>
                  </a:txBody>
                  <a:tcPr marL="41605" marR="41605" marT="20802" marB="20802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534942"/>
                  </a:ext>
                </a:extLst>
              </a:tr>
              <a:tr h="718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800" b="1" dirty="0">
                          <a:solidFill>
                            <a:schemeClr val="tx1"/>
                          </a:solidFill>
                        </a:rPr>
                        <a:t>β₁</a:t>
                      </a:r>
                      <a:endParaRPr lang="el-GR" sz="800" dirty="0">
                        <a:solidFill>
                          <a:schemeClr val="tx1"/>
                        </a:solidFill>
                      </a:endParaRPr>
                    </a:p>
                  </a:txBody>
                  <a:tcPr marL="41605" marR="41605" marT="20802" marB="2080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(Age65_{</a:t>
                      </a:r>
                      <a:r>
                        <a:rPr lang="en-US" sz="800" dirty="0" err="1">
                          <a:solidFill>
                            <a:schemeClr val="tx1"/>
                          </a:solidFill>
                        </a:rPr>
                        <a:t>c,t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})</a:t>
                      </a:r>
                    </a:p>
                  </a:txBody>
                  <a:tcPr marL="41605" marR="41605" marT="20802" marB="2080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Effect of population aging in 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bank-based financial systems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 (baseline case)</a:t>
                      </a:r>
                    </a:p>
                  </a:txBody>
                  <a:tcPr marL="41605" marR="41605" marT="20802" marB="2080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800" b="1" dirty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CH" sz="800" dirty="0">
                        <a:solidFill>
                          <a:schemeClr val="tx1"/>
                        </a:solidFill>
                      </a:endParaRPr>
                    </a:p>
                  </a:txBody>
                  <a:tcPr marL="41605" marR="41605" marT="20802" marB="2080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As the share of population 65+ increases, banks rely more on deposit funding in bank-based systems because households hold savings primarily as bank deposits</a:t>
                      </a:r>
                    </a:p>
                  </a:txBody>
                  <a:tcPr marL="41605" marR="41605" marT="20802" marB="20802"/>
                </a:tc>
                <a:extLst>
                  <a:ext uri="{0D108BD9-81ED-4DB2-BD59-A6C34878D82A}">
                    <a16:rowId xmlns:a16="http://schemas.microsoft.com/office/drawing/2014/main" val="51165713"/>
                  </a:ext>
                </a:extLst>
              </a:tr>
              <a:tr h="566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800" b="1">
                          <a:solidFill>
                            <a:schemeClr val="tx1"/>
                          </a:solidFill>
                        </a:rPr>
                        <a:t>β₂</a:t>
                      </a:r>
                      <a:endParaRPr lang="el-GR" sz="800">
                        <a:solidFill>
                          <a:schemeClr val="tx1"/>
                        </a:solidFill>
                      </a:endParaRPr>
                    </a:p>
                  </a:txBody>
                  <a:tcPr marL="41605" marR="41605" marT="20802" marB="2080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(FinStructure_c)</a:t>
                      </a:r>
                    </a:p>
                  </a:txBody>
                  <a:tcPr marL="41605" marR="41605" marT="20802" marB="2080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Difference in average deposit funding between 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market-based and bank-based systems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41605" marR="41605" marT="20802" marB="2080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Ambiguous; it will drop out as it is basically a fixed effect captured in alpha</a:t>
                      </a:r>
                    </a:p>
                  </a:txBody>
                  <a:tcPr marL="41605" marR="41605" marT="20802" marB="2080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Captures structural differences in bank funding across financial systems (often absorbed by bank fixed effects if included)</a:t>
                      </a:r>
                    </a:p>
                  </a:txBody>
                  <a:tcPr marL="41605" marR="41605" marT="20802" marB="20802"/>
                </a:tc>
                <a:extLst>
                  <a:ext uri="{0D108BD9-81ED-4DB2-BD59-A6C34878D82A}">
                    <a16:rowId xmlns:a16="http://schemas.microsoft.com/office/drawing/2014/main" val="102037514"/>
                  </a:ext>
                </a:extLst>
              </a:tr>
              <a:tr h="718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800" b="1" dirty="0">
                          <a:solidFill>
                            <a:schemeClr val="tx1"/>
                          </a:solidFill>
                        </a:rPr>
                        <a:t>β₃</a:t>
                      </a:r>
                      <a:endParaRPr lang="el-GR" sz="800" dirty="0">
                        <a:solidFill>
                          <a:schemeClr val="tx1"/>
                        </a:solidFill>
                      </a:endParaRPr>
                    </a:p>
                  </a:txBody>
                  <a:tcPr marL="41605" marR="41605" marT="20802" marB="2080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(Age65_{c,t} * </a:t>
                      </a:r>
                      <a:r>
                        <a:rPr lang="en-US" sz="800" dirty="0" err="1">
                          <a:solidFill>
                            <a:schemeClr val="tx1"/>
                          </a:solidFill>
                        </a:rPr>
                        <a:t>FinStructure_c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41605" marR="41605" marT="20802" marB="2080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Change in the aging effect in 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market-based systems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41605" marR="41605" marT="20802" marB="2080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800" b="1" dirty="0">
                          <a:solidFill>
                            <a:schemeClr val="tx1"/>
                          </a:solidFill>
                        </a:rPr>
                        <a:t>−</a:t>
                      </a:r>
                      <a:endParaRPr lang="en-CH" sz="800" dirty="0">
                        <a:solidFill>
                          <a:schemeClr val="tx1"/>
                        </a:solidFill>
                      </a:endParaRPr>
                    </a:p>
                  </a:txBody>
                  <a:tcPr marL="41605" marR="41605" marT="20802" marB="2080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Measures how the impact of aging differs in market-based financial systems where households can substitute deposits with other safe assets</a:t>
                      </a:r>
                    </a:p>
                  </a:txBody>
                  <a:tcPr marL="41605" marR="41605" marT="20802" marB="20802"/>
                </a:tc>
                <a:extLst>
                  <a:ext uri="{0D108BD9-81ED-4DB2-BD59-A6C34878D82A}">
                    <a16:rowId xmlns:a16="http://schemas.microsoft.com/office/drawing/2014/main" val="1491281548"/>
                  </a:ext>
                </a:extLst>
              </a:tr>
              <a:tr h="490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800" b="1">
                          <a:solidFill>
                            <a:schemeClr val="tx1"/>
                          </a:solidFill>
                        </a:rPr>
                        <a:t>β₄</a:t>
                      </a:r>
                      <a:endParaRPr lang="el-GR" sz="800">
                        <a:solidFill>
                          <a:schemeClr val="tx1"/>
                        </a:solidFill>
                      </a:endParaRPr>
                    </a:p>
                  </a:txBody>
                  <a:tcPr marL="41605" marR="41605" marT="20802" marB="2080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(Age85_{c,t})</a:t>
                      </a:r>
                    </a:p>
                  </a:txBody>
                  <a:tcPr marL="41605" marR="41605" marT="20802" marB="2080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Effect of very old population share</a:t>
                      </a:r>
                    </a:p>
                  </a:txBody>
                  <a:tcPr marL="41605" marR="41605" marT="20802" marB="2080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800" b="1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CH" sz="800">
                        <a:solidFill>
                          <a:schemeClr val="tx1"/>
                        </a:solidFill>
                      </a:endParaRPr>
                    </a:p>
                  </a:txBody>
                  <a:tcPr marL="41605" marR="41605" marT="20802" marB="2080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Tests the inheritance / end-of-life portfolio simplification channel: households close to death move wealth into liquid</a:t>
                      </a:r>
                    </a:p>
                  </a:txBody>
                  <a:tcPr marL="41605" marR="41605" marT="20802" marB="20802"/>
                </a:tc>
                <a:extLst>
                  <a:ext uri="{0D108BD9-81ED-4DB2-BD59-A6C34878D82A}">
                    <a16:rowId xmlns:a16="http://schemas.microsoft.com/office/drawing/2014/main" val="3752245958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09C6CE0-59D0-047A-08B7-043E3E81F158}"/>
              </a:ext>
            </a:extLst>
          </p:cNvPr>
          <p:cNvCxnSpPr>
            <a:cxnSpLocks/>
          </p:cNvCxnSpPr>
          <p:nvPr/>
        </p:nvCxnSpPr>
        <p:spPr>
          <a:xfrm>
            <a:off x="4928839" y="1136808"/>
            <a:ext cx="2014654" cy="264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433295-F312-951B-3568-C020991F4876}"/>
              </a:ext>
            </a:extLst>
          </p:cNvPr>
          <p:cNvCxnSpPr>
            <a:cxnSpLocks/>
          </p:cNvCxnSpPr>
          <p:nvPr/>
        </p:nvCxnSpPr>
        <p:spPr>
          <a:xfrm>
            <a:off x="6512312" y="1136808"/>
            <a:ext cx="825191" cy="264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37E574E-FC01-78EE-30C6-84A00D02A8A3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7627435" y="1130909"/>
            <a:ext cx="0" cy="270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3DED350-C5CB-96BA-F97B-CC90FC80E271}"/>
              </a:ext>
            </a:extLst>
          </p:cNvPr>
          <p:cNvSpPr txBox="1"/>
          <p:nvPr/>
        </p:nvSpPr>
        <p:spPr>
          <a:xfrm>
            <a:off x="4007006" y="869299"/>
            <a:ext cx="1447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Bank control variables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E550A4-79AE-EA2F-00AB-34C82836BE6E}"/>
              </a:ext>
            </a:extLst>
          </p:cNvPr>
          <p:cNvSpPr txBox="1"/>
          <p:nvPr/>
        </p:nvSpPr>
        <p:spPr>
          <a:xfrm>
            <a:off x="5672254" y="553828"/>
            <a:ext cx="144772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Bank-fixed effects (time-invariant bank characteristics)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5083C7-DE64-9993-9013-8D5A91DF346D}"/>
              </a:ext>
            </a:extLst>
          </p:cNvPr>
          <p:cNvSpPr txBox="1"/>
          <p:nvPr/>
        </p:nvSpPr>
        <p:spPr>
          <a:xfrm>
            <a:off x="6903574" y="715411"/>
            <a:ext cx="144772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Year-fixed effects (shock control)</a:t>
            </a:r>
          </a:p>
        </p:txBody>
      </p:sp>
    </p:spTree>
    <p:extLst>
      <p:ext uri="{BB962C8B-B14F-4D97-AF65-F5344CB8AC3E}">
        <p14:creationId xmlns:p14="http://schemas.microsoft.com/office/powerpoint/2010/main" val="2357756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8C8FC-6F5D-4367-6264-94D5C0860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5E406B8-D396-256F-43B0-FA69C75F11E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8EA462-2628-649C-4615-FCAEDC08F2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7AEA564-E0E6-15D0-6CEF-1182AB3F7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LI" dirty="0"/>
              <a:t>Additional considerations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0708A7-DA66-1C4B-A89E-5C72D56A4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600" y="4767263"/>
            <a:ext cx="216000" cy="273844"/>
          </a:xfrm>
        </p:spPr>
        <p:txBody>
          <a:bodyPr/>
          <a:lstStyle/>
          <a:p>
            <a:fld id="{7559FC98-AF75-4A00-A03C-DF9FEBF6BCB9}" type="slidenum">
              <a:rPr lang="en-GB" smtClean="0"/>
              <a:t>8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5E5CA3-760E-6933-E312-D068B1C6E597}"/>
              </a:ext>
            </a:extLst>
          </p:cNvPr>
          <p:cNvSpPr/>
          <p:nvPr/>
        </p:nvSpPr>
        <p:spPr>
          <a:xfrm>
            <a:off x="1611006" y="1120899"/>
            <a:ext cx="2749296" cy="4710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Suitable controls from dataset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283D0E-EC67-FD63-BC0C-CEB9EE11FF6D}"/>
              </a:ext>
            </a:extLst>
          </p:cNvPr>
          <p:cNvSpPr/>
          <p:nvPr/>
        </p:nvSpPr>
        <p:spPr>
          <a:xfrm>
            <a:off x="4672183" y="1120899"/>
            <a:ext cx="2749296" cy="4710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Pot. omitted variables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78EC82-DD18-3E9E-AB1E-21BCFE760AFF}"/>
              </a:ext>
            </a:extLst>
          </p:cNvPr>
          <p:cNvSpPr/>
          <p:nvPr/>
        </p:nvSpPr>
        <p:spPr>
          <a:xfrm>
            <a:off x="1611006" y="1702790"/>
            <a:ext cx="2749296" cy="6397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LI" sz="1100" b="1" dirty="0">
                <a:solidFill>
                  <a:schemeClr val="tx1"/>
                </a:solidFill>
              </a:rPr>
              <a:t>Bank size</a:t>
            </a:r>
            <a:br>
              <a:rPr lang="de-LI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(Large banks rely more on wholesale funding)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4A26E8-F876-D4A9-641F-3DBE9995A0D2}"/>
              </a:ext>
            </a:extLst>
          </p:cNvPr>
          <p:cNvSpPr/>
          <p:nvPr/>
        </p:nvSpPr>
        <p:spPr>
          <a:xfrm>
            <a:off x="1611006" y="2428921"/>
            <a:ext cx="2749296" cy="6397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LI" sz="1100" b="1" dirty="0">
                <a:solidFill>
                  <a:schemeClr val="tx1"/>
                </a:solidFill>
              </a:rPr>
              <a:t>Loan ratio</a:t>
            </a:r>
            <a:br>
              <a:rPr lang="de-LI" sz="1100" dirty="0">
                <a:solidFill>
                  <a:schemeClr val="tx1"/>
                </a:solidFill>
              </a:rPr>
            </a:br>
            <a:r>
              <a:rPr lang="de-LI" sz="1100" dirty="0">
                <a:solidFill>
                  <a:schemeClr val="tx1"/>
                </a:solidFill>
              </a:rPr>
              <a:t>(</a:t>
            </a:r>
            <a:r>
              <a:rPr lang="en-US" sz="1100" dirty="0">
                <a:solidFill>
                  <a:schemeClr val="tx1"/>
                </a:solidFill>
              </a:rPr>
              <a:t>Banks with more loans need stable funding, which usually comes from deposits)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968CF4-4515-D1DD-5C78-EFF078CCC940}"/>
              </a:ext>
            </a:extLst>
          </p:cNvPr>
          <p:cNvSpPr/>
          <p:nvPr/>
        </p:nvSpPr>
        <p:spPr>
          <a:xfrm>
            <a:off x="4672183" y="1704133"/>
            <a:ext cx="2749296" cy="6397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LI" sz="1100" b="1" dirty="0">
                <a:solidFill>
                  <a:schemeClr val="tx1"/>
                </a:solidFill>
              </a:rPr>
              <a:t>GDP development</a:t>
            </a:r>
            <a:br>
              <a:rPr lang="de-LI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If not controlled, the aging effect may actually capture economic development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370C09-E372-26AF-2348-49AF3AFD8010}"/>
              </a:ext>
            </a:extLst>
          </p:cNvPr>
          <p:cNvSpPr/>
          <p:nvPr/>
        </p:nvSpPr>
        <p:spPr>
          <a:xfrm>
            <a:off x="5938831" y="1019830"/>
            <a:ext cx="216000" cy="215989"/>
          </a:xfrm>
          <a:prstGeom prst="rec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2</a:t>
            </a:r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9D11BE-057D-9084-3DC6-9B8B7A203D38}"/>
              </a:ext>
            </a:extLst>
          </p:cNvPr>
          <p:cNvSpPr/>
          <p:nvPr/>
        </p:nvSpPr>
        <p:spPr>
          <a:xfrm>
            <a:off x="2877654" y="1019830"/>
            <a:ext cx="216000" cy="215989"/>
          </a:xfrm>
          <a:prstGeom prst="rec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1</a:t>
            </a: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1FE6AC-CCB9-A794-9957-2BD4027AB7FC}"/>
              </a:ext>
            </a:extLst>
          </p:cNvPr>
          <p:cNvSpPr/>
          <p:nvPr/>
        </p:nvSpPr>
        <p:spPr>
          <a:xfrm>
            <a:off x="1611006" y="3155052"/>
            <a:ext cx="2749296" cy="6397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LI" sz="1100" b="1" dirty="0">
                <a:solidFill>
                  <a:schemeClr val="tx1"/>
                </a:solidFill>
              </a:rPr>
              <a:t>Equity ratio</a:t>
            </a:r>
            <a:br>
              <a:rPr lang="de-LI" sz="1100" dirty="0">
                <a:solidFill>
                  <a:schemeClr val="tx1"/>
                </a:solidFill>
              </a:rPr>
            </a:br>
            <a:r>
              <a:rPr lang="de-LI" sz="1100" dirty="0">
                <a:solidFill>
                  <a:schemeClr val="tx1"/>
                </a:solidFill>
              </a:rPr>
              <a:t>(</a:t>
            </a:r>
            <a:r>
              <a:rPr lang="en-US" sz="1100" dirty="0">
                <a:solidFill>
                  <a:schemeClr val="tx1"/>
                </a:solidFill>
              </a:rPr>
              <a:t>Higher equity = less risk; hence less stable deposit funding needed)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530EA2-3E9C-04DC-059A-28594629465C}"/>
              </a:ext>
            </a:extLst>
          </p:cNvPr>
          <p:cNvSpPr/>
          <p:nvPr/>
        </p:nvSpPr>
        <p:spPr>
          <a:xfrm>
            <a:off x="1611006" y="3881182"/>
            <a:ext cx="2749296" cy="6397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LI" sz="1100" b="1" dirty="0">
                <a:solidFill>
                  <a:schemeClr val="tx1"/>
                </a:solidFill>
              </a:rPr>
              <a:t>Profitability</a:t>
            </a:r>
            <a:br>
              <a:rPr lang="de-LI" sz="1100" b="1" dirty="0">
                <a:solidFill>
                  <a:schemeClr val="tx1"/>
                </a:solidFill>
              </a:rPr>
            </a:br>
            <a:r>
              <a:rPr lang="de-LI" sz="1100" dirty="0">
                <a:solidFill>
                  <a:schemeClr val="tx1"/>
                </a:solidFill>
              </a:rPr>
              <a:t>(</a:t>
            </a:r>
            <a:r>
              <a:rPr lang="en-US" sz="1100" dirty="0">
                <a:solidFill>
                  <a:schemeClr val="tx1"/>
                </a:solidFill>
              </a:rPr>
              <a:t>Profitable banks attract deposits due to stronger reputation)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BEFAE57-51E3-1372-E91C-1BB647F43DAE}"/>
              </a:ext>
            </a:extLst>
          </p:cNvPr>
          <p:cNvSpPr/>
          <p:nvPr/>
        </p:nvSpPr>
        <p:spPr>
          <a:xfrm>
            <a:off x="4672183" y="2428921"/>
            <a:ext cx="2749296" cy="6397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LI" sz="1100" b="1" dirty="0">
                <a:solidFill>
                  <a:schemeClr val="tx1"/>
                </a:solidFill>
              </a:rPr>
              <a:t>Interest rate environment</a:t>
            </a:r>
            <a:br>
              <a:rPr lang="de-LI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Strongly affect deposit attractiveness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5AE6E98-78B2-561D-ED83-03CA9903F5FA}"/>
              </a:ext>
            </a:extLst>
          </p:cNvPr>
          <p:cNvSpPr/>
          <p:nvPr/>
        </p:nvSpPr>
        <p:spPr>
          <a:xfrm>
            <a:off x="4672183" y="3155052"/>
            <a:ext cx="2749296" cy="6397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LI" sz="1100" b="1" dirty="0">
                <a:solidFill>
                  <a:schemeClr val="tx1"/>
                </a:solidFill>
              </a:rPr>
              <a:t>Financial regulation</a:t>
            </a:r>
            <a:br>
              <a:rPr lang="de-LI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-&gt; Partly absorbed by bank fixed effects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664DCF6-DDFA-4B16-A5A2-BABADD91AB3A}"/>
              </a:ext>
            </a:extLst>
          </p:cNvPr>
          <p:cNvSpPr/>
          <p:nvPr/>
        </p:nvSpPr>
        <p:spPr>
          <a:xfrm>
            <a:off x="4672183" y="3881182"/>
            <a:ext cx="2749296" cy="6397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LI" sz="1100" b="1" dirty="0">
                <a:solidFill>
                  <a:schemeClr val="tx1"/>
                </a:solidFill>
              </a:rPr>
              <a:t>Banking structure</a:t>
            </a:r>
            <a:br>
              <a:rPr lang="de-LI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-&gt; Partly absorbed by bank fixed effects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63B20DD0-2649-8773-035C-FD398105BE3C}"/>
              </a:ext>
            </a:extLst>
          </p:cNvPr>
          <p:cNvSpPr/>
          <p:nvPr/>
        </p:nvSpPr>
        <p:spPr>
          <a:xfrm>
            <a:off x="7560527" y="1702790"/>
            <a:ext cx="172833" cy="136587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CAEBD5-AF31-06C3-DC11-CA79A2851277}"/>
              </a:ext>
            </a:extLst>
          </p:cNvPr>
          <p:cNvSpPr txBox="1"/>
          <p:nvPr/>
        </p:nvSpPr>
        <p:spPr>
          <a:xfrm>
            <a:off x="7753464" y="2002415"/>
            <a:ext cx="11968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Potentially to be controlled for to resolve omitted variable bias</a:t>
            </a:r>
          </a:p>
        </p:txBody>
      </p:sp>
    </p:spTree>
    <p:extLst>
      <p:ext uri="{BB962C8B-B14F-4D97-AF65-F5344CB8AC3E}">
        <p14:creationId xmlns:p14="http://schemas.microsoft.com/office/powerpoint/2010/main" val="33342486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482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’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’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’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UNISG PPT">
  <a:themeElements>
    <a:clrScheme name="uni stgallen Colors">
      <a:dk1>
        <a:sysClr val="windowText" lastClr="000000"/>
      </a:dk1>
      <a:lt1>
        <a:sysClr val="window" lastClr="FFFFFF"/>
      </a:lt1>
      <a:dk2>
        <a:srgbClr val="0A5F2D"/>
      </a:dk2>
      <a:lt2>
        <a:srgbClr val="FFFFFF"/>
      </a:lt2>
      <a:accent1>
        <a:srgbClr val="00802F"/>
      </a:accent1>
      <a:accent2>
        <a:srgbClr val="E1D7C3"/>
      </a:accent2>
      <a:accent3>
        <a:srgbClr val="EB6969"/>
      </a:accent3>
      <a:accent4>
        <a:srgbClr val="73A5AF"/>
      </a:accent4>
      <a:accent5>
        <a:srgbClr val="FFF04B"/>
      </a:accent5>
      <a:accent6>
        <a:srgbClr val="0A5F2D"/>
      </a:accent6>
      <a:hlink>
        <a:srgbClr val="00802F"/>
      </a:hlink>
      <a:folHlink>
        <a:srgbClr val="0A5F2D"/>
      </a:folHlink>
    </a:clrScheme>
    <a:fontScheme name="uni stgallen Fonts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_stgallen_master_01.potx" id="{30835CC8-2B5A-4E70-B341-DDAB901ED00B}" vid="{29D780FA-9373-4C8E-8A10-29358CDEA5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1870F55-7693-4BED-BB93-08298D6C04B0}">
  <we:reference id="94886107-76f9-4f92-aa81-ee726374f3e7" version="1.0.0.7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TemplafySlideTemplateConfiguration><![CDATA[{"slideVersion":1,"isValidatorEnabled":false,"isLocked":false,"elementsMetadata":[{"type":"shape","elementConfiguration":{"width":"{{UserProfile.Department.REFDepartmentLogo.WidthPNGPPT}}","height":"{{UserProfile.Department.REFDepartmentLogo.HeightPNGPPT}}","image":"{{UserProfile.Department.REFDepartmentLogo.ImagePNG}}","type":"image","disableUpdates":false}}],"slideId":"637750113834106457","enableDocumentContentUpdater":true,"version":"2.0"}]]></TemplafySlideTemplateConfiguration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7c8a24f-8b40-44ca-950f-ae5db2c4fa23">
      <Terms xmlns="http://schemas.microsoft.com/office/infopath/2007/PartnerControls"/>
    </lcf76f155ced4ddcb4097134ff3c332f>
    <TaxCatchAll xmlns="71d337dc-809a-4269-a690-d6cd31b4acd0" xsi:nil="true"/>
  </documentManagement>
</p:properties>
</file>

<file path=customXml/item3.xml><?xml version="1.0" encoding="utf-8"?>
<TemplafyFormConfiguration><![CDATA[{"formFields":[{"required":true,"shareValue":false,"type":"datePicker","name":"Date","label":"Datum"},{"required":false,"placeholder":"","lines":1,"shareValue":false,"type":"textBox","name":"Footer","label":"Fusszeile"},{"defaultValue":{"fixedValue":true},"shareValue":false,"type":"checkBox","name":"FooterLogo","label":"mit Logo in der Fusszeile"}],"formDataEntries":[{"name":"Date","value":"GWQNnVvw4p+d5nt4iqNbow=="},{"name":"Footer","value":"iK6lkyMB5lod1GJZ+MBE/w=="},{"name":"FooterLogo","value":"iTzqZGj1P6MRGUQq8ahlhA=="}]}]]></TemplafyFormConfiguration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C2EED3AEDAB24AB48AF05A7A255DF4" ma:contentTypeVersion="21" ma:contentTypeDescription="Create a new document." ma:contentTypeScope="" ma:versionID="274d9017fadbcc8b67afbe4b22a55600">
  <xsd:schema xmlns:xsd="http://www.w3.org/2001/XMLSchema" xmlns:xs="http://www.w3.org/2001/XMLSchema" xmlns:p="http://schemas.microsoft.com/office/2006/metadata/properties" xmlns:ns2="07c8a24f-8b40-44ca-950f-ae5db2c4fa23" xmlns:ns3="71d337dc-809a-4269-a690-d6cd31b4acd0" targetNamespace="http://schemas.microsoft.com/office/2006/metadata/properties" ma:root="true" ma:fieldsID="0b58614a3de855f8a451fa93eb2e43b4" ns2:_="" ns3:_="">
    <xsd:import namespace="07c8a24f-8b40-44ca-950f-ae5db2c4fa23"/>
    <xsd:import namespace="71d337dc-809a-4269-a690-d6cd31b4ac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c8a24f-8b40-44ca-950f-ae5db2c4fa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9a650111-7fb8-408c-8449-112adb6e2e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d337dc-809a-4269-a690-d6cd31b4acd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8f3f5698-4e7b-49a9-bf00-a8b38c5133ff}" ma:internalName="TaxCatchAll" ma:showField="CatchAllData" ma:web="71d337dc-809a-4269-a690-d6cd31b4ac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TemplafyTemplateConfiguration><![CDATA[{"elementsMetadata":[{"type":"shape","id":"8e687d5a-037f-4f24-a199-2d950c5df88f","elementConfiguration":{"binding":"{{FormatDateTime(Form.Date,Translate(\"DateFormat\"),DocumentLanguage)}}","type":"text","disableUpdates":false}},{"type":"shape","id":"8a58044d-47eb-4d6e-9ca4-af1763910190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id":"6f8add69-85c2-40c7-9973-8bbd2effdf02","elementConfiguration":{"binding":"{{Form.Footer}}","type":"text","disableUpdates":false}},{"type":"shape","id":"41d8c364-9428-4db7-aa0c-4eaa985a9522","elementConfiguration":{"binding":"{{UserProfile.Department.DepartmentName}}","visibility":"{{IfElse(Form.FooterLogo, VisibilityType.Hidden,VisibilityType.Visible)}}","type":"text","disableUpdates":false}},{"type":"shape","id":"83a1c2a2-c5ce-461f-94a3-7bf4eb5a6a7a","elementConfiguration":{"width":"{{UserProfile.Department.REFDepartmentLogo.WidthPNGPPT}}","height":"{{UserProfile.Department.REFDepartmentLogo.HeightPNGPPT}}","image":"{{UserProfile.Department.REFDepartmentLogo.ImagePNG}}","type":"image","disableUpdates":false}},{"type":"shape","id":"6b7dbdc9-b930-48a1-b054-0486b079e669","elementConfiguration":{"binding":"{{UserProfile.Department.DepartmentName}} \n{{UserProfile.Department.DepartmentStreet}} {{UserProfile.Department.DepartmentStreetNumber}} \n{{UserProfile.Department.DepartmentPOBox}} {{UserProfile.Department.DepartmentCity}} \n{{UserProfile.Department.DepartmentCountry}} \n{{UserProfile.Department.DepartmentWebsite}}","type":"text","disableUpdates":false}},{"type":"shape","id":"5cce6515-ac04-4d9a-8376-12efa4e71373","elementConfiguration":{"width":"{{UserProfile.Department.REFDepartmentLogo.WidthPNGPPT}}","height":"{{UserProfile.Department.REFDepartmentLogo.HeightPNGPPT}}","image":"{{UserProfile.Department.REFDepartmentLogo.ImagePNG}}","type":"image","disableUpdates":false}},{"type":"shape","id":"72a3a3be-e050-47d5-94d9-e6cb5f8c7f03","elementConfiguration":{"binding":"{{FormatDateTime(Form.Date,Translate(\"DateFormat\"),DocumentLanguage)}}","type":"text","disableUpdates":false}},{"type":"shape","id":"77e1a5e9-b037-42ca-85a0-d5636c9ac5b3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id":"8b77cfe1-601f-4616-9ce4-864cfa8534fd","elementConfiguration":{"binding":"{{Form.Footer}}","type":"text","disableUpdates":false}},{"type":"shape","id":"2f4be301-7db5-44d0-ae7c-4ec34c731e7b","elementConfiguration":{"binding":"{{UserProfile.Department.DepartmentName}}","visibility":"{{IfElse(Form.FooterLogo, VisibilityType.Hidden,VisibilityType.Visible)}}","type":"text","disableUpdates":false}},{"type":"shape","id":"51713646-4b5d-4189-98b0-0b0bb394ba3a","elementConfiguration":{"width":"{{UserProfile.Department.REFDepartmentLogo.WidthPNGPPT}}","height":"{{UserProfile.Department.REFDepartmentLogo.HeightPNGPPT}}","image":"{{UserProfile.Department.REFDepartmentLogo.ImagePNG}}","type":"image","disableUpdates":false}},{"type":"shape","id":"9ce69437-fe7b-4dee-8cfc-9988023a4741","elementConfiguration":{"binding":"{{FormatDateTime(Form.Date,Translate(\"DateFormat\"),DocumentLanguage)}}","type":"text","disableUpdates":false}},{"type":"shape","id":"e71f292f-c887-405d-8ce7-c2554695bcfc","elementConfiguration":{"width":"{{UserProfile.Department.REFDepartmentLogo.WidthPNGPPT}}","height":"{{UserProfile.Department.REFDepartmentLogo.HeightPNGPPT}}","image":"{{UserProfile.Department.REFDepartmentLogo.ImagePNG}}","type":"image","disableUpdates":false}},{"type":"shape","id":"a5b776ce-7578-4a04-b539-7870c0decfe5","elementConfiguration":{"binding":"{{FormatDateTime(Form.Date,Translate(\"DateFormat\"),DocumentLanguage)}}","type":"text","disableUpdates":false}},{"type":"shape","id":"a686ddd6-f847-45d7-8410-5ee4c6292e19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id":"d6049c18-5439-4cb6-ba74-6982f0f3a19f","elementConfiguration":{"binding":"{{Form.Footer}}","type":"text","disableUpdates":false}},{"type":"shape","id":"0bfa71f2-5450-4936-a878-527a7ee69f0e","elementConfiguration":{"binding":"{{UserProfile.Department.DepartmentName}}","visibility":"{{IfElse(Form.FooterLogo, VisibilityType.Hidden,VisibilityType.Visible)}}","type":"text","disableUpdates":false}},{"type":"shape","id":"c0c6f633-ff8e-42d8-9a55-e82bd295c373","elementConfiguration":{"binding":"{{FormatDateTime(Form.Date,Translate(\"DateFormat\"),DocumentLanguage)}}","type":"text","disableUpdates":false}},{"type":"shape","id":"3be152c8-0b65-4297-9cb0-c63496367b51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id":"48adc353-1a34-40df-b860-395e9b5f349d","elementConfiguration":{"binding":"{{Form.Footer}}","type":"text","disableUpdates":false}},{"type":"shape","id":"4780b9c7-75d7-49af-995d-3035d682835c","elementConfiguration":{"binding":"{{UserProfile.Department.DepartmentName}}","visibility":"{{IfElse(Form.FooterLogo, VisibilityType.Hidden,VisibilityType.Visible)}}","type":"text","disableUpdates":false}},{"type":"shape","id":"879ad7e6-7cb7-4494-9174-c3323cc290b2","elementConfiguration":{"binding":"{{FormatDateTime(Form.Date,Translate(\"DateFormat\"),DocumentLanguage)}}","type":"text","disableUpdates":false}},{"type":"shape","id":"422c643c-1be7-4851-a609-740cb9e3f0bf","elementConfiguration":{"binding":"{{FormatDateTime(Form.Date,Translate(\"DateFormat\"),DocumentLanguage)}}","type":"text","disableUpdates":false}},{"type":"shape","id":"82521580-3cb5-4a4b-8383-ffa8620c9e28","elementConfiguration":{"binding":"{{Form.Footer}}","type":"text","disableUpdates":false}},{"type":"shape","id":"98f65843-8754-4b5b-8931-09667ac59bb2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id":"57fa69e2-e601-4bd0-9df7-d22060b419e4","elementConfiguration":{"binding":"{{UserProfile.Department.DepartmentName}}","visibility":"{{IfElse(Form.FooterLogo, VisibilityType.Hidden,VisibilityType.Visible)}}","type":"text","disableUpdates":false}},{"type":"shape","id":"c9dac91e-5ebd-45da-9bcc-81ff89bbac85","elementConfiguration":{"binding":"{{FormatDateTime(Form.Date,Translate(\"DateFormat\"),DocumentLanguage)}}","type":"text","disableUpdates":false}},{"type":"shape","id":"b3e9e11c-3587-4ed3-8daa-a5e24e1d55f2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id":"3e52716e-0e5c-470b-b521-4ace67d1a08e","elementConfiguration":{"binding":"{{Form.Footer}}","type":"text","disableUpdates":false}},{"type":"shape","id":"0ff56024-4d1f-4773-bfc1-9ba6a6a51b39","elementConfiguration":{"binding":"{{UserProfile.Department.DepartmentName}}","visibility":"{{IfElse(Form.FooterLogo, VisibilityType.Hidden,VisibilityType.Visible)}}","type":"text","disableUpdates":false}}],"transformationConfigurations":[{"language":"{{UserProfile.DocumentLanguage.Language}}","disableUpdates":false,"type":"proofingLanguage"},{"propertyName":"creator","propertyValue":"{{UserProfile.FirstName}} {{UserProfile.LastName}}","disableUpdates":false,"type":"documentProperty"},{"propertyName":"title","propertyValue":"Presentation - University of St.Gallen","disableUpdates":false,"type":"documentProperty"}],"templateName":"UNISG Präsentation","templateDescription":"","enableDocumentContentUpdater":true,"version":"2.0"}]]></TemplafyTemplateConfiguration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7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9F4CC4C9-BB74-44FC-A406-BC7313C6CC46}">
  <ds:schemaRefs/>
</ds:datastoreItem>
</file>

<file path=customXml/itemProps2.xml><?xml version="1.0" encoding="utf-8"?>
<ds:datastoreItem xmlns:ds="http://schemas.openxmlformats.org/officeDocument/2006/customXml" ds:itemID="{6567BD5C-CC0C-4648-BED2-6CE28F06E5A9}">
  <ds:schemaRefs>
    <ds:schemaRef ds:uri="http://schemas.microsoft.com/office/2006/documentManagement/types"/>
    <ds:schemaRef ds:uri="07c8a24f-8b40-44ca-950f-ae5db2c4fa23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71d337dc-809a-4269-a690-d6cd31b4acd0"/>
    <ds:schemaRef ds:uri="http://purl.org/dc/dcmitype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BA6235D-7E1A-4B9C-ADE5-24E162A87D03}">
  <ds:schemaRefs/>
</ds:datastoreItem>
</file>

<file path=customXml/itemProps4.xml><?xml version="1.0" encoding="utf-8"?>
<ds:datastoreItem xmlns:ds="http://schemas.openxmlformats.org/officeDocument/2006/customXml" ds:itemID="{329B48A9-5067-463C-80F4-7C90FDDEC2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c8a24f-8b40-44ca-950f-ae5db2c4fa23"/>
    <ds:schemaRef ds:uri="71d337dc-809a-4269-a690-d6cd31b4ac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5.xml><?xml version="1.0" encoding="utf-8"?>
<ds:datastoreItem xmlns:ds="http://schemas.openxmlformats.org/officeDocument/2006/customXml" ds:itemID="{DD23DDCC-ABAF-42D1-9CB2-07E72D883C32}">
  <ds:schemaRefs/>
</ds:datastoreItem>
</file>

<file path=customXml/itemProps6.xml><?xml version="1.0" encoding="utf-8"?>
<ds:datastoreItem xmlns:ds="http://schemas.openxmlformats.org/officeDocument/2006/customXml" ds:itemID="{ED2A37DE-9640-4BAD-87EB-02349D3561C8}">
  <ds:schemaRefs>
    <ds:schemaRef ds:uri="http://schemas.microsoft.com/sharepoint/v3/contenttype/forms"/>
  </ds:schemaRefs>
</ds:datastoreItem>
</file>

<file path=customXml/itemProps7.xml><?xml version="1.0" encoding="utf-8"?>
<ds:datastoreItem xmlns:ds="http://schemas.openxmlformats.org/officeDocument/2006/customXml" ds:itemID="{EEC5A0E2-D785-49C7-B13F-357B56B32321}">
  <ds:schemaRefs/>
</ds:datastoreItem>
</file>

<file path=docMetadata/LabelInfo.xml><?xml version="1.0" encoding="utf-8"?>
<clbl:labelList xmlns:clbl="http://schemas.microsoft.com/office/2020/mipLabelMetadata">
  <clbl:label id="{a7262e59-1b56-4f5a-a412-6f07181f48ee}" enabled="0" method="" siteId="{a7262e59-1b56-4f5a-a412-6f07181f48e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uni_stgallen_master_01</Template>
  <TotalTime>0</TotalTime>
  <Words>1153</Words>
  <Application>Microsoft Office PowerPoint</Application>
  <PresentationFormat>On-screen Show (16:9)</PresentationFormat>
  <Paragraphs>161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Gill Alt One MT Light</vt:lpstr>
      <vt:lpstr>Gill Sans Nova</vt:lpstr>
      <vt:lpstr>Gill Sans Nova Light</vt:lpstr>
      <vt:lpstr>Lato</vt:lpstr>
      <vt:lpstr>UNISG PPT</vt:lpstr>
      <vt:lpstr>think-cell Slide</vt:lpstr>
      <vt:lpstr>Research Seminar – Question Suggestion in Financial Institutions</vt:lpstr>
      <vt:lpstr>Proposed research question &amp; hypotheses</vt:lpstr>
      <vt:lpstr>Overview of the economic intuition</vt:lpstr>
      <vt:lpstr>Academic papers supporting the theory (1/2)</vt:lpstr>
      <vt:lpstr>Academic papers supporting the theory (2/2)</vt:lpstr>
      <vt:lpstr>Datasets which may be used</vt:lpstr>
      <vt:lpstr>Potential regression model</vt:lpstr>
      <vt:lpstr>Additional considerations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University of St.Gallen</dc:title>
  <dc:creator>Noel Bruehlmann</dc:creator>
  <cp:lastModifiedBy>Bruehlmann, Noel</cp:lastModifiedBy>
  <cp:revision>38</cp:revision>
  <dcterms:created xsi:type="dcterms:W3CDTF">2025-10-02T15:41:57Z</dcterms:created>
  <dcterms:modified xsi:type="dcterms:W3CDTF">2026-03-11T09:03:29Z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0x01010034C2EED3AEDAB24AB48AF05A7A255DF4</vt:lpwstr>
  </property>
  <property fmtid="{D5CDD505-2E9C-101B-9397-08002B2CF9AE}" pid="3" name="MediaServiceImageTags">
    <vt:lpwstr/>
  </property>
  <property fmtid="{D5CDD505-2E9C-101B-9397-08002B2CF9AE}" pid="4" name="TemplafyTimeStamp">
    <vt:lpwstr>2024-03-11T15:36:41</vt:lpwstr>
  </property>
  <property fmtid="{D5CDD505-2E9C-101B-9397-08002B2CF9AE}" pid="5" name="TemplafyTenantId">
    <vt:lpwstr>unisg</vt:lpwstr>
  </property>
  <property fmtid="{D5CDD505-2E9C-101B-9397-08002B2CF9AE}" pid="6" name="TemplafyTemplateId">
    <vt:lpwstr>637700762909751978</vt:lpwstr>
  </property>
  <property fmtid="{D5CDD505-2E9C-101B-9397-08002B2CF9AE}" pid="7" name="TemplafyUserProfileId">
    <vt:lpwstr>1044471381414641664</vt:lpwstr>
  </property>
  <property fmtid="{D5CDD505-2E9C-101B-9397-08002B2CF9AE}" pid="8" name="TemplafyLanguageCode">
    <vt:lpwstr>en-GB</vt:lpwstr>
  </property>
  <property fmtid="{D5CDD505-2E9C-101B-9397-08002B2CF9AE}" pid="9" name="TemplafyFromBlank">
    <vt:bool>false</vt:bool>
  </property>
</Properties>
</file>