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2"/>
  </p:sldMasterIdLst>
  <p:notesMasterIdLst>
    <p:notesMasterId r:id="rId55"/>
  </p:notesMasterIdLst>
  <p:handoutMasterIdLst>
    <p:handoutMasterId r:id="rId56"/>
  </p:handoutMasterIdLst>
  <p:sldIdLst>
    <p:sldId id="299" r:id="rId13"/>
    <p:sldId id="302" r:id="rId14"/>
    <p:sldId id="307" r:id="rId15"/>
    <p:sldId id="306" r:id="rId16"/>
    <p:sldId id="309" r:id="rId17"/>
    <p:sldId id="310" r:id="rId18"/>
    <p:sldId id="313" r:id="rId19"/>
    <p:sldId id="340" r:id="rId20"/>
    <p:sldId id="304" r:id="rId21"/>
    <p:sldId id="305" r:id="rId22"/>
    <p:sldId id="311" r:id="rId23"/>
    <p:sldId id="308" r:id="rId24"/>
    <p:sldId id="317" r:id="rId25"/>
    <p:sldId id="314" r:id="rId26"/>
    <p:sldId id="316" r:id="rId27"/>
    <p:sldId id="256" r:id="rId28"/>
    <p:sldId id="257" r:id="rId29"/>
    <p:sldId id="258" r:id="rId30"/>
    <p:sldId id="259" r:id="rId31"/>
    <p:sldId id="260" r:id="rId32"/>
    <p:sldId id="261" r:id="rId33"/>
    <p:sldId id="262" r:id="rId34"/>
    <p:sldId id="318" r:id="rId35"/>
    <p:sldId id="324" r:id="rId36"/>
    <p:sldId id="319" r:id="rId37"/>
    <p:sldId id="326" r:id="rId38"/>
    <p:sldId id="320" r:id="rId39"/>
    <p:sldId id="321" r:id="rId40"/>
    <p:sldId id="322" r:id="rId41"/>
    <p:sldId id="323" r:id="rId42"/>
    <p:sldId id="325" r:id="rId43"/>
    <p:sldId id="327" r:id="rId44"/>
    <p:sldId id="331" r:id="rId45"/>
    <p:sldId id="329" r:id="rId46"/>
    <p:sldId id="332" r:id="rId47"/>
    <p:sldId id="333" r:id="rId48"/>
    <p:sldId id="334" r:id="rId49"/>
    <p:sldId id="335" r:id="rId50"/>
    <p:sldId id="336" r:id="rId51"/>
    <p:sldId id="337" r:id="rId52"/>
    <p:sldId id="338" r:id="rId53"/>
    <p:sldId id="339" r:id="rId54"/>
  </p:sldIdLst>
  <p:sldSz cx="9144000" cy="5143500" type="screen16x9"/>
  <p:notesSz cx="6858000" cy="9144000"/>
  <p:custDataLst>
    <p:tags r:id="rId57"/>
  </p:custDataLst>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3"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2F"/>
    <a:srgbClr val="EB6969"/>
    <a:srgbClr val="73A5AF"/>
    <a:srgbClr val="E1D7C3"/>
    <a:srgbClr val="BFDFCB"/>
    <a:srgbClr val="2C5F2D"/>
    <a:srgbClr val="BF4236"/>
    <a:srgbClr val="E31C3D"/>
    <a:srgbClr val="FFF693"/>
    <a:srgbClr val="F46A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8C893C-AA72-26CD-A0D5-69652A48BE04}" v="9" dt="2026-03-25T09:21:05.551"/>
  </p1510:revLst>
</p1510:revInfo>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43"/>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customXml" Target="../customXml/item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tableStyles" Target="tableStyles.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handoutMaster" Target="handoutMasters/handoutMaster1.xml"/><Relationship Id="rId8" Type="http://schemas.openxmlformats.org/officeDocument/2006/relationships/customXml" Target="../customXml/item8.xml"/><Relationship Id="rId51" Type="http://schemas.openxmlformats.org/officeDocument/2006/relationships/slide" Target="slides/slide39.xml"/><Relationship Id="rId3" Type="http://schemas.openxmlformats.org/officeDocument/2006/relationships/customXml" Target="../customXml/item3.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viewProps" Target="viewProp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tags" Target="tags/tag1.xml"/><Relationship Id="rId10" Type="http://schemas.openxmlformats.org/officeDocument/2006/relationships/customXml" Target="../customXml/item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ni, Giovanni" userId="S::giovanni.brenni@student.unisg.ch::415fa501-2e2a-4428-bd52-3d9320accab2" providerId="AD" clId="Web-{7608A30A-B4C5-F4BB-A67A-4B1A7810024C}"/>
    <pc:docChg chg="addSld modSld">
      <pc:chgData name="Brenni, Giovanni" userId="S::giovanni.brenni@student.unisg.ch::415fa501-2e2a-4428-bd52-3d9320accab2" providerId="AD" clId="Web-{7608A30A-B4C5-F4BB-A67A-4B1A7810024C}" dt="2026-03-11T11:50:34.202" v="13" actId="20577"/>
      <pc:docMkLst>
        <pc:docMk/>
      </pc:docMkLst>
      <pc:sldChg chg="modSp new">
        <pc:chgData name="Brenni, Giovanni" userId="S::giovanni.brenni@student.unisg.ch::415fa501-2e2a-4428-bd52-3d9320accab2" providerId="AD" clId="Web-{7608A30A-B4C5-F4BB-A67A-4B1A7810024C}" dt="2026-03-11T11:50:34.202" v="13" actId="20577"/>
        <pc:sldMkLst>
          <pc:docMk/>
          <pc:sldMk cId="965465192" sldId="313"/>
        </pc:sldMkLst>
        <pc:spChg chg="mod">
          <ac:chgData name="Brenni, Giovanni" userId="S::giovanni.brenni@student.unisg.ch::415fa501-2e2a-4428-bd52-3d9320accab2" providerId="AD" clId="Web-{7608A30A-B4C5-F4BB-A67A-4B1A7810024C}" dt="2026-03-11T11:50:34.202" v="13" actId="20577"/>
          <ac:spMkLst>
            <pc:docMk/>
            <pc:sldMk cId="965465192" sldId="313"/>
            <ac:spMk id="2" creationId="{38CF7E81-903B-E5A1-E794-99C343A39C06}"/>
          </ac:spMkLst>
        </pc:spChg>
      </pc:sldChg>
    </pc:docChg>
  </pc:docChgLst>
  <pc:docChgLst>
    <pc:chgData name="Brenni, Giovanni" userId="S::giovanni.brenni@student.unisg.ch::415fa501-2e2a-4428-bd52-3d9320accab2" providerId="AD" clId="Web-{AC8AF928-0677-4C78-8958-AF8248F160A0}"/>
    <pc:docChg chg="modSld">
      <pc:chgData name="Brenni, Giovanni" userId="S::giovanni.brenni@student.unisg.ch::415fa501-2e2a-4428-bd52-3d9320accab2" providerId="AD" clId="Web-{AC8AF928-0677-4C78-8958-AF8248F160A0}" dt="2026-03-17T09:54:59.682" v="6"/>
      <pc:docMkLst>
        <pc:docMk/>
      </pc:docMkLst>
      <pc:sldChg chg="addSp delSp modSp">
        <pc:chgData name="Brenni, Giovanni" userId="S::giovanni.brenni@student.unisg.ch::415fa501-2e2a-4428-bd52-3d9320accab2" providerId="AD" clId="Web-{AC8AF928-0677-4C78-8958-AF8248F160A0}" dt="2026-03-17T09:54:59.682" v="6"/>
        <pc:sldMkLst>
          <pc:docMk/>
          <pc:sldMk cId="69781974" sldId="339"/>
        </pc:sldMkLst>
        <pc:picChg chg="add mod">
          <ac:chgData name="Brenni, Giovanni" userId="S::giovanni.brenni@student.unisg.ch::415fa501-2e2a-4428-bd52-3d9320accab2" providerId="AD" clId="Web-{AC8AF928-0677-4C78-8958-AF8248F160A0}" dt="2026-03-17T09:54:59.682" v="6"/>
          <ac:picMkLst>
            <pc:docMk/>
            <pc:sldMk cId="69781974" sldId="339"/>
            <ac:picMk id="3" creationId="{5EF8F90A-82B3-D0B1-5551-B7C723FC0E99}"/>
          </ac:picMkLst>
        </pc:picChg>
      </pc:sldChg>
    </pc:docChg>
  </pc:docChgLst>
  <pc:docChgLst>
    <pc:chgData name="Brenni, Giovanni" userId="S::giovanni.brenni@student.unisg.ch::415fa501-2e2a-4428-bd52-3d9320accab2" providerId="AD" clId="Web-{02356DC4-F7C5-4DAC-AA8A-A0E677A46DAC}"/>
    <pc:docChg chg="addSld modSld">
      <pc:chgData name="Brenni, Giovanni" userId="S::giovanni.brenni@student.unisg.ch::415fa501-2e2a-4428-bd52-3d9320accab2" providerId="AD" clId="Web-{02356DC4-F7C5-4DAC-AA8A-A0E677A46DAC}" dt="2026-03-16T10:47:30.316" v="320"/>
      <pc:docMkLst>
        <pc:docMk/>
      </pc:docMkLst>
      <pc:sldChg chg="modSp new">
        <pc:chgData name="Brenni, Giovanni" userId="S::giovanni.brenni@student.unisg.ch::415fa501-2e2a-4428-bd52-3d9320accab2" providerId="AD" clId="Web-{02356DC4-F7C5-4DAC-AA8A-A0E677A46DAC}" dt="2026-03-16T09:38:24.359" v="117" actId="20577"/>
        <pc:sldMkLst>
          <pc:docMk/>
          <pc:sldMk cId="1658356446" sldId="326"/>
        </pc:sldMkLst>
        <pc:spChg chg="mod">
          <ac:chgData name="Brenni, Giovanni" userId="S::giovanni.brenni@student.unisg.ch::415fa501-2e2a-4428-bd52-3d9320accab2" providerId="AD" clId="Web-{02356DC4-F7C5-4DAC-AA8A-A0E677A46DAC}" dt="2026-03-16T09:36:39.339" v="7" actId="20577"/>
          <ac:spMkLst>
            <pc:docMk/>
            <pc:sldMk cId="1658356446" sldId="326"/>
            <ac:spMk id="2" creationId="{4D307B0F-CC58-7811-67C8-14CFBB2D04C4}"/>
          </ac:spMkLst>
        </pc:spChg>
        <pc:spChg chg="mod">
          <ac:chgData name="Brenni, Giovanni" userId="S::giovanni.brenni@student.unisg.ch::415fa501-2e2a-4428-bd52-3d9320accab2" providerId="AD" clId="Web-{02356DC4-F7C5-4DAC-AA8A-A0E677A46DAC}" dt="2026-03-16T09:38:24.359" v="117" actId="20577"/>
          <ac:spMkLst>
            <pc:docMk/>
            <pc:sldMk cId="1658356446" sldId="326"/>
            <ac:spMk id="3" creationId="{9A0CD11F-999C-2ED4-3BED-8A6D63D48ADB}"/>
          </ac:spMkLst>
        </pc:spChg>
      </pc:sldChg>
      <pc:sldChg chg="modSp add replId">
        <pc:chgData name="Brenni, Giovanni" userId="S::giovanni.brenni@student.unisg.ch::415fa501-2e2a-4428-bd52-3d9320accab2" providerId="AD" clId="Web-{02356DC4-F7C5-4DAC-AA8A-A0E677A46DAC}" dt="2026-03-16T10:29:16.086" v="148" actId="20577"/>
        <pc:sldMkLst>
          <pc:docMk/>
          <pc:sldMk cId="3746553398" sldId="327"/>
        </pc:sldMkLst>
        <pc:spChg chg="mod">
          <ac:chgData name="Brenni, Giovanni" userId="S::giovanni.brenni@student.unisg.ch::415fa501-2e2a-4428-bd52-3d9320accab2" providerId="AD" clId="Web-{02356DC4-F7C5-4DAC-AA8A-A0E677A46DAC}" dt="2026-03-16T10:29:16.086" v="148" actId="20577"/>
          <ac:spMkLst>
            <pc:docMk/>
            <pc:sldMk cId="3746553398" sldId="327"/>
            <ac:spMk id="2" creationId="{6B5DF644-D1ED-17B0-6CD8-F87D09913094}"/>
          </ac:spMkLst>
        </pc:spChg>
      </pc:sldChg>
      <pc:sldChg chg="addSp delSp modSp new">
        <pc:chgData name="Brenni, Giovanni" userId="S::giovanni.brenni@student.unisg.ch::415fa501-2e2a-4428-bd52-3d9320accab2" providerId="AD" clId="Web-{02356DC4-F7C5-4DAC-AA8A-A0E677A46DAC}" dt="2026-03-16T10:47:30.316" v="320"/>
        <pc:sldMkLst>
          <pc:docMk/>
          <pc:sldMk cId="1755571129" sldId="329"/>
        </pc:sldMkLst>
      </pc:sldChg>
    </pc:docChg>
  </pc:docChgLst>
  <pc:docChgLst>
    <pc:chgData name="Bruehlmann, Noel" userId="b9a2743c-8098-4e2e-a1f0-b3a2a0076be3" providerId="ADAL" clId="{F44A61B2-5450-4A65-A8F7-FA08989C7149}"/>
    <pc:docChg chg="undo custSel addSld modSld">
      <pc:chgData name="Bruehlmann, Noel" userId="b9a2743c-8098-4e2e-a1f0-b3a2a0076be3" providerId="ADAL" clId="{F44A61B2-5450-4A65-A8F7-FA08989C7149}" dt="2026-03-16T22:18:43.288" v="4538" actId="478"/>
      <pc:docMkLst>
        <pc:docMk/>
      </pc:docMkLst>
      <pc:sldChg chg="add setBg">
        <pc:chgData name="Bruehlmann, Noel" userId="b9a2743c-8098-4e2e-a1f0-b3a2a0076be3" providerId="ADAL" clId="{F44A61B2-5450-4A65-A8F7-FA08989C7149}" dt="2026-03-11T16:57:52.016" v="4452"/>
        <pc:sldMkLst>
          <pc:docMk/>
          <pc:sldMk cId="0" sldId="256"/>
        </pc:sldMkLst>
      </pc:sldChg>
      <pc:sldChg chg="add setBg">
        <pc:chgData name="Bruehlmann, Noel" userId="b9a2743c-8098-4e2e-a1f0-b3a2a0076be3" providerId="ADAL" clId="{F44A61B2-5450-4A65-A8F7-FA08989C7149}" dt="2026-03-11T16:57:52.016" v="4452"/>
        <pc:sldMkLst>
          <pc:docMk/>
          <pc:sldMk cId="0" sldId="257"/>
        </pc:sldMkLst>
      </pc:sldChg>
      <pc:sldChg chg="add setBg">
        <pc:chgData name="Bruehlmann, Noel" userId="b9a2743c-8098-4e2e-a1f0-b3a2a0076be3" providerId="ADAL" clId="{F44A61B2-5450-4A65-A8F7-FA08989C7149}" dt="2026-03-11T16:57:52.016" v="4452"/>
        <pc:sldMkLst>
          <pc:docMk/>
          <pc:sldMk cId="0" sldId="258"/>
        </pc:sldMkLst>
      </pc:sldChg>
      <pc:sldChg chg="add setBg">
        <pc:chgData name="Bruehlmann, Noel" userId="b9a2743c-8098-4e2e-a1f0-b3a2a0076be3" providerId="ADAL" clId="{F44A61B2-5450-4A65-A8F7-FA08989C7149}" dt="2026-03-11T16:57:52.016" v="4452"/>
        <pc:sldMkLst>
          <pc:docMk/>
          <pc:sldMk cId="0" sldId="259"/>
        </pc:sldMkLst>
      </pc:sldChg>
      <pc:sldChg chg="add setBg">
        <pc:chgData name="Bruehlmann, Noel" userId="b9a2743c-8098-4e2e-a1f0-b3a2a0076be3" providerId="ADAL" clId="{F44A61B2-5450-4A65-A8F7-FA08989C7149}" dt="2026-03-11T16:57:52.016" v="4452"/>
        <pc:sldMkLst>
          <pc:docMk/>
          <pc:sldMk cId="0" sldId="260"/>
        </pc:sldMkLst>
      </pc:sldChg>
      <pc:sldChg chg="modSp add mod setBg">
        <pc:chgData name="Bruehlmann, Noel" userId="b9a2743c-8098-4e2e-a1f0-b3a2a0076be3" providerId="ADAL" clId="{F44A61B2-5450-4A65-A8F7-FA08989C7149}" dt="2026-03-11T16:59:32.740" v="4458" actId="207"/>
        <pc:sldMkLst>
          <pc:docMk/>
          <pc:sldMk cId="0" sldId="261"/>
        </pc:sldMkLst>
        <pc:spChg chg="mod">
          <ac:chgData name="Bruehlmann, Noel" userId="b9a2743c-8098-4e2e-a1f0-b3a2a0076be3" providerId="ADAL" clId="{F44A61B2-5450-4A65-A8F7-FA08989C7149}" dt="2026-03-11T16:59:32.740" v="4458" actId="207"/>
          <ac:spMkLst>
            <pc:docMk/>
            <pc:sldMk cId="0" sldId="261"/>
            <ac:spMk id="2" creationId="{00000000-0000-0000-0000-000000000000}"/>
          </ac:spMkLst>
        </pc:spChg>
      </pc:sldChg>
      <pc:sldChg chg="add setBg">
        <pc:chgData name="Bruehlmann, Noel" userId="b9a2743c-8098-4e2e-a1f0-b3a2a0076be3" providerId="ADAL" clId="{F44A61B2-5450-4A65-A8F7-FA08989C7149}" dt="2026-03-11T16:59:39.790" v="4459"/>
        <pc:sldMkLst>
          <pc:docMk/>
          <pc:sldMk cId="0" sldId="262"/>
        </pc:sldMkLst>
      </pc:sldChg>
      <pc:sldChg chg="modSp mod">
        <pc:chgData name="Bruehlmann, Noel" userId="b9a2743c-8098-4e2e-a1f0-b3a2a0076be3" providerId="ADAL" clId="{F44A61B2-5450-4A65-A8F7-FA08989C7149}" dt="2026-03-11T09:05:03.480" v="6" actId="20577"/>
        <pc:sldMkLst>
          <pc:docMk/>
          <pc:sldMk cId="2598718408" sldId="299"/>
        </pc:sldMkLst>
        <pc:spChg chg="mod">
          <ac:chgData name="Bruehlmann, Noel" userId="b9a2743c-8098-4e2e-a1f0-b3a2a0076be3" providerId="ADAL" clId="{F44A61B2-5450-4A65-A8F7-FA08989C7149}" dt="2026-03-11T09:05:03.480" v="6" actId="20577"/>
          <ac:spMkLst>
            <pc:docMk/>
            <pc:sldMk cId="2598718408" sldId="299"/>
            <ac:spMk id="3" creationId="{18DB647C-51AF-7D10-406E-85F1508DE80F}"/>
          </ac:spMkLst>
        </pc:spChg>
      </pc:sldChg>
      <pc:sldChg chg="addSp delSp modSp mod">
        <pc:chgData name="Bruehlmann, Noel" userId="b9a2743c-8098-4e2e-a1f0-b3a2a0076be3" providerId="ADAL" clId="{F44A61B2-5450-4A65-A8F7-FA08989C7149}" dt="2026-03-16T22:18:43.288" v="4538" actId="478"/>
        <pc:sldMkLst>
          <pc:docMk/>
          <pc:sldMk cId="19055450" sldId="302"/>
        </pc:sldMkLst>
        <pc:spChg chg="mod">
          <ac:chgData name="Bruehlmann, Noel" userId="b9a2743c-8098-4e2e-a1f0-b3a2a0076be3" providerId="ADAL" clId="{F44A61B2-5450-4A65-A8F7-FA08989C7149}" dt="2026-03-11T10:27:21.590" v="3000" actId="403"/>
          <ac:spMkLst>
            <pc:docMk/>
            <pc:sldMk cId="19055450" sldId="302"/>
            <ac:spMk id="5" creationId="{22F9D5DE-8D30-2E2C-716F-9C0D4BC46E6F}"/>
          </ac:spMkLst>
        </pc:spChg>
        <pc:spChg chg="mod">
          <ac:chgData name="Bruehlmann, Noel" userId="b9a2743c-8098-4e2e-a1f0-b3a2a0076be3" providerId="ADAL" clId="{F44A61B2-5450-4A65-A8F7-FA08989C7149}" dt="2026-03-11T10:27:21.590" v="3000" actId="403"/>
          <ac:spMkLst>
            <pc:docMk/>
            <pc:sldMk cId="19055450" sldId="302"/>
            <ac:spMk id="6" creationId="{8B60FAF3-B3A3-AB14-E29C-A7C3B3ADEC33}"/>
          </ac:spMkLst>
        </pc:spChg>
        <pc:spChg chg="mod">
          <ac:chgData name="Bruehlmann, Noel" userId="b9a2743c-8098-4e2e-a1f0-b3a2a0076be3" providerId="ADAL" clId="{F44A61B2-5450-4A65-A8F7-FA08989C7149}" dt="2026-03-11T10:27:21.590" v="3000" actId="403"/>
          <ac:spMkLst>
            <pc:docMk/>
            <pc:sldMk cId="19055450" sldId="302"/>
            <ac:spMk id="7" creationId="{F41A0D64-2157-56F9-7708-46C2D09B5BA9}"/>
          </ac:spMkLst>
        </pc:spChg>
        <pc:spChg chg="mod">
          <ac:chgData name="Bruehlmann, Noel" userId="b9a2743c-8098-4e2e-a1f0-b3a2a0076be3" providerId="ADAL" clId="{F44A61B2-5450-4A65-A8F7-FA08989C7149}" dt="2026-03-11T10:27:21.590" v="3000" actId="403"/>
          <ac:spMkLst>
            <pc:docMk/>
            <pc:sldMk cId="19055450" sldId="302"/>
            <ac:spMk id="9" creationId="{A03581C9-6A06-5757-5515-2A9CD68F1D97}"/>
          </ac:spMkLst>
        </pc:spChg>
        <pc:spChg chg="mod">
          <ac:chgData name="Bruehlmann, Noel" userId="b9a2743c-8098-4e2e-a1f0-b3a2a0076be3" providerId="ADAL" clId="{F44A61B2-5450-4A65-A8F7-FA08989C7149}" dt="2026-03-11T10:27:31.122" v="3017" actId="1036"/>
          <ac:spMkLst>
            <pc:docMk/>
            <pc:sldMk cId="19055450" sldId="302"/>
            <ac:spMk id="13" creationId="{0D2FAFB4-7C71-863F-413A-872ABE7526F6}"/>
          </ac:spMkLst>
        </pc:spChg>
        <pc:spChg chg="mod">
          <ac:chgData name="Bruehlmann, Noel" userId="b9a2743c-8098-4e2e-a1f0-b3a2a0076be3" providerId="ADAL" clId="{F44A61B2-5450-4A65-A8F7-FA08989C7149}" dt="2026-03-11T10:27:31.122" v="3017" actId="1036"/>
          <ac:spMkLst>
            <pc:docMk/>
            <pc:sldMk cId="19055450" sldId="302"/>
            <ac:spMk id="14" creationId="{E7256112-E54B-10D8-40BE-DA2FC7AA814E}"/>
          </ac:spMkLst>
        </pc:spChg>
        <pc:spChg chg="mod">
          <ac:chgData name="Bruehlmann, Noel" userId="b9a2743c-8098-4e2e-a1f0-b3a2a0076be3" providerId="ADAL" clId="{F44A61B2-5450-4A65-A8F7-FA08989C7149}" dt="2026-03-11T10:27:21.590" v="3000" actId="403"/>
          <ac:spMkLst>
            <pc:docMk/>
            <pc:sldMk cId="19055450" sldId="302"/>
            <ac:spMk id="19" creationId="{634D9E76-3793-E6DB-86CD-2D7837F7B13E}"/>
          </ac:spMkLst>
        </pc:spChg>
        <pc:spChg chg="mod">
          <ac:chgData name="Bruehlmann, Noel" userId="b9a2743c-8098-4e2e-a1f0-b3a2a0076be3" providerId="ADAL" clId="{F44A61B2-5450-4A65-A8F7-FA08989C7149}" dt="2026-03-11T10:27:21.590" v="3000" actId="403"/>
          <ac:spMkLst>
            <pc:docMk/>
            <pc:sldMk cId="19055450" sldId="302"/>
            <ac:spMk id="20" creationId="{C23C2D03-E673-615D-7BF4-08ACC7F41297}"/>
          </ac:spMkLst>
        </pc:spChg>
        <pc:grpChg chg="mod">
          <ac:chgData name="Bruehlmann, Noel" userId="b9a2743c-8098-4e2e-a1f0-b3a2a0076be3" providerId="ADAL" clId="{F44A61B2-5450-4A65-A8F7-FA08989C7149}" dt="2026-03-11T10:27:26.240" v="3001" actId="1076"/>
          <ac:grpSpMkLst>
            <pc:docMk/>
            <pc:sldMk cId="19055450" sldId="302"/>
            <ac:grpSpMk id="18" creationId="{22781C76-7737-F7E0-406C-AE13C693ADD4}"/>
          </ac:grpSpMkLst>
        </pc:grpChg>
        <pc:cxnChg chg="mod">
          <ac:chgData name="Bruehlmann, Noel" userId="b9a2743c-8098-4e2e-a1f0-b3a2a0076be3" providerId="ADAL" clId="{F44A61B2-5450-4A65-A8F7-FA08989C7149}" dt="2026-03-11T10:27:26.240" v="3001" actId="1076"/>
          <ac:cxnSpMkLst>
            <pc:docMk/>
            <pc:sldMk cId="19055450" sldId="302"/>
            <ac:cxnSpMk id="16" creationId="{E015440E-AD03-CDB5-99C7-FBC3EBB42BB8}"/>
          </ac:cxnSpMkLst>
        </pc:cxnChg>
      </pc:sldChg>
      <pc:sldChg chg="addSp delSp modSp mod">
        <pc:chgData name="Bruehlmann, Noel" userId="b9a2743c-8098-4e2e-a1f0-b3a2a0076be3" providerId="ADAL" clId="{F44A61B2-5450-4A65-A8F7-FA08989C7149}" dt="2026-03-11T16:33:46.213" v="3285" actId="207"/>
        <pc:sldMkLst>
          <pc:docMk/>
          <pc:sldMk cId="4115001162" sldId="304"/>
        </pc:sldMkLst>
        <pc:spChg chg="add mod topLvl">
          <ac:chgData name="Bruehlmann, Noel" userId="b9a2743c-8098-4e2e-a1f0-b3a2a0076be3" providerId="ADAL" clId="{F44A61B2-5450-4A65-A8F7-FA08989C7149}" dt="2026-03-11T10:18:48.665" v="2215" actId="165"/>
          <ac:spMkLst>
            <pc:docMk/>
            <pc:sldMk cId="4115001162" sldId="304"/>
            <ac:spMk id="5" creationId="{4EC794CE-C958-8AD1-9E86-792542D6D5F1}"/>
          </ac:spMkLst>
        </pc:spChg>
        <pc:spChg chg="mod">
          <ac:chgData name="Bruehlmann, Noel" userId="b9a2743c-8098-4e2e-a1f0-b3a2a0076be3" providerId="ADAL" clId="{F44A61B2-5450-4A65-A8F7-FA08989C7149}" dt="2026-03-11T09:49:58.994" v="767" actId="164"/>
          <ac:spMkLst>
            <pc:docMk/>
            <pc:sldMk cId="4115001162" sldId="304"/>
            <ac:spMk id="6" creationId="{B279825E-61A1-6BA8-7DFC-A4FE7DBA59D3}"/>
          </ac:spMkLst>
        </pc:spChg>
        <pc:spChg chg="mod">
          <ac:chgData name="Bruehlmann, Noel" userId="b9a2743c-8098-4e2e-a1f0-b3a2a0076be3" providerId="ADAL" clId="{F44A61B2-5450-4A65-A8F7-FA08989C7149}" dt="2026-03-11T09:49:58.994" v="767" actId="164"/>
          <ac:spMkLst>
            <pc:docMk/>
            <pc:sldMk cId="4115001162" sldId="304"/>
            <ac:spMk id="7" creationId="{7769133B-D0DA-8394-416F-1BFA93916376}"/>
          </ac:spMkLst>
        </pc:spChg>
        <pc:spChg chg="mod">
          <ac:chgData name="Bruehlmann, Noel" userId="b9a2743c-8098-4e2e-a1f0-b3a2a0076be3" providerId="ADAL" clId="{F44A61B2-5450-4A65-A8F7-FA08989C7149}" dt="2026-03-11T09:42:25.409" v="502" actId="255"/>
          <ac:spMkLst>
            <pc:docMk/>
            <pc:sldMk cId="4115001162" sldId="304"/>
            <ac:spMk id="9" creationId="{1B478053-7E7D-AB33-26AF-19D262C440FD}"/>
          </ac:spMkLst>
        </pc:spChg>
        <pc:spChg chg="mod">
          <ac:chgData name="Bruehlmann, Noel" userId="b9a2743c-8098-4e2e-a1f0-b3a2a0076be3" providerId="ADAL" clId="{F44A61B2-5450-4A65-A8F7-FA08989C7149}" dt="2026-03-11T09:42:25.409" v="502" actId="255"/>
          <ac:spMkLst>
            <pc:docMk/>
            <pc:sldMk cId="4115001162" sldId="304"/>
            <ac:spMk id="10" creationId="{E2AA74FC-A850-7EBC-6F93-123EFD05245F}"/>
          </ac:spMkLst>
        </pc:spChg>
        <pc:spChg chg="mod">
          <ac:chgData name="Bruehlmann, Noel" userId="b9a2743c-8098-4e2e-a1f0-b3a2a0076be3" providerId="ADAL" clId="{F44A61B2-5450-4A65-A8F7-FA08989C7149}" dt="2026-03-11T09:50:02.027" v="768" actId="164"/>
          <ac:spMkLst>
            <pc:docMk/>
            <pc:sldMk cId="4115001162" sldId="304"/>
            <ac:spMk id="12" creationId="{5F31B109-FB3B-D554-184E-4FF8C5D6961E}"/>
          </ac:spMkLst>
        </pc:spChg>
        <pc:spChg chg="mod">
          <ac:chgData name="Bruehlmann, Noel" userId="b9a2743c-8098-4e2e-a1f0-b3a2a0076be3" providerId="ADAL" clId="{F44A61B2-5450-4A65-A8F7-FA08989C7149}" dt="2026-03-11T09:50:02.027" v="768" actId="164"/>
          <ac:spMkLst>
            <pc:docMk/>
            <pc:sldMk cId="4115001162" sldId="304"/>
            <ac:spMk id="13" creationId="{EE4B9789-2D40-2AB8-938F-2CBAA2601CFC}"/>
          </ac:spMkLst>
        </pc:spChg>
        <pc:spChg chg="mod">
          <ac:chgData name="Bruehlmann, Noel" userId="b9a2743c-8098-4e2e-a1f0-b3a2a0076be3" providerId="ADAL" clId="{F44A61B2-5450-4A65-A8F7-FA08989C7149}" dt="2026-03-11T09:42:25.409" v="502" actId="255"/>
          <ac:spMkLst>
            <pc:docMk/>
            <pc:sldMk cId="4115001162" sldId="304"/>
            <ac:spMk id="15" creationId="{A2E293B0-D966-8EF6-A834-652E10746369}"/>
          </ac:spMkLst>
        </pc:spChg>
        <pc:spChg chg="mod">
          <ac:chgData name="Bruehlmann, Noel" userId="b9a2743c-8098-4e2e-a1f0-b3a2a0076be3" providerId="ADAL" clId="{F44A61B2-5450-4A65-A8F7-FA08989C7149}" dt="2026-03-11T09:42:25.409" v="502" actId="255"/>
          <ac:spMkLst>
            <pc:docMk/>
            <pc:sldMk cId="4115001162" sldId="304"/>
            <ac:spMk id="16" creationId="{0E8C19CA-553F-97B6-042B-2523B190A109}"/>
          </ac:spMkLst>
        </pc:spChg>
        <pc:spChg chg="mod">
          <ac:chgData name="Bruehlmann, Noel" userId="b9a2743c-8098-4e2e-a1f0-b3a2a0076be3" providerId="ADAL" clId="{F44A61B2-5450-4A65-A8F7-FA08989C7149}" dt="2026-03-11T09:50:04.578" v="769" actId="164"/>
          <ac:spMkLst>
            <pc:docMk/>
            <pc:sldMk cId="4115001162" sldId="304"/>
            <ac:spMk id="18" creationId="{F78BFA99-55B9-5176-99E5-9AD705746141}"/>
          </ac:spMkLst>
        </pc:spChg>
        <pc:spChg chg="mod">
          <ac:chgData name="Bruehlmann, Noel" userId="b9a2743c-8098-4e2e-a1f0-b3a2a0076be3" providerId="ADAL" clId="{F44A61B2-5450-4A65-A8F7-FA08989C7149}" dt="2026-03-11T09:50:04.578" v="769" actId="164"/>
          <ac:spMkLst>
            <pc:docMk/>
            <pc:sldMk cId="4115001162" sldId="304"/>
            <ac:spMk id="19" creationId="{85B61307-8D76-CBA6-DD6C-510AEACA3C57}"/>
          </ac:spMkLst>
        </pc:spChg>
        <pc:spChg chg="add mod topLvl">
          <ac:chgData name="Bruehlmann, Noel" userId="b9a2743c-8098-4e2e-a1f0-b3a2a0076be3" providerId="ADAL" clId="{F44A61B2-5450-4A65-A8F7-FA08989C7149}" dt="2026-03-11T10:18:48.665" v="2215" actId="165"/>
          <ac:spMkLst>
            <pc:docMk/>
            <pc:sldMk cId="4115001162" sldId="304"/>
            <ac:spMk id="20" creationId="{EDD0529F-0A5D-5ECE-2927-1132ACB36597}"/>
          </ac:spMkLst>
        </pc:spChg>
        <pc:spChg chg="mod">
          <ac:chgData name="Bruehlmann, Noel" userId="b9a2743c-8098-4e2e-a1f0-b3a2a0076be3" providerId="ADAL" clId="{F44A61B2-5450-4A65-A8F7-FA08989C7149}" dt="2026-03-11T09:44:18.499" v="616" actId="571"/>
          <ac:spMkLst>
            <pc:docMk/>
            <pc:sldMk cId="4115001162" sldId="304"/>
            <ac:spMk id="22" creationId="{91BA9EA3-5092-E175-54BD-20D23F8C1D2F}"/>
          </ac:spMkLst>
        </pc:spChg>
        <pc:spChg chg="mod">
          <ac:chgData name="Bruehlmann, Noel" userId="b9a2743c-8098-4e2e-a1f0-b3a2a0076be3" providerId="ADAL" clId="{F44A61B2-5450-4A65-A8F7-FA08989C7149}" dt="2026-03-11T09:42:25.409" v="502" actId="255"/>
          <ac:spMkLst>
            <pc:docMk/>
            <pc:sldMk cId="4115001162" sldId="304"/>
            <ac:spMk id="23" creationId="{9EFCB93D-5E9E-F548-DBC1-64224FD9D5A3}"/>
          </ac:spMkLst>
        </pc:spChg>
        <pc:spChg chg="mod">
          <ac:chgData name="Bruehlmann, Noel" userId="b9a2743c-8098-4e2e-a1f0-b3a2a0076be3" providerId="ADAL" clId="{F44A61B2-5450-4A65-A8F7-FA08989C7149}" dt="2026-03-11T09:50:02.027" v="768" actId="164"/>
          <ac:spMkLst>
            <pc:docMk/>
            <pc:sldMk cId="4115001162" sldId="304"/>
            <ac:spMk id="24" creationId="{68B94954-CDDC-F111-B28B-3E478897B9EE}"/>
          </ac:spMkLst>
        </pc:spChg>
        <pc:spChg chg="mod">
          <ac:chgData name="Bruehlmann, Noel" userId="b9a2743c-8098-4e2e-a1f0-b3a2a0076be3" providerId="ADAL" clId="{F44A61B2-5450-4A65-A8F7-FA08989C7149}" dt="2026-03-11T09:50:04.578" v="769" actId="164"/>
          <ac:spMkLst>
            <pc:docMk/>
            <pc:sldMk cId="4115001162" sldId="304"/>
            <ac:spMk id="25" creationId="{31427D58-F21A-33C7-4722-11D76D25AB60}"/>
          </ac:spMkLst>
        </pc:spChg>
        <pc:spChg chg="mod">
          <ac:chgData name="Bruehlmann, Noel" userId="b9a2743c-8098-4e2e-a1f0-b3a2a0076be3" providerId="ADAL" clId="{F44A61B2-5450-4A65-A8F7-FA08989C7149}" dt="2026-03-11T10:18:48.665" v="2215" actId="165"/>
          <ac:spMkLst>
            <pc:docMk/>
            <pc:sldMk cId="4115001162" sldId="304"/>
            <ac:spMk id="27" creationId="{0DD2DD3F-EB89-338A-E8DB-0693E71AD68A}"/>
          </ac:spMkLst>
        </pc:spChg>
        <pc:spChg chg="mod">
          <ac:chgData name="Bruehlmann, Noel" userId="b9a2743c-8098-4e2e-a1f0-b3a2a0076be3" providerId="ADAL" clId="{F44A61B2-5450-4A65-A8F7-FA08989C7149}" dt="2026-03-11T10:18:48.665" v="2215" actId="165"/>
          <ac:spMkLst>
            <pc:docMk/>
            <pc:sldMk cId="4115001162" sldId="304"/>
            <ac:spMk id="28" creationId="{E22E23AD-CC9B-C24A-EAD4-74BEB2A261D0}"/>
          </ac:spMkLst>
        </pc:spChg>
        <pc:spChg chg="mod">
          <ac:chgData name="Bruehlmann, Noel" userId="b9a2743c-8098-4e2e-a1f0-b3a2a0076be3" providerId="ADAL" clId="{F44A61B2-5450-4A65-A8F7-FA08989C7149}" dt="2026-03-11T09:44:18.499" v="616" actId="571"/>
          <ac:spMkLst>
            <pc:docMk/>
            <pc:sldMk cId="4115001162" sldId="304"/>
            <ac:spMk id="29" creationId="{4222C9E6-372D-B54C-AF00-D36655C258EB}"/>
          </ac:spMkLst>
        </pc:spChg>
        <pc:spChg chg="mod">
          <ac:chgData name="Bruehlmann, Noel" userId="b9a2743c-8098-4e2e-a1f0-b3a2a0076be3" providerId="ADAL" clId="{F44A61B2-5450-4A65-A8F7-FA08989C7149}" dt="2026-03-11T09:49:58.994" v="767" actId="164"/>
          <ac:spMkLst>
            <pc:docMk/>
            <pc:sldMk cId="4115001162" sldId="304"/>
            <ac:spMk id="31" creationId="{8A7B97FD-5DE5-467D-2B61-27DD0CE402E1}"/>
          </ac:spMkLst>
        </pc:spChg>
        <pc:spChg chg="add mod topLvl">
          <ac:chgData name="Bruehlmann, Noel" userId="b9a2743c-8098-4e2e-a1f0-b3a2a0076be3" providerId="ADAL" clId="{F44A61B2-5450-4A65-A8F7-FA08989C7149}" dt="2026-03-11T10:18:48.665" v="2215" actId="165"/>
          <ac:spMkLst>
            <pc:docMk/>
            <pc:sldMk cId="4115001162" sldId="304"/>
            <ac:spMk id="32" creationId="{4BA36BB7-7AC2-3DF0-116B-83E59892BF7B}"/>
          </ac:spMkLst>
        </pc:spChg>
        <pc:spChg chg="add mod">
          <ac:chgData name="Bruehlmann, Noel" userId="b9a2743c-8098-4e2e-a1f0-b3a2a0076be3" providerId="ADAL" clId="{F44A61B2-5450-4A65-A8F7-FA08989C7149}" dt="2026-03-11T16:33:46.213" v="3285" actId="207"/>
          <ac:spMkLst>
            <pc:docMk/>
            <pc:sldMk cId="4115001162" sldId="304"/>
            <ac:spMk id="36" creationId="{9B91B548-A5B6-3261-6C96-E6CED26DAEDD}"/>
          </ac:spMkLst>
        </pc:spChg>
        <pc:grpChg chg="mod">
          <ac:chgData name="Bruehlmann, Noel" userId="b9a2743c-8098-4e2e-a1f0-b3a2a0076be3" providerId="ADAL" clId="{F44A61B2-5450-4A65-A8F7-FA08989C7149}" dt="2026-03-11T09:49:58.994" v="767" actId="164"/>
          <ac:grpSpMkLst>
            <pc:docMk/>
            <pc:sldMk cId="4115001162" sldId="304"/>
            <ac:grpSpMk id="8" creationId="{14273005-5452-784A-5C80-A110917D67FA}"/>
          </ac:grpSpMkLst>
        </pc:grpChg>
        <pc:grpChg chg="mod">
          <ac:chgData name="Bruehlmann, Noel" userId="b9a2743c-8098-4e2e-a1f0-b3a2a0076be3" providerId="ADAL" clId="{F44A61B2-5450-4A65-A8F7-FA08989C7149}" dt="2026-03-11T09:50:02.027" v="768" actId="164"/>
          <ac:grpSpMkLst>
            <pc:docMk/>
            <pc:sldMk cId="4115001162" sldId="304"/>
            <ac:grpSpMk id="14" creationId="{363C0E34-8A6E-2CFD-5ECA-979AE3FE0620}"/>
          </ac:grpSpMkLst>
        </pc:grpChg>
        <pc:grpChg chg="add mod">
          <ac:chgData name="Bruehlmann, Noel" userId="b9a2743c-8098-4e2e-a1f0-b3a2a0076be3" providerId="ADAL" clId="{F44A61B2-5450-4A65-A8F7-FA08989C7149}" dt="2026-03-11T09:50:04.578" v="769" actId="164"/>
          <ac:grpSpMkLst>
            <pc:docMk/>
            <pc:sldMk cId="4115001162" sldId="304"/>
            <ac:grpSpMk id="21" creationId="{E8CDC19B-528A-C634-0B6B-4DE05A559259}"/>
          </ac:grpSpMkLst>
        </pc:grpChg>
        <pc:grpChg chg="mod topLvl">
          <ac:chgData name="Bruehlmann, Noel" userId="b9a2743c-8098-4e2e-a1f0-b3a2a0076be3" providerId="ADAL" clId="{F44A61B2-5450-4A65-A8F7-FA08989C7149}" dt="2026-03-11T10:18:48.665" v="2215" actId="165"/>
          <ac:grpSpMkLst>
            <pc:docMk/>
            <pc:sldMk cId="4115001162" sldId="304"/>
            <ac:grpSpMk id="26" creationId="{8C3B7076-7D53-D7AA-E01B-7D4BA681D94A}"/>
          </ac:grpSpMkLst>
        </pc:grpChg>
        <pc:grpChg chg="add mod">
          <ac:chgData name="Bruehlmann, Noel" userId="b9a2743c-8098-4e2e-a1f0-b3a2a0076be3" providerId="ADAL" clId="{F44A61B2-5450-4A65-A8F7-FA08989C7149}" dt="2026-03-11T09:49:58.994" v="767" actId="164"/>
          <ac:grpSpMkLst>
            <pc:docMk/>
            <pc:sldMk cId="4115001162" sldId="304"/>
            <ac:grpSpMk id="33" creationId="{EE615086-B8CC-E2DE-0BFD-28F473B363DF}"/>
          </ac:grpSpMkLst>
        </pc:grpChg>
        <pc:grpChg chg="add mod">
          <ac:chgData name="Bruehlmann, Noel" userId="b9a2743c-8098-4e2e-a1f0-b3a2a0076be3" providerId="ADAL" clId="{F44A61B2-5450-4A65-A8F7-FA08989C7149}" dt="2026-03-11T09:50:11.176" v="771" actId="408"/>
          <ac:grpSpMkLst>
            <pc:docMk/>
            <pc:sldMk cId="4115001162" sldId="304"/>
            <ac:grpSpMk id="34" creationId="{380742A8-D434-DCFD-503E-E13C168BFDFC}"/>
          </ac:grpSpMkLst>
        </pc:grpChg>
        <pc:grpChg chg="add mod">
          <ac:chgData name="Bruehlmann, Noel" userId="b9a2743c-8098-4e2e-a1f0-b3a2a0076be3" providerId="ADAL" clId="{F44A61B2-5450-4A65-A8F7-FA08989C7149}" dt="2026-03-11T09:50:11.176" v="771" actId="408"/>
          <ac:grpSpMkLst>
            <pc:docMk/>
            <pc:sldMk cId="4115001162" sldId="304"/>
            <ac:grpSpMk id="35" creationId="{67B44266-967F-B318-A944-A450275392EF}"/>
          </ac:grpSpMkLst>
        </pc:grpChg>
        <pc:picChg chg="add mod topLvl">
          <ac:chgData name="Bruehlmann, Noel" userId="b9a2743c-8098-4e2e-a1f0-b3a2a0076be3" providerId="ADAL" clId="{F44A61B2-5450-4A65-A8F7-FA08989C7149}" dt="2026-03-11T10:18:48.665" v="2215" actId="165"/>
          <ac:picMkLst>
            <pc:docMk/>
            <pc:sldMk cId="4115001162" sldId="304"/>
            <ac:picMk id="17" creationId="{924AA548-3DE6-3B34-2A80-A323C413826C}"/>
          </ac:picMkLst>
        </pc:picChg>
        <pc:picChg chg="mod">
          <ac:chgData name="Bruehlmann, Noel" userId="b9a2743c-8098-4e2e-a1f0-b3a2a0076be3" providerId="ADAL" clId="{F44A61B2-5450-4A65-A8F7-FA08989C7149}" dt="2026-03-11T09:50:04.578" v="769" actId="164"/>
          <ac:picMkLst>
            <pc:docMk/>
            <pc:sldMk cId="4115001162" sldId="304"/>
            <ac:picMk id="30" creationId="{9911DB4A-7C02-B2E2-36A3-A644EC65976A}"/>
          </ac:picMkLst>
        </pc:picChg>
      </pc:sldChg>
      <pc:sldChg chg="addSp delSp modSp mod">
        <pc:chgData name="Bruehlmann, Noel" userId="b9a2743c-8098-4e2e-a1f0-b3a2a0076be3" providerId="ADAL" clId="{F44A61B2-5450-4A65-A8F7-FA08989C7149}" dt="2026-03-11T10:24:55.418" v="2633" actId="14100"/>
        <pc:sldMkLst>
          <pc:docMk/>
          <pc:sldMk cId="2357756133" sldId="305"/>
        </pc:sldMkLst>
        <pc:spChg chg="mod">
          <ac:chgData name="Bruehlmann, Noel" userId="b9a2743c-8098-4e2e-a1f0-b3a2a0076be3" providerId="ADAL" clId="{F44A61B2-5450-4A65-A8F7-FA08989C7149}" dt="2026-03-11T09:57:51.206" v="1006" actId="299"/>
          <ac:spMkLst>
            <pc:docMk/>
            <pc:sldMk cId="2357756133" sldId="305"/>
            <ac:spMk id="2" creationId="{D99447B7-5979-54F2-10D0-E5E554FD9F46}"/>
          </ac:spMkLst>
        </pc:spChg>
        <pc:spChg chg="add mod">
          <ac:chgData name="Bruehlmann, Noel" userId="b9a2743c-8098-4e2e-a1f0-b3a2a0076be3" providerId="ADAL" clId="{F44A61B2-5450-4A65-A8F7-FA08989C7149}" dt="2026-03-11T09:57:42.762" v="961" actId="1036"/>
          <ac:spMkLst>
            <pc:docMk/>
            <pc:sldMk cId="2357756133" sldId="305"/>
            <ac:spMk id="7" creationId="{9EF55D44-1C81-278C-5A30-D23BEDFF47A5}"/>
          </ac:spMkLst>
        </pc:spChg>
        <pc:spChg chg="add mod">
          <ac:chgData name="Bruehlmann, Noel" userId="b9a2743c-8098-4e2e-a1f0-b3a2a0076be3" providerId="ADAL" clId="{F44A61B2-5450-4A65-A8F7-FA08989C7149}" dt="2026-03-11T09:57:42.762" v="961" actId="1036"/>
          <ac:spMkLst>
            <pc:docMk/>
            <pc:sldMk cId="2357756133" sldId="305"/>
            <ac:spMk id="8" creationId="{DA6A999B-1586-CF6C-C004-8816AAD212FB}"/>
          </ac:spMkLst>
        </pc:spChg>
        <pc:spChg chg="mod">
          <ac:chgData name="Bruehlmann, Noel" userId="b9a2743c-8098-4e2e-a1f0-b3a2a0076be3" providerId="ADAL" clId="{F44A61B2-5450-4A65-A8F7-FA08989C7149}" dt="2026-03-11T09:50:13.527" v="772"/>
          <ac:spMkLst>
            <pc:docMk/>
            <pc:sldMk cId="2357756133" sldId="305"/>
            <ac:spMk id="10" creationId="{67348E3E-5941-6147-918A-F892E3AACBD6}"/>
          </ac:spMkLst>
        </pc:spChg>
        <pc:spChg chg="mod">
          <ac:chgData name="Bruehlmann, Noel" userId="b9a2743c-8098-4e2e-a1f0-b3a2a0076be3" providerId="ADAL" clId="{F44A61B2-5450-4A65-A8F7-FA08989C7149}" dt="2026-03-11T09:50:13.527" v="772"/>
          <ac:spMkLst>
            <pc:docMk/>
            <pc:sldMk cId="2357756133" sldId="305"/>
            <ac:spMk id="11" creationId="{099D78C3-9B8A-5EE0-0C9D-332D984E1474}"/>
          </ac:spMkLst>
        </pc:spChg>
        <pc:spChg chg="mod">
          <ac:chgData name="Bruehlmann, Noel" userId="b9a2743c-8098-4e2e-a1f0-b3a2a0076be3" providerId="ADAL" clId="{F44A61B2-5450-4A65-A8F7-FA08989C7149}" dt="2026-03-11T09:50:27.561" v="779" actId="571"/>
          <ac:spMkLst>
            <pc:docMk/>
            <pc:sldMk cId="2357756133" sldId="305"/>
            <ac:spMk id="16" creationId="{569F4DE8-7CDC-7812-A1DB-16B877806258}"/>
          </ac:spMkLst>
        </pc:spChg>
        <pc:spChg chg="mod">
          <ac:chgData name="Bruehlmann, Noel" userId="b9a2743c-8098-4e2e-a1f0-b3a2a0076be3" providerId="ADAL" clId="{F44A61B2-5450-4A65-A8F7-FA08989C7149}" dt="2026-03-11T09:50:27.561" v="779" actId="571"/>
          <ac:spMkLst>
            <pc:docMk/>
            <pc:sldMk cId="2357756133" sldId="305"/>
            <ac:spMk id="17" creationId="{C515732E-35D5-AA50-F241-B0342092AFD7}"/>
          </ac:spMkLst>
        </pc:spChg>
        <pc:spChg chg="mod">
          <ac:chgData name="Bruehlmann, Noel" userId="b9a2743c-8098-4e2e-a1f0-b3a2a0076be3" providerId="ADAL" clId="{F44A61B2-5450-4A65-A8F7-FA08989C7149}" dt="2026-03-11T09:50:34.591" v="784" actId="571"/>
          <ac:spMkLst>
            <pc:docMk/>
            <pc:sldMk cId="2357756133" sldId="305"/>
            <ac:spMk id="21" creationId="{D1AE4E24-1BF4-1483-660F-C179110DB8F1}"/>
          </ac:spMkLst>
        </pc:spChg>
        <pc:spChg chg="mod">
          <ac:chgData name="Bruehlmann, Noel" userId="b9a2743c-8098-4e2e-a1f0-b3a2a0076be3" providerId="ADAL" clId="{F44A61B2-5450-4A65-A8F7-FA08989C7149}" dt="2026-03-11T09:50:34.591" v="784" actId="571"/>
          <ac:spMkLst>
            <pc:docMk/>
            <pc:sldMk cId="2357756133" sldId="305"/>
            <ac:spMk id="25" creationId="{CEE04C3A-9101-54C0-98CF-9BEF16A4744D}"/>
          </ac:spMkLst>
        </pc:spChg>
        <pc:spChg chg="mod">
          <ac:chgData name="Bruehlmann, Noel" userId="b9a2743c-8098-4e2e-a1f0-b3a2a0076be3" providerId="ADAL" clId="{F44A61B2-5450-4A65-A8F7-FA08989C7149}" dt="2026-03-11T09:50:34.591" v="784" actId="571"/>
          <ac:spMkLst>
            <pc:docMk/>
            <pc:sldMk cId="2357756133" sldId="305"/>
            <ac:spMk id="27" creationId="{E3A2DF12-0518-4F04-12F8-7AEB2E901DE2}"/>
          </ac:spMkLst>
        </pc:spChg>
        <pc:spChg chg="mod">
          <ac:chgData name="Bruehlmann, Noel" userId="b9a2743c-8098-4e2e-a1f0-b3a2a0076be3" providerId="ADAL" clId="{F44A61B2-5450-4A65-A8F7-FA08989C7149}" dt="2026-03-11T09:50:34.591" v="784" actId="571"/>
          <ac:spMkLst>
            <pc:docMk/>
            <pc:sldMk cId="2357756133" sldId="305"/>
            <ac:spMk id="28" creationId="{1EC459C7-02F0-94CE-E0CA-29BD26A29D55}"/>
          </ac:spMkLst>
        </pc:spChg>
        <pc:spChg chg="mod">
          <ac:chgData name="Bruehlmann, Noel" userId="b9a2743c-8098-4e2e-a1f0-b3a2a0076be3" providerId="ADAL" clId="{F44A61B2-5450-4A65-A8F7-FA08989C7149}" dt="2026-03-11T09:50:38.128" v="785" actId="571"/>
          <ac:spMkLst>
            <pc:docMk/>
            <pc:sldMk cId="2357756133" sldId="305"/>
            <ac:spMk id="30" creationId="{2531A2E3-BFA6-62E9-9938-96E3FD8AA1F4}"/>
          </ac:spMkLst>
        </pc:spChg>
        <pc:spChg chg="mod">
          <ac:chgData name="Bruehlmann, Noel" userId="b9a2743c-8098-4e2e-a1f0-b3a2a0076be3" providerId="ADAL" clId="{F44A61B2-5450-4A65-A8F7-FA08989C7149}" dt="2026-03-11T09:50:38.128" v="785" actId="571"/>
          <ac:spMkLst>
            <pc:docMk/>
            <pc:sldMk cId="2357756133" sldId="305"/>
            <ac:spMk id="31" creationId="{D3BE64AA-D4C0-C2E9-EECD-743C526D4381}"/>
          </ac:spMkLst>
        </pc:spChg>
        <pc:spChg chg="mod">
          <ac:chgData name="Bruehlmann, Noel" userId="b9a2743c-8098-4e2e-a1f0-b3a2a0076be3" providerId="ADAL" clId="{F44A61B2-5450-4A65-A8F7-FA08989C7149}" dt="2026-03-11T09:50:38.128" v="785" actId="571"/>
          <ac:spMkLst>
            <pc:docMk/>
            <pc:sldMk cId="2357756133" sldId="305"/>
            <ac:spMk id="33" creationId="{AC508DB7-DA91-6205-236E-E98913B3B4D5}"/>
          </ac:spMkLst>
        </pc:spChg>
        <pc:spChg chg="mod">
          <ac:chgData name="Bruehlmann, Noel" userId="b9a2743c-8098-4e2e-a1f0-b3a2a0076be3" providerId="ADAL" clId="{F44A61B2-5450-4A65-A8F7-FA08989C7149}" dt="2026-03-11T09:50:38.128" v="785" actId="571"/>
          <ac:spMkLst>
            <pc:docMk/>
            <pc:sldMk cId="2357756133" sldId="305"/>
            <ac:spMk id="34" creationId="{56C6BCAA-E488-12C4-6B16-B8242D54FCF1}"/>
          </ac:spMkLst>
        </pc:spChg>
        <pc:spChg chg="mod">
          <ac:chgData name="Bruehlmann, Noel" userId="b9a2743c-8098-4e2e-a1f0-b3a2a0076be3" providerId="ADAL" clId="{F44A61B2-5450-4A65-A8F7-FA08989C7149}" dt="2026-03-11T09:50:42.393" v="786" actId="571"/>
          <ac:spMkLst>
            <pc:docMk/>
            <pc:sldMk cId="2357756133" sldId="305"/>
            <ac:spMk id="36" creationId="{106172E7-917B-EFC4-B48D-3390A00CABBD}"/>
          </ac:spMkLst>
        </pc:spChg>
        <pc:spChg chg="mod">
          <ac:chgData name="Bruehlmann, Noel" userId="b9a2743c-8098-4e2e-a1f0-b3a2a0076be3" providerId="ADAL" clId="{F44A61B2-5450-4A65-A8F7-FA08989C7149}" dt="2026-03-11T09:50:42.393" v="786" actId="571"/>
          <ac:spMkLst>
            <pc:docMk/>
            <pc:sldMk cId="2357756133" sldId="305"/>
            <ac:spMk id="37" creationId="{B8ADB581-1506-A98F-D65D-A990E8EF50C8}"/>
          </ac:spMkLst>
        </pc:spChg>
        <pc:spChg chg="add mod">
          <ac:chgData name="Bruehlmann, Noel" userId="b9a2743c-8098-4e2e-a1f0-b3a2a0076be3" providerId="ADAL" clId="{F44A61B2-5450-4A65-A8F7-FA08989C7149}" dt="2026-03-11T09:57:42.762" v="961" actId="1036"/>
          <ac:spMkLst>
            <pc:docMk/>
            <pc:sldMk cId="2357756133" sldId="305"/>
            <ac:spMk id="40" creationId="{11CF4A60-10FE-19A0-E06A-FAE4195DA194}"/>
          </ac:spMkLst>
        </pc:spChg>
        <pc:spChg chg="add mod">
          <ac:chgData name="Bruehlmann, Noel" userId="b9a2743c-8098-4e2e-a1f0-b3a2a0076be3" providerId="ADAL" clId="{F44A61B2-5450-4A65-A8F7-FA08989C7149}" dt="2026-03-11T09:57:42.762" v="961" actId="1036"/>
          <ac:spMkLst>
            <pc:docMk/>
            <pc:sldMk cId="2357756133" sldId="305"/>
            <ac:spMk id="41" creationId="{8D3CE628-785E-1D38-A835-10C3C77065D3}"/>
          </ac:spMkLst>
        </pc:spChg>
        <pc:spChg chg="add mod">
          <ac:chgData name="Bruehlmann, Noel" userId="b9a2743c-8098-4e2e-a1f0-b3a2a0076be3" providerId="ADAL" clId="{F44A61B2-5450-4A65-A8F7-FA08989C7149}" dt="2026-03-11T10:24:55.418" v="2633" actId="14100"/>
          <ac:spMkLst>
            <pc:docMk/>
            <pc:sldMk cId="2357756133" sldId="305"/>
            <ac:spMk id="42" creationId="{35951038-0FA0-A661-9F9E-71E24DB768F8}"/>
          </ac:spMkLst>
        </pc:spChg>
        <pc:spChg chg="add mod">
          <ac:chgData name="Bruehlmann, Noel" userId="b9a2743c-8098-4e2e-a1f0-b3a2a0076be3" providerId="ADAL" clId="{F44A61B2-5450-4A65-A8F7-FA08989C7149}" dt="2026-03-11T09:57:42.762" v="961" actId="1036"/>
          <ac:spMkLst>
            <pc:docMk/>
            <pc:sldMk cId="2357756133" sldId="305"/>
            <ac:spMk id="43" creationId="{03DB0BA0-8461-4D67-68F5-D93B9F5F9F6F}"/>
          </ac:spMkLst>
        </pc:spChg>
        <pc:spChg chg="add mod">
          <ac:chgData name="Bruehlmann, Noel" userId="b9a2743c-8098-4e2e-a1f0-b3a2a0076be3" providerId="ADAL" clId="{F44A61B2-5450-4A65-A8F7-FA08989C7149}" dt="2026-03-11T09:57:42.762" v="961" actId="1036"/>
          <ac:spMkLst>
            <pc:docMk/>
            <pc:sldMk cId="2357756133" sldId="305"/>
            <ac:spMk id="44" creationId="{9CFA967E-4659-78BE-1AD7-452A4AC9E8E1}"/>
          </ac:spMkLst>
        </pc:spChg>
        <pc:spChg chg="add mod">
          <ac:chgData name="Bruehlmann, Noel" userId="b9a2743c-8098-4e2e-a1f0-b3a2a0076be3" providerId="ADAL" clId="{F44A61B2-5450-4A65-A8F7-FA08989C7149}" dt="2026-03-11T09:58:45.473" v="1013" actId="20577"/>
          <ac:spMkLst>
            <pc:docMk/>
            <pc:sldMk cId="2357756133" sldId="305"/>
            <ac:spMk id="45" creationId="{9735B96F-801B-3B3B-0CB9-FDB4BFE07698}"/>
          </ac:spMkLst>
        </pc:spChg>
        <pc:spChg chg="add mod">
          <ac:chgData name="Bruehlmann, Noel" userId="b9a2743c-8098-4e2e-a1f0-b3a2a0076be3" providerId="ADAL" clId="{F44A61B2-5450-4A65-A8F7-FA08989C7149}" dt="2026-03-11T09:57:42.762" v="961" actId="1036"/>
          <ac:spMkLst>
            <pc:docMk/>
            <pc:sldMk cId="2357756133" sldId="305"/>
            <ac:spMk id="46" creationId="{58A4C155-EDD2-38AA-396E-5A32B94BC59C}"/>
          </ac:spMkLst>
        </pc:spChg>
        <pc:spChg chg="add mod">
          <ac:chgData name="Bruehlmann, Noel" userId="b9a2743c-8098-4e2e-a1f0-b3a2a0076be3" providerId="ADAL" clId="{F44A61B2-5450-4A65-A8F7-FA08989C7149}" dt="2026-03-11T09:58:33.895" v="1012" actId="207"/>
          <ac:spMkLst>
            <pc:docMk/>
            <pc:sldMk cId="2357756133" sldId="305"/>
            <ac:spMk id="55" creationId="{9914BA2D-0144-084D-BBF2-3BF1C2F7FC0A}"/>
          </ac:spMkLst>
        </pc:spChg>
        <pc:spChg chg="add mod">
          <ac:chgData name="Bruehlmann, Noel" userId="b9a2743c-8098-4e2e-a1f0-b3a2a0076be3" providerId="ADAL" clId="{F44A61B2-5450-4A65-A8F7-FA08989C7149}" dt="2026-03-11T09:59:26.310" v="1111" actId="1076"/>
          <ac:spMkLst>
            <pc:docMk/>
            <pc:sldMk cId="2357756133" sldId="305"/>
            <ac:spMk id="56" creationId="{A1C0254D-581A-2010-949C-990F6F3364B7}"/>
          </ac:spMkLst>
        </pc:spChg>
        <pc:grpChg chg="add mod">
          <ac:chgData name="Bruehlmann, Noel" userId="b9a2743c-8098-4e2e-a1f0-b3a2a0076be3" providerId="ADAL" clId="{F44A61B2-5450-4A65-A8F7-FA08989C7149}" dt="2026-03-11T09:51:18.508" v="803" actId="164"/>
          <ac:grpSpMkLst>
            <pc:docMk/>
            <pc:sldMk cId="2357756133" sldId="305"/>
            <ac:grpSpMk id="9" creationId="{1D28976E-97EA-B185-F054-9DC9EE42DFA3}"/>
          </ac:grpSpMkLst>
        </pc:grpChg>
        <pc:grpChg chg="add mod">
          <ac:chgData name="Bruehlmann, Noel" userId="b9a2743c-8098-4e2e-a1f0-b3a2a0076be3" providerId="ADAL" clId="{F44A61B2-5450-4A65-A8F7-FA08989C7149}" dt="2026-03-11T09:51:18.508" v="803" actId="164"/>
          <ac:grpSpMkLst>
            <pc:docMk/>
            <pc:sldMk cId="2357756133" sldId="305"/>
            <ac:grpSpMk id="14" creationId="{7FAE9D94-65E6-527F-A209-CF5629789E8A}"/>
          </ac:grpSpMkLst>
        </pc:grpChg>
        <pc:grpChg chg="add mod">
          <ac:chgData name="Bruehlmann, Noel" userId="b9a2743c-8098-4e2e-a1f0-b3a2a0076be3" providerId="ADAL" clId="{F44A61B2-5450-4A65-A8F7-FA08989C7149}" dt="2026-03-11T09:51:18.508" v="803" actId="164"/>
          <ac:grpSpMkLst>
            <pc:docMk/>
            <pc:sldMk cId="2357756133" sldId="305"/>
            <ac:grpSpMk id="19" creationId="{695D38C1-AE45-279B-B731-B3B042680C0B}"/>
          </ac:grpSpMkLst>
        </pc:grpChg>
        <pc:grpChg chg="add mod">
          <ac:chgData name="Bruehlmann, Noel" userId="b9a2743c-8098-4e2e-a1f0-b3a2a0076be3" providerId="ADAL" clId="{F44A61B2-5450-4A65-A8F7-FA08989C7149}" dt="2026-03-11T09:51:18.508" v="803" actId="164"/>
          <ac:grpSpMkLst>
            <pc:docMk/>
            <pc:sldMk cId="2357756133" sldId="305"/>
            <ac:grpSpMk id="26" creationId="{D36EC475-59ED-9586-9CC6-E27C1947F0CA}"/>
          </ac:grpSpMkLst>
        </pc:grpChg>
        <pc:grpChg chg="add mod">
          <ac:chgData name="Bruehlmann, Noel" userId="b9a2743c-8098-4e2e-a1f0-b3a2a0076be3" providerId="ADAL" clId="{F44A61B2-5450-4A65-A8F7-FA08989C7149}" dt="2026-03-11T09:51:18.508" v="803" actId="164"/>
          <ac:grpSpMkLst>
            <pc:docMk/>
            <pc:sldMk cId="2357756133" sldId="305"/>
            <ac:grpSpMk id="29" creationId="{45551C7B-EDA3-7E36-3E5E-E4CDA40C9291}"/>
          </ac:grpSpMkLst>
        </pc:grpChg>
        <pc:grpChg chg="add mod">
          <ac:chgData name="Bruehlmann, Noel" userId="b9a2743c-8098-4e2e-a1f0-b3a2a0076be3" providerId="ADAL" clId="{F44A61B2-5450-4A65-A8F7-FA08989C7149}" dt="2026-03-11T09:51:18.508" v="803" actId="164"/>
          <ac:grpSpMkLst>
            <pc:docMk/>
            <pc:sldMk cId="2357756133" sldId="305"/>
            <ac:grpSpMk id="32" creationId="{4A406823-57DA-ACB5-0C06-2FB9B1BCF7B7}"/>
          </ac:grpSpMkLst>
        </pc:grpChg>
        <pc:grpChg chg="add mod">
          <ac:chgData name="Bruehlmann, Noel" userId="b9a2743c-8098-4e2e-a1f0-b3a2a0076be3" providerId="ADAL" clId="{F44A61B2-5450-4A65-A8F7-FA08989C7149}" dt="2026-03-11T09:51:18.508" v="803" actId="164"/>
          <ac:grpSpMkLst>
            <pc:docMk/>
            <pc:sldMk cId="2357756133" sldId="305"/>
            <ac:grpSpMk id="35" creationId="{7AC27E46-1FFB-E359-FD0F-FD92AA899A31}"/>
          </ac:grpSpMkLst>
        </pc:grpChg>
        <pc:grpChg chg="add mod">
          <ac:chgData name="Bruehlmann, Noel" userId="b9a2743c-8098-4e2e-a1f0-b3a2a0076be3" providerId="ADAL" clId="{F44A61B2-5450-4A65-A8F7-FA08989C7149}" dt="2026-03-11T09:51:23.458" v="804" actId="408"/>
          <ac:grpSpMkLst>
            <pc:docMk/>
            <pc:sldMk cId="2357756133" sldId="305"/>
            <ac:grpSpMk id="38" creationId="{10AE170E-717D-614C-65A1-385BA00AD859}"/>
          </ac:grpSpMkLst>
        </pc:grpChg>
        <pc:picChg chg="add mod">
          <ac:chgData name="Bruehlmann, Noel" userId="b9a2743c-8098-4e2e-a1f0-b3a2a0076be3" providerId="ADAL" clId="{F44A61B2-5450-4A65-A8F7-FA08989C7149}" dt="2026-03-11T09:57:42.762" v="961" actId="1036"/>
          <ac:picMkLst>
            <pc:docMk/>
            <pc:sldMk cId="2357756133" sldId="305"/>
            <ac:picMk id="6" creationId="{6CBEA567-BDDE-43B0-6181-BEBCD0511234}"/>
          </ac:picMkLst>
        </pc:picChg>
      </pc:sldChg>
      <pc:sldChg chg="addSp modSp mod">
        <pc:chgData name="Bruehlmann, Noel" userId="b9a2743c-8098-4e2e-a1f0-b3a2a0076be3" providerId="ADAL" clId="{F44A61B2-5450-4A65-A8F7-FA08989C7149}" dt="2026-03-11T10:29:12.398" v="3142" actId="208"/>
        <pc:sldMkLst>
          <pc:docMk/>
          <pc:sldMk cId="290294973" sldId="307"/>
        </pc:sldMkLst>
        <pc:spChg chg="add mod">
          <ac:chgData name="Bruehlmann, Noel" userId="b9a2743c-8098-4e2e-a1f0-b3a2a0076be3" providerId="ADAL" clId="{F44A61B2-5450-4A65-A8F7-FA08989C7149}" dt="2026-03-11T10:28:40.913" v="3061" actId="14100"/>
          <ac:spMkLst>
            <pc:docMk/>
            <pc:sldMk cId="290294973" sldId="307"/>
            <ac:spMk id="6" creationId="{4090AB51-34C0-1856-C931-386C8FBE1FCF}"/>
          </ac:spMkLst>
        </pc:spChg>
        <pc:spChg chg="add mod">
          <ac:chgData name="Bruehlmann, Noel" userId="b9a2743c-8098-4e2e-a1f0-b3a2a0076be3" providerId="ADAL" clId="{F44A61B2-5450-4A65-A8F7-FA08989C7149}" dt="2026-03-11T10:28:49.687" v="3083" actId="1037"/>
          <ac:spMkLst>
            <pc:docMk/>
            <pc:sldMk cId="290294973" sldId="307"/>
            <ac:spMk id="8" creationId="{04591DB1-9876-9FA4-A868-18DC1A7C36EF}"/>
          </ac:spMkLst>
        </pc:spChg>
        <pc:spChg chg="add mod">
          <ac:chgData name="Bruehlmann, Noel" userId="b9a2743c-8098-4e2e-a1f0-b3a2a0076be3" providerId="ADAL" clId="{F44A61B2-5450-4A65-A8F7-FA08989C7149}" dt="2026-03-11T10:29:12.398" v="3142" actId="208"/>
          <ac:spMkLst>
            <pc:docMk/>
            <pc:sldMk cId="290294973" sldId="307"/>
            <ac:spMk id="10" creationId="{C3546FCB-8AFA-3951-2F84-979C80070FB3}"/>
          </ac:spMkLst>
        </pc:spChg>
        <pc:spChg chg="add mod">
          <ac:chgData name="Bruehlmann, Noel" userId="b9a2743c-8098-4e2e-a1f0-b3a2a0076be3" providerId="ADAL" clId="{F44A61B2-5450-4A65-A8F7-FA08989C7149}" dt="2026-03-11T10:29:07.272" v="3141" actId="207"/>
          <ac:spMkLst>
            <pc:docMk/>
            <pc:sldMk cId="290294973" sldId="307"/>
            <ac:spMk id="17" creationId="{38B5F28E-AF1D-2AAC-687B-75C27255DBF5}"/>
          </ac:spMkLst>
        </pc:spChg>
      </pc:sldChg>
      <pc:sldChg chg="modSp mod">
        <pc:chgData name="Bruehlmann, Noel" userId="b9a2743c-8098-4e2e-a1f0-b3a2a0076be3" providerId="ADAL" clId="{F44A61B2-5450-4A65-A8F7-FA08989C7149}" dt="2026-03-11T17:26:45.371" v="4460" actId="20577"/>
        <pc:sldMkLst>
          <pc:docMk/>
          <pc:sldMk cId="4197039381" sldId="309"/>
        </pc:sldMkLst>
        <pc:spChg chg="mod">
          <ac:chgData name="Bruehlmann, Noel" userId="b9a2743c-8098-4e2e-a1f0-b3a2a0076be3" providerId="ADAL" clId="{F44A61B2-5450-4A65-A8F7-FA08989C7149}" dt="2026-03-11T17:26:45.371" v="4460" actId="20577"/>
          <ac:spMkLst>
            <pc:docMk/>
            <pc:sldMk cId="4197039381" sldId="309"/>
            <ac:spMk id="85" creationId="{3EB5C026-6A78-821E-7015-5E5F3C9F5986}"/>
          </ac:spMkLst>
        </pc:spChg>
      </pc:sldChg>
      <pc:sldChg chg="addSp delSp modSp add mod">
        <pc:chgData name="Bruehlmann, Noel" userId="b9a2743c-8098-4e2e-a1f0-b3a2a0076be3" providerId="ADAL" clId="{F44A61B2-5450-4A65-A8F7-FA08989C7149}" dt="2026-03-11T10:19:02.272" v="2219" actId="478"/>
        <pc:sldMkLst>
          <pc:docMk/>
          <pc:sldMk cId="1455948623" sldId="310"/>
        </pc:sldMkLst>
        <pc:spChg chg="mod">
          <ac:chgData name="Bruehlmann, Noel" userId="b9a2743c-8098-4e2e-a1f0-b3a2a0076be3" providerId="ADAL" clId="{F44A61B2-5450-4A65-A8F7-FA08989C7149}" dt="2026-03-11T10:00:56.600" v="1328" actId="299"/>
          <ac:spMkLst>
            <pc:docMk/>
            <pc:sldMk cId="1455948623" sldId="310"/>
            <ac:spMk id="2" creationId="{094D70A3-5757-E87F-A557-F6242A34DDA8}"/>
          </ac:spMkLst>
        </pc:spChg>
        <pc:spChg chg="mod">
          <ac:chgData name="Bruehlmann, Noel" userId="b9a2743c-8098-4e2e-a1f0-b3a2a0076be3" providerId="ADAL" clId="{F44A61B2-5450-4A65-A8F7-FA08989C7149}" dt="2026-03-11T10:02:38.253" v="1400" actId="20577"/>
          <ac:spMkLst>
            <pc:docMk/>
            <pc:sldMk cId="1455948623" sldId="310"/>
            <ac:spMk id="12" creationId="{BC6878DA-9672-2942-ED40-781C70FAEA2C}"/>
          </ac:spMkLst>
        </pc:spChg>
        <pc:spChg chg="mod">
          <ac:chgData name="Bruehlmann, Noel" userId="b9a2743c-8098-4e2e-a1f0-b3a2a0076be3" providerId="ADAL" clId="{F44A61B2-5450-4A65-A8F7-FA08989C7149}" dt="2026-03-11T10:05:11.063" v="1551" actId="20577"/>
          <ac:spMkLst>
            <pc:docMk/>
            <pc:sldMk cId="1455948623" sldId="310"/>
            <ac:spMk id="49" creationId="{99F0823E-57BF-2BB5-9945-D3129014CB75}"/>
          </ac:spMkLst>
        </pc:spChg>
        <pc:spChg chg="add del mod">
          <ac:chgData name="Bruehlmann, Noel" userId="b9a2743c-8098-4e2e-a1f0-b3a2a0076be3" providerId="ADAL" clId="{F44A61B2-5450-4A65-A8F7-FA08989C7149}" dt="2026-03-11T10:14:06.701" v="1947" actId="20577"/>
          <ac:spMkLst>
            <pc:docMk/>
            <pc:sldMk cId="1455948623" sldId="310"/>
            <ac:spMk id="54" creationId="{478FBA42-5697-56CB-F9E4-5DDB3D9605E1}"/>
          </ac:spMkLst>
        </pc:spChg>
        <pc:spChg chg="mod">
          <ac:chgData name="Bruehlmann, Noel" userId="b9a2743c-8098-4e2e-a1f0-b3a2a0076be3" providerId="ADAL" clId="{F44A61B2-5450-4A65-A8F7-FA08989C7149}" dt="2026-03-11T10:02:52.085" v="1456" actId="20577"/>
          <ac:spMkLst>
            <pc:docMk/>
            <pc:sldMk cId="1455948623" sldId="310"/>
            <ac:spMk id="74" creationId="{3FE8E408-EDAC-CE21-FE97-E5CB8795F483}"/>
          </ac:spMkLst>
        </pc:spChg>
        <pc:spChg chg="mod">
          <ac:chgData name="Bruehlmann, Noel" userId="b9a2743c-8098-4e2e-a1f0-b3a2a0076be3" providerId="ADAL" clId="{F44A61B2-5450-4A65-A8F7-FA08989C7149}" dt="2026-03-11T10:02:55.837" v="1460" actId="20577"/>
          <ac:spMkLst>
            <pc:docMk/>
            <pc:sldMk cId="1455948623" sldId="310"/>
            <ac:spMk id="76" creationId="{B987DD09-F19B-FC47-6CF2-C8A856445784}"/>
          </ac:spMkLst>
        </pc:spChg>
        <pc:spChg chg="mod">
          <ac:chgData name="Bruehlmann, Noel" userId="b9a2743c-8098-4e2e-a1f0-b3a2a0076be3" providerId="ADAL" clId="{F44A61B2-5450-4A65-A8F7-FA08989C7149}" dt="2026-03-11T10:03:06.776" v="1477" actId="20577"/>
          <ac:spMkLst>
            <pc:docMk/>
            <pc:sldMk cId="1455948623" sldId="310"/>
            <ac:spMk id="78" creationId="{74444803-3176-5C30-7FC4-77D1F528644F}"/>
          </ac:spMkLst>
        </pc:spChg>
        <pc:spChg chg="mod">
          <ac:chgData name="Bruehlmann, Noel" userId="b9a2743c-8098-4e2e-a1f0-b3a2a0076be3" providerId="ADAL" clId="{F44A61B2-5450-4A65-A8F7-FA08989C7149}" dt="2026-03-11T10:02:10.392" v="1331"/>
          <ac:spMkLst>
            <pc:docMk/>
            <pc:sldMk cId="1455948623" sldId="310"/>
            <ac:spMk id="80" creationId="{205409A5-C8AE-BCFB-9636-F032DCE02851}"/>
          </ac:spMkLst>
        </pc:spChg>
        <pc:spChg chg="mod">
          <ac:chgData name="Bruehlmann, Noel" userId="b9a2743c-8098-4e2e-a1f0-b3a2a0076be3" providerId="ADAL" clId="{F44A61B2-5450-4A65-A8F7-FA08989C7149}" dt="2026-03-11T10:05:06.215" v="1540" actId="20577"/>
          <ac:spMkLst>
            <pc:docMk/>
            <pc:sldMk cId="1455948623" sldId="310"/>
            <ac:spMk id="81" creationId="{3EFD206A-1B0E-7E3B-0A99-C6C0449C80CC}"/>
          </ac:spMkLst>
        </pc:spChg>
        <pc:spChg chg="mod">
          <ac:chgData name="Bruehlmann, Noel" userId="b9a2743c-8098-4e2e-a1f0-b3a2a0076be3" providerId="ADAL" clId="{F44A61B2-5450-4A65-A8F7-FA08989C7149}" dt="2026-03-11T10:05:17.621" v="1555" actId="20577"/>
          <ac:spMkLst>
            <pc:docMk/>
            <pc:sldMk cId="1455948623" sldId="310"/>
            <ac:spMk id="82" creationId="{66DC671B-32CB-B2DD-3CBC-333104421B7F}"/>
          </ac:spMkLst>
        </pc:spChg>
        <pc:spChg chg="mod">
          <ac:chgData name="Bruehlmann, Noel" userId="b9a2743c-8098-4e2e-a1f0-b3a2a0076be3" providerId="ADAL" clId="{F44A61B2-5450-4A65-A8F7-FA08989C7149}" dt="2026-03-11T10:04:57.413" v="1495" actId="20577"/>
          <ac:spMkLst>
            <pc:docMk/>
            <pc:sldMk cId="1455948623" sldId="310"/>
            <ac:spMk id="83" creationId="{A7D7B0B1-6117-5E91-12E5-AF6D24E01533}"/>
          </ac:spMkLst>
        </pc:spChg>
        <pc:spChg chg="mod">
          <ac:chgData name="Bruehlmann, Noel" userId="b9a2743c-8098-4e2e-a1f0-b3a2a0076be3" providerId="ADAL" clId="{F44A61B2-5450-4A65-A8F7-FA08989C7149}" dt="2026-03-11T10:07:00.025" v="1561" actId="20577"/>
          <ac:spMkLst>
            <pc:docMk/>
            <pc:sldMk cId="1455948623" sldId="310"/>
            <ac:spMk id="84" creationId="{B1DA8392-3494-9D79-2737-66C7A3DBB498}"/>
          </ac:spMkLst>
        </pc:spChg>
        <pc:spChg chg="add del mod">
          <ac:chgData name="Bruehlmann, Noel" userId="b9a2743c-8098-4e2e-a1f0-b3a2a0076be3" providerId="ADAL" clId="{F44A61B2-5450-4A65-A8F7-FA08989C7149}" dt="2026-03-11T10:14:20.269" v="2015" actId="20577"/>
          <ac:spMkLst>
            <pc:docMk/>
            <pc:sldMk cId="1455948623" sldId="310"/>
            <ac:spMk id="85" creationId="{7EE24BEE-006C-B578-17FE-6A52F074E235}"/>
          </ac:spMkLst>
        </pc:spChg>
        <pc:spChg chg="mod">
          <ac:chgData name="Bruehlmann, Noel" userId="b9a2743c-8098-4e2e-a1f0-b3a2a0076be3" providerId="ADAL" clId="{F44A61B2-5450-4A65-A8F7-FA08989C7149}" dt="2026-03-11T10:14:23.447" v="2019" actId="20577"/>
          <ac:spMkLst>
            <pc:docMk/>
            <pc:sldMk cId="1455948623" sldId="310"/>
            <ac:spMk id="86" creationId="{0ECA360D-0BD5-A24F-88C0-CDB5F160146C}"/>
          </ac:spMkLst>
        </pc:spChg>
        <pc:spChg chg="add del mod">
          <ac:chgData name="Bruehlmann, Noel" userId="b9a2743c-8098-4e2e-a1f0-b3a2a0076be3" providerId="ADAL" clId="{F44A61B2-5450-4A65-A8F7-FA08989C7149}" dt="2026-03-11T10:14:36.810" v="2063" actId="20577"/>
          <ac:spMkLst>
            <pc:docMk/>
            <pc:sldMk cId="1455948623" sldId="310"/>
            <ac:spMk id="87" creationId="{EE7867A1-97A5-3467-3FDC-7FA5507097FC}"/>
          </ac:spMkLst>
        </pc:spChg>
        <pc:spChg chg="add del mod">
          <ac:chgData name="Bruehlmann, Noel" userId="b9a2743c-8098-4e2e-a1f0-b3a2a0076be3" providerId="ADAL" clId="{F44A61B2-5450-4A65-A8F7-FA08989C7149}" dt="2026-03-11T10:18:02.305" v="2211" actId="20577"/>
          <ac:spMkLst>
            <pc:docMk/>
            <pc:sldMk cId="1455948623" sldId="310"/>
            <ac:spMk id="88" creationId="{F966DCFA-A1E5-B24C-0DAF-DCFDBC76F916}"/>
          </ac:spMkLst>
        </pc:spChg>
        <pc:spChg chg="mod">
          <ac:chgData name="Bruehlmann, Noel" userId="b9a2743c-8098-4e2e-a1f0-b3a2a0076be3" providerId="ADAL" clId="{F44A61B2-5450-4A65-A8F7-FA08989C7149}" dt="2026-03-11T10:02:23.611" v="1388" actId="20577"/>
          <ac:spMkLst>
            <pc:docMk/>
            <pc:sldMk cId="1455948623" sldId="310"/>
            <ac:spMk id="93" creationId="{902E6BFD-BC1D-1FB9-F1FA-2138F12D75BB}"/>
          </ac:spMkLst>
        </pc:spChg>
        <pc:spChg chg="mod">
          <ac:chgData name="Bruehlmann, Noel" userId="b9a2743c-8098-4e2e-a1f0-b3a2a0076be3" providerId="ADAL" clId="{F44A61B2-5450-4A65-A8F7-FA08989C7149}" dt="2026-03-11T10:13:23.289" v="1934" actId="20577"/>
          <ac:spMkLst>
            <pc:docMk/>
            <pc:sldMk cId="1455948623" sldId="310"/>
            <ac:spMk id="94" creationId="{55320D9D-FF62-4D5B-588E-8F2A556EC388}"/>
          </ac:spMkLst>
        </pc:spChg>
        <pc:spChg chg="add del mod">
          <ac:chgData name="Bruehlmann, Noel" userId="b9a2743c-8098-4e2e-a1f0-b3a2a0076be3" providerId="ADAL" clId="{F44A61B2-5450-4A65-A8F7-FA08989C7149}" dt="2026-03-11T10:18:28.480" v="2213" actId="20577"/>
          <ac:spMkLst>
            <pc:docMk/>
            <pc:sldMk cId="1455948623" sldId="310"/>
            <ac:spMk id="95" creationId="{08B96789-C9F2-14D2-6BEB-2FD2256E25B8}"/>
          </ac:spMkLst>
        </pc:spChg>
      </pc:sldChg>
      <pc:sldChg chg="addSp delSp modSp add mod">
        <pc:chgData name="Bruehlmann, Noel" userId="b9a2743c-8098-4e2e-a1f0-b3a2a0076be3" providerId="ADAL" clId="{F44A61B2-5450-4A65-A8F7-FA08989C7149}" dt="2026-03-11T10:27:02.411" v="2999" actId="11529"/>
        <pc:sldMkLst>
          <pc:docMk/>
          <pc:sldMk cId="688931359" sldId="311"/>
        </pc:sldMkLst>
        <pc:spChg chg="mod ord">
          <ac:chgData name="Bruehlmann, Noel" userId="b9a2743c-8098-4e2e-a1f0-b3a2a0076be3" providerId="ADAL" clId="{F44A61B2-5450-4A65-A8F7-FA08989C7149}" dt="2026-03-11T10:24:20.004" v="2613" actId="299"/>
          <ac:spMkLst>
            <pc:docMk/>
            <pc:sldMk cId="688931359" sldId="311"/>
            <ac:spMk id="2" creationId="{11E6F778-7DA4-6529-10C2-5418F1FBAEE9}"/>
          </ac:spMkLst>
        </pc:spChg>
        <pc:spChg chg="mod ord">
          <ac:chgData name="Bruehlmann, Noel" userId="b9a2743c-8098-4e2e-a1f0-b3a2a0076be3" providerId="ADAL" clId="{F44A61B2-5450-4A65-A8F7-FA08989C7149}" dt="2026-03-11T10:20:35.685" v="2432"/>
          <ac:spMkLst>
            <pc:docMk/>
            <pc:sldMk cId="688931359" sldId="311"/>
            <ac:spMk id="3" creationId="{A5816561-3C2C-4F91-F655-A06FC91101D4}"/>
          </ac:spMkLst>
        </pc:spChg>
        <pc:spChg chg="add mod ord">
          <ac:chgData name="Bruehlmann, Noel" userId="b9a2743c-8098-4e2e-a1f0-b3a2a0076be3" providerId="ADAL" clId="{F44A61B2-5450-4A65-A8F7-FA08989C7149}" dt="2026-03-11T10:20:43.780" v="2465" actId="12789"/>
          <ac:spMkLst>
            <pc:docMk/>
            <pc:sldMk cId="688931359" sldId="311"/>
            <ac:spMk id="5" creationId="{1C61DE8B-E794-D593-1C3C-8017124A6F30}"/>
          </ac:spMkLst>
        </pc:spChg>
        <pc:spChg chg="add mod ord">
          <ac:chgData name="Bruehlmann, Noel" userId="b9a2743c-8098-4e2e-a1f0-b3a2a0076be3" providerId="ADAL" clId="{F44A61B2-5450-4A65-A8F7-FA08989C7149}" dt="2026-03-11T10:20:35.686" v="2436"/>
          <ac:spMkLst>
            <pc:docMk/>
            <pc:sldMk cId="688931359" sldId="311"/>
            <ac:spMk id="12" creationId="{0F9FBB00-0CEA-AE50-D542-0B29A733AA13}"/>
          </ac:spMkLst>
        </pc:spChg>
        <pc:spChg chg="add mod ord">
          <ac:chgData name="Bruehlmann, Noel" userId="b9a2743c-8098-4e2e-a1f0-b3a2a0076be3" providerId="ADAL" clId="{F44A61B2-5450-4A65-A8F7-FA08989C7149}" dt="2026-03-11T10:20:35.686" v="2438"/>
          <ac:spMkLst>
            <pc:docMk/>
            <pc:sldMk cId="688931359" sldId="311"/>
            <ac:spMk id="13" creationId="{DF5CEC9B-B187-542F-0D07-959456EA4BB3}"/>
          </ac:spMkLst>
        </pc:spChg>
        <pc:spChg chg="add mod ord">
          <ac:chgData name="Bruehlmann, Noel" userId="b9a2743c-8098-4e2e-a1f0-b3a2a0076be3" providerId="ADAL" clId="{F44A61B2-5450-4A65-A8F7-FA08989C7149}" dt="2026-03-11T10:20:35.686" v="2440"/>
          <ac:spMkLst>
            <pc:docMk/>
            <pc:sldMk cId="688931359" sldId="311"/>
            <ac:spMk id="15" creationId="{817FB8BF-2C96-6735-7268-48CB9C333E5A}"/>
          </ac:spMkLst>
        </pc:spChg>
        <pc:spChg chg="add mod ord">
          <ac:chgData name="Bruehlmann, Noel" userId="b9a2743c-8098-4e2e-a1f0-b3a2a0076be3" providerId="ADAL" clId="{F44A61B2-5450-4A65-A8F7-FA08989C7149}" dt="2026-03-11T10:22:36.957" v="2515" actId="12"/>
          <ac:spMkLst>
            <pc:docMk/>
            <pc:sldMk cId="688931359" sldId="311"/>
            <ac:spMk id="18" creationId="{2A488F52-6303-D6B2-E497-3ABD07CA21D5}"/>
          </ac:spMkLst>
        </pc:spChg>
        <pc:spChg chg="add mod ord">
          <ac:chgData name="Bruehlmann, Noel" userId="b9a2743c-8098-4e2e-a1f0-b3a2a0076be3" providerId="ADAL" clId="{F44A61B2-5450-4A65-A8F7-FA08989C7149}" dt="2026-03-11T10:22:36.957" v="2515" actId="12"/>
          <ac:spMkLst>
            <pc:docMk/>
            <pc:sldMk cId="688931359" sldId="311"/>
            <ac:spMk id="20" creationId="{D73BF4E3-EABF-B6E0-F48B-904D85B88C24}"/>
          </ac:spMkLst>
        </pc:spChg>
        <pc:spChg chg="add mod ord">
          <ac:chgData name="Bruehlmann, Noel" userId="b9a2743c-8098-4e2e-a1f0-b3a2a0076be3" providerId="ADAL" clId="{F44A61B2-5450-4A65-A8F7-FA08989C7149}" dt="2026-03-11T10:20:35.687" v="2446"/>
          <ac:spMkLst>
            <pc:docMk/>
            <pc:sldMk cId="688931359" sldId="311"/>
            <ac:spMk id="22" creationId="{4CE3B01C-E6AC-FCB0-5DBD-C7CDE63868A6}"/>
          </ac:spMkLst>
        </pc:spChg>
        <pc:spChg chg="add mod ord">
          <ac:chgData name="Bruehlmann, Noel" userId="b9a2743c-8098-4e2e-a1f0-b3a2a0076be3" providerId="ADAL" clId="{F44A61B2-5450-4A65-A8F7-FA08989C7149}" dt="2026-03-11T10:22:52.558" v="2535"/>
          <ac:spMkLst>
            <pc:docMk/>
            <pc:sldMk cId="688931359" sldId="311"/>
            <ac:spMk id="23" creationId="{63CCBA66-BC93-B47E-D5CD-00C8E9486962}"/>
          </ac:spMkLst>
        </pc:spChg>
        <pc:spChg chg="add mod ord">
          <ac:chgData name="Bruehlmann, Noel" userId="b9a2743c-8098-4e2e-a1f0-b3a2a0076be3" providerId="ADAL" clId="{F44A61B2-5450-4A65-A8F7-FA08989C7149}" dt="2026-03-11T10:23:01.792" v="2540" actId="20577"/>
          <ac:spMkLst>
            <pc:docMk/>
            <pc:sldMk cId="688931359" sldId="311"/>
            <ac:spMk id="24" creationId="{4DC58C2A-0647-A7DD-CA71-853D3A4EC77C}"/>
          </ac:spMkLst>
        </pc:spChg>
        <pc:spChg chg="add mod ord">
          <ac:chgData name="Bruehlmann, Noel" userId="b9a2743c-8098-4e2e-a1f0-b3a2a0076be3" providerId="ADAL" clId="{F44A61B2-5450-4A65-A8F7-FA08989C7149}" dt="2026-03-11T10:22:40.203" v="2524" actId="20577"/>
          <ac:spMkLst>
            <pc:docMk/>
            <pc:sldMk cId="688931359" sldId="311"/>
            <ac:spMk id="39" creationId="{4E9F4A5B-C146-16AE-D848-35A582AC8A7C}"/>
          </ac:spMkLst>
        </pc:spChg>
        <pc:spChg chg="mod">
          <ac:chgData name="Bruehlmann, Noel" userId="b9a2743c-8098-4e2e-a1f0-b3a2a0076be3" providerId="ADAL" clId="{F44A61B2-5450-4A65-A8F7-FA08989C7149}" dt="2026-03-11T10:19:56.454" v="2305" actId="27803"/>
          <ac:spMkLst>
            <pc:docMk/>
            <pc:sldMk cId="688931359" sldId="311"/>
            <ac:spMk id="50" creationId="{A9D80589-C88A-AC12-6AFA-9105327E7E1A}"/>
          </ac:spMkLst>
        </pc:spChg>
        <pc:spChg chg="mod">
          <ac:chgData name="Bruehlmann, Noel" userId="b9a2743c-8098-4e2e-a1f0-b3a2a0076be3" providerId="ADAL" clId="{F44A61B2-5450-4A65-A8F7-FA08989C7149}" dt="2026-03-11T10:19:56.454" v="2305" actId="27803"/>
          <ac:spMkLst>
            <pc:docMk/>
            <pc:sldMk cId="688931359" sldId="311"/>
            <ac:spMk id="57" creationId="{4C1B506F-2502-382B-B5A0-24048BD6970D}"/>
          </ac:spMkLst>
        </pc:spChg>
        <pc:spChg chg="mod">
          <ac:chgData name="Bruehlmann, Noel" userId="b9a2743c-8098-4e2e-a1f0-b3a2a0076be3" providerId="ADAL" clId="{F44A61B2-5450-4A65-A8F7-FA08989C7149}" dt="2026-03-11T10:19:56.454" v="2305" actId="27803"/>
          <ac:spMkLst>
            <pc:docMk/>
            <pc:sldMk cId="688931359" sldId="311"/>
            <ac:spMk id="58" creationId="{F56CFE5D-7770-D4FB-0028-0C4AB10EC73B}"/>
          </ac:spMkLst>
        </pc:spChg>
        <pc:spChg chg="mod">
          <ac:chgData name="Bruehlmann, Noel" userId="b9a2743c-8098-4e2e-a1f0-b3a2a0076be3" providerId="ADAL" clId="{F44A61B2-5450-4A65-A8F7-FA08989C7149}" dt="2026-03-11T10:19:56.454" v="2305" actId="27803"/>
          <ac:spMkLst>
            <pc:docMk/>
            <pc:sldMk cId="688931359" sldId="311"/>
            <ac:spMk id="60" creationId="{3077E563-6B19-7191-17F3-DA6F010EB357}"/>
          </ac:spMkLst>
        </pc:spChg>
        <pc:spChg chg="mod">
          <ac:chgData name="Bruehlmann, Noel" userId="b9a2743c-8098-4e2e-a1f0-b3a2a0076be3" providerId="ADAL" clId="{F44A61B2-5450-4A65-A8F7-FA08989C7149}" dt="2026-03-11T10:19:56.454" v="2305" actId="27803"/>
          <ac:spMkLst>
            <pc:docMk/>
            <pc:sldMk cId="688931359" sldId="311"/>
            <ac:spMk id="61" creationId="{3561ABD3-9ADD-4F27-8A27-BA60C53C7D5E}"/>
          </ac:spMkLst>
        </pc:spChg>
        <pc:spChg chg="mod">
          <ac:chgData name="Bruehlmann, Noel" userId="b9a2743c-8098-4e2e-a1f0-b3a2a0076be3" providerId="ADAL" clId="{F44A61B2-5450-4A65-A8F7-FA08989C7149}" dt="2026-03-11T10:19:56.454" v="2305" actId="27803"/>
          <ac:spMkLst>
            <pc:docMk/>
            <pc:sldMk cId="688931359" sldId="311"/>
            <ac:spMk id="62" creationId="{C7EF4C00-5723-F9AE-1CE8-3F79A698AD00}"/>
          </ac:spMkLst>
        </pc:spChg>
        <pc:spChg chg="mod">
          <ac:chgData name="Bruehlmann, Noel" userId="b9a2743c-8098-4e2e-a1f0-b3a2a0076be3" providerId="ADAL" clId="{F44A61B2-5450-4A65-A8F7-FA08989C7149}" dt="2026-03-11T10:19:56.454" v="2305" actId="27803"/>
          <ac:spMkLst>
            <pc:docMk/>
            <pc:sldMk cId="688931359" sldId="311"/>
            <ac:spMk id="63" creationId="{2FAE8213-EE19-9F0D-1295-DAFAF06A6661}"/>
          </ac:spMkLst>
        </pc:spChg>
        <pc:spChg chg="mod">
          <ac:chgData name="Bruehlmann, Noel" userId="b9a2743c-8098-4e2e-a1f0-b3a2a0076be3" providerId="ADAL" clId="{F44A61B2-5450-4A65-A8F7-FA08989C7149}" dt="2026-03-11T10:19:56.454" v="2305" actId="27803"/>
          <ac:spMkLst>
            <pc:docMk/>
            <pc:sldMk cId="688931359" sldId="311"/>
            <ac:spMk id="65" creationId="{2FAE567E-17FB-8CB9-212F-3A05CD0E6166}"/>
          </ac:spMkLst>
        </pc:spChg>
        <pc:spChg chg="mod">
          <ac:chgData name="Bruehlmann, Noel" userId="b9a2743c-8098-4e2e-a1f0-b3a2a0076be3" providerId="ADAL" clId="{F44A61B2-5450-4A65-A8F7-FA08989C7149}" dt="2026-03-11T10:19:56.454" v="2305" actId="27803"/>
          <ac:spMkLst>
            <pc:docMk/>
            <pc:sldMk cId="688931359" sldId="311"/>
            <ac:spMk id="66" creationId="{77164C42-8B38-66CF-D59D-09DBE8D1B2AA}"/>
          </ac:spMkLst>
        </pc:spChg>
        <pc:spChg chg="mod">
          <ac:chgData name="Bruehlmann, Noel" userId="b9a2743c-8098-4e2e-a1f0-b3a2a0076be3" providerId="ADAL" clId="{F44A61B2-5450-4A65-A8F7-FA08989C7149}" dt="2026-03-11T10:19:56.454" v="2305" actId="27803"/>
          <ac:spMkLst>
            <pc:docMk/>
            <pc:sldMk cId="688931359" sldId="311"/>
            <ac:spMk id="67" creationId="{FA415D79-D586-B483-F514-74150D71AC3E}"/>
          </ac:spMkLst>
        </pc:spChg>
        <pc:spChg chg="mod ord">
          <ac:chgData name="Bruehlmann, Noel" userId="b9a2743c-8098-4e2e-a1f0-b3a2a0076be3" providerId="ADAL" clId="{F44A61B2-5450-4A65-A8F7-FA08989C7149}" dt="2026-03-11T10:20:49.431" v="2466" actId="12789"/>
          <ac:spMkLst>
            <pc:docMk/>
            <pc:sldMk cId="688931359" sldId="311"/>
            <ac:spMk id="70" creationId="{B3015C56-7FE1-2227-43AD-EE2D0BB81CD2}"/>
          </ac:spMkLst>
        </pc:spChg>
        <pc:spChg chg="add mod">
          <ac:chgData name="Bruehlmann, Noel" userId="b9a2743c-8098-4e2e-a1f0-b3a2a0076be3" providerId="ADAL" clId="{F44A61B2-5450-4A65-A8F7-FA08989C7149}" dt="2026-03-11T10:26:42.982" v="2998" actId="1035"/>
          <ac:spMkLst>
            <pc:docMk/>
            <pc:sldMk cId="688931359" sldId="311"/>
            <ac:spMk id="71" creationId="{815CD932-D653-0845-285C-D7B18419018C}"/>
          </ac:spMkLst>
        </pc:spChg>
        <pc:spChg chg="add mod">
          <ac:chgData name="Bruehlmann, Noel" userId="b9a2743c-8098-4e2e-a1f0-b3a2a0076be3" providerId="ADAL" clId="{F44A61B2-5450-4A65-A8F7-FA08989C7149}" dt="2026-03-11T10:26:42.982" v="2998" actId="1035"/>
          <ac:spMkLst>
            <pc:docMk/>
            <pc:sldMk cId="688931359" sldId="311"/>
            <ac:spMk id="72" creationId="{2B534748-4B09-F85F-F5A2-372E1836FFCD}"/>
          </ac:spMkLst>
        </pc:spChg>
        <pc:spChg chg="add mod">
          <ac:chgData name="Bruehlmann, Noel" userId="b9a2743c-8098-4e2e-a1f0-b3a2a0076be3" providerId="ADAL" clId="{F44A61B2-5450-4A65-A8F7-FA08989C7149}" dt="2026-03-11T10:26:42.982" v="2998" actId="1035"/>
          <ac:spMkLst>
            <pc:docMk/>
            <pc:sldMk cId="688931359" sldId="311"/>
            <ac:spMk id="73" creationId="{01CCB745-493C-E7A4-745C-9BDFC54A9388}"/>
          </ac:spMkLst>
        </pc:spChg>
        <pc:spChg chg="add mod">
          <ac:chgData name="Bruehlmann, Noel" userId="b9a2743c-8098-4e2e-a1f0-b3a2a0076be3" providerId="ADAL" clId="{F44A61B2-5450-4A65-A8F7-FA08989C7149}" dt="2026-03-11T10:25:52.797" v="2934" actId="20577"/>
          <ac:spMkLst>
            <pc:docMk/>
            <pc:sldMk cId="688931359" sldId="311"/>
            <ac:spMk id="74" creationId="{EA3D59E0-B5FB-424F-D7BC-C5BF3CB65C38}"/>
          </ac:spMkLst>
        </pc:spChg>
        <pc:spChg chg="add mod">
          <ac:chgData name="Bruehlmann, Noel" userId="b9a2743c-8098-4e2e-a1f0-b3a2a0076be3" providerId="ADAL" clId="{F44A61B2-5450-4A65-A8F7-FA08989C7149}" dt="2026-03-11T10:26:38.758" v="2997" actId="20577"/>
          <ac:spMkLst>
            <pc:docMk/>
            <pc:sldMk cId="688931359" sldId="311"/>
            <ac:spMk id="75" creationId="{5E715615-5EA5-2E7C-E4A4-3FABAC6D7434}"/>
          </ac:spMkLst>
        </pc:spChg>
        <pc:spChg chg="add mod">
          <ac:chgData name="Bruehlmann, Noel" userId="b9a2743c-8098-4e2e-a1f0-b3a2a0076be3" providerId="ADAL" clId="{F44A61B2-5450-4A65-A8F7-FA08989C7149}" dt="2026-03-11T10:24:00.190" v="2601" actId="20577"/>
          <ac:spMkLst>
            <pc:docMk/>
            <pc:sldMk cId="688931359" sldId="311"/>
            <ac:spMk id="76" creationId="{6E5CF293-BD86-B00F-D92E-995BB1CE210D}"/>
          </ac:spMkLst>
        </pc:spChg>
        <pc:grpChg chg="mod ord">
          <ac:chgData name="Bruehlmann, Noel" userId="b9a2743c-8098-4e2e-a1f0-b3a2a0076be3" providerId="ADAL" clId="{F44A61B2-5450-4A65-A8F7-FA08989C7149}" dt="2026-03-11T10:20:49.431" v="2466" actId="12789"/>
          <ac:grpSpMkLst>
            <pc:docMk/>
            <pc:sldMk cId="688931359" sldId="311"/>
            <ac:grpSpMk id="49" creationId="{6B8D4E1F-86C2-95A9-3443-AB78D2543295}"/>
          </ac:grpSpMkLst>
        </pc:grpChg>
        <pc:graphicFrameChg chg="mod">
          <ac:chgData name="Bruehlmann, Noel" userId="b9a2743c-8098-4e2e-a1f0-b3a2a0076be3" providerId="ADAL" clId="{F44A61B2-5450-4A65-A8F7-FA08989C7149}" dt="2026-03-11T10:20:35.690" v="2458"/>
          <ac:graphicFrameMkLst>
            <pc:docMk/>
            <pc:sldMk cId="688931359" sldId="311"/>
            <ac:graphicFrameMk id="4" creationId="{68AA9573-8466-7FA2-417E-35C6E5957B67}"/>
          </ac:graphicFrameMkLst>
        </pc:graphicFrameChg>
        <pc:cxnChg chg="add">
          <ac:chgData name="Bruehlmann, Noel" userId="b9a2743c-8098-4e2e-a1f0-b3a2a0076be3" providerId="ADAL" clId="{F44A61B2-5450-4A65-A8F7-FA08989C7149}" dt="2026-03-11T10:27:02.411" v="2999" actId="11529"/>
          <ac:cxnSpMkLst>
            <pc:docMk/>
            <pc:sldMk cId="688931359" sldId="311"/>
            <ac:cxnSpMk id="78" creationId="{9BB7CF89-AF61-7447-4AD2-4EB0FA088BF2}"/>
          </ac:cxnSpMkLst>
        </pc:cxnChg>
      </pc:sldChg>
      <pc:sldChg chg="addSp delSp modSp mod">
        <pc:chgData name="Bruehlmann, Noel" userId="b9a2743c-8098-4e2e-a1f0-b3a2a0076be3" providerId="ADAL" clId="{F44A61B2-5450-4A65-A8F7-FA08989C7149}" dt="2026-03-11T17:41:36.957" v="4528" actId="478"/>
        <pc:sldMkLst>
          <pc:docMk/>
          <pc:sldMk cId="4218477805" sldId="318"/>
        </pc:sldMkLst>
        <pc:spChg chg="mod">
          <ac:chgData name="Bruehlmann, Noel" userId="b9a2743c-8098-4e2e-a1f0-b3a2a0076be3" providerId="ADAL" clId="{F44A61B2-5450-4A65-A8F7-FA08989C7149}" dt="2026-03-11T16:35:12.428" v="3413" actId="20577"/>
          <ac:spMkLst>
            <pc:docMk/>
            <pc:sldMk cId="4218477805" sldId="318"/>
            <ac:spMk id="4" creationId="{B48D57CA-122C-3627-1C74-528FCFCAE9ED}"/>
          </ac:spMkLst>
        </pc:spChg>
        <pc:spChg chg="mod">
          <ac:chgData name="Bruehlmann, Noel" userId="b9a2743c-8098-4e2e-a1f0-b3a2a0076be3" providerId="ADAL" clId="{F44A61B2-5450-4A65-A8F7-FA08989C7149}" dt="2026-03-11T16:36:23.639" v="3576" actId="1035"/>
          <ac:spMkLst>
            <pc:docMk/>
            <pc:sldMk cId="4218477805" sldId="318"/>
            <ac:spMk id="6" creationId="{57DF70A7-EA4C-813A-5250-3DFB355BCC09}"/>
          </ac:spMkLst>
        </pc:spChg>
        <pc:spChg chg="mod">
          <ac:chgData name="Bruehlmann, Noel" userId="b9a2743c-8098-4e2e-a1f0-b3a2a0076be3" providerId="ADAL" clId="{F44A61B2-5450-4A65-A8F7-FA08989C7149}" dt="2026-03-11T17:39:27.157" v="4470" actId="20577"/>
          <ac:spMkLst>
            <pc:docMk/>
            <pc:sldMk cId="4218477805" sldId="318"/>
            <ac:spMk id="7" creationId="{3D2C6A97-7B71-1206-5BA4-9650D4C6A743}"/>
          </ac:spMkLst>
        </pc:spChg>
        <pc:spChg chg="add mod">
          <ac:chgData name="Bruehlmann, Noel" userId="b9a2743c-8098-4e2e-a1f0-b3a2a0076be3" providerId="ADAL" clId="{F44A61B2-5450-4A65-A8F7-FA08989C7149}" dt="2026-03-11T16:36:26.994" v="3577" actId="1076"/>
          <ac:spMkLst>
            <pc:docMk/>
            <pc:sldMk cId="4218477805" sldId="318"/>
            <ac:spMk id="9" creationId="{6C734D87-D6BD-6568-FA86-2308594B1EFF}"/>
          </ac:spMkLst>
        </pc:spChg>
        <pc:spChg chg="add mod">
          <ac:chgData name="Bruehlmann, Noel" userId="b9a2743c-8098-4e2e-a1f0-b3a2a0076be3" providerId="ADAL" clId="{F44A61B2-5450-4A65-A8F7-FA08989C7149}" dt="2026-03-11T16:36:30.342" v="3586" actId="1035"/>
          <ac:spMkLst>
            <pc:docMk/>
            <pc:sldMk cId="4218477805" sldId="318"/>
            <ac:spMk id="11" creationId="{03B712BD-6486-4FE6-907B-97EF64D05B4E}"/>
          </ac:spMkLst>
        </pc:spChg>
        <pc:spChg chg="add mod">
          <ac:chgData name="Bruehlmann, Noel" userId="b9a2743c-8098-4e2e-a1f0-b3a2a0076be3" providerId="ADAL" clId="{F44A61B2-5450-4A65-A8F7-FA08989C7149}" dt="2026-03-11T16:36:30.342" v="3586" actId="1035"/>
          <ac:spMkLst>
            <pc:docMk/>
            <pc:sldMk cId="4218477805" sldId="318"/>
            <ac:spMk id="12" creationId="{2B065A06-0379-B7EC-EBB6-8EBA126C5F1F}"/>
          </ac:spMkLst>
        </pc:spChg>
        <pc:spChg chg="add mod">
          <ac:chgData name="Bruehlmann, Noel" userId="b9a2743c-8098-4e2e-a1f0-b3a2a0076be3" providerId="ADAL" clId="{F44A61B2-5450-4A65-A8F7-FA08989C7149}" dt="2026-03-11T16:35:59.494" v="3526" actId="20577"/>
          <ac:spMkLst>
            <pc:docMk/>
            <pc:sldMk cId="4218477805" sldId="318"/>
            <ac:spMk id="13" creationId="{916B250B-CAB7-9784-8308-8998A7A880A2}"/>
          </ac:spMkLst>
        </pc:spChg>
        <pc:spChg chg="add mod">
          <ac:chgData name="Bruehlmann, Noel" userId="b9a2743c-8098-4e2e-a1f0-b3a2a0076be3" providerId="ADAL" clId="{F44A61B2-5450-4A65-A8F7-FA08989C7149}" dt="2026-03-11T17:41:00.888" v="4527" actId="20577"/>
          <ac:spMkLst>
            <pc:docMk/>
            <pc:sldMk cId="4218477805" sldId="318"/>
            <ac:spMk id="14" creationId="{2269B678-DB9A-229F-FD67-90F57C59D75E}"/>
          </ac:spMkLst>
        </pc:spChg>
      </pc:sldChg>
      <pc:sldChg chg="addSp delSp modSp add mod">
        <pc:chgData name="Bruehlmann, Noel" userId="b9a2743c-8098-4e2e-a1f0-b3a2a0076be3" providerId="ADAL" clId="{F44A61B2-5450-4A65-A8F7-FA08989C7149}" dt="2026-03-11T16:43:30.062" v="4451" actId="14100"/>
        <pc:sldMkLst>
          <pc:docMk/>
          <pc:sldMk cId="2340304230" sldId="319"/>
        </pc:sldMkLst>
        <pc:spChg chg="mod">
          <ac:chgData name="Bruehlmann, Noel" userId="b9a2743c-8098-4e2e-a1f0-b3a2a0076be3" providerId="ADAL" clId="{F44A61B2-5450-4A65-A8F7-FA08989C7149}" dt="2026-03-11T16:37:35.272" v="3723" actId="299"/>
          <ac:spMkLst>
            <pc:docMk/>
            <pc:sldMk cId="2340304230" sldId="319"/>
            <ac:spMk id="2" creationId="{06DD1F0F-352C-6654-C3E6-21ACD81D7F2F}"/>
          </ac:spMkLst>
        </pc:spChg>
        <pc:spChg chg="mod">
          <ac:chgData name="Bruehlmann, Noel" userId="b9a2743c-8098-4e2e-a1f0-b3a2a0076be3" providerId="ADAL" clId="{F44A61B2-5450-4A65-A8F7-FA08989C7149}" dt="2026-03-11T16:40:50.247" v="4050" actId="1076"/>
          <ac:spMkLst>
            <pc:docMk/>
            <pc:sldMk cId="2340304230" sldId="319"/>
            <ac:spMk id="4" creationId="{4936C3C1-A23C-6A65-B78D-53803B7B1B5C}"/>
          </ac:spMkLst>
        </pc:spChg>
        <pc:spChg chg="mod">
          <ac:chgData name="Bruehlmann, Noel" userId="b9a2743c-8098-4e2e-a1f0-b3a2a0076be3" providerId="ADAL" clId="{F44A61B2-5450-4A65-A8F7-FA08989C7149}" dt="2026-03-11T16:40:59.755" v="4053" actId="465"/>
          <ac:spMkLst>
            <pc:docMk/>
            <pc:sldMk cId="2340304230" sldId="319"/>
            <ac:spMk id="6" creationId="{8CFD175E-B4E9-5DAF-3A05-69A429DC0F59}"/>
          </ac:spMkLst>
        </pc:spChg>
        <pc:spChg chg="mod">
          <ac:chgData name="Bruehlmann, Noel" userId="b9a2743c-8098-4e2e-a1f0-b3a2a0076be3" providerId="ADAL" clId="{F44A61B2-5450-4A65-A8F7-FA08989C7149}" dt="2026-03-11T16:40:59.755" v="4053" actId="465"/>
          <ac:spMkLst>
            <pc:docMk/>
            <pc:sldMk cId="2340304230" sldId="319"/>
            <ac:spMk id="9" creationId="{45AD62F0-B5A7-5334-AA83-97ACD92301CB}"/>
          </ac:spMkLst>
        </pc:spChg>
        <pc:spChg chg="mod">
          <ac:chgData name="Bruehlmann, Noel" userId="b9a2743c-8098-4e2e-a1f0-b3a2a0076be3" providerId="ADAL" clId="{F44A61B2-5450-4A65-A8F7-FA08989C7149}" dt="2026-03-11T16:40:59.755" v="4053" actId="465"/>
          <ac:spMkLst>
            <pc:docMk/>
            <pc:sldMk cId="2340304230" sldId="319"/>
            <ac:spMk id="11" creationId="{B4B04BB2-B62E-7A52-DF83-A9D62FB45B36}"/>
          </ac:spMkLst>
        </pc:spChg>
        <pc:spChg chg="mod">
          <ac:chgData name="Bruehlmann, Noel" userId="b9a2743c-8098-4e2e-a1f0-b3a2a0076be3" providerId="ADAL" clId="{F44A61B2-5450-4A65-A8F7-FA08989C7149}" dt="2026-03-11T16:40:59.755" v="4053" actId="465"/>
          <ac:spMkLst>
            <pc:docMk/>
            <pc:sldMk cId="2340304230" sldId="319"/>
            <ac:spMk id="13" creationId="{4E9406B9-C3B3-62A9-B762-2A8719B4B0CF}"/>
          </ac:spMkLst>
        </pc:spChg>
        <pc:spChg chg="add mod">
          <ac:chgData name="Bruehlmann, Noel" userId="b9a2743c-8098-4e2e-a1f0-b3a2a0076be3" providerId="ADAL" clId="{F44A61B2-5450-4A65-A8F7-FA08989C7149}" dt="2026-03-11T16:37:45.050" v="3726" actId="207"/>
          <ac:spMkLst>
            <pc:docMk/>
            <pc:sldMk cId="2340304230" sldId="319"/>
            <ac:spMk id="16" creationId="{C711257B-D1DF-370B-85EB-CEE9396B9AEB}"/>
          </ac:spMkLst>
        </pc:spChg>
        <pc:spChg chg="add mod">
          <ac:chgData name="Bruehlmann, Noel" userId="b9a2743c-8098-4e2e-a1f0-b3a2a0076be3" providerId="ADAL" clId="{F44A61B2-5450-4A65-A8F7-FA08989C7149}" dt="2026-03-11T16:40:59.755" v="4053" actId="465"/>
          <ac:spMkLst>
            <pc:docMk/>
            <pc:sldMk cId="2340304230" sldId="319"/>
            <ac:spMk id="17" creationId="{6BEBADF1-84B0-46A5-6A23-29B27DDBBF1F}"/>
          </ac:spMkLst>
        </pc:spChg>
        <pc:spChg chg="add mod">
          <ac:chgData name="Bruehlmann, Noel" userId="b9a2743c-8098-4e2e-a1f0-b3a2a0076be3" providerId="ADAL" clId="{F44A61B2-5450-4A65-A8F7-FA08989C7149}" dt="2026-03-11T16:41:10.257" v="4071" actId="20577"/>
          <ac:spMkLst>
            <pc:docMk/>
            <pc:sldMk cId="2340304230" sldId="319"/>
            <ac:spMk id="18" creationId="{B5845B84-4A51-ACD0-9E72-903B2DC547F0}"/>
          </ac:spMkLst>
        </pc:spChg>
        <pc:spChg chg="add mod">
          <ac:chgData name="Bruehlmann, Noel" userId="b9a2743c-8098-4e2e-a1f0-b3a2a0076be3" providerId="ADAL" clId="{F44A61B2-5450-4A65-A8F7-FA08989C7149}" dt="2026-03-11T16:42:29.261" v="4232" actId="20577"/>
          <ac:spMkLst>
            <pc:docMk/>
            <pc:sldMk cId="2340304230" sldId="319"/>
            <ac:spMk id="19" creationId="{C8CBE43C-DD5A-C85F-A5A4-615A9AECFA1A}"/>
          </ac:spMkLst>
        </pc:spChg>
        <pc:spChg chg="add mod">
          <ac:chgData name="Bruehlmann, Noel" userId="b9a2743c-8098-4e2e-a1f0-b3a2a0076be3" providerId="ADAL" clId="{F44A61B2-5450-4A65-A8F7-FA08989C7149}" dt="2026-03-11T16:43:30.062" v="4451" actId="14100"/>
          <ac:spMkLst>
            <pc:docMk/>
            <pc:sldMk cId="2340304230" sldId="319"/>
            <ac:spMk id="20" creationId="{AD8D91F5-DBCC-FF15-7C86-E55EEC4E8EF1}"/>
          </ac:spMkLst>
        </pc:spChg>
        <pc:graphicFrameChg chg="add mod ord modVis">
          <ac:chgData name="Bruehlmann, Noel" userId="b9a2743c-8098-4e2e-a1f0-b3a2a0076be3" providerId="ADAL" clId="{F44A61B2-5450-4A65-A8F7-FA08989C7149}" dt="2026-03-11T16:38:18.548" v="3753"/>
          <ac:graphicFrameMkLst>
            <pc:docMk/>
            <pc:sldMk cId="2340304230" sldId="319"/>
            <ac:graphicFrameMk id="15" creationId="{CF40B0B0-85F5-8F19-5EB1-A5C493369D2B}"/>
          </ac:graphicFrameMkLst>
        </pc:graphicFrameChg>
      </pc:sldChg>
    </pc:docChg>
  </pc:docChgLst>
  <pc:docChgLst>
    <pc:chgData name="Brenni, Giovanni" userId="S::giovanni.brenni@student.unisg.ch::415fa501-2e2a-4428-bd52-3d9320accab2" providerId="AD" clId="Web-{231026AE-9093-E498-E35E-8A21901FE01A}"/>
    <pc:docChg chg="addSld delSld modSld sldOrd">
      <pc:chgData name="Brenni, Giovanni" userId="S::giovanni.brenni@student.unisg.ch::415fa501-2e2a-4428-bd52-3d9320accab2" providerId="AD" clId="Web-{231026AE-9093-E498-E35E-8A21901FE01A}" dt="2026-03-11T15:54:13.124" v="41" actId="20577"/>
      <pc:docMkLst>
        <pc:docMk/>
      </pc:docMkLst>
      <pc:sldChg chg="modSp">
        <pc:chgData name="Brenni, Giovanni" userId="S::giovanni.brenni@student.unisg.ch::415fa501-2e2a-4428-bd52-3d9320accab2" providerId="AD" clId="Web-{231026AE-9093-E498-E35E-8A21901FE01A}" dt="2026-03-11T15:53:29.513" v="32" actId="20577"/>
        <pc:sldMkLst>
          <pc:docMk/>
          <pc:sldMk cId="1455948623" sldId="310"/>
        </pc:sldMkLst>
        <pc:spChg chg="mod">
          <ac:chgData name="Brenni, Giovanni" userId="S::giovanni.brenni@student.unisg.ch::415fa501-2e2a-4428-bd52-3d9320accab2" providerId="AD" clId="Web-{231026AE-9093-E498-E35E-8A21901FE01A}" dt="2026-03-11T15:53:29.513" v="32" actId="20577"/>
          <ac:spMkLst>
            <pc:docMk/>
            <pc:sldMk cId="1455948623" sldId="310"/>
            <ac:spMk id="2" creationId="{094D70A3-5757-E87F-A557-F6242A34DDA8}"/>
          </ac:spMkLst>
        </pc:spChg>
      </pc:sldChg>
      <pc:sldChg chg="add del">
        <pc:chgData name="Brenni, Giovanni" userId="S::giovanni.brenni@student.unisg.ch::415fa501-2e2a-4428-bd52-3d9320accab2" providerId="AD" clId="Web-{231026AE-9093-E498-E35E-8A21901FE01A}" dt="2026-03-11T15:53:17.809" v="29"/>
        <pc:sldMkLst>
          <pc:docMk/>
          <pc:sldMk cId="965465192" sldId="313"/>
        </pc:sldMkLst>
      </pc:sldChg>
      <pc:sldChg chg="modSp add">
        <pc:chgData name="Brenni, Giovanni" userId="S::giovanni.brenni@student.unisg.ch::415fa501-2e2a-4428-bd52-3d9320accab2" providerId="AD" clId="Web-{231026AE-9093-E498-E35E-8A21901FE01A}" dt="2026-03-11T15:51:18.538" v="9" actId="20577"/>
        <pc:sldMkLst>
          <pc:docMk/>
          <pc:sldMk cId="2701324692" sldId="314"/>
        </pc:sldMkLst>
        <pc:spChg chg="mod">
          <ac:chgData name="Brenni, Giovanni" userId="S::giovanni.brenni@student.unisg.ch::415fa501-2e2a-4428-bd52-3d9320accab2" providerId="AD" clId="Web-{231026AE-9093-E498-E35E-8A21901FE01A}" dt="2026-03-11T15:51:18.538" v="9" actId="20577"/>
          <ac:spMkLst>
            <pc:docMk/>
            <pc:sldMk cId="2701324692" sldId="314"/>
            <ac:spMk id="11" creationId="{E9C71D20-4949-C68F-D9A4-0B0384E15DD1}"/>
          </ac:spMkLst>
        </pc:spChg>
      </pc:sldChg>
      <pc:sldChg chg="modSp add">
        <pc:chgData name="Brenni, Giovanni" userId="S::giovanni.brenni@student.unisg.ch::415fa501-2e2a-4428-bd52-3d9320accab2" providerId="AD" clId="Web-{231026AE-9093-E498-E35E-8A21901FE01A}" dt="2026-03-11T15:54:13.124" v="41" actId="20577"/>
        <pc:sldMkLst>
          <pc:docMk/>
          <pc:sldMk cId="3180419392" sldId="316"/>
        </pc:sldMkLst>
        <pc:spChg chg="mod">
          <ac:chgData name="Brenni, Giovanni" userId="S::giovanni.brenni@student.unisg.ch::415fa501-2e2a-4428-bd52-3d9320accab2" providerId="AD" clId="Web-{231026AE-9093-E498-E35E-8A21901FE01A}" dt="2026-03-11T15:54:13.124" v="41" actId="20577"/>
          <ac:spMkLst>
            <pc:docMk/>
            <pc:sldMk cId="3180419392" sldId="316"/>
            <ac:spMk id="45" creationId="{44B37FB0-544D-4DB2-C525-5CEACBD11E6E}"/>
          </ac:spMkLst>
        </pc:spChg>
      </pc:sldChg>
      <pc:sldChg chg="add">
        <pc:chgData name="Brenni, Giovanni" userId="S::giovanni.brenni@student.unisg.ch::415fa501-2e2a-4428-bd52-3d9320accab2" providerId="AD" clId="Web-{231026AE-9093-E498-E35E-8A21901FE01A}" dt="2026-03-11T15:45:20.307" v="3"/>
        <pc:sldMkLst>
          <pc:docMk/>
          <pc:sldMk cId="786396842" sldId="317"/>
        </pc:sldMkLst>
      </pc:sldChg>
      <pc:sldChg chg="modSp add ord">
        <pc:chgData name="Brenni, Giovanni" userId="S::giovanni.brenni@student.unisg.ch::415fa501-2e2a-4428-bd52-3d9320accab2" providerId="AD" clId="Web-{231026AE-9093-E498-E35E-8A21901FE01A}" dt="2026-03-11T15:52:12.635" v="28" actId="20577"/>
        <pc:sldMkLst>
          <pc:docMk/>
          <pc:sldMk cId="4218477805" sldId="318"/>
        </pc:sldMkLst>
        <pc:spChg chg="mod">
          <ac:chgData name="Brenni, Giovanni" userId="S::giovanni.brenni@student.unisg.ch::415fa501-2e2a-4428-bd52-3d9320accab2" providerId="AD" clId="Web-{231026AE-9093-E498-E35E-8A21901FE01A}" dt="2026-03-11T15:52:12.635" v="28" actId="20577"/>
          <ac:spMkLst>
            <pc:docMk/>
            <pc:sldMk cId="4218477805" sldId="318"/>
            <ac:spMk id="2" creationId="{55E33843-E13C-5737-780A-7E422879BBBE}"/>
          </ac:spMkLst>
        </pc:spChg>
        <pc:spChg chg="mod">
          <ac:chgData name="Brenni, Giovanni" userId="S::giovanni.brenni@student.unisg.ch::415fa501-2e2a-4428-bd52-3d9320accab2" providerId="AD" clId="Web-{231026AE-9093-E498-E35E-8A21901FE01A}" dt="2026-03-11T15:51:49.852" v="26" actId="1076"/>
          <ac:spMkLst>
            <pc:docMk/>
            <pc:sldMk cId="4218477805" sldId="318"/>
            <ac:spMk id="6" creationId="{57DF70A7-EA4C-813A-5250-3DFB355BCC09}"/>
          </ac:spMkLst>
        </pc:spChg>
        <pc:spChg chg="mod">
          <ac:chgData name="Brenni, Giovanni" userId="S::giovanni.brenni@student.unisg.ch::415fa501-2e2a-4428-bd52-3d9320accab2" providerId="AD" clId="Web-{231026AE-9093-E498-E35E-8A21901FE01A}" dt="2026-03-11T15:51:49.852" v="25" actId="1076"/>
          <ac:spMkLst>
            <pc:docMk/>
            <pc:sldMk cId="4218477805" sldId="318"/>
            <ac:spMk id="7" creationId="{3D2C6A97-7B71-1206-5BA4-9650D4C6A743}"/>
          </ac:spMkLst>
        </pc:spChg>
      </pc:sldChg>
    </pc:docChg>
  </pc:docChgLst>
  <pc:docChgLst>
    <pc:chgData name="Brenni, Giovanni" userId="S::giovanni.brenni@student.unisg.ch::415fa501-2e2a-4428-bd52-3d9320accab2" providerId="AD" clId="Web-{CB907AE4-32F0-932A-7FBF-A6A8F8E4AC96}"/>
    <pc:docChg chg="modSld">
      <pc:chgData name="Brenni, Giovanni" userId="S::giovanni.brenni@student.unisg.ch::415fa501-2e2a-4428-bd52-3d9320accab2" providerId="AD" clId="Web-{CB907AE4-32F0-932A-7FBF-A6A8F8E4AC96}" dt="2026-03-15T13:30:39.446" v="70" actId="20577"/>
      <pc:docMkLst>
        <pc:docMk/>
      </pc:docMkLst>
      <pc:sldChg chg="modSp">
        <pc:chgData name="Brenni, Giovanni" userId="S::giovanni.brenni@student.unisg.ch::415fa501-2e2a-4428-bd52-3d9320accab2" providerId="AD" clId="Web-{CB907AE4-32F0-932A-7FBF-A6A8F8E4AC96}" dt="2026-03-15T13:07:02.154" v="68" actId="20577"/>
        <pc:sldMkLst>
          <pc:docMk/>
          <pc:sldMk cId="786396842" sldId="317"/>
        </pc:sldMkLst>
        <pc:spChg chg="mod">
          <ac:chgData name="Brenni, Giovanni" userId="S::giovanni.brenni@student.unisg.ch::415fa501-2e2a-4428-bd52-3d9320accab2" providerId="AD" clId="Web-{CB907AE4-32F0-932A-7FBF-A6A8F8E4AC96}" dt="2026-03-15T13:07:02.154" v="68" actId="20577"/>
          <ac:spMkLst>
            <pc:docMk/>
            <pc:sldMk cId="786396842" sldId="317"/>
            <ac:spMk id="53" creationId="{1D4CA743-ABEB-A9F8-ABCE-AE1217683CFC}"/>
          </ac:spMkLst>
        </pc:spChg>
      </pc:sldChg>
      <pc:sldChg chg="addSp delSp modSp">
        <pc:chgData name="Brenni, Giovanni" userId="S::giovanni.brenni@student.unisg.ch::415fa501-2e2a-4428-bd52-3d9320accab2" providerId="AD" clId="Web-{CB907AE4-32F0-932A-7FBF-A6A8F8E4AC96}" dt="2026-03-15T13:30:39.446" v="70" actId="20577"/>
        <pc:sldMkLst>
          <pc:docMk/>
          <pc:sldMk cId="1613239070" sldId="321"/>
        </pc:sldMkLst>
        <pc:spChg chg="mod">
          <ac:chgData name="Brenni, Giovanni" userId="S::giovanni.brenni@student.unisg.ch::415fa501-2e2a-4428-bd52-3d9320accab2" providerId="AD" clId="Web-{CB907AE4-32F0-932A-7FBF-A6A8F8E4AC96}" dt="2026-03-15T13:30:39.446" v="70" actId="20577"/>
          <ac:spMkLst>
            <pc:docMk/>
            <pc:sldMk cId="1613239070" sldId="321"/>
            <ac:spMk id="2" creationId="{07740043-CD86-84AE-1C0E-ADD3800C22E4}"/>
          </ac:spMkLst>
        </pc:spChg>
        <pc:spChg chg="mod">
          <ac:chgData name="Brenni, Giovanni" userId="S::giovanni.brenni@student.unisg.ch::415fa501-2e2a-4428-bd52-3d9320accab2" providerId="AD" clId="Web-{CB907AE4-32F0-932A-7FBF-A6A8F8E4AC96}" dt="2026-03-15T12:05:58.623" v="6" actId="20577"/>
          <ac:spMkLst>
            <pc:docMk/>
            <pc:sldMk cId="1613239070" sldId="321"/>
            <ac:spMk id="131" creationId="{041F1211-51B9-00AE-B88D-AE05E9346E0B}"/>
          </ac:spMkLst>
        </pc:spChg>
        <pc:spChg chg="mod">
          <ac:chgData name="Brenni, Giovanni" userId="S::giovanni.brenni@student.unisg.ch::415fa501-2e2a-4428-bd52-3d9320accab2" providerId="AD" clId="Web-{CB907AE4-32F0-932A-7FBF-A6A8F8E4AC96}" dt="2026-03-15T12:06:24.390" v="13" actId="20577"/>
          <ac:spMkLst>
            <pc:docMk/>
            <pc:sldMk cId="1613239070" sldId="321"/>
            <ac:spMk id="137" creationId="{E9FBFEC0-2A60-617F-8E7A-B30701F8068D}"/>
          </ac:spMkLst>
        </pc:spChg>
        <pc:spChg chg="mod">
          <ac:chgData name="Brenni, Giovanni" userId="S::giovanni.brenni@student.unisg.ch::415fa501-2e2a-4428-bd52-3d9320accab2" providerId="AD" clId="Web-{CB907AE4-32F0-932A-7FBF-A6A8F8E4AC96}" dt="2026-03-15T12:09:28.181" v="35" actId="20577"/>
          <ac:spMkLst>
            <pc:docMk/>
            <pc:sldMk cId="1613239070" sldId="321"/>
            <ac:spMk id="149" creationId="{BF96CDE7-09E4-38CA-8D1E-5667D73B6678}"/>
          </ac:spMkLst>
        </pc:spChg>
        <pc:spChg chg="mod">
          <ac:chgData name="Brenni, Giovanni" userId="S::giovanni.brenni@student.unisg.ch::415fa501-2e2a-4428-bd52-3d9320accab2" providerId="AD" clId="Web-{CB907AE4-32F0-932A-7FBF-A6A8F8E4AC96}" dt="2026-03-15T12:09:35.041" v="36" actId="20577"/>
          <ac:spMkLst>
            <pc:docMk/>
            <pc:sldMk cId="1613239070" sldId="321"/>
            <ac:spMk id="155" creationId="{4E31AC32-E434-76CB-590E-56193246C27F}"/>
          </ac:spMkLst>
        </pc:spChg>
        <pc:spChg chg="mod">
          <ac:chgData name="Brenni, Giovanni" userId="S::giovanni.brenni@student.unisg.ch::415fa501-2e2a-4428-bd52-3d9320accab2" providerId="AD" clId="Web-{CB907AE4-32F0-932A-7FBF-A6A8F8E4AC96}" dt="2026-03-15T12:09:43.104" v="37" actId="20577"/>
          <ac:spMkLst>
            <pc:docMk/>
            <pc:sldMk cId="1613239070" sldId="321"/>
            <ac:spMk id="161" creationId="{BE0BF7D2-7A17-7F59-7265-4CE2BAD0F8BB}"/>
          </ac:spMkLst>
        </pc:spChg>
        <pc:spChg chg="mod">
          <ac:chgData name="Brenni, Giovanni" userId="S::giovanni.brenni@student.unisg.ch::415fa501-2e2a-4428-bd52-3d9320accab2" providerId="AD" clId="Web-{CB907AE4-32F0-932A-7FBF-A6A8F8E4AC96}" dt="2026-03-15T12:09:52.792" v="38" actId="20577"/>
          <ac:spMkLst>
            <pc:docMk/>
            <pc:sldMk cId="1613239070" sldId="321"/>
            <ac:spMk id="197" creationId="{28F5ED1D-8282-FB51-D5CE-1A9A3C6562F9}"/>
          </ac:spMkLst>
        </pc:spChg>
        <pc:spChg chg="mod">
          <ac:chgData name="Brenni, Giovanni" userId="S::giovanni.brenni@student.unisg.ch::415fa501-2e2a-4428-bd52-3d9320accab2" providerId="AD" clId="Web-{CB907AE4-32F0-932A-7FBF-A6A8F8E4AC96}" dt="2026-03-15T12:10:02.854" v="40" actId="20577"/>
          <ac:spMkLst>
            <pc:docMk/>
            <pc:sldMk cId="1613239070" sldId="321"/>
            <ac:spMk id="220" creationId="{A6264350-CB74-4278-9699-20F825F6EBBD}"/>
          </ac:spMkLst>
        </pc:spChg>
        <pc:spChg chg="mod">
          <ac:chgData name="Brenni, Giovanni" userId="S::giovanni.brenni@student.unisg.ch::415fa501-2e2a-4428-bd52-3d9320accab2" providerId="AD" clId="Web-{CB907AE4-32F0-932A-7FBF-A6A8F8E4AC96}" dt="2026-03-15T12:10:11.542" v="41" actId="20577"/>
          <ac:spMkLst>
            <pc:docMk/>
            <pc:sldMk cId="1613239070" sldId="321"/>
            <ac:spMk id="226" creationId="{9F937689-F565-5C86-0480-11E7C5C6E692}"/>
          </ac:spMkLst>
        </pc:spChg>
        <pc:spChg chg="mod">
          <ac:chgData name="Brenni, Giovanni" userId="S::giovanni.brenni@student.unisg.ch::415fa501-2e2a-4428-bd52-3d9320accab2" providerId="AD" clId="Web-{CB907AE4-32F0-932A-7FBF-A6A8F8E4AC96}" dt="2026-03-15T12:10:22.308" v="42" actId="20577"/>
          <ac:spMkLst>
            <pc:docMk/>
            <pc:sldMk cId="1613239070" sldId="321"/>
            <ac:spMk id="256" creationId="{5B04740F-CC40-75BF-C038-CF2DBEF1F0D4}"/>
          </ac:spMkLst>
        </pc:spChg>
        <pc:spChg chg="mod">
          <ac:chgData name="Brenni, Giovanni" userId="S::giovanni.brenni@student.unisg.ch::415fa501-2e2a-4428-bd52-3d9320accab2" providerId="AD" clId="Web-{CB907AE4-32F0-932A-7FBF-A6A8F8E4AC96}" dt="2026-03-15T12:10:29.324" v="43" actId="20577"/>
          <ac:spMkLst>
            <pc:docMk/>
            <pc:sldMk cId="1613239070" sldId="321"/>
            <ac:spMk id="268" creationId="{98980553-EDD0-09EC-5362-995282F46EF9}"/>
          </ac:spMkLst>
        </pc:spChg>
        <pc:spChg chg="mod">
          <ac:chgData name="Brenni, Giovanni" userId="S::giovanni.brenni@student.unisg.ch::415fa501-2e2a-4428-bd52-3d9320accab2" providerId="AD" clId="Web-{CB907AE4-32F0-932A-7FBF-A6A8F8E4AC96}" dt="2026-03-15T12:10:34.261" v="44" actId="20577"/>
          <ac:spMkLst>
            <pc:docMk/>
            <pc:sldMk cId="1613239070" sldId="321"/>
            <ac:spMk id="274" creationId="{B8085C78-B888-2B83-52BF-3E6103C43DA1}"/>
          </ac:spMkLst>
        </pc:spChg>
        <pc:spChg chg="mod">
          <ac:chgData name="Brenni, Giovanni" userId="S::giovanni.brenni@student.unisg.ch::415fa501-2e2a-4428-bd52-3d9320accab2" providerId="AD" clId="Web-{CB907AE4-32F0-932A-7FBF-A6A8F8E4AC96}" dt="2026-03-15T12:13:32.247" v="59" actId="20577"/>
          <ac:spMkLst>
            <pc:docMk/>
            <pc:sldMk cId="1613239070" sldId="321"/>
            <ac:spMk id="280" creationId="{5AF776C1-A5E0-09B5-0EF0-37B5980B6A8A}"/>
          </ac:spMkLst>
        </pc:spChg>
        <pc:spChg chg="mod">
          <ac:chgData name="Brenni, Giovanni" userId="S::giovanni.brenni@student.unisg.ch::415fa501-2e2a-4428-bd52-3d9320accab2" providerId="AD" clId="Web-{CB907AE4-32F0-932A-7FBF-A6A8F8E4AC96}" dt="2026-03-15T12:13:17.590" v="56" actId="20577"/>
          <ac:spMkLst>
            <pc:docMk/>
            <pc:sldMk cId="1613239070" sldId="321"/>
            <ac:spMk id="286" creationId="{BC88CAC0-14CE-D7EE-CAB1-A6FE462CA6A1}"/>
          </ac:spMkLst>
        </pc:spChg>
        <pc:spChg chg="mod">
          <ac:chgData name="Brenni, Giovanni" userId="S::giovanni.brenni@student.unisg.ch::415fa501-2e2a-4428-bd52-3d9320accab2" providerId="AD" clId="Web-{CB907AE4-32F0-932A-7FBF-A6A8F8E4AC96}" dt="2026-03-15T12:13:27.169" v="58" actId="20577"/>
          <ac:spMkLst>
            <pc:docMk/>
            <pc:sldMk cId="1613239070" sldId="321"/>
            <ac:spMk id="292" creationId="{CE4B619F-C6A0-9EE6-04F9-3582976CF680}"/>
          </ac:spMkLst>
        </pc:spChg>
        <pc:spChg chg="mod">
          <ac:chgData name="Brenni, Giovanni" userId="S::giovanni.brenni@student.unisg.ch::415fa501-2e2a-4428-bd52-3d9320accab2" providerId="AD" clId="Web-{CB907AE4-32F0-932A-7FBF-A6A8F8E4AC96}" dt="2026-03-15T12:13:35.950" v="60" actId="20577"/>
          <ac:spMkLst>
            <pc:docMk/>
            <pc:sldMk cId="1613239070" sldId="321"/>
            <ac:spMk id="298" creationId="{1047C829-D93F-E755-D264-CFEC26E19FF6}"/>
          </ac:spMkLst>
        </pc:spChg>
        <pc:spChg chg="mod">
          <ac:chgData name="Brenni, Giovanni" userId="S::giovanni.brenni@student.unisg.ch::415fa501-2e2a-4428-bd52-3d9320accab2" providerId="AD" clId="Web-{CB907AE4-32F0-932A-7FBF-A6A8F8E4AC96}" dt="2026-03-15T12:06:51.593" v="34" actId="20577"/>
          <ac:spMkLst>
            <pc:docMk/>
            <pc:sldMk cId="1613239070" sldId="321"/>
            <ac:spMk id="307" creationId="{B83F515D-B822-B559-BECE-2A1CE5ED88CB}"/>
          </ac:spMkLst>
        </pc:spChg>
      </pc:sldChg>
    </pc:docChg>
  </pc:docChgLst>
  <pc:docChgLst>
    <pc:chgData name="Brenni, Giovanni" userId="S::giovanni.brenni@student.unisg.ch::415fa501-2e2a-4428-bd52-3d9320accab2" providerId="AD" clId="Web-{98ED1255-9E67-B4B0-2138-355EA4F82E6B}"/>
    <pc:docChg chg="addSld delSld modSld">
      <pc:chgData name="Brenni, Giovanni" userId="S::giovanni.brenni@student.unisg.ch::415fa501-2e2a-4428-bd52-3d9320accab2" providerId="AD" clId="Web-{98ED1255-9E67-B4B0-2138-355EA4F82E6B}" dt="2026-03-15T14:32:17.948" v="42" actId="20577"/>
      <pc:docMkLst>
        <pc:docMk/>
      </pc:docMkLst>
      <pc:sldChg chg="add del">
        <pc:chgData name="Brenni, Giovanni" userId="S::giovanni.brenni@student.unisg.ch::415fa501-2e2a-4428-bd52-3d9320accab2" providerId="AD" clId="Web-{98ED1255-9E67-B4B0-2138-355EA4F82E6B}" dt="2026-03-15T14:30:07.666" v="11"/>
        <pc:sldMkLst>
          <pc:docMk/>
          <pc:sldMk cId="0" sldId="256"/>
        </pc:sldMkLst>
      </pc:sldChg>
      <pc:sldChg chg="add del">
        <pc:chgData name="Brenni, Giovanni" userId="S::giovanni.brenni@student.unisg.ch::415fa501-2e2a-4428-bd52-3d9320accab2" providerId="AD" clId="Web-{98ED1255-9E67-B4B0-2138-355EA4F82E6B}" dt="2026-03-15T14:30:07.854" v="12"/>
        <pc:sldMkLst>
          <pc:docMk/>
          <pc:sldMk cId="0" sldId="257"/>
        </pc:sldMkLst>
      </pc:sldChg>
      <pc:sldChg chg="add del">
        <pc:chgData name="Brenni, Giovanni" userId="S::giovanni.brenni@student.unisg.ch::415fa501-2e2a-4428-bd52-3d9320accab2" providerId="AD" clId="Web-{98ED1255-9E67-B4B0-2138-355EA4F82E6B}" dt="2026-03-15T14:30:08.166" v="13"/>
        <pc:sldMkLst>
          <pc:docMk/>
          <pc:sldMk cId="0" sldId="258"/>
        </pc:sldMkLst>
      </pc:sldChg>
      <pc:sldChg chg="add del">
        <pc:chgData name="Brenni, Giovanni" userId="S::giovanni.brenni@student.unisg.ch::415fa501-2e2a-4428-bd52-3d9320accab2" providerId="AD" clId="Web-{98ED1255-9E67-B4B0-2138-355EA4F82E6B}" dt="2026-03-15T14:30:08.369" v="14"/>
        <pc:sldMkLst>
          <pc:docMk/>
          <pc:sldMk cId="0" sldId="259"/>
        </pc:sldMkLst>
      </pc:sldChg>
      <pc:sldChg chg="add del">
        <pc:chgData name="Brenni, Giovanni" userId="S::giovanni.brenni@student.unisg.ch::415fa501-2e2a-4428-bd52-3d9320accab2" providerId="AD" clId="Web-{98ED1255-9E67-B4B0-2138-355EA4F82E6B}" dt="2026-03-15T14:30:08.588" v="15"/>
        <pc:sldMkLst>
          <pc:docMk/>
          <pc:sldMk cId="0" sldId="260"/>
        </pc:sldMkLst>
      </pc:sldChg>
      <pc:sldChg chg="add del">
        <pc:chgData name="Brenni, Giovanni" userId="S::giovanni.brenni@student.unisg.ch::415fa501-2e2a-4428-bd52-3d9320accab2" providerId="AD" clId="Web-{98ED1255-9E67-B4B0-2138-355EA4F82E6B}" dt="2026-03-15T14:30:08.854" v="16"/>
        <pc:sldMkLst>
          <pc:docMk/>
          <pc:sldMk cId="0" sldId="261"/>
        </pc:sldMkLst>
      </pc:sldChg>
      <pc:sldChg chg="add del">
        <pc:chgData name="Brenni, Giovanni" userId="S::giovanni.brenni@student.unisg.ch::415fa501-2e2a-4428-bd52-3d9320accab2" providerId="AD" clId="Web-{98ED1255-9E67-B4B0-2138-355EA4F82E6B}" dt="2026-03-15T14:30:08.994" v="17"/>
        <pc:sldMkLst>
          <pc:docMk/>
          <pc:sldMk cId="0" sldId="262"/>
        </pc:sldMkLst>
      </pc:sldChg>
      <pc:sldChg chg="addSp modSp">
        <pc:chgData name="Brenni, Giovanni" userId="S::giovanni.brenni@student.unisg.ch::415fa501-2e2a-4428-bd52-3d9320accab2" providerId="AD" clId="Web-{98ED1255-9E67-B4B0-2138-355EA4F82E6B}" dt="2026-03-15T14:29:30.557" v="2" actId="20577"/>
        <pc:sldMkLst>
          <pc:docMk/>
          <pc:sldMk cId="786396842" sldId="317"/>
        </pc:sldMkLst>
        <pc:spChg chg="add mod">
          <ac:chgData name="Brenni, Giovanni" userId="S::giovanni.brenni@student.unisg.ch::415fa501-2e2a-4428-bd52-3d9320accab2" providerId="AD" clId="Web-{98ED1255-9E67-B4B0-2138-355EA4F82E6B}" dt="2026-03-15T14:29:30.557" v="2" actId="20577"/>
          <ac:spMkLst>
            <pc:docMk/>
            <pc:sldMk cId="786396842" sldId="317"/>
            <ac:spMk id="4" creationId="{C9B7AF2E-33E6-2097-E14A-AE95B62C195C}"/>
          </ac:spMkLst>
        </pc:spChg>
      </pc:sldChg>
      <pc:sldChg chg="modSp add replId">
        <pc:chgData name="Brenni, Giovanni" userId="S::giovanni.brenni@student.unisg.ch::415fa501-2e2a-4428-bd52-3d9320accab2" providerId="AD" clId="Web-{98ED1255-9E67-B4B0-2138-355EA4F82E6B}" dt="2026-03-15T14:32:17.948" v="42" actId="20577"/>
        <pc:sldMkLst>
          <pc:docMk/>
          <pc:sldMk cId="3398968554" sldId="324"/>
        </pc:sldMkLst>
        <pc:spChg chg="mod">
          <ac:chgData name="Brenni, Giovanni" userId="S::giovanni.brenni@student.unisg.ch::415fa501-2e2a-4428-bd52-3d9320accab2" providerId="AD" clId="Web-{98ED1255-9E67-B4B0-2138-355EA4F82E6B}" dt="2026-03-15T14:32:17.948" v="42" actId="20577"/>
          <ac:spMkLst>
            <pc:docMk/>
            <pc:sldMk cId="3398968554" sldId="324"/>
            <ac:spMk id="2" creationId="{FFD54C83-C9B6-422B-D78C-F3B372D98B67}"/>
          </ac:spMkLst>
        </pc:spChg>
        <pc:spChg chg="mod">
          <ac:chgData name="Brenni, Giovanni" userId="S::giovanni.brenni@student.unisg.ch::415fa501-2e2a-4428-bd52-3d9320accab2" providerId="AD" clId="Web-{98ED1255-9E67-B4B0-2138-355EA4F82E6B}" dt="2026-03-15T14:31:32.276" v="18" actId="20577"/>
          <ac:spMkLst>
            <pc:docMk/>
            <pc:sldMk cId="3398968554" sldId="324"/>
            <ac:spMk id="3" creationId="{213D72C8-B417-9D92-1DCA-F21B5147ABC5}"/>
          </ac:spMkLst>
        </pc:spChg>
      </pc:sldChg>
    </pc:docChg>
  </pc:docChgLst>
  <pc:docChgLst>
    <pc:chgData name="Brenni, Giovanni" userId="S::giovanni.brenni@student.unisg.ch::415fa501-2e2a-4428-bd52-3d9320accab2" providerId="AD" clId="Web-{FE8C893C-AA72-26CD-A0D5-69652A48BE04}"/>
    <pc:docChg chg="addSld modSld">
      <pc:chgData name="Brenni, Giovanni" userId="S::giovanni.brenni@student.unisg.ch::415fa501-2e2a-4428-bd52-3d9320accab2" providerId="AD" clId="Web-{FE8C893C-AA72-26CD-A0D5-69652A48BE04}" dt="2026-03-25T09:21:04.083" v="7"/>
      <pc:docMkLst>
        <pc:docMk/>
      </pc:docMkLst>
      <pc:sldChg chg="addSp delSp modSp new">
        <pc:chgData name="Brenni, Giovanni" userId="S::giovanni.brenni@student.unisg.ch::415fa501-2e2a-4428-bd52-3d9320accab2" providerId="AD" clId="Web-{FE8C893C-AA72-26CD-A0D5-69652A48BE04}" dt="2026-03-25T09:21:04.083" v="7"/>
        <pc:sldMkLst>
          <pc:docMk/>
          <pc:sldMk cId="4027136235" sldId="340"/>
        </pc:sldMkLst>
        <pc:spChg chg="mod">
          <ac:chgData name="Brenni, Giovanni" userId="S::giovanni.brenni@student.unisg.ch::415fa501-2e2a-4428-bd52-3d9320accab2" providerId="AD" clId="Web-{FE8C893C-AA72-26CD-A0D5-69652A48BE04}" dt="2026-03-25T09:21:01.755" v="6" actId="20577"/>
          <ac:spMkLst>
            <pc:docMk/>
            <pc:sldMk cId="4027136235" sldId="340"/>
            <ac:spMk id="2" creationId="{68A8ABCA-9CC6-3AF9-D83A-BB2C709DC4E8}"/>
          </ac:spMkLst>
        </pc:spChg>
        <pc:spChg chg="del">
          <ac:chgData name="Brenni, Giovanni" userId="S::giovanni.brenni@student.unisg.ch::415fa501-2e2a-4428-bd52-3d9320accab2" providerId="AD" clId="Web-{FE8C893C-AA72-26CD-A0D5-69652A48BE04}" dt="2026-03-25T09:21:04.083" v="7"/>
          <ac:spMkLst>
            <pc:docMk/>
            <pc:sldMk cId="4027136235" sldId="340"/>
            <ac:spMk id="3" creationId="{0D021BB8-E7D2-9F78-2A1F-14B09D121206}"/>
          </ac:spMkLst>
        </pc:spChg>
        <pc:picChg chg="add mod ord">
          <ac:chgData name="Brenni, Giovanni" userId="S::giovanni.brenni@student.unisg.ch::415fa501-2e2a-4428-bd52-3d9320accab2" providerId="AD" clId="Web-{FE8C893C-AA72-26CD-A0D5-69652A48BE04}" dt="2026-03-25T09:21:04.083" v="7"/>
          <ac:picMkLst>
            <pc:docMk/>
            <pc:sldMk cId="4027136235" sldId="340"/>
            <ac:picMk id="6" creationId="{2ADFC9E3-57BB-2901-B000-BFCEA2EEDCA3}"/>
          </ac:picMkLst>
        </pc:picChg>
      </pc:sldChg>
    </pc:docChg>
  </pc:docChgLst>
  <pc:docChgLst>
    <pc:chgData name="Brenni, Giovanni" userId="S::giovanni.brenni@student.unisg.ch::415fa501-2e2a-4428-bd52-3d9320accab2" providerId="AD" clId="Web-{5DE31518-E960-A6D6-F12F-E783E49B3277}"/>
    <pc:docChg chg="addSld delSld modSld">
      <pc:chgData name="Brenni, Giovanni" userId="S::giovanni.brenni@student.unisg.ch::415fa501-2e2a-4428-bd52-3d9320accab2" providerId="AD" clId="Web-{5DE31518-E960-A6D6-F12F-E783E49B3277}" dt="2026-03-11T18:02:02.222" v="233"/>
      <pc:docMkLst>
        <pc:docMk/>
      </pc:docMkLst>
      <pc:sldChg chg="addSp delSp modSp">
        <pc:chgData name="Brenni, Giovanni" userId="S::giovanni.brenni@student.unisg.ch::415fa501-2e2a-4428-bd52-3d9320accab2" providerId="AD" clId="Web-{5DE31518-E960-A6D6-F12F-E783E49B3277}" dt="2026-03-11T17:36:17.297" v="72" actId="1076"/>
        <pc:sldMkLst>
          <pc:docMk/>
          <pc:sldMk cId="3180419392" sldId="316"/>
        </pc:sldMkLst>
        <pc:spChg chg="add mod">
          <ac:chgData name="Brenni, Giovanni" userId="S::giovanni.brenni@student.unisg.ch::415fa501-2e2a-4428-bd52-3d9320accab2" providerId="AD" clId="Web-{5DE31518-E960-A6D6-F12F-E783E49B3277}" dt="2026-03-11T17:36:17.297" v="72" actId="1076"/>
          <ac:spMkLst>
            <pc:docMk/>
            <pc:sldMk cId="3180419392" sldId="316"/>
            <ac:spMk id="13" creationId="{EDE20CD1-12B4-8759-D4A8-D4E70C6AA7FD}"/>
          </ac:spMkLst>
        </pc:spChg>
      </pc:sldChg>
      <pc:sldChg chg="addSp delSp modSp">
        <pc:chgData name="Brenni, Giovanni" userId="S::giovanni.brenni@student.unisg.ch::415fa501-2e2a-4428-bd52-3d9320accab2" providerId="AD" clId="Web-{5DE31518-E960-A6D6-F12F-E783E49B3277}" dt="2026-03-11T17:42:03.200" v="217" actId="20577"/>
        <pc:sldMkLst>
          <pc:docMk/>
          <pc:sldMk cId="4218477805" sldId="318"/>
        </pc:sldMkLst>
        <pc:spChg chg="mod">
          <ac:chgData name="Brenni, Giovanni" userId="S::giovanni.brenni@student.unisg.ch::415fa501-2e2a-4428-bd52-3d9320accab2" providerId="AD" clId="Web-{5DE31518-E960-A6D6-F12F-E783E49B3277}" dt="2026-03-11T17:39:41.743" v="185" actId="20577"/>
          <ac:spMkLst>
            <pc:docMk/>
            <pc:sldMk cId="4218477805" sldId="318"/>
            <ac:spMk id="5" creationId="{F9A2D694-52F9-74DF-822F-6CCEE77657A3}"/>
          </ac:spMkLst>
        </pc:spChg>
        <pc:spChg chg="mod">
          <ac:chgData name="Brenni, Giovanni" userId="S::giovanni.brenni@student.unisg.ch::415fa501-2e2a-4428-bd52-3d9320accab2" providerId="AD" clId="Web-{5DE31518-E960-A6D6-F12F-E783E49B3277}" dt="2026-03-11T17:42:03.200" v="217" actId="20577"/>
          <ac:spMkLst>
            <pc:docMk/>
            <pc:sldMk cId="4218477805" sldId="318"/>
            <ac:spMk id="14" creationId="{2269B678-DB9A-229F-FD67-90F57C59D75E}"/>
          </ac:spMkLst>
        </pc:spChg>
        <pc:picChg chg="add mod">
          <ac:chgData name="Brenni, Giovanni" userId="S::giovanni.brenni@student.unisg.ch::415fa501-2e2a-4428-bd52-3d9320accab2" providerId="AD" clId="Web-{5DE31518-E960-A6D6-F12F-E783E49B3277}" dt="2026-03-11T17:41:25.355" v="195" actId="1076"/>
          <ac:picMkLst>
            <pc:docMk/>
            <pc:sldMk cId="4218477805" sldId="318"/>
            <ac:picMk id="15" creationId="{7FFE9459-9D7B-51F1-2F4B-5F8FE9BBBDAC}"/>
          </ac:picMkLst>
        </pc:picChg>
      </pc:sldChg>
    </pc:docChg>
  </pc:docChgLst>
  <pc:docChgLst>
    <pc:chgData name="Brenni, Giovanni" userId="415fa501-2e2a-4428-bd52-3d9320accab2" providerId="ADAL" clId="{98B48EE4-A13B-5AC0-9360-55E0FA650246}"/>
    <pc:docChg chg="undo custSel addSld delSld modSld sldOrd">
      <pc:chgData name="Brenni, Giovanni" userId="415fa501-2e2a-4428-bd52-3d9320accab2" providerId="ADAL" clId="{98B48EE4-A13B-5AC0-9360-55E0FA650246}" dt="2026-03-17T10:02:15.824" v="2274" actId="14100"/>
      <pc:docMkLst>
        <pc:docMk/>
      </pc:docMkLst>
      <pc:sldChg chg="addSp delSp modSp new mod ord">
        <pc:chgData name="Brenni, Giovanni" userId="415fa501-2e2a-4428-bd52-3d9320accab2" providerId="ADAL" clId="{98B48EE4-A13B-5AC0-9360-55E0FA650246}" dt="2026-03-16T14:35:20.098" v="1444" actId="2711"/>
        <pc:sldMkLst>
          <pc:docMk/>
          <pc:sldMk cId="4220626447" sldId="320"/>
        </pc:sldMkLst>
        <pc:spChg chg="mod">
          <ac:chgData name="Brenni, Giovanni" userId="415fa501-2e2a-4428-bd52-3d9320accab2" providerId="ADAL" clId="{98B48EE4-A13B-5AC0-9360-55E0FA650246}" dt="2026-03-15T09:09:48.175" v="228" actId="20577"/>
          <ac:spMkLst>
            <pc:docMk/>
            <pc:sldMk cId="4220626447" sldId="320"/>
            <ac:spMk id="2" creationId="{9F4B796D-E75F-8501-079D-2130E032C4BF}"/>
          </ac:spMkLst>
        </pc:spChg>
        <pc:spChg chg="mod">
          <ac:chgData name="Brenni, Giovanni" userId="415fa501-2e2a-4428-bd52-3d9320accab2" providerId="ADAL" clId="{98B48EE4-A13B-5AC0-9360-55E0FA650246}" dt="2026-03-15T09:12:12.665" v="275" actId="208"/>
          <ac:spMkLst>
            <pc:docMk/>
            <pc:sldMk cId="4220626447" sldId="320"/>
            <ac:spMk id="28" creationId="{18B0882F-5714-0328-F89B-A41AFAF2D25F}"/>
          </ac:spMkLst>
        </pc:spChg>
        <pc:spChg chg="mod">
          <ac:chgData name="Brenni, Giovanni" userId="415fa501-2e2a-4428-bd52-3d9320accab2" providerId="ADAL" clId="{98B48EE4-A13B-5AC0-9360-55E0FA650246}" dt="2026-03-16T14:35:20.098" v="1444" actId="2711"/>
          <ac:spMkLst>
            <pc:docMk/>
            <pc:sldMk cId="4220626447" sldId="320"/>
            <ac:spMk id="29" creationId="{47379F89-FF7F-29B9-DC25-EA9E8BF2F3E5}"/>
          </ac:spMkLst>
        </pc:spChg>
        <pc:spChg chg="add mod">
          <ac:chgData name="Brenni, Giovanni" userId="415fa501-2e2a-4428-bd52-3d9320accab2" providerId="ADAL" clId="{98B48EE4-A13B-5AC0-9360-55E0FA650246}" dt="2026-03-15T15:36:02.492" v="464" actId="1036"/>
          <ac:spMkLst>
            <pc:docMk/>
            <pc:sldMk cId="4220626447" sldId="320"/>
            <ac:spMk id="30" creationId="{53D6FA49-2A00-FF56-DF72-B942FA2E4CD8}"/>
          </ac:spMkLst>
        </pc:spChg>
        <pc:spChg chg="mod">
          <ac:chgData name="Brenni, Giovanni" userId="415fa501-2e2a-4428-bd52-3d9320accab2" providerId="ADAL" clId="{98B48EE4-A13B-5AC0-9360-55E0FA650246}" dt="2026-03-15T09:11:01.677" v="265" actId="207"/>
          <ac:spMkLst>
            <pc:docMk/>
            <pc:sldMk cId="4220626447" sldId="320"/>
            <ac:spMk id="32" creationId="{6B3AA6FD-775F-6A79-10F6-9D6E5797D86D}"/>
          </ac:spMkLst>
        </pc:spChg>
        <pc:spChg chg="add mod">
          <ac:chgData name="Brenni, Giovanni" userId="415fa501-2e2a-4428-bd52-3d9320accab2" providerId="ADAL" clId="{98B48EE4-A13B-5AC0-9360-55E0FA650246}" dt="2026-03-15T09:11:34.800" v="270" actId="207"/>
          <ac:spMkLst>
            <pc:docMk/>
            <pc:sldMk cId="4220626447" sldId="320"/>
            <ac:spMk id="33" creationId="{E9A29FF4-7E90-4242-5EDB-4D4655A82111}"/>
          </ac:spMkLst>
        </pc:spChg>
        <pc:spChg chg="mod">
          <ac:chgData name="Brenni, Giovanni" userId="415fa501-2e2a-4428-bd52-3d9320accab2" providerId="ADAL" clId="{98B48EE4-A13B-5AC0-9360-55E0FA650246}" dt="2026-03-16T14:35:20.098" v="1444" actId="2711"/>
          <ac:spMkLst>
            <pc:docMk/>
            <pc:sldMk cId="4220626447" sldId="320"/>
            <ac:spMk id="34" creationId="{7A2D4183-5312-93B4-F57D-255879D3050C}"/>
          </ac:spMkLst>
        </pc:spChg>
        <pc:spChg chg="mod">
          <ac:chgData name="Brenni, Giovanni" userId="415fa501-2e2a-4428-bd52-3d9320accab2" providerId="ADAL" clId="{98B48EE4-A13B-5AC0-9360-55E0FA650246}" dt="2026-03-16T14:35:20.098" v="1444" actId="2711"/>
          <ac:spMkLst>
            <pc:docMk/>
            <pc:sldMk cId="4220626447" sldId="320"/>
            <ac:spMk id="35" creationId="{1291847A-8FB2-A7C0-F308-F59D47011E25}"/>
          </ac:spMkLst>
        </pc:spChg>
        <pc:spChg chg="add mod">
          <ac:chgData name="Brenni, Giovanni" userId="415fa501-2e2a-4428-bd52-3d9320accab2" providerId="ADAL" clId="{98B48EE4-A13B-5AC0-9360-55E0FA650246}" dt="2026-03-15T09:12:07.413" v="274" actId="207"/>
          <ac:spMkLst>
            <pc:docMk/>
            <pc:sldMk cId="4220626447" sldId="320"/>
            <ac:spMk id="36" creationId="{94EB0FF0-A85E-4375-9BA9-DF4F452562C1}"/>
          </ac:spMkLst>
        </pc:spChg>
        <pc:spChg chg="mod">
          <ac:chgData name="Brenni, Giovanni" userId="415fa501-2e2a-4428-bd52-3d9320accab2" providerId="ADAL" clId="{98B48EE4-A13B-5AC0-9360-55E0FA650246}" dt="2026-03-15T09:11:59.063" v="273" actId="207"/>
          <ac:spMkLst>
            <pc:docMk/>
            <pc:sldMk cId="4220626447" sldId="320"/>
            <ac:spMk id="37" creationId="{80B1A4CB-62F8-8477-2A91-7B30427F24A4}"/>
          </ac:spMkLst>
        </pc:spChg>
        <pc:spChg chg="add mod">
          <ac:chgData name="Brenni, Giovanni" userId="415fa501-2e2a-4428-bd52-3d9320accab2" providerId="ADAL" clId="{98B48EE4-A13B-5AC0-9360-55E0FA650246}" dt="2026-03-15T09:11:59.063" v="273" actId="207"/>
          <ac:spMkLst>
            <pc:docMk/>
            <pc:sldMk cId="4220626447" sldId="320"/>
            <ac:spMk id="39" creationId="{97A4A2B1-BED9-DC01-4E7F-5FBA89D957BD}"/>
          </ac:spMkLst>
        </pc:spChg>
        <pc:spChg chg="add mod">
          <ac:chgData name="Brenni, Giovanni" userId="415fa501-2e2a-4428-bd52-3d9320accab2" providerId="ADAL" clId="{98B48EE4-A13B-5AC0-9360-55E0FA650246}" dt="2026-03-15T09:12:07.413" v="274" actId="207"/>
          <ac:spMkLst>
            <pc:docMk/>
            <pc:sldMk cId="4220626447" sldId="320"/>
            <ac:spMk id="40" creationId="{47015595-F767-6FC6-9960-D5CECA315004}"/>
          </ac:spMkLst>
        </pc:spChg>
        <pc:spChg chg="mod">
          <ac:chgData name="Brenni, Giovanni" userId="415fa501-2e2a-4428-bd52-3d9320accab2" providerId="ADAL" clId="{98B48EE4-A13B-5AC0-9360-55E0FA650246}" dt="2026-03-15T09:12:07.413" v="274" actId="207"/>
          <ac:spMkLst>
            <pc:docMk/>
            <pc:sldMk cId="4220626447" sldId="320"/>
            <ac:spMk id="41" creationId="{BB7F96F4-C724-3302-3F1F-1D8F426B4C33}"/>
          </ac:spMkLst>
        </pc:spChg>
        <pc:spChg chg="mod">
          <ac:chgData name="Brenni, Giovanni" userId="415fa501-2e2a-4428-bd52-3d9320accab2" providerId="ADAL" clId="{98B48EE4-A13B-5AC0-9360-55E0FA650246}" dt="2026-03-15T09:12:07.413" v="274" actId="207"/>
          <ac:spMkLst>
            <pc:docMk/>
            <pc:sldMk cId="4220626447" sldId="320"/>
            <ac:spMk id="42" creationId="{6A4038A2-8A80-4C4F-32B5-D44831FD4D8D}"/>
          </ac:spMkLst>
        </pc:spChg>
        <pc:spChg chg="mod">
          <ac:chgData name="Brenni, Giovanni" userId="415fa501-2e2a-4428-bd52-3d9320accab2" providerId="ADAL" clId="{98B48EE4-A13B-5AC0-9360-55E0FA650246}" dt="2026-03-15T09:11:59.063" v="273" actId="207"/>
          <ac:spMkLst>
            <pc:docMk/>
            <pc:sldMk cId="4220626447" sldId="320"/>
            <ac:spMk id="43" creationId="{6C4FCA18-E36F-C045-208B-99E7C457D9AD}"/>
          </ac:spMkLst>
        </pc:spChg>
        <pc:spChg chg="mod">
          <ac:chgData name="Brenni, Giovanni" userId="415fa501-2e2a-4428-bd52-3d9320accab2" providerId="ADAL" clId="{98B48EE4-A13B-5AC0-9360-55E0FA650246}" dt="2026-03-15T09:11:59.063" v="273" actId="207"/>
          <ac:spMkLst>
            <pc:docMk/>
            <pc:sldMk cId="4220626447" sldId="320"/>
            <ac:spMk id="45" creationId="{E82B0B22-122A-409D-813B-8AD2AB205B51}"/>
          </ac:spMkLst>
        </pc:spChg>
        <pc:spChg chg="mod">
          <ac:chgData name="Brenni, Giovanni" userId="415fa501-2e2a-4428-bd52-3d9320accab2" providerId="ADAL" clId="{98B48EE4-A13B-5AC0-9360-55E0FA650246}" dt="2026-03-15T09:12:07.413" v="274" actId="207"/>
          <ac:spMkLst>
            <pc:docMk/>
            <pc:sldMk cId="4220626447" sldId="320"/>
            <ac:spMk id="46" creationId="{CA7A5F66-5861-7924-F55A-2B34C6B33244}"/>
          </ac:spMkLst>
        </pc:spChg>
        <pc:spChg chg="add mod">
          <ac:chgData name="Brenni, Giovanni" userId="415fa501-2e2a-4428-bd52-3d9320accab2" providerId="ADAL" clId="{98B48EE4-A13B-5AC0-9360-55E0FA650246}" dt="2026-03-15T09:12:07.413" v="274" actId="207"/>
          <ac:spMkLst>
            <pc:docMk/>
            <pc:sldMk cId="4220626447" sldId="320"/>
            <ac:spMk id="48" creationId="{2444B9E3-3B84-7F63-B614-C76229ADC465}"/>
          </ac:spMkLst>
        </pc:spChg>
        <pc:spChg chg="mod">
          <ac:chgData name="Brenni, Giovanni" userId="415fa501-2e2a-4428-bd52-3d9320accab2" providerId="ADAL" clId="{98B48EE4-A13B-5AC0-9360-55E0FA650246}" dt="2026-03-15T09:11:50.827" v="272" actId="2085"/>
          <ac:spMkLst>
            <pc:docMk/>
            <pc:sldMk cId="4220626447" sldId="320"/>
            <ac:spMk id="49" creationId="{63965AF4-5D4F-17DB-83DF-313AE866AB82}"/>
          </ac:spMkLst>
        </pc:spChg>
        <pc:spChg chg="mod">
          <ac:chgData name="Brenni, Giovanni" userId="415fa501-2e2a-4428-bd52-3d9320accab2" providerId="ADAL" clId="{98B48EE4-A13B-5AC0-9360-55E0FA650246}" dt="2026-03-16T14:35:20.098" v="1444" actId="2711"/>
          <ac:spMkLst>
            <pc:docMk/>
            <pc:sldMk cId="4220626447" sldId="320"/>
            <ac:spMk id="50" creationId="{E53FA8E6-2D45-841D-0EAA-981BD1127AA7}"/>
          </ac:spMkLst>
        </pc:spChg>
        <pc:spChg chg="add mod">
          <ac:chgData name="Brenni, Giovanni" userId="415fa501-2e2a-4428-bd52-3d9320accab2" providerId="ADAL" clId="{98B48EE4-A13B-5AC0-9360-55E0FA650246}" dt="2026-03-15T09:11:59.063" v="273" actId="207"/>
          <ac:spMkLst>
            <pc:docMk/>
            <pc:sldMk cId="4220626447" sldId="320"/>
            <ac:spMk id="51" creationId="{FACBD214-CE02-1C1E-D791-16BC3C5D45C5}"/>
          </ac:spMkLst>
        </pc:spChg>
        <pc:spChg chg="add mod">
          <ac:chgData name="Brenni, Giovanni" userId="415fa501-2e2a-4428-bd52-3d9320accab2" providerId="ADAL" clId="{98B48EE4-A13B-5AC0-9360-55E0FA650246}" dt="2026-03-16T14:35:20.098" v="1444" actId="2711"/>
          <ac:spMkLst>
            <pc:docMk/>
            <pc:sldMk cId="4220626447" sldId="320"/>
            <ac:spMk id="52" creationId="{8622C9E3-91E9-3DCA-548B-1E795D05E254}"/>
          </ac:spMkLst>
        </pc:spChg>
        <pc:spChg chg="add mod">
          <ac:chgData name="Brenni, Giovanni" userId="415fa501-2e2a-4428-bd52-3d9320accab2" providerId="ADAL" clId="{98B48EE4-A13B-5AC0-9360-55E0FA650246}" dt="2026-03-15T09:12:07.413" v="274" actId="207"/>
          <ac:spMkLst>
            <pc:docMk/>
            <pc:sldMk cId="4220626447" sldId="320"/>
            <ac:spMk id="53" creationId="{941C898F-AB04-DF6B-625B-836ED8DAAE57}"/>
          </ac:spMkLst>
        </pc:spChg>
        <pc:spChg chg="mod">
          <ac:chgData name="Brenni, Giovanni" userId="415fa501-2e2a-4428-bd52-3d9320accab2" providerId="ADAL" clId="{98B48EE4-A13B-5AC0-9360-55E0FA650246}" dt="2026-03-15T09:12:07.413" v="274" actId="207"/>
          <ac:spMkLst>
            <pc:docMk/>
            <pc:sldMk cId="4220626447" sldId="320"/>
            <ac:spMk id="54" creationId="{E775B9C3-55B4-EFA3-86CD-DD5D6DB52042}"/>
          </ac:spMkLst>
        </pc:spChg>
        <pc:spChg chg="mod">
          <ac:chgData name="Brenni, Giovanni" userId="415fa501-2e2a-4428-bd52-3d9320accab2" providerId="ADAL" clId="{98B48EE4-A13B-5AC0-9360-55E0FA650246}" dt="2026-03-16T14:35:20.098" v="1444" actId="2711"/>
          <ac:spMkLst>
            <pc:docMk/>
            <pc:sldMk cId="4220626447" sldId="320"/>
            <ac:spMk id="55" creationId="{32AAC680-B183-C5E7-7BE7-1DE36B26F3D4}"/>
          </ac:spMkLst>
        </pc:spChg>
        <pc:spChg chg="mod">
          <ac:chgData name="Brenni, Giovanni" userId="415fa501-2e2a-4428-bd52-3d9320accab2" providerId="ADAL" clId="{98B48EE4-A13B-5AC0-9360-55E0FA650246}" dt="2026-03-15T09:11:59.063" v="273" actId="207"/>
          <ac:spMkLst>
            <pc:docMk/>
            <pc:sldMk cId="4220626447" sldId="320"/>
            <ac:spMk id="56" creationId="{E3054B90-2E4E-E400-E39F-160CCCB66D45}"/>
          </ac:spMkLst>
        </pc:spChg>
        <pc:spChg chg="mod">
          <ac:chgData name="Brenni, Giovanni" userId="415fa501-2e2a-4428-bd52-3d9320accab2" providerId="ADAL" clId="{98B48EE4-A13B-5AC0-9360-55E0FA650246}" dt="2026-03-16T14:35:20.098" v="1444" actId="2711"/>
          <ac:spMkLst>
            <pc:docMk/>
            <pc:sldMk cId="4220626447" sldId="320"/>
            <ac:spMk id="58" creationId="{A1672FFF-75E2-8CBE-42FF-DD3B2EF0B7E9}"/>
          </ac:spMkLst>
        </pc:spChg>
        <pc:spChg chg="mod">
          <ac:chgData name="Brenni, Giovanni" userId="415fa501-2e2a-4428-bd52-3d9320accab2" providerId="ADAL" clId="{98B48EE4-A13B-5AC0-9360-55E0FA650246}" dt="2026-03-15T09:12:07.413" v="274" actId="207"/>
          <ac:spMkLst>
            <pc:docMk/>
            <pc:sldMk cId="4220626447" sldId="320"/>
            <ac:spMk id="60" creationId="{864A9ED2-E6EE-93C5-16E0-30ABE868DDE7}"/>
          </ac:spMkLst>
        </pc:spChg>
        <pc:spChg chg="add mod">
          <ac:chgData name="Brenni, Giovanni" userId="415fa501-2e2a-4428-bd52-3d9320accab2" providerId="ADAL" clId="{98B48EE4-A13B-5AC0-9360-55E0FA650246}" dt="2026-03-15T09:11:59.063" v="273" actId="207"/>
          <ac:spMkLst>
            <pc:docMk/>
            <pc:sldMk cId="4220626447" sldId="320"/>
            <ac:spMk id="61" creationId="{A9FD14EA-7E2A-C223-3ADC-936A099D5683}"/>
          </ac:spMkLst>
        </pc:spChg>
        <pc:spChg chg="mod">
          <ac:chgData name="Brenni, Giovanni" userId="415fa501-2e2a-4428-bd52-3d9320accab2" providerId="ADAL" clId="{98B48EE4-A13B-5AC0-9360-55E0FA650246}" dt="2026-03-15T09:11:22.166" v="267" actId="2085"/>
          <ac:spMkLst>
            <pc:docMk/>
            <pc:sldMk cId="4220626447" sldId="320"/>
            <ac:spMk id="64" creationId="{0EF0BECC-20FC-E60F-EA2B-841F5D8E3A3A}"/>
          </ac:spMkLst>
        </pc:spChg>
        <pc:spChg chg="mod">
          <ac:chgData name="Brenni, Giovanni" userId="415fa501-2e2a-4428-bd52-3d9320accab2" providerId="ADAL" clId="{98B48EE4-A13B-5AC0-9360-55E0FA650246}" dt="2026-03-16T14:35:20.098" v="1444" actId="2711"/>
          <ac:spMkLst>
            <pc:docMk/>
            <pc:sldMk cId="4220626447" sldId="320"/>
            <ac:spMk id="65" creationId="{A6F538BC-0778-D5DB-B0BD-7F5A6CAC6329}"/>
          </ac:spMkLst>
        </pc:spChg>
        <pc:spChg chg="mod">
          <ac:chgData name="Brenni, Giovanni" userId="415fa501-2e2a-4428-bd52-3d9320accab2" providerId="ADAL" clId="{98B48EE4-A13B-5AC0-9360-55E0FA650246}" dt="2026-03-15T09:11:50.827" v="272" actId="2085"/>
          <ac:spMkLst>
            <pc:docMk/>
            <pc:sldMk cId="4220626447" sldId="320"/>
            <ac:spMk id="67" creationId="{71B8B4D1-64B4-F55D-50BF-F0D2DD3DD706}"/>
          </ac:spMkLst>
        </pc:spChg>
        <pc:spChg chg="mod">
          <ac:chgData name="Brenni, Giovanni" userId="415fa501-2e2a-4428-bd52-3d9320accab2" providerId="ADAL" clId="{98B48EE4-A13B-5AC0-9360-55E0FA650246}" dt="2026-03-16T14:35:20.098" v="1444" actId="2711"/>
          <ac:spMkLst>
            <pc:docMk/>
            <pc:sldMk cId="4220626447" sldId="320"/>
            <ac:spMk id="68" creationId="{07B6AF7E-2869-C4F2-4926-139F03E7EE59}"/>
          </ac:spMkLst>
        </pc:spChg>
        <pc:spChg chg="mod">
          <ac:chgData name="Brenni, Giovanni" userId="415fa501-2e2a-4428-bd52-3d9320accab2" providerId="ADAL" clId="{98B48EE4-A13B-5AC0-9360-55E0FA650246}" dt="2026-03-15T09:11:59.063" v="273" actId="207"/>
          <ac:spMkLst>
            <pc:docMk/>
            <pc:sldMk cId="4220626447" sldId="320"/>
            <ac:spMk id="69" creationId="{AAE0E6D3-AB96-5117-23A0-9F12E865D571}"/>
          </ac:spMkLst>
        </pc:spChg>
        <pc:spChg chg="mod">
          <ac:chgData name="Brenni, Giovanni" userId="415fa501-2e2a-4428-bd52-3d9320accab2" providerId="ADAL" clId="{98B48EE4-A13B-5AC0-9360-55E0FA650246}" dt="2026-03-16T14:35:20.098" v="1444" actId="2711"/>
          <ac:spMkLst>
            <pc:docMk/>
            <pc:sldMk cId="4220626447" sldId="320"/>
            <ac:spMk id="70" creationId="{BF17F50F-AD94-110F-787E-EEF39628EB30}"/>
          </ac:spMkLst>
        </pc:spChg>
      </pc:sldChg>
      <pc:sldChg chg="addSp delSp modSp new mod">
        <pc:chgData name="Brenni, Giovanni" userId="415fa501-2e2a-4428-bd52-3d9320accab2" providerId="ADAL" clId="{98B48EE4-A13B-5AC0-9360-55E0FA650246}" dt="2026-03-16T14:35:34.074" v="1445" actId="2711"/>
        <pc:sldMkLst>
          <pc:docMk/>
          <pc:sldMk cId="1613239070" sldId="321"/>
        </pc:sldMkLst>
        <pc:spChg chg="mod">
          <ac:chgData name="Brenni, Giovanni" userId="415fa501-2e2a-4428-bd52-3d9320accab2" providerId="ADAL" clId="{98B48EE4-A13B-5AC0-9360-55E0FA650246}" dt="2026-03-15T09:09:43.816" v="225" actId="20577"/>
          <ac:spMkLst>
            <pc:docMk/>
            <pc:sldMk cId="1613239070" sldId="321"/>
            <ac:spMk id="2" creationId="{07740043-CD86-84AE-1C0E-ADD3800C22E4}"/>
          </ac:spMkLst>
        </pc:spChg>
        <pc:spChg chg="mod">
          <ac:chgData name="Brenni, Giovanni" userId="415fa501-2e2a-4428-bd52-3d9320accab2" providerId="ADAL" clId="{98B48EE4-A13B-5AC0-9360-55E0FA650246}" dt="2026-03-15T09:14:49.056" v="312" actId="208"/>
          <ac:spMkLst>
            <pc:docMk/>
            <pc:sldMk cId="1613239070" sldId="321"/>
            <ac:spMk id="121" creationId="{F420A677-373D-F761-7841-35A6040D492E}"/>
          </ac:spMkLst>
        </pc:spChg>
        <pc:spChg chg="mod">
          <ac:chgData name="Brenni, Giovanni" userId="415fa501-2e2a-4428-bd52-3d9320accab2" providerId="ADAL" clId="{98B48EE4-A13B-5AC0-9360-55E0FA650246}" dt="2026-03-15T09:14:43.040" v="311" actId="208"/>
          <ac:spMkLst>
            <pc:docMk/>
            <pc:sldMk cId="1613239070" sldId="321"/>
            <ac:spMk id="122" creationId="{48E5FF93-A3BA-ACDD-3889-36E673D2EE9D}"/>
          </ac:spMkLst>
        </pc:spChg>
        <pc:spChg chg="mod">
          <ac:chgData name="Brenni, Giovanni" userId="415fa501-2e2a-4428-bd52-3d9320accab2" providerId="ADAL" clId="{98B48EE4-A13B-5AC0-9360-55E0FA650246}" dt="2026-03-16T14:35:34.074" v="1445" actId="2711"/>
          <ac:spMkLst>
            <pc:docMk/>
            <pc:sldMk cId="1613239070" sldId="321"/>
            <ac:spMk id="123" creationId="{F8D9088C-B0A4-9BB6-0CF6-4ABC1FF49625}"/>
          </ac:spMkLst>
        </pc:spChg>
        <pc:spChg chg="mod">
          <ac:chgData name="Brenni, Giovanni" userId="415fa501-2e2a-4428-bd52-3d9320accab2" providerId="ADAL" clId="{98B48EE4-A13B-5AC0-9360-55E0FA650246}" dt="2026-03-15T09:14:43.040" v="311" actId="208"/>
          <ac:spMkLst>
            <pc:docMk/>
            <pc:sldMk cId="1613239070" sldId="321"/>
            <ac:spMk id="124" creationId="{15327685-12E8-D2B2-A1BF-7AF0BF519EC0}"/>
          </ac:spMkLst>
        </pc:spChg>
        <pc:spChg chg="mod">
          <ac:chgData name="Brenni, Giovanni" userId="415fa501-2e2a-4428-bd52-3d9320accab2" providerId="ADAL" clId="{98B48EE4-A13B-5AC0-9360-55E0FA650246}" dt="2026-03-15T09:14:43.040" v="311" actId="208"/>
          <ac:spMkLst>
            <pc:docMk/>
            <pc:sldMk cId="1613239070" sldId="321"/>
            <ac:spMk id="125" creationId="{D7A370BA-BFC5-B3DB-EA3B-CDEA74111E62}"/>
          </ac:spMkLst>
        </pc:spChg>
        <pc:spChg chg="topLvl">
          <ac:chgData name="Brenni, Giovanni" userId="415fa501-2e2a-4428-bd52-3d9320accab2" providerId="ADAL" clId="{98B48EE4-A13B-5AC0-9360-55E0FA650246}" dt="2026-03-15T13:41:13.250" v="373" actId="164"/>
          <ac:spMkLst>
            <pc:docMk/>
            <pc:sldMk cId="1613239070" sldId="321"/>
            <ac:spMk id="130" creationId="{636A4E48-37E1-DED9-6DBC-612A2E148D46}"/>
          </ac:spMkLst>
        </pc:spChg>
        <pc:spChg chg="topLvl">
          <ac:chgData name="Brenni, Giovanni" userId="415fa501-2e2a-4428-bd52-3d9320accab2" providerId="ADAL" clId="{98B48EE4-A13B-5AC0-9360-55E0FA650246}" dt="2026-03-15T13:41:13.250" v="373" actId="164"/>
          <ac:spMkLst>
            <pc:docMk/>
            <pc:sldMk cId="1613239070" sldId="321"/>
            <ac:spMk id="140" creationId="{B767651C-21DF-3D9C-166A-32F42000324D}"/>
          </ac:spMkLst>
        </pc:spChg>
        <pc:spChg chg="mod">
          <ac:chgData name="Brenni, Giovanni" userId="415fa501-2e2a-4428-bd52-3d9320accab2" providerId="ADAL" clId="{98B48EE4-A13B-5AC0-9360-55E0FA650246}" dt="2026-03-16T14:35:34.074" v="1445" actId="2711"/>
          <ac:spMkLst>
            <pc:docMk/>
            <pc:sldMk cId="1613239070" sldId="321"/>
            <ac:spMk id="158" creationId="{3F612F84-62B0-5F8B-3615-7F48821CE9A0}"/>
          </ac:spMkLst>
        </pc:spChg>
        <pc:spChg chg="mod">
          <ac:chgData name="Brenni, Giovanni" userId="415fa501-2e2a-4428-bd52-3d9320accab2" providerId="ADAL" clId="{98B48EE4-A13B-5AC0-9360-55E0FA650246}" dt="2026-03-16T14:35:34.074" v="1445" actId="2711"/>
          <ac:spMkLst>
            <pc:docMk/>
            <pc:sldMk cId="1613239070" sldId="321"/>
            <ac:spMk id="160" creationId="{958BC90C-5361-13C2-981B-BC3DA04FB4A5}"/>
          </ac:spMkLst>
        </pc:spChg>
        <pc:spChg chg="add mod">
          <ac:chgData name="Brenni, Giovanni" userId="415fa501-2e2a-4428-bd52-3d9320accab2" providerId="ADAL" clId="{98B48EE4-A13B-5AC0-9360-55E0FA650246}" dt="2026-03-15T09:12:50.730" v="281"/>
          <ac:spMkLst>
            <pc:docMk/>
            <pc:sldMk cId="1613239070" sldId="321"/>
            <ac:spMk id="170" creationId="{043B20C7-EE86-16BF-0F42-64D559190BFC}"/>
          </ac:spMkLst>
        </pc:spChg>
        <pc:spChg chg="add mod">
          <ac:chgData name="Brenni, Giovanni" userId="415fa501-2e2a-4428-bd52-3d9320accab2" providerId="ADAL" clId="{98B48EE4-A13B-5AC0-9360-55E0FA650246}" dt="2026-03-15T09:12:50.730" v="281"/>
          <ac:spMkLst>
            <pc:docMk/>
            <pc:sldMk cId="1613239070" sldId="321"/>
            <ac:spMk id="181" creationId="{59CD766B-D365-104F-EE1A-6E524EBC0352}"/>
          </ac:spMkLst>
        </pc:spChg>
        <pc:spChg chg="topLvl">
          <ac:chgData name="Brenni, Giovanni" userId="415fa501-2e2a-4428-bd52-3d9320accab2" providerId="ADAL" clId="{98B48EE4-A13B-5AC0-9360-55E0FA650246}" dt="2026-03-15T13:41:13.250" v="373" actId="164"/>
          <ac:spMkLst>
            <pc:docMk/>
            <pc:sldMk cId="1613239070" sldId="321"/>
            <ac:spMk id="186" creationId="{E19C3F9F-4113-89CD-7C97-74718378F7AF}"/>
          </ac:spMkLst>
        </pc:spChg>
        <pc:spChg chg="add mod">
          <ac:chgData name="Brenni, Giovanni" userId="415fa501-2e2a-4428-bd52-3d9320accab2" providerId="ADAL" clId="{98B48EE4-A13B-5AC0-9360-55E0FA650246}" dt="2026-03-15T09:12:50.730" v="281"/>
          <ac:spMkLst>
            <pc:docMk/>
            <pc:sldMk cId="1613239070" sldId="321"/>
            <ac:spMk id="192" creationId="{605B5288-740B-8A0B-02E1-D204609A7F8F}"/>
          </ac:spMkLst>
        </pc:spChg>
        <pc:spChg chg="mod">
          <ac:chgData name="Brenni, Giovanni" userId="415fa501-2e2a-4428-bd52-3d9320accab2" providerId="ADAL" clId="{98B48EE4-A13B-5AC0-9360-55E0FA650246}" dt="2026-03-16T14:35:34.074" v="1445" actId="2711"/>
          <ac:spMkLst>
            <pc:docMk/>
            <pc:sldMk cId="1613239070" sldId="321"/>
            <ac:spMk id="199" creationId="{94107A70-E07B-6ED2-09AD-CE3C7AB4BC3B}"/>
          </ac:spMkLst>
        </pc:spChg>
        <pc:spChg chg="add mod topLvl">
          <ac:chgData name="Brenni, Giovanni" userId="415fa501-2e2a-4428-bd52-3d9320accab2" providerId="ADAL" clId="{98B48EE4-A13B-5AC0-9360-55E0FA650246}" dt="2026-03-15T13:41:13.250" v="373" actId="164"/>
          <ac:spMkLst>
            <pc:docMk/>
            <pc:sldMk cId="1613239070" sldId="321"/>
            <ac:spMk id="204" creationId="{EB8AEF69-2E9D-6139-CD12-39B1F2A6B2BF}"/>
          </ac:spMkLst>
        </pc:spChg>
        <pc:spChg chg="mod">
          <ac:chgData name="Brenni, Giovanni" userId="415fa501-2e2a-4428-bd52-3d9320accab2" providerId="ADAL" clId="{98B48EE4-A13B-5AC0-9360-55E0FA650246}" dt="2026-03-15T09:14:29.197" v="308" actId="207"/>
          <ac:spMkLst>
            <pc:docMk/>
            <pc:sldMk cId="1613239070" sldId="321"/>
            <ac:spMk id="205" creationId="{6F9550D3-3B32-0EB1-D2FD-4DB1A8704E38}"/>
          </ac:spMkLst>
        </pc:spChg>
        <pc:spChg chg="mod">
          <ac:chgData name="Brenni, Giovanni" userId="415fa501-2e2a-4428-bd52-3d9320accab2" providerId="ADAL" clId="{98B48EE4-A13B-5AC0-9360-55E0FA650246}" dt="2026-03-16T14:35:34.074" v="1445" actId="2711"/>
          <ac:spMkLst>
            <pc:docMk/>
            <pc:sldMk cId="1613239070" sldId="321"/>
            <ac:spMk id="206" creationId="{C55D708E-B9BE-3A40-16D2-5BBF5D575FBE}"/>
          </ac:spMkLst>
        </pc:spChg>
        <pc:spChg chg="mod">
          <ac:chgData name="Brenni, Giovanni" userId="415fa501-2e2a-4428-bd52-3d9320accab2" providerId="ADAL" clId="{98B48EE4-A13B-5AC0-9360-55E0FA650246}" dt="2026-03-15T09:14:29.197" v="308" actId="207"/>
          <ac:spMkLst>
            <pc:docMk/>
            <pc:sldMk cId="1613239070" sldId="321"/>
            <ac:spMk id="207" creationId="{ADA1483C-0DBD-B2F2-0E87-1EBC440463CB}"/>
          </ac:spMkLst>
        </pc:spChg>
        <pc:spChg chg="add mod">
          <ac:chgData name="Brenni, Giovanni" userId="415fa501-2e2a-4428-bd52-3d9320accab2" providerId="ADAL" clId="{98B48EE4-A13B-5AC0-9360-55E0FA650246}" dt="2026-03-15T09:14:29.197" v="308" actId="207"/>
          <ac:spMkLst>
            <pc:docMk/>
            <pc:sldMk cId="1613239070" sldId="321"/>
            <ac:spMk id="208" creationId="{FE7910F7-3F76-DE5D-5719-F6CE462A5E4E}"/>
          </ac:spMkLst>
        </pc:spChg>
        <pc:spChg chg="mod">
          <ac:chgData name="Brenni, Giovanni" userId="415fa501-2e2a-4428-bd52-3d9320accab2" providerId="ADAL" clId="{98B48EE4-A13B-5AC0-9360-55E0FA650246}" dt="2026-03-16T14:35:34.074" v="1445" actId="2711"/>
          <ac:spMkLst>
            <pc:docMk/>
            <pc:sldMk cId="1613239070" sldId="321"/>
            <ac:spMk id="209" creationId="{BA47DA68-CDAD-3B9F-C93C-EEBABA18E4D2}"/>
          </ac:spMkLst>
        </pc:spChg>
        <pc:spChg chg="add mod">
          <ac:chgData name="Brenni, Giovanni" userId="415fa501-2e2a-4428-bd52-3d9320accab2" providerId="ADAL" clId="{98B48EE4-A13B-5AC0-9360-55E0FA650246}" dt="2026-03-15T09:12:50.730" v="281"/>
          <ac:spMkLst>
            <pc:docMk/>
            <pc:sldMk cId="1613239070" sldId="321"/>
            <ac:spMk id="237" creationId="{CAD0B09B-5645-18D1-5E8B-6E01E54DB98F}"/>
          </ac:spMkLst>
        </pc:spChg>
        <pc:spChg chg="topLvl">
          <ac:chgData name="Brenni, Giovanni" userId="415fa501-2e2a-4428-bd52-3d9320accab2" providerId="ADAL" clId="{98B48EE4-A13B-5AC0-9360-55E0FA650246}" dt="2026-03-15T13:41:13.250" v="373" actId="164"/>
          <ac:spMkLst>
            <pc:docMk/>
            <pc:sldMk cId="1613239070" sldId="321"/>
            <ac:spMk id="239" creationId="{5E051D73-CA54-4944-AE6B-4AA370CAA99A}"/>
          </ac:spMkLst>
        </pc:spChg>
        <pc:spChg chg="topLvl">
          <ac:chgData name="Brenni, Giovanni" userId="415fa501-2e2a-4428-bd52-3d9320accab2" providerId="ADAL" clId="{98B48EE4-A13B-5AC0-9360-55E0FA650246}" dt="2026-03-15T13:41:13.250" v="373" actId="164"/>
          <ac:spMkLst>
            <pc:docMk/>
            <pc:sldMk cId="1613239070" sldId="321"/>
            <ac:spMk id="247" creationId="{E9F1BAA4-6927-C180-CB5E-71070CC0FB43}"/>
          </ac:spMkLst>
        </pc:spChg>
        <pc:spChg chg="topLvl">
          <ac:chgData name="Brenni, Giovanni" userId="415fa501-2e2a-4428-bd52-3d9320accab2" providerId="ADAL" clId="{98B48EE4-A13B-5AC0-9360-55E0FA650246}" dt="2026-03-15T13:41:13.250" v="373" actId="164"/>
          <ac:spMkLst>
            <pc:docMk/>
            <pc:sldMk cId="1613239070" sldId="321"/>
            <ac:spMk id="255" creationId="{62F2F422-31A1-068C-F69C-A5694D4238F8}"/>
          </ac:spMkLst>
        </pc:spChg>
        <pc:spChg chg="mod">
          <ac:chgData name="Brenni, Giovanni" userId="415fa501-2e2a-4428-bd52-3d9320accab2" providerId="ADAL" clId="{98B48EE4-A13B-5AC0-9360-55E0FA650246}" dt="2026-03-16T14:35:34.074" v="1445" actId="2711"/>
          <ac:spMkLst>
            <pc:docMk/>
            <pc:sldMk cId="1613239070" sldId="321"/>
            <ac:spMk id="257" creationId="{1001E5DF-B787-7AB4-4B0F-20EC880D1DD3}"/>
          </ac:spMkLst>
        </pc:spChg>
        <pc:spChg chg="add mod">
          <ac:chgData name="Brenni, Giovanni" userId="415fa501-2e2a-4428-bd52-3d9320accab2" providerId="ADAL" clId="{98B48EE4-A13B-5AC0-9360-55E0FA650246}" dt="2026-03-15T09:12:50.730" v="281"/>
          <ac:spMkLst>
            <pc:docMk/>
            <pc:sldMk cId="1613239070" sldId="321"/>
            <ac:spMk id="271" creationId="{7D6FD06A-F821-7F41-6312-F480B8969275}"/>
          </ac:spMkLst>
        </pc:spChg>
        <pc:spChg chg="mod">
          <ac:chgData name="Brenni, Giovanni" userId="415fa501-2e2a-4428-bd52-3d9320accab2" providerId="ADAL" clId="{98B48EE4-A13B-5AC0-9360-55E0FA650246}" dt="2026-03-16T14:35:34.074" v="1445" actId="2711"/>
          <ac:spMkLst>
            <pc:docMk/>
            <pc:sldMk cId="1613239070" sldId="321"/>
            <ac:spMk id="273" creationId="{EC23DFB8-0774-5CFE-5CBF-6997DB0466AD}"/>
          </ac:spMkLst>
        </pc:spChg>
        <pc:spChg chg="topLvl">
          <ac:chgData name="Brenni, Giovanni" userId="415fa501-2e2a-4428-bd52-3d9320accab2" providerId="ADAL" clId="{98B48EE4-A13B-5AC0-9360-55E0FA650246}" dt="2026-03-15T13:41:13.250" v="373" actId="164"/>
          <ac:spMkLst>
            <pc:docMk/>
            <pc:sldMk cId="1613239070" sldId="321"/>
            <ac:spMk id="276" creationId="{DE2E3DDC-1FCA-7435-A3B1-B6CD6989EA81}"/>
          </ac:spMkLst>
        </pc:spChg>
        <pc:spChg chg="add mod">
          <ac:chgData name="Brenni, Giovanni" userId="415fa501-2e2a-4428-bd52-3d9320accab2" providerId="ADAL" clId="{98B48EE4-A13B-5AC0-9360-55E0FA650246}" dt="2026-03-15T09:12:50.730" v="281"/>
          <ac:spMkLst>
            <pc:docMk/>
            <pc:sldMk cId="1613239070" sldId="321"/>
            <ac:spMk id="280" creationId="{5AF776C1-A5E0-09B5-0EF0-37B5980B6A8A}"/>
          </ac:spMkLst>
        </pc:spChg>
        <pc:spChg chg="mod">
          <ac:chgData name="Brenni, Giovanni" userId="415fa501-2e2a-4428-bd52-3d9320accab2" providerId="ADAL" clId="{98B48EE4-A13B-5AC0-9360-55E0FA650246}" dt="2026-03-16T14:35:34.074" v="1445" actId="2711"/>
          <ac:spMkLst>
            <pc:docMk/>
            <pc:sldMk cId="1613239070" sldId="321"/>
            <ac:spMk id="282" creationId="{C1868326-9758-3DA0-C7F4-C9D94F048147}"/>
          </ac:spMkLst>
        </pc:spChg>
        <pc:spChg chg="add mod">
          <ac:chgData name="Brenni, Giovanni" userId="415fa501-2e2a-4428-bd52-3d9320accab2" providerId="ADAL" clId="{98B48EE4-A13B-5AC0-9360-55E0FA650246}" dt="2026-03-15T09:12:50.730" v="281"/>
          <ac:spMkLst>
            <pc:docMk/>
            <pc:sldMk cId="1613239070" sldId="321"/>
            <ac:spMk id="284" creationId="{2D095F2A-8CF2-8B76-9ED9-19E2CC26BEF4}"/>
          </ac:spMkLst>
        </pc:spChg>
        <pc:spChg chg="topLvl">
          <ac:chgData name="Brenni, Giovanni" userId="415fa501-2e2a-4428-bd52-3d9320accab2" providerId="ADAL" clId="{98B48EE4-A13B-5AC0-9360-55E0FA650246}" dt="2026-03-15T13:41:13.250" v="373" actId="164"/>
          <ac:spMkLst>
            <pc:docMk/>
            <pc:sldMk cId="1613239070" sldId="321"/>
            <ac:spMk id="287" creationId="{E5C78531-268F-2622-17E4-1C751CA26711}"/>
          </ac:spMkLst>
        </pc:spChg>
        <pc:spChg chg="add mod">
          <ac:chgData name="Brenni, Giovanni" userId="415fa501-2e2a-4428-bd52-3d9320accab2" providerId="ADAL" clId="{98B48EE4-A13B-5AC0-9360-55E0FA650246}" dt="2026-03-15T09:12:50.730" v="281"/>
          <ac:spMkLst>
            <pc:docMk/>
            <pc:sldMk cId="1613239070" sldId="321"/>
            <ac:spMk id="289" creationId="{BB6289AC-6361-6316-CE26-BB1434C12515}"/>
          </ac:spMkLst>
        </pc:spChg>
        <pc:spChg chg="mod topLvl">
          <ac:chgData name="Brenni, Giovanni" userId="415fa501-2e2a-4428-bd52-3d9320accab2" providerId="ADAL" clId="{98B48EE4-A13B-5AC0-9360-55E0FA650246}" dt="2026-03-16T14:35:34.074" v="1445" actId="2711"/>
          <ac:spMkLst>
            <pc:docMk/>
            <pc:sldMk cId="1613239070" sldId="321"/>
            <ac:spMk id="297" creationId="{0469639D-37B2-BDF3-E456-BFB4B0952504}"/>
          </ac:spMkLst>
        </pc:spChg>
        <pc:spChg chg="mod">
          <ac:chgData name="Brenni, Giovanni" userId="415fa501-2e2a-4428-bd52-3d9320accab2" providerId="ADAL" clId="{98B48EE4-A13B-5AC0-9360-55E0FA650246}" dt="2026-03-15T09:13:03.734" v="283" actId="1076"/>
          <ac:spMkLst>
            <pc:docMk/>
            <pc:sldMk cId="1613239070" sldId="321"/>
            <ac:spMk id="307" creationId="{B83F515D-B822-B559-BECE-2A1CE5ED88CB}"/>
          </ac:spMkLst>
        </pc:spChg>
        <pc:grpChg chg="add mod">
          <ac:chgData name="Brenni, Giovanni" userId="415fa501-2e2a-4428-bd52-3d9320accab2" providerId="ADAL" clId="{98B48EE4-A13B-5AC0-9360-55E0FA650246}" dt="2026-03-15T13:41:29.777" v="376" actId="1076"/>
          <ac:grpSpMkLst>
            <pc:docMk/>
            <pc:sldMk cId="1613239070" sldId="321"/>
            <ac:grpSpMk id="4" creationId="{59A12EDF-1833-AACE-B50A-C781F9648BE1}"/>
          </ac:grpSpMkLst>
        </pc:grpChg>
        <pc:grpChg chg="add mod">
          <ac:chgData name="Brenni, Giovanni" userId="415fa501-2e2a-4428-bd52-3d9320accab2" providerId="ADAL" clId="{98B48EE4-A13B-5AC0-9360-55E0FA650246}" dt="2026-03-15T09:13:58.986" v="300" actId="555"/>
          <ac:grpSpMkLst>
            <pc:docMk/>
            <pc:sldMk cId="1613239070" sldId="321"/>
            <ac:grpSpMk id="308" creationId="{2ADE51A8-3C82-8CB1-A3DF-79B718112586}"/>
          </ac:grpSpMkLst>
        </pc:grpChg>
        <pc:grpChg chg="add mod">
          <ac:chgData name="Brenni, Giovanni" userId="415fa501-2e2a-4428-bd52-3d9320accab2" providerId="ADAL" clId="{98B48EE4-A13B-5AC0-9360-55E0FA650246}" dt="2026-03-15T09:14:07.967" v="302" actId="554"/>
          <ac:grpSpMkLst>
            <pc:docMk/>
            <pc:sldMk cId="1613239070" sldId="321"/>
            <ac:grpSpMk id="309" creationId="{8A138DB5-82E0-5EF8-4711-8000E1FF779E}"/>
          </ac:grpSpMkLst>
        </pc:grpChg>
        <pc:grpChg chg="add mod">
          <ac:chgData name="Brenni, Giovanni" userId="415fa501-2e2a-4428-bd52-3d9320accab2" providerId="ADAL" clId="{98B48EE4-A13B-5AC0-9360-55E0FA650246}" dt="2026-03-15T09:14:03.681" v="301" actId="552"/>
          <ac:grpSpMkLst>
            <pc:docMk/>
            <pc:sldMk cId="1613239070" sldId="321"/>
            <ac:grpSpMk id="310" creationId="{4DFB3633-7DA2-5878-3971-E80C8B864D9E}"/>
          </ac:grpSpMkLst>
        </pc:grpChg>
        <pc:grpChg chg="add mod">
          <ac:chgData name="Brenni, Giovanni" userId="415fa501-2e2a-4428-bd52-3d9320accab2" providerId="ADAL" clId="{98B48EE4-A13B-5AC0-9360-55E0FA650246}" dt="2026-03-15T09:14:07.967" v="302" actId="554"/>
          <ac:grpSpMkLst>
            <pc:docMk/>
            <pc:sldMk cId="1613239070" sldId="321"/>
            <ac:grpSpMk id="311" creationId="{36D3A203-62B0-6EC6-B167-6DBF6859BE57}"/>
          </ac:grpSpMkLst>
        </pc:grpChg>
      </pc:sldChg>
      <pc:sldChg chg="addSp delSp modSp new mod">
        <pc:chgData name="Brenni, Giovanni" userId="415fa501-2e2a-4428-bd52-3d9320accab2" providerId="ADAL" clId="{98B48EE4-A13B-5AC0-9360-55E0FA650246}" dt="2026-03-16T14:35:42.052" v="1446" actId="2711"/>
        <pc:sldMkLst>
          <pc:docMk/>
          <pc:sldMk cId="623121667" sldId="322"/>
        </pc:sldMkLst>
        <pc:spChg chg="mod">
          <ac:chgData name="Brenni, Giovanni" userId="415fa501-2e2a-4428-bd52-3d9320accab2" providerId="ADAL" clId="{98B48EE4-A13B-5AC0-9360-55E0FA650246}" dt="2026-03-15T13:36:45.976" v="340" actId="20577"/>
          <ac:spMkLst>
            <pc:docMk/>
            <pc:sldMk cId="623121667" sldId="322"/>
            <ac:spMk id="2" creationId="{4541FE38-CA59-F580-7874-128AE02708B8}"/>
          </ac:spMkLst>
        </pc:spChg>
        <pc:spChg chg="mod">
          <ac:chgData name="Brenni, Giovanni" userId="415fa501-2e2a-4428-bd52-3d9320accab2" providerId="ADAL" clId="{98B48EE4-A13B-5AC0-9360-55E0FA650246}" dt="2026-03-15T13:37:41.227" v="350" actId="1076"/>
          <ac:spMkLst>
            <pc:docMk/>
            <pc:sldMk cId="623121667" sldId="322"/>
            <ac:spMk id="5" creationId="{14FC5ED4-B32E-4EAC-E295-9C7FC170C552}"/>
          </ac:spMkLst>
        </pc:spChg>
        <pc:spChg chg="mod">
          <ac:chgData name="Brenni, Giovanni" userId="415fa501-2e2a-4428-bd52-3d9320accab2" providerId="ADAL" clId="{98B48EE4-A13B-5AC0-9360-55E0FA650246}" dt="2026-03-16T14:35:42.052" v="1446" actId="2711"/>
          <ac:spMkLst>
            <pc:docMk/>
            <pc:sldMk cId="623121667" sldId="322"/>
            <ac:spMk id="6" creationId="{F009B3E0-B9D8-5BFD-1CF6-68B2D44E10A4}"/>
          </ac:spMkLst>
        </pc:spChg>
        <pc:spChg chg="add mod">
          <ac:chgData name="Brenni, Giovanni" userId="415fa501-2e2a-4428-bd52-3d9320accab2" providerId="ADAL" clId="{98B48EE4-A13B-5AC0-9360-55E0FA650246}" dt="2026-03-15T13:38:12.559" v="356" actId="122"/>
          <ac:spMkLst>
            <pc:docMk/>
            <pc:sldMk cId="623121667" sldId="322"/>
            <ac:spMk id="7" creationId="{B63C5A71-40FF-96A3-7811-45C30C567E7E}"/>
          </ac:spMkLst>
        </pc:spChg>
        <pc:spChg chg="add mod">
          <ac:chgData name="Brenni, Giovanni" userId="415fa501-2e2a-4428-bd52-3d9320accab2" providerId="ADAL" clId="{98B48EE4-A13B-5AC0-9360-55E0FA650246}" dt="2026-03-16T14:35:42.052" v="1446" actId="2711"/>
          <ac:spMkLst>
            <pc:docMk/>
            <pc:sldMk cId="623121667" sldId="322"/>
            <ac:spMk id="8" creationId="{0356BB44-6AA4-522B-E198-7537CEE94EB0}"/>
          </ac:spMkLst>
        </pc:spChg>
        <pc:spChg chg="mod">
          <ac:chgData name="Brenni, Giovanni" userId="415fa501-2e2a-4428-bd52-3d9320accab2" providerId="ADAL" clId="{98B48EE4-A13B-5AC0-9360-55E0FA650246}" dt="2026-03-15T13:38:28.423" v="359" actId="207"/>
          <ac:spMkLst>
            <pc:docMk/>
            <pc:sldMk cId="623121667" sldId="322"/>
            <ac:spMk id="9" creationId="{678B838C-E6EF-AD09-61D4-477D604E1232}"/>
          </ac:spMkLst>
        </pc:spChg>
        <pc:spChg chg="mod">
          <ac:chgData name="Brenni, Giovanni" userId="415fa501-2e2a-4428-bd52-3d9320accab2" providerId="ADAL" clId="{98B48EE4-A13B-5AC0-9360-55E0FA650246}" dt="2026-03-16T14:35:42.052" v="1446" actId="2711"/>
          <ac:spMkLst>
            <pc:docMk/>
            <pc:sldMk cId="623121667" sldId="322"/>
            <ac:spMk id="10" creationId="{73A329CD-3CFF-BFCA-6607-F3CAFD5AB54D}"/>
          </ac:spMkLst>
        </pc:spChg>
        <pc:spChg chg="mod">
          <ac:chgData name="Brenni, Giovanni" userId="415fa501-2e2a-4428-bd52-3d9320accab2" providerId="ADAL" clId="{98B48EE4-A13B-5AC0-9360-55E0FA650246}" dt="2026-03-15T13:39:27.252" v="368" actId="208"/>
          <ac:spMkLst>
            <pc:docMk/>
            <pc:sldMk cId="623121667" sldId="322"/>
            <ac:spMk id="11" creationId="{600121DD-FDBE-328A-1C92-DA48A9F1450C}"/>
          </ac:spMkLst>
        </pc:spChg>
        <pc:spChg chg="mod">
          <ac:chgData name="Brenni, Giovanni" userId="415fa501-2e2a-4428-bd52-3d9320accab2" providerId="ADAL" clId="{98B48EE4-A13B-5AC0-9360-55E0FA650246}" dt="2026-03-15T13:38:52.772" v="363" actId="207"/>
          <ac:spMkLst>
            <pc:docMk/>
            <pc:sldMk cId="623121667" sldId="322"/>
            <ac:spMk id="12" creationId="{C97418B8-C8DF-BFDA-A6AC-133418CFDAA2}"/>
          </ac:spMkLst>
        </pc:spChg>
        <pc:spChg chg="add mod">
          <ac:chgData name="Brenni, Giovanni" userId="415fa501-2e2a-4428-bd52-3d9320accab2" providerId="ADAL" clId="{98B48EE4-A13B-5AC0-9360-55E0FA650246}" dt="2026-03-16T14:35:42.052" v="1446" actId="2711"/>
          <ac:spMkLst>
            <pc:docMk/>
            <pc:sldMk cId="623121667" sldId="322"/>
            <ac:spMk id="13" creationId="{28E8D02D-DDFF-0E85-4B3C-D85650073B73}"/>
          </ac:spMkLst>
        </pc:spChg>
        <pc:spChg chg="mod">
          <ac:chgData name="Brenni, Giovanni" userId="415fa501-2e2a-4428-bd52-3d9320accab2" providerId="ADAL" clId="{98B48EE4-A13B-5AC0-9360-55E0FA650246}" dt="2026-03-16T14:35:42.052" v="1446" actId="2711"/>
          <ac:spMkLst>
            <pc:docMk/>
            <pc:sldMk cId="623121667" sldId="322"/>
            <ac:spMk id="14" creationId="{68C522E0-DC0C-F78E-6981-6C4348242916}"/>
          </ac:spMkLst>
        </pc:spChg>
        <pc:spChg chg="mod">
          <ac:chgData name="Brenni, Giovanni" userId="415fa501-2e2a-4428-bd52-3d9320accab2" providerId="ADAL" clId="{98B48EE4-A13B-5AC0-9360-55E0FA650246}" dt="2026-03-15T13:38:52.772" v="363" actId="207"/>
          <ac:spMkLst>
            <pc:docMk/>
            <pc:sldMk cId="623121667" sldId="322"/>
            <ac:spMk id="15" creationId="{52BFDAA4-5F52-7368-E2A7-B506A712561D}"/>
          </ac:spMkLst>
        </pc:spChg>
        <pc:spChg chg="mod">
          <ac:chgData name="Brenni, Giovanni" userId="415fa501-2e2a-4428-bd52-3d9320accab2" providerId="ADAL" clId="{98B48EE4-A13B-5AC0-9360-55E0FA650246}" dt="2026-03-16T14:35:42.052" v="1446" actId="2711"/>
          <ac:spMkLst>
            <pc:docMk/>
            <pc:sldMk cId="623121667" sldId="322"/>
            <ac:spMk id="16" creationId="{C04BEC47-DC73-57C3-6DBD-18E8B320E630}"/>
          </ac:spMkLst>
        </pc:spChg>
        <pc:spChg chg="mod">
          <ac:chgData name="Brenni, Giovanni" userId="415fa501-2e2a-4428-bd52-3d9320accab2" providerId="ADAL" clId="{98B48EE4-A13B-5AC0-9360-55E0FA650246}" dt="2026-03-15T13:39:27.252" v="368" actId="208"/>
          <ac:spMkLst>
            <pc:docMk/>
            <pc:sldMk cId="623121667" sldId="322"/>
            <ac:spMk id="17" creationId="{ACCA9B66-E945-358D-F377-BE66D726B001}"/>
          </ac:spMkLst>
        </pc:spChg>
        <pc:spChg chg="mod">
          <ac:chgData name="Brenni, Giovanni" userId="415fa501-2e2a-4428-bd52-3d9320accab2" providerId="ADAL" clId="{98B48EE4-A13B-5AC0-9360-55E0FA650246}" dt="2026-03-15T13:38:52.772" v="363" actId="207"/>
          <ac:spMkLst>
            <pc:docMk/>
            <pc:sldMk cId="623121667" sldId="322"/>
            <ac:spMk id="18" creationId="{46EBA58B-BB9B-C7D2-2931-E40BFE82D8C5}"/>
          </ac:spMkLst>
        </pc:spChg>
        <pc:spChg chg="add mod">
          <ac:chgData name="Brenni, Giovanni" userId="415fa501-2e2a-4428-bd52-3d9320accab2" providerId="ADAL" clId="{98B48EE4-A13B-5AC0-9360-55E0FA650246}" dt="2026-03-16T14:35:42.052" v="1446" actId="2711"/>
          <ac:spMkLst>
            <pc:docMk/>
            <pc:sldMk cId="623121667" sldId="322"/>
            <ac:spMk id="20" creationId="{B2333833-66DE-CD4F-0A9A-CDC75F6D6918}"/>
          </ac:spMkLst>
        </pc:spChg>
        <pc:spChg chg="add mod">
          <ac:chgData name="Brenni, Giovanni" userId="415fa501-2e2a-4428-bd52-3d9320accab2" providerId="ADAL" clId="{98B48EE4-A13B-5AC0-9360-55E0FA650246}" dt="2026-03-16T14:35:42.052" v="1446" actId="2711"/>
          <ac:spMkLst>
            <pc:docMk/>
            <pc:sldMk cId="623121667" sldId="322"/>
            <ac:spMk id="21" creationId="{DCACF892-6139-4C61-659B-21830E923899}"/>
          </ac:spMkLst>
        </pc:spChg>
        <pc:spChg chg="add mod">
          <ac:chgData name="Brenni, Giovanni" userId="415fa501-2e2a-4428-bd52-3d9320accab2" providerId="ADAL" clId="{98B48EE4-A13B-5AC0-9360-55E0FA650246}" dt="2026-03-15T13:37:11.741" v="342"/>
          <ac:spMkLst>
            <pc:docMk/>
            <pc:sldMk cId="623121667" sldId="322"/>
            <ac:spMk id="22" creationId="{118E5201-2EDA-3C65-BAB5-1CBE04E907C4}"/>
          </ac:spMkLst>
        </pc:spChg>
        <pc:spChg chg="mod">
          <ac:chgData name="Brenni, Giovanni" userId="415fa501-2e2a-4428-bd52-3d9320accab2" providerId="ADAL" clId="{98B48EE4-A13B-5AC0-9360-55E0FA650246}" dt="2026-03-15T13:39:27.252" v="368" actId="208"/>
          <ac:spMkLst>
            <pc:docMk/>
            <pc:sldMk cId="623121667" sldId="322"/>
            <ac:spMk id="23" creationId="{528D7045-8A79-856E-571A-72B9551F5768}"/>
          </ac:spMkLst>
        </pc:spChg>
        <pc:spChg chg="add mod">
          <ac:chgData name="Brenni, Giovanni" userId="415fa501-2e2a-4428-bd52-3d9320accab2" providerId="ADAL" clId="{98B48EE4-A13B-5AC0-9360-55E0FA650246}" dt="2026-03-16T14:35:42.052" v="1446" actId="2711"/>
          <ac:spMkLst>
            <pc:docMk/>
            <pc:sldMk cId="623121667" sldId="322"/>
            <ac:spMk id="24" creationId="{6DF34F6B-A830-C8E6-0034-71E4C066875C}"/>
          </ac:spMkLst>
        </pc:spChg>
        <pc:spChg chg="mod">
          <ac:chgData name="Brenni, Giovanni" userId="415fa501-2e2a-4428-bd52-3d9320accab2" providerId="ADAL" clId="{98B48EE4-A13B-5AC0-9360-55E0FA650246}" dt="2026-03-16T14:35:42.052" v="1446" actId="2711"/>
          <ac:spMkLst>
            <pc:docMk/>
            <pc:sldMk cId="623121667" sldId="322"/>
            <ac:spMk id="25" creationId="{77013A65-A18A-0AB5-5D6F-E63755F46317}"/>
          </ac:spMkLst>
        </pc:spChg>
        <pc:spChg chg="mod">
          <ac:chgData name="Brenni, Giovanni" userId="415fa501-2e2a-4428-bd52-3d9320accab2" providerId="ADAL" clId="{98B48EE4-A13B-5AC0-9360-55E0FA650246}" dt="2026-03-15T13:39:27.252" v="368" actId="208"/>
          <ac:spMkLst>
            <pc:docMk/>
            <pc:sldMk cId="623121667" sldId="322"/>
            <ac:spMk id="26" creationId="{25A45F14-1817-C2D6-F8D0-9977898D50F0}"/>
          </ac:spMkLst>
        </pc:spChg>
        <pc:spChg chg="add mod">
          <ac:chgData name="Brenni, Giovanni" userId="415fa501-2e2a-4428-bd52-3d9320accab2" providerId="ADAL" clId="{98B48EE4-A13B-5AC0-9360-55E0FA650246}" dt="2026-03-15T13:38:52.772" v="363" actId="207"/>
          <ac:spMkLst>
            <pc:docMk/>
            <pc:sldMk cId="623121667" sldId="322"/>
            <ac:spMk id="27" creationId="{35AC5686-3B71-7C95-E697-996B40C13CE6}"/>
          </ac:spMkLst>
        </pc:spChg>
        <pc:spChg chg="add mod">
          <ac:chgData name="Brenni, Giovanni" userId="415fa501-2e2a-4428-bd52-3d9320accab2" providerId="ADAL" clId="{98B48EE4-A13B-5AC0-9360-55E0FA650246}" dt="2026-03-15T13:39:27.252" v="368" actId="208"/>
          <ac:spMkLst>
            <pc:docMk/>
            <pc:sldMk cId="623121667" sldId="322"/>
            <ac:spMk id="29" creationId="{0DBEC789-24D0-5277-647E-499EC3DDE186}"/>
          </ac:spMkLst>
        </pc:spChg>
        <pc:spChg chg="add mod">
          <ac:chgData name="Brenni, Giovanni" userId="415fa501-2e2a-4428-bd52-3d9320accab2" providerId="ADAL" clId="{98B48EE4-A13B-5AC0-9360-55E0FA650246}" dt="2026-03-15T13:38:52.772" v="363" actId="207"/>
          <ac:spMkLst>
            <pc:docMk/>
            <pc:sldMk cId="623121667" sldId="322"/>
            <ac:spMk id="30" creationId="{17C5D775-281C-772F-A038-68E21FCC2871}"/>
          </ac:spMkLst>
        </pc:spChg>
        <pc:spChg chg="mod">
          <ac:chgData name="Brenni, Giovanni" userId="415fa501-2e2a-4428-bd52-3d9320accab2" providerId="ADAL" clId="{98B48EE4-A13B-5AC0-9360-55E0FA650246}" dt="2026-03-15T13:39:06.973" v="366" actId="207"/>
          <ac:spMkLst>
            <pc:docMk/>
            <pc:sldMk cId="623121667" sldId="322"/>
            <ac:spMk id="32" creationId="{62B6B42C-6291-3DC0-3C00-234E10E00963}"/>
          </ac:spMkLst>
        </pc:spChg>
        <pc:spChg chg="mod">
          <ac:chgData name="Brenni, Giovanni" userId="415fa501-2e2a-4428-bd52-3d9320accab2" providerId="ADAL" clId="{98B48EE4-A13B-5AC0-9360-55E0FA650246}" dt="2026-03-15T13:39:09.396" v="367" actId="207"/>
          <ac:spMkLst>
            <pc:docMk/>
            <pc:sldMk cId="623121667" sldId="322"/>
            <ac:spMk id="33" creationId="{A2A49581-5ED4-F68D-C201-F8553AB218D9}"/>
          </ac:spMkLst>
        </pc:spChg>
        <pc:grpChg chg="add mod">
          <ac:chgData name="Brenni, Giovanni" userId="415fa501-2e2a-4428-bd52-3d9320accab2" providerId="ADAL" clId="{98B48EE4-A13B-5AC0-9360-55E0FA650246}" dt="2026-03-15T13:41:57.676" v="379" actId="1076"/>
          <ac:grpSpMkLst>
            <pc:docMk/>
            <pc:sldMk cId="623121667" sldId="322"/>
            <ac:grpSpMk id="34" creationId="{D149998C-591F-82C3-2B81-886CA84EC9F0}"/>
          </ac:grpSpMkLst>
        </pc:grpChg>
      </pc:sldChg>
      <pc:sldChg chg="addSp delSp modSp new mod">
        <pc:chgData name="Brenni, Giovanni" userId="415fa501-2e2a-4428-bd52-3d9320accab2" providerId="ADAL" clId="{98B48EE4-A13B-5AC0-9360-55E0FA650246}" dt="2026-03-16T14:35:50.343" v="1447" actId="2711"/>
        <pc:sldMkLst>
          <pc:docMk/>
          <pc:sldMk cId="3414740379" sldId="323"/>
        </pc:sldMkLst>
        <pc:spChg chg="mod">
          <ac:chgData name="Brenni, Giovanni" userId="415fa501-2e2a-4428-bd52-3d9320accab2" providerId="ADAL" clId="{98B48EE4-A13B-5AC0-9360-55E0FA650246}" dt="2026-03-15T14:15:26.556" v="400" actId="20577"/>
          <ac:spMkLst>
            <pc:docMk/>
            <pc:sldMk cId="3414740379" sldId="323"/>
            <ac:spMk id="2" creationId="{599F88F6-2497-6D01-5188-0EFF0165DE71}"/>
          </ac:spMkLst>
        </pc:spChg>
        <pc:spChg chg="mod">
          <ac:chgData name="Brenni, Giovanni" userId="415fa501-2e2a-4428-bd52-3d9320accab2" providerId="ADAL" clId="{98B48EE4-A13B-5AC0-9360-55E0FA650246}" dt="2026-03-16T14:35:50.343" v="1447" actId="2711"/>
          <ac:spMkLst>
            <pc:docMk/>
            <pc:sldMk cId="3414740379" sldId="323"/>
            <ac:spMk id="4" creationId="{8696B6F8-FDAA-A950-2D16-39ADE80BC479}"/>
          </ac:spMkLst>
        </pc:spChg>
        <pc:spChg chg="add mod">
          <ac:chgData name="Brenni, Giovanni" userId="415fa501-2e2a-4428-bd52-3d9320accab2" providerId="ADAL" clId="{98B48EE4-A13B-5AC0-9360-55E0FA650246}" dt="2026-03-15T14:16:20.255" v="409" actId="208"/>
          <ac:spMkLst>
            <pc:docMk/>
            <pc:sldMk cId="3414740379" sldId="323"/>
            <ac:spMk id="5" creationId="{A73916EE-8573-1D05-2343-729E32CB028A}"/>
          </ac:spMkLst>
        </pc:spChg>
        <pc:spChg chg="add mod">
          <ac:chgData name="Brenni, Giovanni" userId="415fa501-2e2a-4428-bd52-3d9320accab2" providerId="ADAL" clId="{98B48EE4-A13B-5AC0-9360-55E0FA650246}" dt="2026-03-15T14:16:23.053" v="410" actId="208"/>
          <ac:spMkLst>
            <pc:docMk/>
            <pc:sldMk cId="3414740379" sldId="323"/>
            <ac:spMk id="6" creationId="{BFD88475-8D59-1ED2-0E72-047C9A79678E}"/>
          </ac:spMkLst>
        </pc:spChg>
        <pc:spChg chg="add mod">
          <ac:chgData name="Brenni, Giovanni" userId="415fa501-2e2a-4428-bd52-3d9320accab2" providerId="ADAL" clId="{98B48EE4-A13B-5AC0-9360-55E0FA650246}" dt="2026-03-15T14:14:50.539" v="381"/>
          <ac:spMkLst>
            <pc:docMk/>
            <pc:sldMk cId="3414740379" sldId="323"/>
            <ac:spMk id="7" creationId="{97B0C5F2-A7EC-6BB8-1714-FBBEAA3197F0}"/>
          </ac:spMkLst>
        </pc:spChg>
        <pc:spChg chg="mod">
          <ac:chgData name="Brenni, Giovanni" userId="415fa501-2e2a-4428-bd52-3d9320accab2" providerId="ADAL" clId="{98B48EE4-A13B-5AC0-9360-55E0FA650246}" dt="2026-03-16T14:35:50.343" v="1447" actId="2711"/>
          <ac:spMkLst>
            <pc:docMk/>
            <pc:sldMk cId="3414740379" sldId="323"/>
            <ac:spMk id="8" creationId="{3BF68764-B507-1ECB-2D4D-6CCB0172F11B}"/>
          </ac:spMkLst>
        </pc:spChg>
        <pc:spChg chg="add mod">
          <ac:chgData name="Brenni, Giovanni" userId="415fa501-2e2a-4428-bd52-3d9320accab2" providerId="ADAL" clId="{98B48EE4-A13B-5AC0-9360-55E0FA650246}" dt="2026-03-16T14:35:50.343" v="1447" actId="2711"/>
          <ac:spMkLst>
            <pc:docMk/>
            <pc:sldMk cId="3414740379" sldId="323"/>
            <ac:spMk id="9" creationId="{D619ADC4-48AC-A4C0-6811-6F7FAAA8980F}"/>
          </ac:spMkLst>
        </pc:spChg>
        <pc:spChg chg="mod">
          <ac:chgData name="Brenni, Giovanni" userId="415fa501-2e2a-4428-bd52-3d9320accab2" providerId="ADAL" clId="{98B48EE4-A13B-5AC0-9360-55E0FA650246}" dt="2026-03-15T14:17:50.736" v="439" actId="207"/>
          <ac:spMkLst>
            <pc:docMk/>
            <pc:sldMk cId="3414740379" sldId="323"/>
            <ac:spMk id="10" creationId="{96112138-FBA7-B3E1-8A1F-1D17EBE7F52B}"/>
          </ac:spMkLst>
        </pc:spChg>
        <pc:spChg chg="mod">
          <ac:chgData name="Brenni, Giovanni" userId="415fa501-2e2a-4428-bd52-3d9320accab2" providerId="ADAL" clId="{98B48EE4-A13B-5AC0-9360-55E0FA650246}" dt="2026-03-16T14:35:50.343" v="1447" actId="2711"/>
          <ac:spMkLst>
            <pc:docMk/>
            <pc:sldMk cId="3414740379" sldId="323"/>
            <ac:spMk id="11" creationId="{545B71F3-C9C5-BE65-F6F9-8489D00D7196}"/>
          </ac:spMkLst>
        </pc:spChg>
        <pc:spChg chg="mod">
          <ac:chgData name="Brenni, Giovanni" userId="415fa501-2e2a-4428-bd52-3d9320accab2" providerId="ADAL" clId="{98B48EE4-A13B-5AC0-9360-55E0FA650246}" dt="2026-03-15T14:18:15.585" v="448" actId="207"/>
          <ac:spMkLst>
            <pc:docMk/>
            <pc:sldMk cId="3414740379" sldId="323"/>
            <ac:spMk id="12" creationId="{B05AD1FC-264B-06F8-A7F8-433595E2A951}"/>
          </ac:spMkLst>
        </pc:spChg>
        <pc:spChg chg="mod">
          <ac:chgData name="Brenni, Giovanni" userId="415fa501-2e2a-4428-bd52-3d9320accab2" providerId="ADAL" clId="{98B48EE4-A13B-5AC0-9360-55E0FA650246}" dt="2026-03-16T14:35:50.343" v="1447" actId="2711"/>
          <ac:spMkLst>
            <pc:docMk/>
            <pc:sldMk cId="3414740379" sldId="323"/>
            <ac:spMk id="13" creationId="{486FA40B-981E-DF45-EF06-F52729849321}"/>
          </ac:spMkLst>
        </pc:spChg>
        <pc:spChg chg="mod">
          <ac:chgData name="Brenni, Giovanni" userId="415fa501-2e2a-4428-bd52-3d9320accab2" providerId="ADAL" clId="{98B48EE4-A13B-5AC0-9360-55E0FA650246}" dt="2026-03-15T14:16:28.518" v="411" actId="208"/>
          <ac:spMkLst>
            <pc:docMk/>
            <pc:sldMk cId="3414740379" sldId="323"/>
            <ac:spMk id="14" creationId="{923BFBAF-EBD3-2EB5-D91A-246F1C1A4F9A}"/>
          </ac:spMkLst>
        </pc:spChg>
        <pc:spChg chg="mod">
          <ac:chgData name="Brenni, Giovanni" userId="415fa501-2e2a-4428-bd52-3d9320accab2" providerId="ADAL" clId="{98B48EE4-A13B-5AC0-9360-55E0FA650246}" dt="2026-03-16T14:35:50.343" v="1447" actId="2711"/>
          <ac:spMkLst>
            <pc:docMk/>
            <pc:sldMk cId="3414740379" sldId="323"/>
            <ac:spMk id="15" creationId="{4E709C1D-CE07-FBAA-F308-59080ED210EF}"/>
          </ac:spMkLst>
        </pc:spChg>
        <pc:spChg chg="add mod">
          <ac:chgData name="Brenni, Giovanni" userId="415fa501-2e2a-4428-bd52-3d9320accab2" providerId="ADAL" clId="{98B48EE4-A13B-5AC0-9360-55E0FA650246}" dt="2026-03-15T14:14:50.539" v="381"/>
          <ac:spMkLst>
            <pc:docMk/>
            <pc:sldMk cId="3414740379" sldId="323"/>
            <ac:spMk id="17" creationId="{2E91F5C5-5089-2EAF-72AA-41DF5841C259}"/>
          </ac:spMkLst>
        </pc:spChg>
        <pc:spChg chg="add mod">
          <ac:chgData name="Brenni, Giovanni" userId="415fa501-2e2a-4428-bd52-3d9320accab2" providerId="ADAL" clId="{98B48EE4-A13B-5AC0-9360-55E0FA650246}" dt="2026-03-16T14:35:50.343" v="1447" actId="2711"/>
          <ac:spMkLst>
            <pc:docMk/>
            <pc:sldMk cId="3414740379" sldId="323"/>
            <ac:spMk id="18" creationId="{5F3A87D8-ECBC-EB60-BA5C-6E8D7BDFF6ED}"/>
          </ac:spMkLst>
        </pc:spChg>
        <pc:spChg chg="mod">
          <ac:chgData name="Brenni, Giovanni" userId="415fa501-2e2a-4428-bd52-3d9320accab2" providerId="ADAL" clId="{98B48EE4-A13B-5AC0-9360-55E0FA650246}" dt="2026-03-15T14:18:21.083" v="452" actId="207"/>
          <ac:spMkLst>
            <pc:docMk/>
            <pc:sldMk cId="3414740379" sldId="323"/>
            <ac:spMk id="19" creationId="{CFE63BA4-7AA2-78CC-643C-33DA1121440A}"/>
          </ac:spMkLst>
        </pc:spChg>
        <pc:spChg chg="mod">
          <ac:chgData name="Brenni, Giovanni" userId="415fa501-2e2a-4428-bd52-3d9320accab2" providerId="ADAL" clId="{98B48EE4-A13B-5AC0-9360-55E0FA650246}" dt="2026-03-15T14:18:25.336" v="453" actId="207"/>
          <ac:spMkLst>
            <pc:docMk/>
            <pc:sldMk cId="3414740379" sldId="323"/>
            <ac:spMk id="20" creationId="{D9C14292-A20A-069D-7EDC-0E7ED7C18DD6}"/>
          </ac:spMkLst>
        </pc:spChg>
        <pc:spChg chg="add mod">
          <ac:chgData name="Brenni, Giovanni" userId="415fa501-2e2a-4428-bd52-3d9320accab2" providerId="ADAL" clId="{98B48EE4-A13B-5AC0-9360-55E0FA650246}" dt="2026-03-15T14:16:36.585" v="414" actId="208"/>
          <ac:spMkLst>
            <pc:docMk/>
            <pc:sldMk cId="3414740379" sldId="323"/>
            <ac:spMk id="21" creationId="{CBBFA318-9F7C-0535-300A-6895528CF83A}"/>
          </ac:spMkLst>
        </pc:spChg>
        <pc:spChg chg="mod">
          <ac:chgData name="Brenni, Giovanni" userId="415fa501-2e2a-4428-bd52-3d9320accab2" providerId="ADAL" clId="{98B48EE4-A13B-5AC0-9360-55E0FA650246}" dt="2026-03-15T14:16:33.703" v="413" actId="208"/>
          <ac:spMkLst>
            <pc:docMk/>
            <pc:sldMk cId="3414740379" sldId="323"/>
            <ac:spMk id="22" creationId="{5E5FDB70-6478-1E13-F251-BD106C21B541}"/>
          </ac:spMkLst>
        </pc:spChg>
        <pc:spChg chg="add mod">
          <ac:chgData name="Brenni, Giovanni" userId="415fa501-2e2a-4428-bd52-3d9320accab2" providerId="ADAL" clId="{98B48EE4-A13B-5AC0-9360-55E0FA650246}" dt="2026-03-15T14:14:50.539" v="381"/>
          <ac:spMkLst>
            <pc:docMk/>
            <pc:sldMk cId="3414740379" sldId="323"/>
            <ac:spMk id="24" creationId="{5D1E30CD-5D9F-E6F0-EFBC-8B6B4880A45A}"/>
          </ac:spMkLst>
        </pc:spChg>
        <pc:spChg chg="mod">
          <ac:chgData name="Brenni, Giovanni" userId="415fa501-2e2a-4428-bd52-3d9320accab2" providerId="ADAL" clId="{98B48EE4-A13B-5AC0-9360-55E0FA650246}" dt="2026-03-16T14:35:50.343" v="1447" actId="2711"/>
          <ac:spMkLst>
            <pc:docMk/>
            <pc:sldMk cId="3414740379" sldId="323"/>
            <ac:spMk id="25" creationId="{5B00E072-74AC-E5FF-A2FF-574442829C15}"/>
          </ac:spMkLst>
        </pc:spChg>
        <pc:spChg chg="mod">
          <ac:chgData name="Brenni, Giovanni" userId="415fa501-2e2a-4428-bd52-3d9320accab2" providerId="ADAL" clId="{98B48EE4-A13B-5AC0-9360-55E0FA650246}" dt="2026-03-16T14:35:50.343" v="1447" actId="2711"/>
          <ac:spMkLst>
            <pc:docMk/>
            <pc:sldMk cId="3414740379" sldId="323"/>
            <ac:spMk id="26" creationId="{CBC20491-0CD8-A3A6-2CE4-E70249FA91D4}"/>
          </ac:spMkLst>
        </pc:spChg>
        <pc:spChg chg="add mod">
          <ac:chgData name="Brenni, Giovanni" userId="415fa501-2e2a-4428-bd52-3d9320accab2" providerId="ADAL" clId="{98B48EE4-A13B-5AC0-9360-55E0FA650246}" dt="2026-03-16T14:35:50.343" v="1447" actId="2711"/>
          <ac:spMkLst>
            <pc:docMk/>
            <pc:sldMk cId="3414740379" sldId="323"/>
            <ac:spMk id="27" creationId="{71DC882A-2B17-A88B-C2CA-ADBE870D35E3}"/>
          </ac:spMkLst>
        </pc:spChg>
        <pc:spChg chg="add mod">
          <ac:chgData name="Brenni, Giovanni" userId="415fa501-2e2a-4428-bd52-3d9320accab2" providerId="ADAL" clId="{98B48EE4-A13B-5AC0-9360-55E0FA650246}" dt="2026-03-15T14:14:50.539" v="381"/>
          <ac:spMkLst>
            <pc:docMk/>
            <pc:sldMk cId="3414740379" sldId="323"/>
            <ac:spMk id="28" creationId="{8A355AF7-9310-A696-C07D-99ADB00A2DE1}"/>
          </ac:spMkLst>
        </pc:spChg>
        <pc:spChg chg="add mod">
          <ac:chgData name="Brenni, Giovanni" userId="415fa501-2e2a-4428-bd52-3d9320accab2" providerId="ADAL" clId="{98B48EE4-A13B-5AC0-9360-55E0FA650246}" dt="2026-03-15T14:15:54.860" v="403"/>
          <ac:spMkLst>
            <pc:docMk/>
            <pc:sldMk cId="3414740379" sldId="323"/>
            <ac:spMk id="30" creationId="{5BAA240F-108D-4E8E-D808-E1EFE66DA7BA}"/>
          </ac:spMkLst>
        </pc:spChg>
        <pc:grpChg chg="add mod">
          <ac:chgData name="Brenni, Giovanni" userId="415fa501-2e2a-4428-bd52-3d9320accab2" providerId="ADAL" clId="{98B48EE4-A13B-5AC0-9360-55E0FA650246}" dt="2026-03-15T14:18:01.954" v="445" actId="1035"/>
          <ac:grpSpMkLst>
            <pc:docMk/>
            <pc:sldMk cId="3414740379" sldId="323"/>
            <ac:grpSpMk id="29" creationId="{DCDBB7B0-756A-AA17-AF41-884047BAE49A}"/>
          </ac:grpSpMkLst>
        </pc:grpChg>
      </pc:sldChg>
      <pc:sldChg chg="addSp delSp modSp new mod">
        <pc:chgData name="Brenni, Giovanni" userId="415fa501-2e2a-4428-bd52-3d9320accab2" providerId="ADAL" clId="{98B48EE4-A13B-5AC0-9360-55E0FA650246}" dt="2026-03-16T14:35:58.674" v="1448" actId="2711"/>
        <pc:sldMkLst>
          <pc:docMk/>
          <pc:sldMk cId="2698758770" sldId="325"/>
        </pc:sldMkLst>
        <pc:spChg chg="mod">
          <ac:chgData name="Brenni, Giovanni" userId="415fa501-2e2a-4428-bd52-3d9320accab2" providerId="ADAL" clId="{98B48EE4-A13B-5AC0-9360-55E0FA650246}" dt="2026-03-15T15:46:57.880" v="701" actId="20577"/>
          <ac:spMkLst>
            <pc:docMk/>
            <pc:sldMk cId="2698758770" sldId="325"/>
            <ac:spMk id="2" creationId="{A4FFF39A-73BD-AEC6-9B67-2859854B1064}"/>
          </ac:spMkLst>
        </pc:spChg>
        <pc:spChg chg="mod">
          <ac:chgData name="Brenni, Giovanni" userId="415fa501-2e2a-4428-bd52-3d9320accab2" providerId="ADAL" clId="{98B48EE4-A13B-5AC0-9360-55E0FA650246}" dt="2026-03-16T14:35:58.674" v="1448" actId="2711"/>
          <ac:spMkLst>
            <pc:docMk/>
            <pc:sldMk cId="2698758770" sldId="325"/>
            <ac:spMk id="4" creationId="{020E282A-B610-EDB3-70C8-BAFA076EE1C2}"/>
          </ac:spMkLst>
        </pc:spChg>
        <pc:spChg chg="mod">
          <ac:chgData name="Brenni, Giovanni" userId="415fa501-2e2a-4428-bd52-3d9320accab2" providerId="ADAL" clId="{98B48EE4-A13B-5AC0-9360-55E0FA650246}" dt="2026-03-16T14:35:58.674" v="1448" actId="2711"/>
          <ac:spMkLst>
            <pc:docMk/>
            <pc:sldMk cId="2698758770" sldId="325"/>
            <ac:spMk id="5" creationId="{984882D9-58E3-6293-31D4-6BBFA31EEB9C}"/>
          </ac:spMkLst>
        </pc:spChg>
        <pc:spChg chg="add mod topLvl">
          <ac:chgData name="Brenni, Giovanni" userId="415fa501-2e2a-4428-bd52-3d9320accab2" providerId="ADAL" clId="{98B48EE4-A13B-5AC0-9360-55E0FA650246}" dt="2026-03-15T15:46:42.947" v="695" actId="1036"/>
          <ac:spMkLst>
            <pc:docMk/>
            <pc:sldMk cId="2698758770" sldId="325"/>
            <ac:spMk id="6" creationId="{235C0D22-81F9-CE3B-A712-E44977F747D2}"/>
          </ac:spMkLst>
        </pc:spChg>
        <pc:spChg chg="add mod topLvl">
          <ac:chgData name="Brenni, Giovanni" userId="415fa501-2e2a-4428-bd52-3d9320accab2" providerId="ADAL" clId="{98B48EE4-A13B-5AC0-9360-55E0FA650246}" dt="2026-03-15T15:46:42.947" v="695" actId="1036"/>
          <ac:spMkLst>
            <pc:docMk/>
            <pc:sldMk cId="2698758770" sldId="325"/>
            <ac:spMk id="7" creationId="{673128C9-E16A-4089-84BB-8364F239222A}"/>
          </ac:spMkLst>
        </pc:spChg>
        <pc:spChg chg="add mod topLvl">
          <ac:chgData name="Brenni, Giovanni" userId="415fa501-2e2a-4428-bd52-3d9320accab2" providerId="ADAL" clId="{98B48EE4-A13B-5AC0-9360-55E0FA650246}" dt="2026-03-15T15:46:29.696" v="659" actId="165"/>
          <ac:spMkLst>
            <pc:docMk/>
            <pc:sldMk cId="2698758770" sldId="325"/>
            <ac:spMk id="8" creationId="{65F83DC8-DE41-B959-5454-67F6854C34A9}"/>
          </ac:spMkLst>
        </pc:spChg>
        <pc:spChg chg="add mod topLvl">
          <ac:chgData name="Brenni, Giovanni" userId="415fa501-2e2a-4428-bd52-3d9320accab2" providerId="ADAL" clId="{98B48EE4-A13B-5AC0-9360-55E0FA650246}" dt="2026-03-15T15:46:29.696" v="659" actId="165"/>
          <ac:spMkLst>
            <pc:docMk/>
            <pc:sldMk cId="2698758770" sldId="325"/>
            <ac:spMk id="9" creationId="{E16FFA58-4958-1DEC-0F60-7581AF366560}"/>
          </ac:spMkLst>
        </pc:spChg>
        <pc:spChg chg="mod">
          <ac:chgData name="Brenni, Giovanni" userId="415fa501-2e2a-4428-bd52-3d9320accab2" providerId="ADAL" clId="{98B48EE4-A13B-5AC0-9360-55E0FA650246}" dt="2026-03-15T15:44:54.478" v="638" actId="208"/>
          <ac:spMkLst>
            <pc:docMk/>
            <pc:sldMk cId="2698758770" sldId="325"/>
            <ac:spMk id="11" creationId="{E53631E0-75A4-DC66-AFB2-5A6EEC2DD7B1}"/>
          </ac:spMkLst>
        </pc:spChg>
        <pc:spChg chg="mod">
          <ac:chgData name="Brenni, Giovanni" userId="415fa501-2e2a-4428-bd52-3d9320accab2" providerId="ADAL" clId="{98B48EE4-A13B-5AC0-9360-55E0FA650246}" dt="2026-03-16T14:35:58.674" v="1448" actId="2711"/>
          <ac:spMkLst>
            <pc:docMk/>
            <pc:sldMk cId="2698758770" sldId="325"/>
            <ac:spMk id="12" creationId="{6BD20815-D206-5AD4-A03F-58307C85FB30}"/>
          </ac:spMkLst>
        </pc:spChg>
        <pc:spChg chg="mod">
          <ac:chgData name="Brenni, Giovanni" userId="415fa501-2e2a-4428-bd52-3d9320accab2" providerId="ADAL" clId="{98B48EE4-A13B-5AC0-9360-55E0FA650246}" dt="2026-03-16T14:35:58.674" v="1448" actId="2711"/>
          <ac:spMkLst>
            <pc:docMk/>
            <pc:sldMk cId="2698758770" sldId="325"/>
            <ac:spMk id="14" creationId="{324C8ABD-AFBD-D578-AFA3-E644D6A7CE14}"/>
          </ac:spMkLst>
        </pc:spChg>
        <pc:spChg chg="mod">
          <ac:chgData name="Brenni, Giovanni" userId="415fa501-2e2a-4428-bd52-3d9320accab2" providerId="ADAL" clId="{98B48EE4-A13B-5AC0-9360-55E0FA650246}" dt="2026-03-16T14:35:58.674" v="1448" actId="2711"/>
          <ac:spMkLst>
            <pc:docMk/>
            <pc:sldMk cId="2698758770" sldId="325"/>
            <ac:spMk id="15" creationId="{DAC2D088-17E6-BB3A-85DC-4368D407B088}"/>
          </ac:spMkLst>
        </pc:spChg>
        <pc:spChg chg="add mod topLvl">
          <ac:chgData name="Brenni, Giovanni" userId="415fa501-2e2a-4428-bd52-3d9320accab2" providerId="ADAL" clId="{98B48EE4-A13B-5AC0-9360-55E0FA650246}" dt="2026-03-16T14:35:58.674" v="1448" actId="2711"/>
          <ac:spMkLst>
            <pc:docMk/>
            <pc:sldMk cId="2698758770" sldId="325"/>
            <ac:spMk id="16" creationId="{2C672E2C-3FA0-6490-336A-0C90B4219405}"/>
          </ac:spMkLst>
        </pc:spChg>
        <pc:spChg chg="mod">
          <ac:chgData name="Brenni, Giovanni" userId="415fa501-2e2a-4428-bd52-3d9320accab2" providerId="ADAL" clId="{98B48EE4-A13B-5AC0-9360-55E0FA650246}" dt="2026-03-16T14:35:58.674" v="1448" actId="2711"/>
          <ac:spMkLst>
            <pc:docMk/>
            <pc:sldMk cId="2698758770" sldId="325"/>
            <ac:spMk id="17" creationId="{BABA6080-7754-3303-C7A0-8EC29DA952EE}"/>
          </ac:spMkLst>
        </pc:spChg>
        <pc:spChg chg="mod">
          <ac:chgData name="Brenni, Giovanni" userId="415fa501-2e2a-4428-bd52-3d9320accab2" providerId="ADAL" clId="{98B48EE4-A13B-5AC0-9360-55E0FA650246}" dt="2026-03-16T14:35:58.674" v="1448" actId="2711"/>
          <ac:spMkLst>
            <pc:docMk/>
            <pc:sldMk cId="2698758770" sldId="325"/>
            <ac:spMk id="18" creationId="{9AA54837-A88C-6004-BEE9-CC83FFCA925A}"/>
          </ac:spMkLst>
        </pc:spChg>
        <pc:spChg chg="add mod topLvl">
          <ac:chgData name="Brenni, Giovanni" userId="415fa501-2e2a-4428-bd52-3d9320accab2" providerId="ADAL" clId="{98B48EE4-A13B-5AC0-9360-55E0FA650246}" dt="2026-03-16T14:35:58.674" v="1448" actId="2711"/>
          <ac:spMkLst>
            <pc:docMk/>
            <pc:sldMk cId="2698758770" sldId="325"/>
            <ac:spMk id="20" creationId="{AB654A9B-40DF-5FCC-C08B-2BC8C003AE39}"/>
          </ac:spMkLst>
        </pc:spChg>
        <pc:spChg chg="mod">
          <ac:chgData name="Brenni, Giovanni" userId="415fa501-2e2a-4428-bd52-3d9320accab2" providerId="ADAL" clId="{98B48EE4-A13B-5AC0-9360-55E0FA650246}" dt="2026-03-15T15:46:01.980" v="657" actId="207"/>
          <ac:spMkLst>
            <pc:docMk/>
            <pc:sldMk cId="2698758770" sldId="325"/>
            <ac:spMk id="21" creationId="{DD2BE304-D5F0-A4F3-4821-07021B0E6C19}"/>
          </ac:spMkLst>
        </pc:spChg>
        <pc:spChg chg="add mod topLvl">
          <ac:chgData name="Brenni, Giovanni" userId="415fa501-2e2a-4428-bd52-3d9320accab2" providerId="ADAL" clId="{98B48EE4-A13B-5AC0-9360-55E0FA650246}" dt="2026-03-15T15:46:37.418" v="684" actId="1035"/>
          <ac:spMkLst>
            <pc:docMk/>
            <pc:sldMk cId="2698758770" sldId="325"/>
            <ac:spMk id="22" creationId="{22F37B4C-A26A-699A-241C-FC462BE60F43}"/>
          </ac:spMkLst>
        </pc:spChg>
        <pc:spChg chg="add mod topLvl">
          <ac:chgData name="Brenni, Giovanni" userId="415fa501-2e2a-4428-bd52-3d9320accab2" providerId="ADAL" clId="{98B48EE4-A13B-5AC0-9360-55E0FA650246}" dt="2026-03-15T15:46:37.418" v="684" actId="1035"/>
          <ac:spMkLst>
            <pc:docMk/>
            <pc:sldMk cId="2698758770" sldId="325"/>
            <ac:spMk id="23" creationId="{C72101C2-81CD-6BE9-F795-CDA3517B7F3F}"/>
          </ac:spMkLst>
        </pc:spChg>
        <pc:spChg chg="mod">
          <ac:chgData name="Brenni, Giovanni" userId="415fa501-2e2a-4428-bd52-3d9320accab2" providerId="ADAL" clId="{98B48EE4-A13B-5AC0-9360-55E0FA650246}" dt="2026-03-15T15:46:37.418" v="684" actId="1035"/>
          <ac:spMkLst>
            <pc:docMk/>
            <pc:sldMk cId="2698758770" sldId="325"/>
            <ac:spMk id="24" creationId="{9FCAD278-1877-328B-84F3-E9E76C63F9AD}"/>
          </ac:spMkLst>
        </pc:spChg>
        <pc:spChg chg="mod">
          <ac:chgData name="Brenni, Giovanni" userId="415fa501-2e2a-4428-bd52-3d9320accab2" providerId="ADAL" clId="{98B48EE4-A13B-5AC0-9360-55E0FA650246}" dt="2026-03-15T15:46:37.418" v="684" actId="1035"/>
          <ac:spMkLst>
            <pc:docMk/>
            <pc:sldMk cId="2698758770" sldId="325"/>
            <ac:spMk id="25" creationId="{EA58D057-1522-0ACC-BA47-40F0C2858224}"/>
          </ac:spMkLst>
        </pc:spChg>
        <pc:spChg chg="mod">
          <ac:chgData name="Brenni, Giovanni" userId="415fa501-2e2a-4428-bd52-3d9320accab2" providerId="ADAL" clId="{98B48EE4-A13B-5AC0-9360-55E0FA650246}" dt="2026-03-15T15:46:37.418" v="684" actId="1035"/>
          <ac:spMkLst>
            <pc:docMk/>
            <pc:sldMk cId="2698758770" sldId="325"/>
            <ac:spMk id="26" creationId="{63CEF53F-1C90-9A3F-C913-C8B214CBC63B}"/>
          </ac:spMkLst>
        </pc:spChg>
        <pc:spChg chg="add mod topLvl">
          <ac:chgData name="Brenni, Giovanni" userId="415fa501-2e2a-4428-bd52-3d9320accab2" providerId="ADAL" clId="{98B48EE4-A13B-5AC0-9360-55E0FA650246}" dt="2026-03-15T15:46:37.418" v="684" actId="1035"/>
          <ac:spMkLst>
            <pc:docMk/>
            <pc:sldMk cId="2698758770" sldId="325"/>
            <ac:spMk id="27" creationId="{7263D715-823F-C49C-FABF-EDF0B48A7234}"/>
          </ac:spMkLst>
        </pc:spChg>
        <pc:spChg chg="mod">
          <ac:chgData name="Brenni, Giovanni" userId="415fa501-2e2a-4428-bd52-3d9320accab2" providerId="ADAL" clId="{98B48EE4-A13B-5AC0-9360-55E0FA650246}" dt="2026-03-15T15:45:14.528" v="649" actId="208"/>
          <ac:spMkLst>
            <pc:docMk/>
            <pc:sldMk cId="2698758770" sldId="325"/>
            <ac:spMk id="29" creationId="{D0F90482-6F44-9FB5-077A-40CCA1156292}"/>
          </ac:spMkLst>
        </pc:spChg>
        <pc:spChg chg="add mod topLvl">
          <ac:chgData name="Brenni, Giovanni" userId="415fa501-2e2a-4428-bd52-3d9320accab2" providerId="ADAL" clId="{98B48EE4-A13B-5AC0-9360-55E0FA650246}" dt="2026-03-16T14:35:58.674" v="1448" actId="2711"/>
          <ac:spMkLst>
            <pc:docMk/>
            <pc:sldMk cId="2698758770" sldId="325"/>
            <ac:spMk id="30" creationId="{FCC91714-AC93-F198-9159-E59F89C26EEC}"/>
          </ac:spMkLst>
        </pc:spChg>
        <pc:spChg chg="add mod">
          <ac:chgData name="Brenni, Giovanni" userId="415fa501-2e2a-4428-bd52-3d9320accab2" providerId="ADAL" clId="{98B48EE4-A13B-5AC0-9360-55E0FA650246}" dt="2026-03-15T15:46:08.475" v="658"/>
          <ac:spMkLst>
            <pc:docMk/>
            <pc:sldMk cId="2698758770" sldId="325"/>
            <ac:spMk id="32" creationId="{CEA9F854-8366-8084-9108-54EF926D6A4C}"/>
          </ac:spMkLst>
        </pc:spChg>
        <pc:grpChg chg="add">
          <ac:chgData name="Brenni, Giovanni" userId="415fa501-2e2a-4428-bd52-3d9320accab2" providerId="ADAL" clId="{98B48EE4-A13B-5AC0-9360-55E0FA650246}" dt="2026-03-15T15:46:49.560" v="696" actId="164"/>
          <ac:grpSpMkLst>
            <pc:docMk/>
            <pc:sldMk cId="2698758770" sldId="325"/>
            <ac:grpSpMk id="33" creationId="{7A0F96C4-ED4B-8440-3E2F-F1517BEEEDDF}"/>
          </ac:grpSpMkLst>
        </pc:grpChg>
      </pc:sldChg>
      <pc:sldChg chg="addSp modSp mod">
        <pc:chgData name="Brenni, Giovanni" userId="415fa501-2e2a-4428-bd52-3d9320accab2" providerId="ADAL" clId="{98B48EE4-A13B-5AC0-9360-55E0FA650246}" dt="2026-03-16T14:36:15.927" v="1450" actId="2711"/>
        <pc:sldMkLst>
          <pc:docMk/>
          <pc:sldMk cId="1755571129" sldId="329"/>
        </pc:sldMkLst>
        <pc:spChg chg="mod">
          <ac:chgData name="Brenni, Giovanni" userId="415fa501-2e2a-4428-bd52-3d9320accab2" providerId="ADAL" clId="{98B48EE4-A13B-5AC0-9360-55E0FA650246}" dt="2026-03-16T14:33:58.773" v="1391" actId="20577"/>
          <ac:spMkLst>
            <pc:docMk/>
            <pc:sldMk cId="1755571129" sldId="329"/>
            <ac:spMk id="2" creationId="{6E86C838-319D-6F18-1EB3-CD16B19D28C1}"/>
          </ac:spMkLst>
        </pc:spChg>
        <pc:spChg chg="add mod">
          <ac:chgData name="Brenni, Giovanni" userId="415fa501-2e2a-4428-bd52-3d9320accab2" providerId="ADAL" clId="{98B48EE4-A13B-5AC0-9360-55E0FA650246}" dt="2026-03-16T14:36:15.927" v="1450" actId="2711"/>
          <ac:spMkLst>
            <pc:docMk/>
            <pc:sldMk cId="1755571129" sldId="329"/>
            <ac:spMk id="6" creationId="{E4EB9163-3413-B9E2-8A29-CE9139609EA6}"/>
          </ac:spMkLst>
        </pc:spChg>
        <pc:spChg chg="add mod">
          <ac:chgData name="Brenni, Giovanni" userId="415fa501-2e2a-4428-bd52-3d9320accab2" providerId="ADAL" clId="{98B48EE4-A13B-5AC0-9360-55E0FA650246}" dt="2026-03-16T14:36:15.927" v="1450" actId="2711"/>
          <ac:spMkLst>
            <pc:docMk/>
            <pc:sldMk cId="1755571129" sldId="329"/>
            <ac:spMk id="13" creationId="{E91347AE-FA60-9924-C76C-FF3214B483B5}"/>
          </ac:spMkLst>
        </pc:spChg>
        <pc:spChg chg="add mod">
          <ac:chgData name="Brenni, Giovanni" userId="415fa501-2e2a-4428-bd52-3d9320accab2" providerId="ADAL" clId="{98B48EE4-A13B-5AC0-9360-55E0FA650246}" dt="2026-03-16T14:36:15.927" v="1450" actId="2711"/>
          <ac:spMkLst>
            <pc:docMk/>
            <pc:sldMk cId="1755571129" sldId="329"/>
            <ac:spMk id="17" creationId="{D22567A4-BDDA-D4D9-0A38-4318C7FB8543}"/>
          </ac:spMkLst>
        </pc:spChg>
        <pc:spChg chg="add mod">
          <ac:chgData name="Brenni, Giovanni" userId="415fa501-2e2a-4428-bd52-3d9320accab2" providerId="ADAL" clId="{98B48EE4-A13B-5AC0-9360-55E0FA650246}" dt="2026-03-16T14:36:15.927" v="1450" actId="2711"/>
          <ac:spMkLst>
            <pc:docMk/>
            <pc:sldMk cId="1755571129" sldId="329"/>
            <ac:spMk id="28" creationId="{59D44D40-08CF-83C3-DF0E-7F8C53A9EAC6}"/>
          </ac:spMkLst>
        </pc:spChg>
        <pc:spChg chg="add mod">
          <ac:chgData name="Brenni, Giovanni" userId="415fa501-2e2a-4428-bd52-3d9320accab2" providerId="ADAL" clId="{98B48EE4-A13B-5AC0-9360-55E0FA650246}" dt="2026-03-16T14:36:15.927" v="1450" actId="2711"/>
          <ac:spMkLst>
            <pc:docMk/>
            <pc:sldMk cId="1755571129" sldId="329"/>
            <ac:spMk id="34" creationId="{00D4305C-C11D-694A-AC94-D571EF7534C7}"/>
          </ac:spMkLst>
        </pc:spChg>
        <pc:spChg chg="add mod">
          <ac:chgData name="Brenni, Giovanni" userId="415fa501-2e2a-4428-bd52-3d9320accab2" providerId="ADAL" clId="{98B48EE4-A13B-5AC0-9360-55E0FA650246}" dt="2026-03-16T14:36:15.927" v="1450" actId="2711"/>
          <ac:spMkLst>
            <pc:docMk/>
            <pc:sldMk cId="1755571129" sldId="329"/>
            <ac:spMk id="38" creationId="{1D483AB2-4178-F62F-36F0-3704D4143499}"/>
          </ac:spMkLst>
        </pc:spChg>
        <pc:spChg chg="add mod">
          <ac:chgData name="Brenni, Giovanni" userId="415fa501-2e2a-4428-bd52-3d9320accab2" providerId="ADAL" clId="{98B48EE4-A13B-5AC0-9360-55E0FA650246}" dt="2026-03-16T14:36:15.927" v="1450" actId="2711"/>
          <ac:spMkLst>
            <pc:docMk/>
            <pc:sldMk cId="1755571129" sldId="329"/>
            <ac:spMk id="41" creationId="{E40D5C9D-7A8B-4907-8E77-0D3D836F9CC2}"/>
          </ac:spMkLst>
        </pc:spChg>
        <pc:spChg chg="add mod">
          <ac:chgData name="Brenni, Giovanni" userId="415fa501-2e2a-4428-bd52-3d9320accab2" providerId="ADAL" clId="{98B48EE4-A13B-5AC0-9360-55E0FA650246}" dt="2026-03-16T14:36:15.927" v="1450" actId="2711"/>
          <ac:spMkLst>
            <pc:docMk/>
            <pc:sldMk cId="1755571129" sldId="329"/>
            <ac:spMk id="48" creationId="{EB4F7DB0-0CBB-4934-CB47-D7C6BA057BAA}"/>
          </ac:spMkLst>
        </pc:spChg>
        <pc:spChg chg="add mod">
          <ac:chgData name="Brenni, Giovanni" userId="415fa501-2e2a-4428-bd52-3d9320accab2" providerId="ADAL" clId="{98B48EE4-A13B-5AC0-9360-55E0FA650246}" dt="2026-03-16T14:36:15.927" v="1450" actId="2711"/>
          <ac:spMkLst>
            <pc:docMk/>
            <pc:sldMk cId="1755571129" sldId="329"/>
            <ac:spMk id="59" creationId="{B2684F43-6C88-5FE1-FBC1-3066DFADF2C4}"/>
          </ac:spMkLst>
        </pc:spChg>
        <pc:spChg chg="add mod">
          <ac:chgData name="Brenni, Giovanni" userId="415fa501-2e2a-4428-bd52-3d9320accab2" providerId="ADAL" clId="{98B48EE4-A13B-5AC0-9360-55E0FA650246}" dt="2026-03-16T14:36:15.927" v="1450" actId="2711"/>
          <ac:spMkLst>
            <pc:docMk/>
            <pc:sldMk cId="1755571129" sldId="329"/>
            <ac:spMk id="61" creationId="{7C5DCE09-715B-7917-8D0B-B7A927D4D4FE}"/>
          </ac:spMkLst>
        </pc:spChg>
        <pc:spChg chg="add mod">
          <ac:chgData name="Brenni, Giovanni" userId="415fa501-2e2a-4428-bd52-3d9320accab2" providerId="ADAL" clId="{98B48EE4-A13B-5AC0-9360-55E0FA650246}" dt="2026-03-16T14:25:42.419" v="1327" actId="20577"/>
          <ac:spMkLst>
            <pc:docMk/>
            <pc:sldMk cId="1755571129" sldId="329"/>
            <ac:spMk id="63" creationId="{6A886FF8-EA3B-A4BA-409E-5C35EBAFB7E5}"/>
          </ac:spMkLst>
        </pc:spChg>
        <pc:spChg chg="add mod">
          <ac:chgData name="Brenni, Giovanni" userId="415fa501-2e2a-4428-bd52-3d9320accab2" providerId="ADAL" clId="{98B48EE4-A13B-5AC0-9360-55E0FA650246}" dt="2026-03-16T14:24:06.777" v="1300" actId="1076"/>
          <ac:spMkLst>
            <pc:docMk/>
            <pc:sldMk cId="1755571129" sldId="329"/>
            <ac:spMk id="64" creationId="{E33FF2F8-917F-1474-89F8-32B10D0812B5}"/>
          </ac:spMkLst>
        </pc:spChg>
        <pc:grpChg chg="add mod">
          <ac:chgData name="Brenni, Giovanni" userId="415fa501-2e2a-4428-bd52-3d9320accab2" providerId="ADAL" clId="{98B48EE4-A13B-5AC0-9360-55E0FA650246}" dt="2026-03-16T14:20:12.520" v="1174" actId="1036"/>
          <ac:grpSpMkLst>
            <pc:docMk/>
            <pc:sldMk cId="1755571129" sldId="329"/>
            <ac:grpSpMk id="62" creationId="{C9A3482D-563A-F4E1-683A-E0E4A9B60CDC}"/>
          </ac:grpSpMkLst>
        </pc:grpChg>
      </pc:sldChg>
      <pc:sldChg chg="addSp delSp modSp new mod">
        <pc:chgData name="Brenni, Giovanni" userId="415fa501-2e2a-4428-bd52-3d9320accab2" providerId="ADAL" clId="{98B48EE4-A13B-5AC0-9360-55E0FA650246}" dt="2026-03-16T14:36:05.887" v="1449" actId="2711"/>
        <pc:sldMkLst>
          <pc:docMk/>
          <pc:sldMk cId="3984344241" sldId="331"/>
        </pc:sldMkLst>
        <pc:spChg chg="mod">
          <ac:chgData name="Brenni, Giovanni" userId="415fa501-2e2a-4428-bd52-3d9320accab2" providerId="ADAL" clId="{98B48EE4-A13B-5AC0-9360-55E0FA650246}" dt="2026-03-16T14:34:07.721" v="1408" actId="20577"/>
          <ac:spMkLst>
            <pc:docMk/>
            <pc:sldMk cId="3984344241" sldId="331"/>
            <ac:spMk id="2" creationId="{DFC6161D-8B62-FA07-8B0A-715F549FF8E3}"/>
          </ac:spMkLst>
        </pc:spChg>
        <pc:spChg chg="mod">
          <ac:chgData name="Brenni, Giovanni" userId="415fa501-2e2a-4428-bd52-3d9320accab2" providerId="ADAL" clId="{98B48EE4-A13B-5AC0-9360-55E0FA650246}" dt="2026-03-16T11:04:56.666" v="933" actId="207"/>
          <ac:spMkLst>
            <pc:docMk/>
            <pc:sldMk cId="3984344241" sldId="331"/>
            <ac:spMk id="59" creationId="{551C7F5C-788B-587F-A5E6-A3E2D0E41734}"/>
          </ac:spMkLst>
        </pc:spChg>
        <pc:spChg chg="mod topLvl">
          <ac:chgData name="Brenni, Giovanni" userId="415fa501-2e2a-4428-bd52-3d9320accab2" providerId="ADAL" clId="{98B48EE4-A13B-5AC0-9360-55E0FA650246}" dt="2026-03-16T13:51:26.455" v="1120" actId="408"/>
          <ac:spMkLst>
            <pc:docMk/>
            <pc:sldMk cId="3984344241" sldId="331"/>
            <ac:spMk id="63" creationId="{E94BBE0F-A9EA-B330-F5AF-3A6481B4B67D}"/>
          </ac:spMkLst>
        </pc:spChg>
        <pc:spChg chg="mod topLvl">
          <ac:chgData name="Brenni, Giovanni" userId="415fa501-2e2a-4428-bd52-3d9320accab2" providerId="ADAL" clId="{98B48EE4-A13B-5AC0-9360-55E0FA650246}" dt="2026-03-16T13:51:26.455" v="1120" actId="408"/>
          <ac:spMkLst>
            <pc:docMk/>
            <pc:sldMk cId="3984344241" sldId="331"/>
            <ac:spMk id="64" creationId="{90F75020-D34E-2944-9093-0B23C7D48F64}"/>
          </ac:spMkLst>
        </pc:spChg>
        <pc:spChg chg="mod topLvl">
          <ac:chgData name="Brenni, Giovanni" userId="415fa501-2e2a-4428-bd52-3d9320accab2" providerId="ADAL" clId="{98B48EE4-A13B-5AC0-9360-55E0FA650246}" dt="2026-03-16T13:51:26.455" v="1120" actId="408"/>
          <ac:spMkLst>
            <pc:docMk/>
            <pc:sldMk cId="3984344241" sldId="331"/>
            <ac:spMk id="65" creationId="{1A8A616A-C5DB-BFC1-E2D7-9B366810A4DB}"/>
          </ac:spMkLst>
        </pc:spChg>
        <pc:spChg chg="mod topLvl">
          <ac:chgData name="Brenni, Giovanni" userId="415fa501-2e2a-4428-bd52-3d9320accab2" providerId="ADAL" clId="{98B48EE4-A13B-5AC0-9360-55E0FA650246}" dt="2026-03-16T13:51:26.455" v="1120" actId="408"/>
          <ac:spMkLst>
            <pc:docMk/>
            <pc:sldMk cId="3984344241" sldId="331"/>
            <ac:spMk id="66" creationId="{E0D3BDA2-574B-BAAE-4549-079D332CB232}"/>
          </ac:spMkLst>
        </pc:spChg>
        <pc:spChg chg="add mod topLvl">
          <ac:chgData name="Brenni, Giovanni" userId="415fa501-2e2a-4428-bd52-3d9320accab2" providerId="ADAL" clId="{98B48EE4-A13B-5AC0-9360-55E0FA650246}" dt="2026-03-16T14:36:05.887" v="1449" actId="2711"/>
          <ac:spMkLst>
            <pc:docMk/>
            <pc:sldMk cId="3984344241" sldId="331"/>
            <ac:spMk id="67" creationId="{5BDEFDF8-3F3A-DD16-ED7C-D49EAB37EA57}"/>
          </ac:spMkLst>
        </pc:spChg>
        <pc:spChg chg="mod">
          <ac:chgData name="Brenni, Giovanni" userId="415fa501-2e2a-4428-bd52-3d9320accab2" providerId="ADAL" clId="{98B48EE4-A13B-5AC0-9360-55E0FA650246}" dt="2026-03-16T13:49:46.163" v="1104" actId="164"/>
          <ac:spMkLst>
            <pc:docMk/>
            <pc:sldMk cId="3984344241" sldId="331"/>
            <ac:spMk id="68" creationId="{4A484A1D-E27C-53BF-D54D-5C66B4281900}"/>
          </ac:spMkLst>
        </pc:spChg>
        <pc:spChg chg="add mod topLvl">
          <ac:chgData name="Brenni, Giovanni" userId="415fa501-2e2a-4428-bd52-3d9320accab2" providerId="ADAL" clId="{98B48EE4-A13B-5AC0-9360-55E0FA650246}" dt="2026-03-16T13:49:46.163" v="1104" actId="164"/>
          <ac:spMkLst>
            <pc:docMk/>
            <pc:sldMk cId="3984344241" sldId="331"/>
            <ac:spMk id="70" creationId="{399F2023-F7AF-710D-8F19-FFB67C9D9FF3}"/>
          </ac:spMkLst>
        </pc:spChg>
        <pc:spChg chg="mod">
          <ac:chgData name="Brenni, Giovanni" userId="415fa501-2e2a-4428-bd52-3d9320accab2" providerId="ADAL" clId="{98B48EE4-A13B-5AC0-9360-55E0FA650246}" dt="2026-03-16T11:12:17.552" v="1081" actId="12789"/>
          <ac:spMkLst>
            <pc:docMk/>
            <pc:sldMk cId="3984344241" sldId="331"/>
            <ac:spMk id="72" creationId="{D78B646C-94B4-C709-CCE8-1A29D4286A45}"/>
          </ac:spMkLst>
        </pc:spChg>
        <pc:spChg chg="mod">
          <ac:chgData name="Brenni, Giovanni" userId="415fa501-2e2a-4428-bd52-3d9320accab2" providerId="ADAL" clId="{98B48EE4-A13B-5AC0-9360-55E0FA650246}" dt="2026-03-16T14:36:05.887" v="1449" actId="2711"/>
          <ac:spMkLst>
            <pc:docMk/>
            <pc:sldMk cId="3984344241" sldId="331"/>
            <ac:spMk id="77" creationId="{0616E53F-A4AE-BFB0-EC9C-85565D34463F}"/>
          </ac:spMkLst>
        </pc:spChg>
        <pc:spChg chg="mod">
          <ac:chgData name="Brenni, Giovanni" userId="415fa501-2e2a-4428-bd52-3d9320accab2" providerId="ADAL" clId="{98B48EE4-A13B-5AC0-9360-55E0FA650246}" dt="2026-03-16T11:04:18.500" v="928" actId="207"/>
          <ac:spMkLst>
            <pc:docMk/>
            <pc:sldMk cId="3984344241" sldId="331"/>
            <ac:spMk id="78" creationId="{C50BE7C5-2461-275C-2F1A-3F08D48C5427}"/>
          </ac:spMkLst>
        </pc:spChg>
        <pc:spChg chg="mod">
          <ac:chgData name="Brenni, Giovanni" userId="415fa501-2e2a-4428-bd52-3d9320accab2" providerId="ADAL" clId="{98B48EE4-A13B-5AC0-9360-55E0FA650246}" dt="2026-03-16T13:53:04.095" v="1143" actId="404"/>
          <ac:spMkLst>
            <pc:docMk/>
            <pc:sldMk cId="3984344241" sldId="331"/>
            <ac:spMk id="79" creationId="{088AF873-957B-2535-1427-E1DF44A1093F}"/>
          </ac:spMkLst>
        </pc:spChg>
        <pc:spChg chg="mod">
          <ac:chgData name="Brenni, Giovanni" userId="415fa501-2e2a-4428-bd52-3d9320accab2" providerId="ADAL" clId="{98B48EE4-A13B-5AC0-9360-55E0FA650246}" dt="2026-03-16T14:36:05.887" v="1449" actId="2711"/>
          <ac:spMkLst>
            <pc:docMk/>
            <pc:sldMk cId="3984344241" sldId="331"/>
            <ac:spMk id="80" creationId="{1F90DFF8-854E-7EAA-43ED-566EC753346A}"/>
          </ac:spMkLst>
        </pc:spChg>
        <pc:spChg chg="mod">
          <ac:chgData name="Brenni, Giovanni" userId="415fa501-2e2a-4428-bd52-3d9320accab2" providerId="ADAL" clId="{98B48EE4-A13B-5AC0-9360-55E0FA650246}" dt="2026-03-16T14:36:05.887" v="1449" actId="2711"/>
          <ac:spMkLst>
            <pc:docMk/>
            <pc:sldMk cId="3984344241" sldId="331"/>
            <ac:spMk id="81" creationId="{AF04781B-39F3-C9C0-1B3D-7A9450E409BC}"/>
          </ac:spMkLst>
        </pc:spChg>
        <pc:spChg chg="mod">
          <ac:chgData name="Brenni, Giovanni" userId="415fa501-2e2a-4428-bd52-3d9320accab2" providerId="ADAL" clId="{98B48EE4-A13B-5AC0-9360-55E0FA650246}" dt="2026-03-16T14:36:05.887" v="1449" actId="2711"/>
          <ac:spMkLst>
            <pc:docMk/>
            <pc:sldMk cId="3984344241" sldId="331"/>
            <ac:spMk id="82" creationId="{8C99A694-D5DA-2D3E-36C7-47E7B33F3BF2}"/>
          </ac:spMkLst>
        </pc:spChg>
        <pc:spChg chg="mod">
          <ac:chgData name="Brenni, Giovanni" userId="415fa501-2e2a-4428-bd52-3d9320accab2" providerId="ADAL" clId="{98B48EE4-A13B-5AC0-9360-55E0FA650246}" dt="2026-03-16T13:53:04.095" v="1143" actId="404"/>
          <ac:spMkLst>
            <pc:docMk/>
            <pc:sldMk cId="3984344241" sldId="331"/>
            <ac:spMk id="83" creationId="{71C41E46-9C01-9D82-404C-0752ACFADF1F}"/>
          </ac:spMkLst>
        </pc:spChg>
        <pc:spChg chg="mod">
          <ac:chgData name="Brenni, Giovanni" userId="415fa501-2e2a-4428-bd52-3d9320accab2" providerId="ADAL" clId="{98B48EE4-A13B-5AC0-9360-55E0FA650246}" dt="2026-03-16T11:04:18.500" v="928" actId="207"/>
          <ac:spMkLst>
            <pc:docMk/>
            <pc:sldMk cId="3984344241" sldId="331"/>
            <ac:spMk id="84" creationId="{B04D0C8D-84B5-FFDA-72FA-BC429FD7CF91}"/>
          </ac:spMkLst>
        </pc:spChg>
        <pc:spChg chg="mod topLvl">
          <ac:chgData name="Brenni, Giovanni" userId="415fa501-2e2a-4428-bd52-3d9320accab2" providerId="ADAL" clId="{98B48EE4-A13B-5AC0-9360-55E0FA650246}" dt="2026-03-16T13:51:26.455" v="1120" actId="408"/>
          <ac:spMkLst>
            <pc:docMk/>
            <pc:sldMk cId="3984344241" sldId="331"/>
            <ac:spMk id="86" creationId="{45B2F735-3A62-72B9-42B1-CE73C49562AB}"/>
          </ac:spMkLst>
        </pc:spChg>
        <pc:spChg chg="mod topLvl">
          <ac:chgData name="Brenni, Giovanni" userId="415fa501-2e2a-4428-bd52-3d9320accab2" providerId="ADAL" clId="{98B48EE4-A13B-5AC0-9360-55E0FA650246}" dt="2026-03-16T13:51:26.455" v="1120" actId="408"/>
          <ac:spMkLst>
            <pc:docMk/>
            <pc:sldMk cId="3984344241" sldId="331"/>
            <ac:spMk id="87" creationId="{9FB39751-D466-5E8F-E70D-6F7CB73AFE1E}"/>
          </ac:spMkLst>
        </pc:spChg>
        <pc:spChg chg="add mod topLvl">
          <ac:chgData name="Brenni, Giovanni" userId="415fa501-2e2a-4428-bd52-3d9320accab2" providerId="ADAL" clId="{98B48EE4-A13B-5AC0-9360-55E0FA650246}" dt="2026-03-16T13:51:26.455" v="1120" actId="408"/>
          <ac:spMkLst>
            <pc:docMk/>
            <pc:sldMk cId="3984344241" sldId="331"/>
            <ac:spMk id="88" creationId="{755A93E2-A29C-EBD9-13C1-C016321A5303}"/>
          </ac:spMkLst>
        </pc:spChg>
        <pc:spChg chg="mod topLvl">
          <ac:chgData name="Brenni, Giovanni" userId="415fa501-2e2a-4428-bd52-3d9320accab2" providerId="ADAL" clId="{98B48EE4-A13B-5AC0-9360-55E0FA650246}" dt="2026-03-16T14:36:05.887" v="1449" actId="2711"/>
          <ac:spMkLst>
            <pc:docMk/>
            <pc:sldMk cId="3984344241" sldId="331"/>
            <ac:spMk id="89" creationId="{1340FCC7-8472-D533-9F7B-C5823AAE3EBA}"/>
          </ac:spMkLst>
        </pc:spChg>
        <pc:spChg chg="mod">
          <ac:chgData name="Brenni, Giovanni" userId="415fa501-2e2a-4428-bd52-3d9320accab2" providerId="ADAL" clId="{98B48EE4-A13B-5AC0-9360-55E0FA650246}" dt="2026-03-16T14:36:05.887" v="1449" actId="2711"/>
          <ac:spMkLst>
            <pc:docMk/>
            <pc:sldMk cId="3984344241" sldId="331"/>
            <ac:spMk id="90" creationId="{910760B1-4551-6CB0-48FB-7F49E4CA4DEB}"/>
          </ac:spMkLst>
        </pc:spChg>
        <pc:spChg chg="add mod topLvl">
          <ac:chgData name="Brenni, Giovanni" userId="415fa501-2e2a-4428-bd52-3d9320accab2" providerId="ADAL" clId="{98B48EE4-A13B-5AC0-9360-55E0FA650246}" dt="2026-03-16T13:49:46.163" v="1104" actId="164"/>
          <ac:spMkLst>
            <pc:docMk/>
            <pc:sldMk cId="3984344241" sldId="331"/>
            <ac:spMk id="91" creationId="{744EDBF7-82D6-F590-837A-61C048BE8C92}"/>
          </ac:spMkLst>
        </pc:spChg>
        <pc:spChg chg="mod">
          <ac:chgData name="Brenni, Giovanni" userId="415fa501-2e2a-4428-bd52-3d9320accab2" providerId="ADAL" clId="{98B48EE4-A13B-5AC0-9360-55E0FA650246}" dt="2026-03-16T11:13:28.964" v="1103" actId="404"/>
          <ac:spMkLst>
            <pc:docMk/>
            <pc:sldMk cId="3984344241" sldId="331"/>
            <ac:spMk id="92" creationId="{3CECBA8C-A7CF-D414-023C-C19B990AA372}"/>
          </ac:spMkLst>
        </pc:spChg>
        <pc:spChg chg="mod">
          <ac:chgData name="Brenni, Giovanni" userId="415fa501-2e2a-4428-bd52-3d9320accab2" providerId="ADAL" clId="{98B48EE4-A13B-5AC0-9360-55E0FA650246}" dt="2026-03-16T13:49:46.163" v="1104" actId="164"/>
          <ac:spMkLst>
            <pc:docMk/>
            <pc:sldMk cId="3984344241" sldId="331"/>
            <ac:spMk id="93" creationId="{F2168192-50C2-036C-39BD-0E65B89A2603}"/>
          </ac:spMkLst>
        </pc:spChg>
        <pc:spChg chg="add mod topLvl">
          <ac:chgData name="Brenni, Giovanni" userId="415fa501-2e2a-4428-bd52-3d9320accab2" providerId="ADAL" clId="{98B48EE4-A13B-5AC0-9360-55E0FA650246}" dt="2026-03-16T14:36:05.887" v="1449" actId="2711"/>
          <ac:spMkLst>
            <pc:docMk/>
            <pc:sldMk cId="3984344241" sldId="331"/>
            <ac:spMk id="94" creationId="{B527641A-B3A0-C6E8-F963-23A23EE3D499}"/>
          </ac:spMkLst>
        </pc:spChg>
        <pc:spChg chg="mod">
          <ac:chgData name="Brenni, Giovanni" userId="415fa501-2e2a-4428-bd52-3d9320accab2" providerId="ADAL" clId="{98B48EE4-A13B-5AC0-9360-55E0FA650246}" dt="2026-03-16T11:04:32.098" v="929" actId="2085"/>
          <ac:spMkLst>
            <pc:docMk/>
            <pc:sldMk cId="3984344241" sldId="331"/>
            <ac:spMk id="95" creationId="{C2AE75F8-71C2-3EB6-BB60-E3339AF1E366}"/>
          </ac:spMkLst>
        </pc:spChg>
        <pc:spChg chg="mod">
          <ac:chgData name="Brenni, Giovanni" userId="415fa501-2e2a-4428-bd52-3d9320accab2" providerId="ADAL" clId="{98B48EE4-A13B-5AC0-9360-55E0FA650246}" dt="2026-03-16T11:04:38.165" v="930" actId="2085"/>
          <ac:spMkLst>
            <pc:docMk/>
            <pc:sldMk cId="3984344241" sldId="331"/>
            <ac:spMk id="96" creationId="{167C3ABE-F295-BAE3-C3EE-D337725C53DF}"/>
          </ac:spMkLst>
        </pc:spChg>
        <pc:spChg chg="mod">
          <ac:chgData name="Brenni, Giovanni" userId="415fa501-2e2a-4428-bd52-3d9320accab2" providerId="ADAL" clId="{98B48EE4-A13B-5AC0-9360-55E0FA650246}" dt="2026-03-16T11:13:28.964" v="1103" actId="404"/>
          <ac:spMkLst>
            <pc:docMk/>
            <pc:sldMk cId="3984344241" sldId="331"/>
            <ac:spMk id="97" creationId="{3C426936-AA50-96B9-B9C3-0725F06B9243}"/>
          </ac:spMkLst>
        </pc:spChg>
        <pc:spChg chg="mod">
          <ac:chgData name="Brenni, Giovanni" userId="415fa501-2e2a-4428-bd52-3d9320accab2" providerId="ADAL" clId="{98B48EE4-A13B-5AC0-9360-55E0FA650246}" dt="2026-03-16T11:05:04.407" v="934" actId="207"/>
          <ac:spMkLst>
            <pc:docMk/>
            <pc:sldMk cId="3984344241" sldId="331"/>
            <ac:spMk id="98" creationId="{0E5A90ED-9C37-4C5A-3E7B-343CB20BFDC5}"/>
          </ac:spMkLst>
        </pc:spChg>
        <pc:spChg chg="mod">
          <ac:chgData name="Brenni, Giovanni" userId="415fa501-2e2a-4428-bd52-3d9320accab2" providerId="ADAL" clId="{98B48EE4-A13B-5AC0-9360-55E0FA650246}" dt="2026-03-16T14:36:05.887" v="1449" actId="2711"/>
          <ac:spMkLst>
            <pc:docMk/>
            <pc:sldMk cId="3984344241" sldId="331"/>
            <ac:spMk id="99" creationId="{5B2A8EF7-8E83-DC7A-447B-7C3D95E01F05}"/>
          </ac:spMkLst>
        </pc:spChg>
        <pc:spChg chg="mod">
          <ac:chgData name="Brenni, Giovanni" userId="415fa501-2e2a-4428-bd52-3d9320accab2" providerId="ADAL" clId="{98B48EE4-A13B-5AC0-9360-55E0FA650246}" dt="2026-03-16T13:49:46.163" v="1104" actId="164"/>
          <ac:spMkLst>
            <pc:docMk/>
            <pc:sldMk cId="3984344241" sldId="331"/>
            <ac:spMk id="100" creationId="{19CD1AAD-8F3A-FE57-0D21-8B04F64DF71A}"/>
          </ac:spMkLst>
        </pc:spChg>
        <pc:spChg chg="add mod topLvl">
          <ac:chgData name="Brenni, Giovanni" userId="415fa501-2e2a-4428-bd52-3d9320accab2" providerId="ADAL" clId="{98B48EE4-A13B-5AC0-9360-55E0FA650246}" dt="2026-03-16T13:49:46.163" v="1104" actId="164"/>
          <ac:spMkLst>
            <pc:docMk/>
            <pc:sldMk cId="3984344241" sldId="331"/>
            <ac:spMk id="101" creationId="{8B046EE3-07E7-0234-1CC4-3C041F6CB3FE}"/>
          </ac:spMkLst>
        </pc:spChg>
        <pc:spChg chg="add mod topLvl">
          <ac:chgData name="Brenni, Giovanni" userId="415fa501-2e2a-4428-bd52-3d9320accab2" providerId="ADAL" clId="{98B48EE4-A13B-5AC0-9360-55E0FA650246}" dt="2026-03-16T13:49:46.163" v="1104" actId="164"/>
          <ac:spMkLst>
            <pc:docMk/>
            <pc:sldMk cId="3984344241" sldId="331"/>
            <ac:spMk id="102" creationId="{BD3E62E8-3FDB-5F3E-3BCC-C49330547CF7}"/>
          </ac:spMkLst>
        </pc:spChg>
        <pc:spChg chg="mod">
          <ac:chgData name="Brenni, Giovanni" userId="415fa501-2e2a-4428-bd52-3d9320accab2" providerId="ADAL" clId="{98B48EE4-A13B-5AC0-9360-55E0FA650246}" dt="2026-03-16T11:05:04.407" v="934" actId="207"/>
          <ac:spMkLst>
            <pc:docMk/>
            <pc:sldMk cId="3984344241" sldId="331"/>
            <ac:spMk id="103" creationId="{B6DEE64E-9DD5-41B9-8972-C0BFF7F3622A}"/>
          </ac:spMkLst>
        </pc:spChg>
        <pc:spChg chg="mod">
          <ac:chgData name="Brenni, Giovanni" userId="415fa501-2e2a-4428-bd52-3d9320accab2" providerId="ADAL" clId="{98B48EE4-A13B-5AC0-9360-55E0FA650246}" dt="2026-03-16T11:11:40.513" v="1076" actId="207"/>
          <ac:spMkLst>
            <pc:docMk/>
            <pc:sldMk cId="3984344241" sldId="331"/>
            <ac:spMk id="104" creationId="{9AD90FAD-4172-CBB3-2825-1EBD4CEB5860}"/>
          </ac:spMkLst>
        </pc:spChg>
        <pc:spChg chg="mod">
          <ac:chgData name="Brenni, Giovanni" userId="415fa501-2e2a-4428-bd52-3d9320accab2" providerId="ADAL" clId="{98B48EE4-A13B-5AC0-9360-55E0FA650246}" dt="2026-03-16T14:36:05.887" v="1449" actId="2711"/>
          <ac:spMkLst>
            <pc:docMk/>
            <pc:sldMk cId="3984344241" sldId="331"/>
            <ac:spMk id="105" creationId="{3817DB42-33C4-C928-8079-7607D4015C6A}"/>
          </ac:spMkLst>
        </pc:spChg>
        <pc:spChg chg="add mod topLvl">
          <ac:chgData name="Brenni, Giovanni" userId="415fa501-2e2a-4428-bd52-3d9320accab2" providerId="ADAL" clId="{98B48EE4-A13B-5AC0-9360-55E0FA650246}" dt="2026-03-16T11:10:09.793" v="1070" actId="1036"/>
          <ac:spMkLst>
            <pc:docMk/>
            <pc:sldMk cId="3984344241" sldId="331"/>
            <ac:spMk id="107" creationId="{2F66010F-0155-A4F9-FFE1-6B1050E3F355}"/>
          </ac:spMkLst>
        </pc:spChg>
        <pc:spChg chg="mod">
          <ac:chgData name="Brenni, Giovanni" userId="415fa501-2e2a-4428-bd52-3d9320accab2" providerId="ADAL" clId="{98B48EE4-A13B-5AC0-9360-55E0FA650246}" dt="2026-03-16T13:49:46.163" v="1104" actId="164"/>
          <ac:spMkLst>
            <pc:docMk/>
            <pc:sldMk cId="3984344241" sldId="331"/>
            <ac:spMk id="108" creationId="{C2AB6676-2E33-0809-29DD-657CB0D5996D}"/>
          </ac:spMkLst>
        </pc:spChg>
        <pc:spChg chg="mod">
          <ac:chgData name="Brenni, Giovanni" userId="415fa501-2e2a-4428-bd52-3d9320accab2" providerId="ADAL" clId="{98B48EE4-A13B-5AC0-9360-55E0FA650246}" dt="2026-03-16T11:10:09.793" v="1070" actId="1036"/>
          <ac:spMkLst>
            <pc:docMk/>
            <pc:sldMk cId="3984344241" sldId="331"/>
            <ac:spMk id="109" creationId="{00BD653E-9257-6F30-5EB5-AAE75ADCABF0}"/>
          </ac:spMkLst>
        </pc:spChg>
        <pc:spChg chg="add mod">
          <ac:chgData name="Brenni, Giovanni" userId="415fa501-2e2a-4428-bd52-3d9320accab2" providerId="ADAL" clId="{98B48EE4-A13B-5AC0-9360-55E0FA650246}" dt="2026-03-16T11:12:17.552" v="1081" actId="12789"/>
          <ac:spMkLst>
            <pc:docMk/>
            <pc:sldMk cId="3984344241" sldId="331"/>
            <ac:spMk id="115" creationId="{0C84E9F0-9961-7A59-411E-083D73F51F0A}"/>
          </ac:spMkLst>
        </pc:spChg>
        <pc:spChg chg="add mod">
          <ac:chgData name="Brenni, Giovanni" userId="415fa501-2e2a-4428-bd52-3d9320accab2" providerId="ADAL" clId="{98B48EE4-A13B-5AC0-9360-55E0FA650246}" dt="2026-03-16T13:50:15.373" v="1113" actId="12789"/>
          <ac:spMkLst>
            <pc:docMk/>
            <pc:sldMk cId="3984344241" sldId="331"/>
            <ac:spMk id="116" creationId="{2EDCDF1F-D702-86A0-FC1C-30322BD98C47}"/>
          </ac:spMkLst>
        </pc:spChg>
        <pc:spChg chg="add mod topLvl">
          <ac:chgData name="Brenni, Giovanni" userId="415fa501-2e2a-4428-bd52-3d9320accab2" providerId="ADAL" clId="{98B48EE4-A13B-5AC0-9360-55E0FA650246}" dt="2026-03-16T13:51:09.425" v="1118" actId="165"/>
          <ac:spMkLst>
            <pc:docMk/>
            <pc:sldMk cId="3984344241" sldId="331"/>
            <ac:spMk id="118" creationId="{F9E94056-B340-C738-586E-6ABB6633D6E5}"/>
          </ac:spMkLst>
        </pc:spChg>
        <pc:spChg chg="add mod">
          <ac:chgData name="Brenni, Giovanni" userId="415fa501-2e2a-4428-bd52-3d9320accab2" providerId="ADAL" clId="{98B48EE4-A13B-5AC0-9360-55E0FA650246}" dt="2026-03-16T13:49:58.939" v="1111" actId="12788"/>
          <ac:spMkLst>
            <pc:docMk/>
            <pc:sldMk cId="3984344241" sldId="331"/>
            <ac:spMk id="119" creationId="{0779A04F-53A6-EE6D-EB9B-4154B2B6912A}"/>
          </ac:spMkLst>
        </pc:spChg>
        <pc:grpChg chg="mod">
          <ac:chgData name="Brenni, Giovanni" userId="415fa501-2e2a-4428-bd52-3d9320accab2" providerId="ADAL" clId="{98B48EE4-A13B-5AC0-9360-55E0FA650246}" dt="2026-03-16T13:52:07.148" v="1141" actId="1036"/>
          <ac:grpSpMkLst>
            <pc:docMk/>
            <pc:sldMk cId="3984344241" sldId="331"/>
            <ac:grpSpMk id="3" creationId="{29F98965-ADDF-2FC6-B9D9-567BB743F2C0}"/>
          </ac:grpSpMkLst>
        </pc:grpChg>
        <pc:grpChg chg="add mod">
          <ac:chgData name="Brenni, Giovanni" userId="415fa501-2e2a-4428-bd52-3d9320accab2" providerId="ADAL" clId="{98B48EE4-A13B-5AC0-9360-55E0FA650246}" dt="2026-03-16T13:52:07.148" v="1141" actId="1036"/>
          <ac:grpSpMkLst>
            <pc:docMk/>
            <pc:sldMk cId="3984344241" sldId="331"/>
            <ac:grpSpMk id="5" creationId="{3C369873-6AB2-64F6-7CEC-FC5359F68DA6}"/>
          </ac:grpSpMkLst>
        </pc:grpChg>
        <pc:grpChg chg="add mod">
          <ac:chgData name="Brenni, Giovanni" userId="415fa501-2e2a-4428-bd52-3d9320accab2" providerId="ADAL" clId="{98B48EE4-A13B-5AC0-9360-55E0FA650246}" dt="2026-03-16T13:52:07.148" v="1141" actId="1036"/>
          <ac:grpSpMkLst>
            <pc:docMk/>
            <pc:sldMk cId="3984344241" sldId="331"/>
            <ac:grpSpMk id="117" creationId="{363ECF4E-4F6D-2C3A-D560-032A56E85E96}"/>
          </ac:grpSpMkLst>
        </pc:grpChg>
        <pc:graphicFrameChg chg="mod topLvl">
          <ac:chgData name="Brenni, Giovanni" userId="415fa501-2e2a-4428-bd52-3d9320accab2" providerId="ADAL" clId="{98B48EE4-A13B-5AC0-9360-55E0FA650246}" dt="2026-03-16T13:51:26.455" v="1120" actId="408"/>
          <ac:graphicFrameMkLst>
            <pc:docMk/>
            <pc:sldMk cId="3984344241" sldId="331"/>
            <ac:graphicFrameMk id="85" creationId="{117EA1DB-4304-2C73-BADB-ECC651C85274}"/>
          </ac:graphicFrameMkLst>
        </pc:graphicFrameChg>
        <pc:graphicFrameChg chg="mod">
          <ac:chgData name="Brenni, Giovanni" userId="415fa501-2e2a-4428-bd52-3d9320accab2" providerId="ADAL" clId="{98B48EE4-A13B-5AC0-9360-55E0FA650246}" dt="2026-03-16T11:10:14.390" v="1075" actId="1036"/>
          <ac:graphicFrameMkLst>
            <pc:docMk/>
            <pc:sldMk cId="3984344241" sldId="331"/>
            <ac:graphicFrameMk id="106" creationId="{8CB847B7-3C34-725A-3544-246E162F9110}"/>
          </ac:graphicFrameMkLst>
        </pc:graphicFrameChg>
      </pc:sldChg>
      <pc:sldChg chg="addSp delSp modSp new mod">
        <pc:chgData name="Brenni, Giovanni" userId="415fa501-2e2a-4428-bd52-3d9320accab2" providerId="ADAL" clId="{98B48EE4-A13B-5AC0-9360-55E0FA650246}" dt="2026-03-16T14:36:23.989" v="1451" actId="2711"/>
        <pc:sldMkLst>
          <pc:docMk/>
          <pc:sldMk cId="1214941242" sldId="332"/>
        </pc:sldMkLst>
        <pc:spChg chg="mod">
          <ac:chgData name="Brenni, Giovanni" userId="415fa501-2e2a-4428-bd52-3d9320accab2" providerId="ADAL" clId="{98B48EE4-A13B-5AC0-9360-55E0FA650246}" dt="2026-03-16T14:33:53.032" v="1382" actId="20577"/>
          <ac:spMkLst>
            <pc:docMk/>
            <pc:sldMk cId="1214941242" sldId="332"/>
            <ac:spMk id="2" creationId="{BD66A002-5420-876B-2E0C-0DDA9120E804}"/>
          </ac:spMkLst>
        </pc:spChg>
        <pc:spChg chg="add mod">
          <ac:chgData name="Brenni, Giovanni" userId="415fa501-2e2a-4428-bd52-3d9320accab2" providerId="ADAL" clId="{98B48EE4-A13B-5AC0-9360-55E0FA650246}" dt="2026-03-16T14:36:23.989" v="1451" actId="2711"/>
          <ac:spMkLst>
            <pc:docMk/>
            <pc:sldMk cId="1214941242" sldId="332"/>
            <ac:spMk id="7" creationId="{3B139DE3-1361-4BD3-F49B-C2940905E373}"/>
          </ac:spMkLst>
        </pc:spChg>
        <pc:spChg chg="add mod">
          <ac:chgData name="Brenni, Giovanni" userId="415fa501-2e2a-4428-bd52-3d9320accab2" providerId="ADAL" clId="{98B48EE4-A13B-5AC0-9360-55E0FA650246}" dt="2026-03-16T14:36:23.989" v="1451" actId="2711"/>
          <ac:spMkLst>
            <pc:docMk/>
            <pc:sldMk cId="1214941242" sldId="332"/>
            <ac:spMk id="8" creationId="{5E3CB08D-2EB4-0607-F83C-A2D67D35B71F}"/>
          </ac:spMkLst>
        </pc:spChg>
        <pc:spChg chg="add mod">
          <ac:chgData name="Brenni, Giovanni" userId="415fa501-2e2a-4428-bd52-3d9320accab2" providerId="ADAL" clId="{98B48EE4-A13B-5AC0-9360-55E0FA650246}" dt="2026-03-16T14:36:23.989" v="1451" actId="2711"/>
          <ac:spMkLst>
            <pc:docMk/>
            <pc:sldMk cId="1214941242" sldId="332"/>
            <ac:spMk id="9" creationId="{C6F4F60A-FFBF-6B4B-8678-0F89ABFB8BE6}"/>
          </ac:spMkLst>
        </pc:spChg>
        <pc:spChg chg="add mod">
          <ac:chgData name="Brenni, Giovanni" userId="415fa501-2e2a-4428-bd52-3d9320accab2" providerId="ADAL" clId="{98B48EE4-A13B-5AC0-9360-55E0FA650246}" dt="2026-03-16T14:36:23.989" v="1451" actId="2711"/>
          <ac:spMkLst>
            <pc:docMk/>
            <pc:sldMk cId="1214941242" sldId="332"/>
            <ac:spMk id="10" creationId="{4B60E933-C28A-644E-DFD2-3B33F553C26B}"/>
          </ac:spMkLst>
        </pc:spChg>
        <pc:spChg chg="add mod">
          <ac:chgData name="Brenni, Giovanni" userId="415fa501-2e2a-4428-bd52-3d9320accab2" providerId="ADAL" clId="{98B48EE4-A13B-5AC0-9360-55E0FA650246}" dt="2026-03-16T14:36:23.989" v="1451" actId="2711"/>
          <ac:spMkLst>
            <pc:docMk/>
            <pc:sldMk cId="1214941242" sldId="332"/>
            <ac:spMk id="11" creationId="{9B8719C2-4C19-3875-8DE6-F459DDA430FC}"/>
          </ac:spMkLst>
        </pc:spChg>
        <pc:spChg chg="add mod">
          <ac:chgData name="Brenni, Giovanni" userId="415fa501-2e2a-4428-bd52-3d9320accab2" providerId="ADAL" clId="{98B48EE4-A13B-5AC0-9360-55E0FA650246}" dt="2026-03-16T14:36:23.989" v="1451" actId="2711"/>
          <ac:spMkLst>
            <pc:docMk/>
            <pc:sldMk cId="1214941242" sldId="332"/>
            <ac:spMk id="12" creationId="{4D3D7588-080D-B0FF-CD9C-FE607AAD8516}"/>
          </ac:spMkLst>
        </pc:spChg>
        <pc:spChg chg="add mod">
          <ac:chgData name="Brenni, Giovanni" userId="415fa501-2e2a-4428-bd52-3d9320accab2" providerId="ADAL" clId="{98B48EE4-A13B-5AC0-9360-55E0FA650246}" dt="2026-03-16T14:36:23.989" v="1451" actId="2711"/>
          <ac:spMkLst>
            <pc:docMk/>
            <pc:sldMk cId="1214941242" sldId="332"/>
            <ac:spMk id="13" creationId="{EF3BB1E7-E12B-64E8-3FAB-F4A5329E22DE}"/>
          </ac:spMkLst>
        </pc:spChg>
        <pc:spChg chg="add mod">
          <ac:chgData name="Brenni, Giovanni" userId="415fa501-2e2a-4428-bd52-3d9320accab2" providerId="ADAL" clId="{98B48EE4-A13B-5AC0-9360-55E0FA650246}" dt="2026-03-16T14:36:23.989" v="1451" actId="2711"/>
          <ac:spMkLst>
            <pc:docMk/>
            <pc:sldMk cId="1214941242" sldId="332"/>
            <ac:spMk id="19" creationId="{931909C4-0EAC-F166-3835-5861294B51D9}"/>
          </ac:spMkLst>
        </pc:spChg>
        <pc:spChg chg="add mod">
          <ac:chgData name="Brenni, Giovanni" userId="415fa501-2e2a-4428-bd52-3d9320accab2" providerId="ADAL" clId="{98B48EE4-A13B-5AC0-9360-55E0FA650246}" dt="2026-03-16T14:36:23.989" v="1451" actId="2711"/>
          <ac:spMkLst>
            <pc:docMk/>
            <pc:sldMk cId="1214941242" sldId="332"/>
            <ac:spMk id="20" creationId="{FA022846-D687-5E2F-86DE-4CD30A3CC3A9}"/>
          </ac:spMkLst>
        </pc:spChg>
        <pc:spChg chg="add mod">
          <ac:chgData name="Brenni, Giovanni" userId="415fa501-2e2a-4428-bd52-3d9320accab2" providerId="ADAL" clId="{98B48EE4-A13B-5AC0-9360-55E0FA650246}" dt="2026-03-16T14:24:11.489" v="1301"/>
          <ac:spMkLst>
            <pc:docMk/>
            <pc:sldMk cId="1214941242" sldId="332"/>
            <ac:spMk id="23" creationId="{96041C3B-6FA6-0992-C1D6-CD2C19765B88}"/>
          </ac:spMkLst>
        </pc:spChg>
        <pc:spChg chg="add mod">
          <ac:chgData name="Brenni, Giovanni" userId="415fa501-2e2a-4428-bd52-3d9320accab2" providerId="ADAL" clId="{98B48EE4-A13B-5AC0-9360-55E0FA650246}" dt="2026-03-16T14:36:23.989" v="1451" actId="2711"/>
          <ac:spMkLst>
            <pc:docMk/>
            <pc:sldMk cId="1214941242" sldId="332"/>
            <ac:spMk id="24" creationId="{84960F62-E98C-ED8F-03E7-3B19338A304A}"/>
          </ac:spMkLst>
        </pc:spChg>
        <pc:grpChg chg="add mod">
          <ac:chgData name="Brenni, Giovanni" userId="415fa501-2e2a-4428-bd52-3d9320accab2" providerId="ADAL" clId="{98B48EE4-A13B-5AC0-9360-55E0FA650246}" dt="2026-03-16T14:23:15.684" v="1259" actId="1038"/>
          <ac:grpSpMkLst>
            <pc:docMk/>
            <pc:sldMk cId="1214941242" sldId="332"/>
            <ac:grpSpMk id="22" creationId="{FDA6F5FA-1184-3B14-ADD2-01FCFAEE09F9}"/>
          </ac:grpSpMkLst>
        </pc:grpChg>
      </pc:sldChg>
      <pc:sldChg chg="addSp delSp modSp new mod">
        <pc:chgData name="Brenni, Giovanni" userId="415fa501-2e2a-4428-bd52-3d9320accab2" providerId="ADAL" clId="{98B48EE4-A13B-5AC0-9360-55E0FA650246}" dt="2026-03-16T15:03:27.575" v="1656"/>
        <pc:sldMkLst>
          <pc:docMk/>
          <pc:sldMk cId="2497173590" sldId="333"/>
        </pc:sldMkLst>
        <pc:spChg chg="mod">
          <ac:chgData name="Brenni, Giovanni" userId="415fa501-2e2a-4428-bd52-3d9320accab2" providerId="ADAL" clId="{98B48EE4-A13B-5AC0-9360-55E0FA650246}" dt="2026-03-16T14:57:10.039" v="1523" actId="20577"/>
          <ac:spMkLst>
            <pc:docMk/>
            <pc:sldMk cId="2497173590" sldId="333"/>
            <ac:spMk id="2" creationId="{09942156-DCF7-ADD0-E26D-AAF8E92F0FF2}"/>
          </ac:spMkLst>
        </pc:spChg>
        <pc:spChg chg="mod">
          <ac:chgData name="Brenni, Giovanni" userId="415fa501-2e2a-4428-bd52-3d9320accab2" providerId="ADAL" clId="{98B48EE4-A13B-5AC0-9360-55E0FA650246}" dt="2026-03-16T14:34:19.743" v="1419" actId="14100"/>
          <ac:spMkLst>
            <pc:docMk/>
            <pc:sldMk cId="2497173590" sldId="333"/>
            <ac:spMk id="13" creationId="{15F3DCC9-1C0D-1665-C6DE-47A86C38C3E8}"/>
          </ac:spMkLst>
        </pc:spChg>
        <pc:spChg chg="add mod">
          <ac:chgData name="Brenni, Giovanni" userId="415fa501-2e2a-4428-bd52-3d9320accab2" providerId="ADAL" clId="{98B48EE4-A13B-5AC0-9360-55E0FA650246}" dt="2026-03-16T14:36:35.944" v="1452" actId="2711"/>
          <ac:spMkLst>
            <pc:docMk/>
            <pc:sldMk cId="2497173590" sldId="333"/>
            <ac:spMk id="21" creationId="{6B5E530E-4875-AB55-EBE8-6A1E326D2ABB}"/>
          </ac:spMkLst>
        </pc:spChg>
        <pc:spChg chg="add mod">
          <ac:chgData name="Brenni, Giovanni" userId="415fa501-2e2a-4428-bd52-3d9320accab2" providerId="ADAL" clId="{98B48EE4-A13B-5AC0-9360-55E0FA650246}" dt="2026-03-16T14:36:35.944" v="1452" actId="2711"/>
          <ac:spMkLst>
            <pc:docMk/>
            <pc:sldMk cId="2497173590" sldId="333"/>
            <ac:spMk id="29" creationId="{067D0AD2-F912-CD9F-4364-49987813B686}"/>
          </ac:spMkLst>
        </pc:spChg>
        <pc:spChg chg="add mod">
          <ac:chgData name="Brenni, Giovanni" userId="415fa501-2e2a-4428-bd52-3d9320accab2" providerId="ADAL" clId="{98B48EE4-A13B-5AC0-9360-55E0FA650246}" dt="2026-03-16T14:36:35.944" v="1452" actId="2711"/>
          <ac:spMkLst>
            <pc:docMk/>
            <pc:sldMk cId="2497173590" sldId="333"/>
            <ac:spMk id="31" creationId="{5EFE275A-94E0-B8B9-9948-F5B21E19DCA9}"/>
          </ac:spMkLst>
        </pc:spChg>
        <pc:spChg chg="add mod">
          <ac:chgData name="Brenni, Giovanni" userId="415fa501-2e2a-4428-bd52-3d9320accab2" providerId="ADAL" clId="{98B48EE4-A13B-5AC0-9360-55E0FA650246}" dt="2026-03-16T14:36:35.944" v="1452" actId="2711"/>
          <ac:spMkLst>
            <pc:docMk/>
            <pc:sldMk cId="2497173590" sldId="333"/>
            <ac:spMk id="32" creationId="{0D149683-6224-EA20-629B-90A1E9A5EE27}"/>
          </ac:spMkLst>
        </pc:spChg>
        <pc:spChg chg="add mod">
          <ac:chgData name="Brenni, Giovanni" userId="415fa501-2e2a-4428-bd52-3d9320accab2" providerId="ADAL" clId="{98B48EE4-A13B-5AC0-9360-55E0FA650246}" dt="2026-03-16T14:36:35.944" v="1452" actId="2711"/>
          <ac:spMkLst>
            <pc:docMk/>
            <pc:sldMk cId="2497173590" sldId="333"/>
            <ac:spMk id="33" creationId="{6E9D4CAF-565E-B053-81D2-B10E2DF6F7D8}"/>
          </ac:spMkLst>
        </pc:spChg>
        <pc:spChg chg="add mod">
          <ac:chgData name="Brenni, Giovanni" userId="415fa501-2e2a-4428-bd52-3d9320accab2" providerId="ADAL" clId="{98B48EE4-A13B-5AC0-9360-55E0FA650246}" dt="2026-03-16T14:36:35.944" v="1452" actId="2711"/>
          <ac:spMkLst>
            <pc:docMk/>
            <pc:sldMk cId="2497173590" sldId="333"/>
            <ac:spMk id="34" creationId="{AF1519DD-8B53-E999-25F5-D46C2C644E9E}"/>
          </ac:spMkLst>
        </pc:spChg>
        <pc:spChg chg="add mod">
          <ac:chgData name="Brenni, Giovanni" userId="415fa501-2e2a-4428-bd52-3d9320accab2" providerId="ADAL" clId="{98B48EE4-A13B-5AC0-9360-55E0FA650246}" dt="2026-03-16T14:36:35.944" v="1452" actId="2711"/>
          <ac:spMkLst>
            <pc:docMk/>
            <pc:sldMk cId="2497173590" sldId="333"/>
            <ac:spMk id="37" creationId="{4DFFD16A-873D-BA3E-BC01-CAA6DB6AD3CF}"/>
          </ac:spMkLst>
        </pc:spChg>
        <pc:spChg chg="add mod">
          <ac:chgData name="Brenni, Giovanni" userId="415fa501-2e2a-4428-bd52-3d9320accab2" providerId="ADAL" clId="{98B48EE4-A13B-5AC0-9360-55E0FA650246}" dt="2026-03-16T14:36:35.944" v="1452" actId="2711"/>
          <ac:spMkLst>
            <pc:docMk/>
            <pc:sldMk cId="2497173590" sldId="333"/>
            <ac:spMk id="38" creationId="{1E5A1845-3E68-7366-5127-350CB980D926}"/>
          </ac:spMkLst>
        </pc:spChg>
        <pc:spChg chg="add mod">
          <ac:chgData name="Brenni, Giovanni" userId="415fa501-2e2a-4428-bd52-3d9320accab2" providerId="ADAL" clId="{98B48EE4-A13B-5AC0-9360-55E0FA650246}" dt="2026-03-16T14:36:35.944" v="1452" actId="2711"/>
          <ac:spMkLst>
            <pc:docMk/>
            <pc:sldMk cId="2497173590" sldId="333"/>
            <ac:spMk id="42" creationId="{F67CCB24-541D-B878-93BE-CFD7320DBBAC}"/>
          </ac:spMkLst>
        </pc:spChg>
        <pc:spChg chg="mod">
          <ac:chgData name="Brenni, Giovanni" userId="415fa501-2e2a-4428-bd52-3d9320accab2" providerId="ADAL" clId="{98B48EE4-A13B-5AC0-9360-55E0FA650246}" dt="2026-03-16T14:36:40.579" v="1465" actId="1036"/>
          <ac:spMkLst>
            <pc:docMk/>
            <pc:sldMk cId="2497173590" sldId="333"/>
            <ac:spMk id="59" creationId="{EC68B544-FB3F-C04B-4C9F-CEF42F3E6155}"/>
          </ac:spMkLst>
        </pc:spChg>
        <pc:spChg chg="add mod">
          <ac:chgData name="Brenni, Giovanni" userId="415fa501-2e2a-4428-bd52-3d9320accab2" providerId="ADAL" clId="{98B48EE4-A13B-5AC0-9360-55E0FA650246}" dt="2026-03-16T15:03:27.575" v="1656"/>
          <ac:spMkLst>
            <pc:docMk/>
            <pc:sldMk cId="2497173590" sldId="333"/>
            <ac:spMk id="61" creationId="{E374AF96-4949-5AF0-4D61-AEAD0F9BFE27}"/>
          </ac:spMkLst>
        </pc:spChg>
        <pc:grpChg chg="add mod">
          <ac:chgData name="Brenni, Giovanni" userId="415fa501-2e2a-4428-bd52-3d9320accab2" providerId="ADAL" clId="{98B48EE4-A13B-5AC0-9360-55E0FA650246}" dt="2026-03-16T14:34:23.860" v="1429" actId="1035"/>
          <ac:grpSpMkLst>
            <pc:docMk/>
            <pc:sldMk cId="2497173590" sldId="333"/>
            <ac:grpSpMk id="60" creationId="{E5850E04-499A-2701-BACB-6C9A9D95EABF}"/>
          </ac:grpSpMkLst>
        </pc:grpChg>
      </pc:sldChg>
      <pc:sldChg chg="addSp delSp modSp new mod">
        <pc:chgData name="Brenni, Giovanni" userId="415fa501-2e2a-4428-bd52-3d9320accab2" providerId="ADAL" clId="{98B48EE4-A13B-5AC0-9360-55E0FA650246}" dt="2026-03-16T15:05:20.211" v="1730" actId="20577"/>
        <pc:sldMkLst>
          <pc:docMk/>
          <pc:sldMk cId="1515341372" sldId="334"/>
        </pc:sldMkLst>
        <pc:spChg chg="mod">
          <ac:chgData name="Brenni, Giovanni" userId="415fa501-2e2a-4428-bd52-3d9320accab2" providerId="ADAL" clId="{98B48EE4-A13B-5AC0-9360-55E0FA650246}" dt="2026-03-16T15:05:20.211" v="1730" actId="20577"/>
          <ac:spMkLst>
            <pc:docMk/>
            <pc:sldMk cId="1515341372" sldId="334"/>
            <ac:spMk id="2" creationId="{F404036F-6840-C8E8-ECA8-21CFFBA3098A}"/>
          </ac:spMkLst>
        </pc:spChg>
        <pc:spChg chg="add mod">
          <ac:chgData name="Brenni, Giovanni" userId="415fa501-2e2a-4428-bd52-3d9320accab2" providerId="ADAL" clId="{98B48EE4-A13B-5AC0-9360-55E0FA650246}" dt="2026-03-16T14:59:17.042" v="1537" actId="2711"/>
          <ac:spMkLst>
            <pc:docMk/>
            <pc:sldMk cId="1515341372" sldId="334"/>
            <ac:spMk id="32" creationId="{9049D17A-5D95-E02C-6F39-67A9299AD021}"/>
          </ac:spMkLst>
        </pc:spChg>
        <pc:spChg chg="add mod">
          <ac:chgData name="Brenni, Giovanni" userId="415fa501-2e2a-4428-bd52-3d9320accab2" providerId="ADAL" clId="{98B48EE4-A13B-5AC0-9360-55E0FA650246}" dt="2026-03-16T14:59:17.042" v="1537" actId="2711"/>
          <ac:spMkLst>
            <pc:docMk/>
            <pc:sldMk cId="1515341372" sldId="334"/>
            <ac:spMk id="37" creationId="{19A1A234-4AC0-7B32-63E7-C9FF58568ECF}"/>
          </ac:spMkLst>
        </pc:spChg>
        <pc:spChg chg="add mod">
          <ac:chgData name="Brenni, Giovanni" userId="415fa501-2e2a-4428-bd52-3d9320accab2" providerId="ADAL" clId="{98B48EE4-A13B-5AC0-9360-55E0FA650246}" dt="2026-03-16T14:59:17.042" v="1537" actId="2711"/>
          <ac:spMkLst>
            <pc:docMk/>
            <pc:sldMk cId="1515341372" sldId="334"/>
            <ac:spMk id="38" creationId="{058D5974-1477-5C8E-238A-06D202CD6C55}"/>
          </ac:spMkLst>
        </pc:spChg>
        <pc:spChg chg="add mod">
          <ac:chgData name="Brenni, Giovanni" userId="415fa501-2e2a-4428-bd52-3d9320accab2" providerId="ADAL" clId="{98B48EE4-A13B-5AC0-9360-55E0FA650246}" dt="2026-03-16T14:59:17.042" v="1537" actId="2711"/>
          <ac:spMkLst>
            <pc:docMk/>
            <pc:sldMk cId="1515341372" sldId="334"/>
            <ac:spMk id="47" creationId="{069ECAD7-C4B2-1932-3821-78EC5716A866}"/>
          </ac:spMkLst>
        </pc:spChg>
        <pc:spChg chg="add mod">
          <ac:chgData name="Brenni, Giovanni" userId="415fa501-2e2a-4428-bd52-3d9320accab2" providerId="ADAL" clId="{98B48EE4-A13B-5AC0-9360-55E0FA650246}" dt="2026-03-16T14:59:17.042" v="1537" actId="2711"/>
          <ac:spMkLst>
            <pc:docMk/>
            <pc:sldMk cId="1515341372" sldId="334"/>
            <ac:spMk id="53" creationId="{63ED3A74-FBB0-12D6-C533-911BCF4DDE5C}"/>
          </ac:spMkLst>
        </pc:spChg>
        <pc:spChg chg="add mod">
          <ac:chgData name="Brenni, Giovanni" userId="415fa501-2e2a-4428-bd52-3d9320accab2" providerId="ADAL" clId="{98B48EE4-A13B-5AC0-9360-55E0FA650246}" dt="2026-03-16T14:59:17.042" v="1537" actId="2711"/>
          <ac:spMkLst>
            <pc:docMk/>
            <pc:sldMk cId="1515341372" sldId="334"/>
            <ac:spMk id="55" creationId="{3014C4C5-C8B6-4DCF-0BA3-40E2ABD08FB7}"/>
          </ac:spMkLst>
        </pc:spChg>
        <pc:spChg chg="add mod">
          <ac:chgData name="Brenni, Giovanni" userId="415fa501-2e2a-4428-bd52-3d9320accab2" providerId="ADAL" clId="{98B48EE4-A13B-5AC0-9360-55E0FA650246}" dt="2026-03-16T14:59:17.042" v="1537" actId="2711"/>
          <ac:spMkLst>
            <pc:docMk/>
            <pc:sldMk cId="1515341372" sldId="334"/>
            <ac:spMk id="65" creationId="{4E5C9566-8553-D4DF-07F9-68C3506245F2}"/>
          </ac:spMkLst>
        </pc:spChg>
        <pc:spChg chg="add mod">
          <ac:chgData name="Brenni, Giovanni" userId="415fa501-2e2a-4428-bd52-3d9320accab2" providerId="ADAL" clId="{98B48EE4-A13B-5AC0-9360-55E0FA650246}" dt="2026-03-16T14:59:17.042" v="1537" actId="2711"/>
          <ac:spMkLst>
            <pc:docMk/>
            <pc:sldMk cId="1515341372" sldId="334"/>
            <ac:spMk id="67" creationId="{7F08506F-8AD7-404F-3B97-DC16BE3E15B6}"/>
          </ac:spMkLst>
        </pc:spChg>
        <pc:spChg chg="add mod">
          <ac:chgData name="Brenni, Giovanni" userId="415fa501-2e2a-4428-bd52-3d9320accab2" providerId="ADAL" clId="{98B48EE4-A13B-5AC0-9360-55E0FA650246}" dt="2026-03-16T14:59:17.042" v="1537" actId="2711"/>
          <ac:spMkLst>
            <pc:docMk/>
            <pc:sldMk cId="1515341372" sldId="334"/>
            <ac:spMk id="74" creationId="{CE7288C8-3B63-150D-965D-6D0C58770ECF}"/>
          </ac:spMkLst>
        </pc:spChg>
        <pc:spChg chg="add mod">
          <ac:chgData name="Brenni, Giovanni" userId="415fa501-2e2a-4428-bd52-3d9320accab2" providerId="ADAL" clId="{98B48EE4-A13B-5AC0-9360-55E0FA650246}" dt="2026-03-16T14:59:17.042" v="1537" actId="2711"/>
          <ac:spMkLst>
            <pc:docMk/>
            <pc:sldMk cId="1515341372" sldId="334"/>
            <ac:spMk id="75" creationId="{6C92F749-FD0F-7205-0227-AB2E46869308}"/>
          </ac:spMkLst>
        </pc:spChg>
        <pc:spChg chg="add mod">
          <ac:chgData name="Brenni, Giovanni" userId="415fa501-2e2a-4428-bd52-3d9320accab2" providerId="ADAL" clId="{98B48EE4-A13B-5AC0-9360-55E0FA650246}" dt="2026-03-16T15:03:28.426" v="1657"/>
          <ac:spMkLst>
            <pc:docMk/>
            <pc:sldMk cId="1515341372" sldId="334"/>
            <ac:spMk id="84" creationId="{7A1D60E7-1522-2513-DD69-574456AD050C}"/>
          </ac:spMkLst>
        </pc:spChg>
        <pc:grpChg chg="add mod">
          <ac:chgData name="Brenni, Giovanni" userId="415fa501-2e2a-4428-bd52-3d9320accab2" providerId="ADAL" clId="{98B48EE4-A13B-5AC0-9360-55E0FA650246}" dt="2026-03-16T14:57:49.389" v="1535" actId="1076"/>
          <ac:grpSpMkLst>
            <pc:docMk/>
            <pc:sldMk cId="1515341372" sldId="334"/>
            <ac:grpSpMk id="83" creationId="{36CF2094-8E37-AAF5-525A-95561381D2BD}"/>
          </ac:grpSpMkLst>
        </pc:grpChg>
      </pc:sldChg>
      <pc:sldChg chg="addSp delSp modSp new mod">
        <pc:chgData name="Brenni, Giovanni" userId="415fa501-2e2a-4428-bd52-3d9320accab2" providerId="ADAL" clId="{98B48EE4-A13B-5AC0-9360-55E0FA650246}" dt="2026-03-16T15:53:53.416" v="2000" actId="1076"/>
        <pc:sldMkLst>
          <pc:docMk/>
          <pc:sldMk cId="3365172091" sldId="335"/>
        </pc:sldMkLst>
        <pc:spChg chg="mod">
          <ac:chgData name="Brenni, Giovanni" userId="415fa501-2e2a-4428-bd52-3d9320accab2" providerId="ADAL" clId="{98B48EE4-A13B-5AC0-9360-55E0FA650246}" dt="2026-03-16T15:05:24.026" v="1735" actId="20577"/>
          <ac:spMkLst>
            <pc:docMk/>
            <pc:sldMk cId="3365172091" sldId="335"/>
            <ac:spMk id="2" creationId="{7E94094B-ABA8-69CE-787C-982B16FCC5F9}"/>
          </ac:spMkLst>
        </pc:spChg>
        <pc:spChg chg="add mod topLvl">
          <ac:chgData name="Brenni, Giovanni" userId="415fa501-2e2a-4428-bd52-3d9320accab2" providerId="ADAL" clId="{98B48EE4-A13B-5AC0-9360-55E0FA650246}" dt="2026-03-16T15:02:24.868" v="1649" actId="1035"/>
          <ac:spMkLst>
            <pc:docMk/>
            <pc:sldMk cId="3365172091" sldId="335"/>
            <ac:spMk id="9" creationId="{ABF90184-E117-1EC3-1AA6-53F0A39849A6}"/>
          </ac:spMkLst>
        </pc:spChg>
        <pc:spChg chg="add mod topLvl">
          <ac:chgData name="Brenni, Giovanni" userId="415fa501-2e2a-4428-bd52-3d9320accab2" providerId="ADAL" clId="{98B48EE4-A13B-5AC0-9360-55E0FA650246}" dt="2026-03-16T15:02:24.868" v="1649" actId="1035"/>
          <ac:spMkLst>
            <pc:docMk/>
            <pc:sldMk cId="3365172091" sldId="335"/>
            <ac:spMk id="16" creationId="{758B1F9F-1208-5ED8-149A-983307070CAF}"/>
          </ac:spMkLst>
        </pc:spChg>
        <pc:spChg chg="add mod topLvl">
          <ac:chgData name="Brenni, Giovanni" userId="415fa501-2e2a-4428-bd52-3d9320accab2" providerId="ADAL" clId="{98B48EE4-A13B-5AC0-9360-55E0FA650246}" dt="2026-03-16T15:02:24.868" v="1649" actId="1035"/>
          <ac:spMkLst>
            <pc:docMk/>
            <pc:sldMk cId="3365172091" sldId="335"/>
            <ac:spMk id="22" creationId="{FC757A21-C514-92FF-BB23-B1C8B2F7D928}"/>
          </ac:spMkLst>
        </pc:spChg>
        <pc:spChg chg="mod">
          <ac:chgData name="Brenni, Giovanni" userId="415fa501-2e2a-4428-bd52-3d9320accab2" providerId="ADAL" clId="{98B48EE4-A13B-5AC0-9360-55E0FA650246}" dt="2026-03-16T15:02:54.317" v="1655" actId="1038"/>
          <ac:spMkLst>
            <pc:docMk/>
            <pc:sldMk cId="3365172091" sldId="335"/>
            <ac:spMk id="25" creationId="{647D1C84-F065-3CFE-4B2B-1C9A123E39FB}"/>
          </ac:spMkLst>
        </pc:spChg>
        <pc:spChg chg="add mod topLvl">
          <ac:chgData name="Brenni, Giovanni" userId="415fa501-2e2a-4428-bd52-3d9320accab2" providerId="ADAL" clId="{98B48EE4-A13B-5AC0-9360-55E0FA650246}" dt="2026-03-16T15:02:54.317" v="1655" actId="1038"/>
          <ac:spMkLst>
            <pc:docMk/>
            <pc:sldMk cId="3365172091" sldId="335"/>
            <ac:spMk id="26" creationId="{7A026A04-B400-0789-15A6-6EB90A45D3C7}"/>
          </ac:spMkLst>
        </pc:spChg>
        <pc:spChg chg="add mod topLvl">
          <ac:chgData name="Brenni, Giovanni" userId="415fa501-2e2a-4428-bd52-3d9320accab2" providerId="ADAL" clId="{98B48EE4-A13B-5AC0-9360-55E0FA650246}" dt="2026-03-16T15:02:24.868" v="1649" actId="1035"/>
          <ac:spMkLst>
            <pc:docMk/>
            <pc:sldMk cId="3365172091" sldId="335"/>
            <ac:spMk id="29" creationId="{3E0372AE-42EA-3E96-FAD0-4A244070B13B}"/>
          </ac:spMkLst>
        </pc:spChg>
        <pc:spChg chg="mod">
          <ac:chgData name="Brenni, Giovanni" userId="415fa501-2e2a-4428-bd52-3d9320accab2" providerId="ADAL" clId="{98B48EE4-A13B-5AC0-9360-55E0FA650246}" dt="2026-03-16T15:02:54.317" v="1655" actId="1038"/>
          <ac:spMkLst>
            <pc:docMk/>
            <pc:sldMk cId="3365172091" sldId="335"/>
            <ac:spMk id="33" creationId="{E205FE1E-DA20-363B-865C-348AD93FB1CF}"/>
          </ac:spMkLst>
        </pc:spChg>
        <pc:spChg chg="mod">
          <ac:chgData name="Brenni, Giovanni" userId="415fa501-2e2a-4428-bd52-3d9320accab2" providerId="ADAL" clId="{98B48EE4-A13B-5AC0-9360-55E0FA650246}" dt="2026-03-16T15:02:54.317" v="1655" actId="1038"/>
          <ac:spMkLst>
            <pc:docMk/>
            <pc:sldMk cId="3365172091" sldId="335"/>
            <ac:spMk id="34" creationId="{F2268E41-C775-4BE6-313C-BD954617B2B5}"/>
          </ac:spMkLst>
        </pc:spChg>
        <pc:spChg chg="add mod topLvl">
          <ac:chgData name="Brenni, Giovanni" userId="415fa501-2e2a-4428-bd52-3d9320accab2" providerId="ADAL" clId="{98B48EE4-A13B-5AC0-9360-55E0FA650246}" dt="2026-03-16T15:02:24.868" v="1649" actId="1035"/>
          <ac:spMkLst>
            <pc:docMk/>
            <pc:sldMk cId="3365172091" sldId="335"/>
            <ac:spMk id="36" creationId="{BE7CD238-F30B-B61B-DA24-C7C12417E2C8}"/>
          </ac:spMkLst>
        </pc:spChg>
        <pc:spChg chg="add mod topLvl">
          <ac:chgData name="Brenni, Giovanni" userId="415fa501-2e2a-4428-bd52-3d9320accab2" providerId="ADAL" clId="{98B48EE4-A13B-5AC0-9360-55E0FA650246}" dt="2026-03-16T15:02:24.868" v="1649" actId="1035"/>
          <ac:spMkLst>
            <pc:docMk/>
            <pc:sldMk cId="3365172091" sldId="335"/>
            <ac:spMk id="37" creationId="{AB273A4F-D5FE-8E63-659E-2F733E4CF79B}"/>
          </ac:spMkLst>
        </pc:spChg>
        <pc:spChg chg="mod">
          <ac:chgData name="Brenni, Giovanni" userId="415fa501-2e2a-4428-bd52-3d9320accab2" providerId="ADAL" clId="{98B48EE4-A13B-5AC0-9360-55E0FA650246}" dt="2026-03-16T15:02:54.317" v="1655" actId="1038"/>
          <ac:spMkLst>
            <pc:docMk/>
            <pc:sldMk cId="3365172091" sldId="335"/>
            <ac:spMk id="41" creationId="{155C615B-681C-72EE-36D0-7F26879F6B64}"/>
          </ac:spMkLst>
        </pc:spChg>
        <pc:spChg chg="mod">
          <ac:chgData name="Brenni, Giovanni" userId="415fa501-2e2a-4428-bd52-3d9320accab2" providerId="ADAL" clId="{98B48EE4-A13B-5AC0-9360-55E0FA650246}" dt="2026-03-16T15:02:54.317" v="1655" actId="1038"/>
          <ac:spMkLst>
            <pc:docMk/>
            <pc:sldMk cId="3365172091" sldId="335"/>
            <ac:spMk id="42" creationId="{8BE6F0A8-3CBA-5B71-834B-E76B87872B60}"/>
          </ac:spMkLst>
        </pc:spChg>
        <pc:spChg chg="add mod topLvl">
          <ac:chgData name="Brenni, Giovanni" userId="415fa501-2e2a-4428-bd52-3d9320accab2" providerId="ADAL" clId="{98B48EE4-A13B-5AC0-9360-55E0FA650246}" dt="2026-03-16T15:02:24.868" v="1649" actId="1035"/>
          <ac:spMkLst>
            <pc:docMk/>
            <pc:sldMk cId="3365172091" sldId="335"/>
            <ac:spMk id="44" creationId="{0CBF1376-8610-7F93-1982-5C3848EA0477}"/>
          </ac:spMkLst>
        </pc:spChg>
        <pc:spChg chg="mod">
          <ac:chgData name="Brenni, Giovanni" userId="415fa501-2e2a-4428-bd52-3d9320accab2" providerId="ADAL" clId="{98B48EE4-A13B-5AC0-9360-55E0FA650246}" dt="2026-03-16T15:02:54.317" v="1655" actId="1038"/>
          <ac:spMkLst>
            <pc:docMk/>
            <pc:sldMk cId="3365172091" sldId="335"/>
            <ac:spMk id="49" creationId="{C9F4163A-92E3-5DD7-7475-CFB1E0A2A226}"/>
          </ac:spMkLst>
        </pc:spChg>
        <pc:spChg chg="mod">
          <ac:chgData name="Brenni, Giovanni" userId="415fa501-2e2a-4428-bd52-3d9320accab2" providerId="ADAL" clId="{98B48EE4-A13B-5AC0-9360-55E0FA650246}" dt="2026-03-16T15:02:54.317" v="1655" actId="1038"/>
          <ac:spMkLst>
            <pc:docMk/>
            <pc:sldMk cId="3365172091" sldId="335"/>
            <ac:spMk id="50" creationId="{62CF8F34-00E4-B75F-28BB-C3BCCA37FF8E}"/>
          </ac:spMkLst>
        </pc:spChg>
        <pc:spChg chg="add mod topLvl">
          <ac:chgData name="Brenni, Giovanni" userId="415fa501-2e2a-4428-bd52-3d9320accab2" providerId="ADAL" clId="{98B48EE4-A13B-5AC0-9360-55E0FA650246}" dt="2026-03-16T15:02:24.868" v="1649" actId="1035"/>
          <ac:spMkLst>
            <pc:docMk/>
            <pc:sldMk cId="3365172091" sldId="335"/>
            <ac:spMk id="51" creationId="{DAF6947E-BAD9-E1BB-D6D0-5C706041B218}"/>
          </ac:spMkLst>
        </pc:spChg>
        <pc:spChg chg="mod">
          <ac:chgData name="Brenni, Giovanni" userId="415fa501-2e2a-4428-bd52-3d9320accab2" providerId="ADAL" clId="{98B48EE4-A13B-5AC0-9360-55E0FA650246}" dt="2026-03-16T15:00:29.680" v="1608" actId="14100"/>
          <ac:spMkLst>
            <pc:docMk/>
            <pc:sldMk cId="3365172091" sldId="335"/>
            <ac:spMk id="52" creationId="{CCA6F5F9-5AF9-00C0-2D61-7F5C61B256C2}"/>
          </ac:spMkLst>
        </pc:spChg>
        <pc:spChg chg="mod">
          <ac:chgData name="Brenni, Giovanni" userId="415fa501-2e2a-4428-bd52-3d9320accab2" providerId="ADAL" clId="{98B48EE4-A13B-5AC0-9360-55E0FA650246}" dt="2026-03-16T15:00:29.680" v="1608" actId="14100"/>
          <ac:spMkLst>
            <pc:docMk/>
            <pc:sldMk cId="3365172091" sldId="335"/>
            <ac:spMk id="53" creationId="{CB9D3D47-FABF-DF9E-927E-BC096FD0EDDB}"/>
          </ac:spMkLst>
        </pc:spChg>
        <pc:spChg chg="add mod topLvl">
          <ac:chgData name="Brenni, Giovanni" userId="415fa501-2e2a-4428-bd52-3d9320accab2" providerId="ADAL" clId="{98B48EE4-A13B-5AC0-9360-55E0FA650246}" dt="2026-03-16T15:02:24.868" v="1649" actId="1035"/>
          <ac:spMkLst>
            <pc:docMk/>
            <pc:sldMk cId="3365172091" sldId="335"/>
            <ac:spMk id="54" creationId="{F6449482-77A0-C1F7-9684-615905654967}"/>
          </ac:spMkLst>
        </pc:spChg>
        <pc:spChg chg="mod">
          <ac:chgData name="Brenni, Giovanni" userId="415fa501-2e2a-4428-bd52-3d9320accab2" providerId="ADAL" clId="{98B48EE4-A13B-5AC0-9360-55E0FA650246}" dt="2026-03-16T15:00:29.680" v="1608" actId="14100"/>
          <ac:spMkLst>
            <pc:docMk/>
            <pc:sldMk cId="3365172091" sldId="335"/>
            <ac:spMk id="55" creationId="{2F52C2B6-5FF3-9B95-619A-C3E75F6677A1}"/>
          </ac:spMkLst>
        </pc:spChg>
        <pc:spChg chg="add mod">
          <ac:chgData name="Brenni, Giovanni" userId="415fa501-2e2a-4428-bd52-3d9320accab2" providerId="ADAL" clId="{98B48EE4-A13B-5AC0-9360-55E0FA650246}" dt="2026-03-16T15:53:53.416" v="2000" actId="1076"/>
          <ac:spMkLst>
            <pc:docMk/>
            <pc:sldMk cId="3365172091" sldId="335"/>
            <ac:spMk id="57" creationId="{6B51FA96-52DC-222F-791E-FF0928C169D0}"/>
          </ac:spMkLst>
        </pc:spChg>
      </pc:sldChg>
      <pc:sldChg chg="addSp delSp modSp new mod">
        <pc:chgData name="Brenni, Giovanni" userId="415fa501-2e2a-4428-bd52-3d9320accab2" providerId="ADAL" clId="{98B48EE4-A13B-5AC0-9360-55E0FA650246}" dt="2026-03-16T15:53:56.694" v="2001"/>
        <pc:sldMkLst>
          <pc:docMk/>
          <pc:sldMk cId="1593103041" sldId="336"/>
        </pc:sldMkLst>
        <pc:spChg chg="mod">
          <ac:chgData name="Brenni, Giovanni" userId="415fa501-2e2a-4428-bd52-3d9320accab2" providerId="ADAL" clId="{98B48EE4-A13B-5AC0-9360-55E0FA650246}" dt="2026-03-16T15:50:48.819" v="1883" actId="20577"/>
          <ac:spMkLst>
            <pc:docMk/>
            <pc:sldMk cId="1593103041" sldId="336"/>
            <ac:spMk id="2" creationId="{2CE7785F-2CAB-A6BE-E937-AC267BA628E4}"/>
          </ac:spMkLst>
        </pc:spChg>
        <pc:spChg chg="mod">
          <ac:chgData name="Brenni, Giovanni" userId="415fa501-2e2a-4428-bd52-3d9320accab2" providerId="ADAL" clId="{98B48EE4-A13B-5AC0-9360-55E0FA650246}" dt="2026-03-16T15:05:36.363" v="1754" actId="1035"/>
          <ac:spMkLst>
            <pc:docMk/>
            <pc:sldMk cId="1593103041" sldId="336"/>
            <ac:spMk id="5" creationId="{51A5CD50-A04B-DEC2-4899-C24F920CF244}"/>
          </ac:spMkLst>
        </pc:spChg>
        <pc:spChg chg="mod">
          <ac:chgData name="Brenni, Giovanni" userId="415fa501-2e2a-4428-bd52-3d9320accab2" providerId="ADAL" clId="{98B48EE4-A13B-5AC0-9360-55E0FA650246}" dt="2026-03-16T15:05:36.363" v="1754" actId="1035"/>
          <ac:spMkLst>
            <pc:docMk/>
            <pc:sldMk cId="1593103041" sldId="336"/>
            <ac:spMk id="6" creationId="{E3BFE7E6-070B-4026-5907-C369C8EF3BF2}"/>
          </ac:spMkLst>
        </pc:spChg>
        <pc:spChg chg="add mod">
          <ac:chgData name="Brenni, Giovanni" userId="415fa501-2e2a-4428-bd52-3d9320accab2" providerId="ADAL" clId="{98B48EE4-A13B-5AC0-9360-55E0FA650246}" dt="2026-03-16T15:53:12.116" v="1992" actId="2711"/>
          <ac:spMkLst>
            <pc:docMk/>
            <pc:sldMk cId="1593103041" sldId="336"/>
            <ac:spMk id="10" creationId="{36D6D0DC-27AE-3E9A-5DD8-E8AC19767A3B}"/>
          </ac:spMkLst>
        </pc:spChg>
        <pc:spChg chg="add mod">
          <ac:chgData name="Brenni, Giovanni" userId="415fa501-2e2a-4428-bd52-3d9320accab2" providerId="ADAL" clId="{98B48EE4-A13B-5AC0-9360-55E0FA650246}" dt="2026-03-16T15:53:12.116" v="1992" actId="2711"/>
          <ac:spMkLst>
            <pc:docMk/>
            <pc:sldMk cId="1593103041" sldId="336"/>
            <ac:spMk id="12" creationId="{004F12B8-0C88-7725-627A-7A917F9776A3}"/>
          </ac:spMkLst>
        </pc:spChg>
        <pc:spChg chg="add mod">
          <ac:chgData name="Brenni, Giovanni" userId="415fa501-2e2a-4428-bd52-3d9320accab2" providerId="ADAL" clId="{98B48EE4-A13B-5AC0-9360-55E0FA650246}" dt="2026-03-16T15:53:12.116" v="1992" actId="2711"/>
          <ac:spMkLst>
            <pc:docMk/>
            <pc:sldMk cId="1593103041" sldId="336"/>
            <ac:spMk id="16" creationId="{40A67341-8B26-BFA5-4C62-BFDEBC943E83}"/>
          </ac:spMkLst>
        </pc:spChg>
        <pc:spChg chg="add mod">
          <ac:chgData name="Brenni, Giovanni" userId="415fa501-2e2a-4428-bd52-3d9320accab2" providerId="ADAL" clId="{98B48EE4-A13B-5AC0-9360-55E0FA650246}" dt="2026-03-16T15:53:12.116" v="1992" actId="2711"/>
          <ac:spMkLst>
            <pc:docMk/>
            <pc:sldMk cId="1593103041" sldId="336"/>
            <ac:spMk id="36" creationId="{7C0FF946-05DB-2BE8-2138-86DCDAB8968F}"/>
          </ac:spMkLst>
        </pc:spChg>
        <pc:spChg chg="add mod">
          <ac:chgData name="Brenni, Giovanni" userId="415fa501-2e2a-4428-bd52-3d9320accab2" providerId="ADAL" clId="{98B48EE4-A13B-5AC0-9360-55E0FA650246}" dt="2026-03-16T15:53:12.116" v="1992" actId="2711"/>
          <ac:spMkLst>
            <pc:docMk/>
            <pc:sldMk cId="1593103041" sldId="336"/>
            <ac:spMk id="44" creationId="{320D178E-ABCD-40E4-9040-B51FDCF4B424}"/>
          </ac:spMkLst>
        </pc:spChg>
        <pc:spChg chg="add mod">
          <ac:chgData name="Brenni, Giovanni" userId="415fa501-2e2a-4428-bd52-3d9320accab2" providerId="ADAL" clId="{98B48EE4-A13B-5AC0-9360-55E0FA650246}" dt="2026-03-16T15:53:12.116" v="1992" actId="2711"/>
          <ac:spMkLst>
            <pc:docMk/>
            <pc:sldMk cId="1593103041" sldId="336"/>
            <ac:spMk id="51" creationId="{005BEC04-A596-7913-9728-475F17DC8D6C}"/>
          </ac:spMkLst>
        </pc:spChg>
        <pc:spChg chg="add mod">
          <ac:chgData name="Brenni, Giovanni" userId="415fa501-2e2a-4428-bd52-3d9320accab2" providerId="ADAL" clId="{98B48EE4-A13B-5AC0-9360-55E0FA650246}" dt="2026-03-16T15:53:12.116" v="1992" actId="2711"/>
          <ac:spMkLst>
            <pc:docMk/>
            <pc:sldMk cId="1593103041" sldId="336"/>
            <ac:spMk id="52" creationId="{ADF3CFAF-A94D-610B-4617-872D4B4E7494}"/>
          </ac:spMkLst>
        </pc:spChg>
        <pc:spChg chg="add mod">
          <ac:chgData name="Brenni, Giovanni" userId="415fa501-2e2a-4428-bd52-3d9320accab2" providerId="ADAL" clId="{98B48EE4-A13B-5AC0-9360-55E0FA650246}" dt="2026-03-16T15:53:12.116" v="1992" actId="2711"/>
          <ac:spMkLst>
            <pc:docMk/>
            <pc:sldMk cId="1593103041" sldId="336"/>
            <ac:spMk id="66" creationId="{FD6FEBC7-3BC3-9304-126E-9BB7BEC4C0E9}"/>
          </ac:spMkLst>
        </pc:spChg>
        <pc:spChg chg="add mod">
          <ac:chgData name="Brenni, Giovanni" userId="415fa501-2e2a-4428-bd52-3d9320accab2" providerId="ADAL" clId="{98B48EE4-A13B-5AC0-9360-55E0FA650246}" dt="2026-03-16T15:53:12.116" v="1992" actId="2711"/>
          <ac:spMkLst>
            <pc:docMk/>
            <pc:sldMk cId="1593103041" sldId="336"/>
            <ac:spMk id="69" creationId="{56FE82AE-CA60-0F50-03E6-62376A3CDFFB}"/>
          </ac:spMkLst>
        </pc:spChg>
        <pc:spChg chg="mod">
          <ac:chgData name="Brenni, Giovanni" userId="415fa501-2e2a-4428-bd52-3d9320accab2" providerId="ADAL" clId="{98B48EE4-A13B-5AC0-9360-55E0FA650246}" dt="2026-03-16T15:04:37.088" v="1698" actId="1035"/>
          <ac:spMkLst>
            <pc:docMk/>
            <pc:sldMk cId="1593103041" sldId="336"/>
            <ac:spMk id="79" creationId="{789FF8B6-AC3A-0158-55CA-04DD30F91B58}"/>
          </ac:spMkLst>
        </pc:spChg>
        <pc:spChg chg="mod">
          <ac:chgData name="Brenni, Giovanni" userId="415fa501-2e2a-4428-bd52-3d9320accab2" providerId="ADAL" clId="{98B48EE4-A13B-5AC0-9360-55E0FA650246}" dt="2026-03-16T15:04:37.088" v="1698" actId="1035"/>
          <ac:spMkLst>
            <pc:docMk/>
            <pc:sldMk cId="1593103041" sldId="336"/>
            <ac:spMk id="80" creationId="{09756F5E-52C1-D823-C946-512702129CF0}"/>
          </ac:spMkLst>
        </pc:spChg>
        <pc:spChg chg="mod">
          <ac:chgData name="Brenni, Giovanni" userId="415fa501-2e2a-4428-bd52-3d9320accab2" providerId="ADAL" clId="{98B48EE4-A13B-5AC0-9360-55E0FA650246}" dt="2026-03-16T15:04:37.088" v="1698" actId="1035"/>
          <ac:spMkLst>
            <pc:docMk/>
            <pc:sldMk cId="1593103041" sldId="336"/>
            <ac:spMk id="83" creationId="{B990E134-CC00-EAD6-DDC6-0075DAB10D2C}"/>
          </ac:spMkLst>
        </pc:spChg>
        <pc:spChg chg="mod">
          <ac:chgData name="Brenni, Giovanni" userId="415fa501-2e2a-4428-bd52-3d9320accab2" providerId="ADAL" clId="{98B48EE4-A13B-5AC0-9360-55E0FA650246}" dt="2026-03-16T15:04:37.088" v="1698" actId="1035"/>
          <ac:spMkLst>
            <pc:docMk/>
            <pc:sldMk cId="1593103041" sldId="336"/>
            <ac:spMk id="84" creationId="{5560F509-8B23-9796-E7F7-863B1124A983}"/>
          </ac:spMkLst>
        </pc:spChg>
        <pc:spChg chg="mod">
          <ac:chgData name="Brenni, Giovanni" userId="415fa501-2e2a-4428-bd52-3d9320accab2" providerId="ADAL" clId="{98B48EE4-A13B-5AC0-9360-55E0FA650246}" dt="2026-03-16T15:04:37.088" v="1698" actId="1035"/>
          <ac:spMkLst>
            <pc:docMk/>
            <pc:sldMk cId="1593103041" sldId="336"/>
            <ac:spMk id="87" creationId="{2FE795ED-0941-6FA1-EA9E-0791B1A48CBE}"/>
          </ac:spMkLst>
        </pc:spChg>
        <pc:spChg chg="mod">
          <ac:chgData name="Brenni, Giovanni" userId="415fa501-2e2a-4428-bd52-3d9320accab2" providerId="ADAL" clId="{98B48EE4-A13B-5AC0-9360-55E0FA650246}" dt="2026-03-16T15:04:37.088" v="1698" actId="1035"/>
          <ac:spMkLst>
            <pc:docMk/>
            <pc:sldMk cId="1593103041" sldId="336"/>
            <ac:spMk id="88" creationId="{D444A8C1-8834-6492-59A5-08E1AFD3A24C}"/>
          </ac:spMkLst>
        </pc:spChg>
        <pc:spChg chg="add mod">
          <ac:chgData name="Brenni, Giovanni" userId="415fa501-2e2a-4428-bd52-3d9320accab2" providerId="ADAL" clId="{98B48EE4-A13B-5AC0-9360-55E0FA650246}" dt="2026-03-16T15:53:12.116" v="1992" actId="2711"/>
          <ac:spMkLst>
            <pc:docMk/>
            <pc:sldMk cId="1593103041" sldId="336"/>
            <ac:spMk id="91" creationId="{E9BCF5FB-D8E6-C701-5611-9D17F9724EBE}"/>
          </ac:spMkLst>
        </pc:spChg>
        <pc:spChg chg="mod">
          <ac:chgData name="Brenni, Giovanni" userId="415fa501-2e2a-4428-bd52-3d9320accab2" providerId="ADAL" clId="{98B48EE4-A13B-5AC0-9360-55E0FA650246}" dt="2026-03-16T15:04:37.088" v="1698" actId="1035"/>
          <ac:spMkLst>
            <pc:docMk/>
            <pc:sldMk cId="1593103041" sldId="336"/>
            <ac:spMk id="92" creationId="{416C4786-46EF-C7A6-7B97-AB1A10AE96C1}"/>
          </ac:spMkLst>
        </pc:spChg>
        <pc:spChg chg="mod">
          <ac:chgData name="Brenni, Giovanni" userId="415fa501-2e2a-4428-bd52-3d9320accab2" providerId="ADAL" clId="{98B48EE4-A13B-5AC0-9360-55E0FA650246}" dt="2026-03-16T15:04:37.088" v="1698" actId="1035"/>
          <ac:spMkLst>
            <pc:docMk/>
            <pc:sldMk cId="1593103041" sldId="336"/>
            <ac:spMk id="95" creationId="{47D522A7-36AB-EE42-4090-9D1F7D40E703}"/>
          </ac:spMkLst>
        </pc:spChg>
        <pc:spChg chg="mod">
          <ac:chgData name="Brenni, Giovanni" userId="415fa501-2e2a-4428-bd52-3d9320accab2" providerId="ADAL" clId="{98B48EE4-A13B-5AC0-9360-55E0FA650246}" dt="2026-03-16T15:04:37.088" v="1698" actId="1035"/>
          <ac:spMkLst>
            <pc:docMk/>
            <pc:sldMk cId="1593103041" sldId="336"/>
            <ac:spMk id="96" creationId="{B1E4CC8D-882F-01A7-591E-A9615A725400}"/>
          </ac:spMkLst>
        </pc:spChg>
        <pc:spChg chg="mod">
          <ac:chgData name="Brenni, Giovanni" userId="415fa501-2e2a-4428-bd52-3d9320accab2" providerId="ADAL" clId="{98B48EE4-A13B-5AC0-9360-55E0FA650246}" dt="2026-03-16T15:04:25.147" v="1693" actId="14100"/>
          <ac:spMkLst>
            <pc:docMk/>
            <pc:sldMk cId="1593103041" sldId="336"/>
            <ac:spMk id="97" creationId="{F21EFD51-EE45-2D35-1548-8D1D86E59F6B}"/>
          </ac:spMkLst>
        </pc:spChg>
        <pc:spChg chg="mod">
          <ac:chgData name="Brenni, Giovanni" userId="415fa501-2e2a-4428-bd52-3d9320accab2" providerId="ADAL" clId="{98B48EE4-A13B-5AC0-9360-55E0FA650246}" dt="2026-03-16T15:04:25.147" v="1693" actId="14100"/>
          <ac:spMkLst>
            <pc:docMk/>
            <pc:sldMk cId="1593103041" sldId="336"/>
            <ac:spMk id="98" creationId="{412D0582-185E-0245-C5CA-D77751BAC565}"/>
          </ac:spMkLst>
        </pc:spChg>
        <pc:spChg chg="mod">
          <ac:chgData name="Brenni, Giovanni" userId="415fa501-2e2a-4428-bd52-3d9320accab2" providerId="ADAL" clId="{98B48EE4-A13B-5AC0-9360-55E0FA650246}" dt="2026-03-16T15:53:17.228" v="1997" actId="1036"/>
          <ac:spMkLst>
            <pc:docMk/>
            <pc:sldMk cId="1593103041" sldId="336"/>
            <ac:spMk id="99" creationId="{3339F31E-7698-7106-38FF-76A59BC796A7}"/>
          </ac:spMkLst>
        </pc:spChg>
        <pc:spChg chg="add mod">
          <ac:chgData name="Brenni, Giovanni" userId="415fa501-2e2a-4428-bd52-3d9320accab2" providerId="ADAL" clId="{98B48EE4-A13B-5AC0-9360-55E0FA650246}" dt="2026-03-16T15:53:56.694" v="2001"/>
          <ac:spMkLst>
            <pc:docMk/>
            <pc:sldMk cId="1593103041" sldId="336"/>
            <ac:spMk id="101" creationId="{05AB6F70-834E-4C29-D046-AE2C27EE4D8D}"/>
          </ac:spMkLst>
        </pc:spChg>
        <pc:grpChg chg="add mod">
          <ac:chgData name="Brenni, Giovanni" userId="415fa501-2e2a-4428-bd52-3d9320accab2" providerId="ADAL" clId="{98B48EE4-A13B-5AC0-9360-55E0FA650246}" dt="2026-03-16T15:04:00.130" v="1692" actId="1036"/>
          <ac:grpSpMkLst>
            <pc:docMk/>
            <pc:sldMk cId="1593103041" sldId="336"/>
            <ac:grpSpMk id="100" creationId="{E38FC6F1-4B9E-5E86-B3D6-2E4E3F1B00CE}"/>
          </ac:grpSpMkLst>
        </pc:grpChg>
      </pc:sldChg>
      <pc:sldChg chg="addSp delSp modSp new mod">
        <pc:chgData name="Brenni, Giovanni" userId="415fa501-2e2a-4428-bd52-3d9320accab2" providerId="ADAL" clId="{98B48EE4-A13B-5AC0-9360-55E0FA650246}" dt="2026-03-16T15:53:58.473" v="2002"/>
        <pc:sldMkLst>
          <pc:docMk/>
          <pc:sldMk cId="569220508" sldId="337"/>
        </pc:sldMkLst>
        <pc:spChg chg="mod">
          <ac:chgData name="Brenni, Giovanni" userId="415fa501-2e2a-4428-bd52-3d9320accab2" providerId="ADAL" clId="{98B48EE4-A13B-5AC0-9360-55E0FA650246}" dt="2026-03-16T15:50:58.348" v="1909" actId="20577"/>
          <ac:spMkLst>
            <pc:docMk/>
            <pc:sldMk cId="569220508" sldId="337"/>
            <ac:spMk id="2" creationId="{429B01FB-D88B-A1E3-C7F2-0A16EECC7EAF}"/>
          </ac:spMkLst>
        </pc:spChg>
        <pc:spChg chg="add mod">
          <ac:chgData name="Brenni, Giovanni" userId="415fa501-2e2a-4428-bd52-3d9320accab2" providerId="ADAL" clId="{98B48EE4-A13B-5AC0-9360-55E0FA650246}" dt="2026-03-16T15:53:58.473" v="2002"/>
          <ac:spMkLst>
            <pc:docMk/>
            <pc:sldMk cId="569220508" sldId="337"/>
            <ac:spMk id="7" creationId="{5C8E4B22-DAFE-760F-62E9-C895C786BC6C}"/>
          </ac:spMkLst>
        </pc:spChg>
        <pc:picChg chg="add mod">
          <ac:chgData name="Brenni, Giovanni" userId="415fa501-2e2a-4428-bd52-3d9320accab2" providerId="ADAL" clId="{98B48EE4-A13B-5AC0-9360-55E0FA650246}" dt="2026-03-16T15:51:04.366" v="1910" actId="208"/>
          <ac:picMkLst>
            <pc:docMk/>
            <pc:sldMk cId="569220508" sldId="337"/>
            <ac:picMk id="6" creationId="{4D814242-C84D-69FB-1C94-389CEC78059A}"/>
          </ac:picMkLst>
        </pc:picChg>
      </pc:sldChg>
      <pc:sldChg chg="addSp delSp modSp new mod">
        <pc:chgData name="Brenni, Giovanni" userId="415fa501-2e2a-4428-bd52-3d9320accab2" providerId="ADAL" clId="{98B48EE4-A13B-5AC0-9360-55E0FA650246}" dt="2026-03-16T15:53:36.002" v="1998" actId="2711"/>
        <pc:sldMkLst>
          <pc:docMk/>
          <pc:sldMk cId="1704434679" sldId="338"/>
        </pc:sldMkLst>
        <pc:spChg chg="mod">
          <ac:chgData name="Brenni, Giovanni" userId="415fa501-2e2a-4428-bd52-3d9320accab2" providerId="ADAL" clId="{98B48EE4-A13B-5AC0-9360-55E0FA650246}" dt="2026-03-16T15:51:15.980" v="1923" actId="20577"/>
          <ac:spMkLst>
            <pc:docMk/>
            <pc:sldMk cId="1704434679" sldId="338"/>
            <ac:spMk id="2" creationId="{67BE1A05-9F85-7A61-2F6F-7CBA27093F88}"/>
          </ac:spMkLst>
        </pc:spChg>
        <pc:spChg chg="mod">
          <ac:chgData name="Brenni, Giovanni" userId="415fa501-2e2a-4428-bd52-3d9320accab2" providerId="ADAL" clId="{98B48EE4-A13B-5AC0-9360-55E0FA650246}" dt="2026-03-16T15:53:36.002" v="1998" actId="2711"/>
          <ac:spMkLst>
            <pc:docMk/>
            <pc:sldMk cId="1704434679" sldId="338"/>
            <ac:spMk id="7" creationId="{A8E459D7-D5DA-1ED8-F0A4-5A0EAFE677FA}"/>
          </ac:spMkLst>
        </pc:spChg>
        <pc:spChg chg="mod">
          <ac:chgData name="Brenni, Giovanni" userId="415fa501-2e2a-4428-bd52-3d9320accab2" providerId="ADAL" clId="{98B48EE4-A13B-5AC0-9360-55E0FA650246}" dt="2026-03-16T15:52:17.992" v="1972" actId="255"/>
          <ac:spMkLst>
            <pc:docMk/>
            <pc:sldMk cId="1704434679" sldId="338"/>
            <ac:spMk id="11" creationId="{3EE5E74E-3422-679F-D900-3F14FD6E0F5B}"/>
          </ac:spMkLst>
        </pc:spChg>
        <pc:spChg chg="add mod">
          <ac:chgData name="Brenni, Giovanni" userId="415fa501-2e2a-4428-bd52-3d9320accab2" providerId="ADAL" clId="{98B48EE4-A13B-5AC0-9360-55E0FA650246}" dt="2026-03-16T15:53:36.002" v="1998" actId="2711"/>
          <ac:spMkLst>
            <pc:docMk/>
            <pc:sldMk cId="1704434679" sldId="338"/>
            <ac:spMk id="14" creationId="{57E54D34-4A25-77CA-2AC5-7AEA8F9645D8}"/>
          </ac:spMkLst>
        </pc:spChg>
        <pc:spChg chg="add mod">
          <ac:chgData name="Brenni, Giovanni" userId="415fa501-2e2a-4428-bd52-3d9320accab2" providerId="ADAL" clId="{98B48EE4-A13B-5AC0-9360-55E0FA650246}" dt="2026-03-16T15:53:36.002" v="1998" actId="2711"/>
          <ac:spMkLst>
            <pc:docMk/>
            <pc:sldMk cId="1704434679" sldId="338"/>
            <ac:spMk id="15" creationId="{AF65643A-BFCC-8BC0-FFF9-00982A3C6A29}"/>
          </ac:spMkLst>
        </pc:spChg>
        <pc:spChg chg="add mod">
          <ac:chgData name="Brenni, Giovanni" userId="415fa501-2e2a-4428-bd52-3d9320accab2" providerId="ADAL" clId="{98B48EE4-A13B-5AC0-9360-55E0FA650246}" dt="2026-03-16T15:53:36.002" v="1998" actId="2711"/>
          <ac:spMkLst>
            <pc:docMk/>
            <pc:sldMk cId="1704434679" sldId="338"/>
            <ac:spMk id="16" creationId="{B6AF8A69-C321-74EE-1510-B9D76D84EE10}"/>
          </ac:spMkLst>
        </pc:spChg>
        <pc:spChg chg="mod">
          <ac:chgData name="Brenni, Giovanni" userId="415fa501-2e2a-4428-bd52-3d9320accab2" providerId="ADAL" clId="{98B48EE4-A13B-5AC0-9360-55E0FA650246}" dt="2026-03-16T15:52:17.992" v="1972" actId="255"/>
          <ac:spMkLst>
            <pc:docMk/>
            <pc:sldMk cId="1704434679" sldId="338"/>
            <ac:spMk id="17" creationId="{1B474608-A7C7-1888-C4A6-0407F4F22382}"/>
          </ac:spMkLst>
        </pc:spChg>
        <pc:spChg chg="add mod">
          <ac:chgData name="Brenni, Giovanni" userId="415fa501-2e2a-4428-bd52-3d9320accab2" providerId="ADAL" clId="{98B48EE4-A13B-5AC0-9360-55E0FA650246}" dt="2026-03-16T15:53:36.002" v="1998" actId="2711"/>
          <ac:spMkLst>
            <pc:docMk/>
            <pc:sldMk cId="1704434679" sldId="338"/>
            <ac:spMk id="20" creationId="{6FD69325-312E-10F5-F3DA-F1F59F906141}"/>
          </ac:spMkLst>
        </pc:spChg>
        <pc:spChg chg="add mod">
          <ac:chgData name="Brenni, Giovanni" userId="415fa501-2e2a-4428-bd52-3d9320accab2" providerId="ADAL" clId="{98B48EE4-A13B-5AC0-9360-55E0FA650246}" dt="2026-03-16T15:53:36.002" v="1998" actId="2711"/>
          <ac:spMkLst>
            <pc:docMk/>
            <pc:sldMk cId="1704434679" sldId="338"/>
            <ac:spMk id="22" creationId="{66B37047-E112-5EA9-E945-E0A83A9DACD4}"/>
          </ac:spMkLst>
        </pc:spChg>
        <pc:spChg chg="add mod">
          <ac:chgData name="Brenni, Giovanni" userId="415fa501-2e2a-4428-bd52-3d9320accab2" providerId="ADAL" clId="{98B48EE4-A13B-5AC0-9360-55E0FA650246}" dt="2026-03-16T15:53:36.002" v="1998" actId="2711"/>
          <ac:spMkLst>
            <pc:docMk/>
            <pc:sldMk cId="1704434679" sldId="338"/>
            <ac:spMk id="23" creationId="{F131EB23-65ED-8724-CC66-F98EA0A80DFE}"/>
          </ac:spMkLst>
        </pc:spChg>
        <pc:spChg chg="add mod">
          <ac:chgData name="Brenni, Giovanni" userId="415fa501-2e2a-4428-bd52-3d9320accab2" providerId="ADAL" clId="{98B48EE4-A13B-5AC0-9360-55E0FA650246}" dt="2026-03-16T15:53:36.002" v="1998" actId="2711"/>
          <ac:spMkLst>
            <pc:docMk/>
            <pc:sldMk cId="1704434679" sldId="338"/>
            <ac:spMk id="27" creationId="{D4349E8D-B919-4C1D-457C-C207F86BECA3}"/>
          </ac:spMkLst>
        </pc:spChg>
        <pc:spChg chg="add mod">
          <ac:chgData name="Brenni, Giovanni" userId="415fa501-2e2a-4428-bd52-3d9320accab2" providerId="ADAL" clId="{98B48EE4-A13B-5AC0-9360-55E0FA650246}" dt="2026-03-16T15:53:36.002" v="1998" actId="2711"/>
          <ac:spMkLst>
            <pc:docMk/>
            <pc:sldMk cId="1704434679" sldId="338"/>
            <ac:spMk id="29" creationId="{3CF0F609-7A31-211A-6642-F29A9D438943}"/>
          </ac:spMkLst>
        </pc:spChg>
        <pc:spChg chg="add mod">
          <ac:chgData name="Brenni, Giovanni" userId="415fa501-2e2a-4428-bd52-3d9320accab2" providerId="ADAL" clId="{98B48EE4-A13B-5AC0-9360-55E0FA650246}" dt="2026-03-16T15:53:36.002" v="1998" actId="2711"/>
          <ac:spMkLst>
            <pc:docMk/>
            <pc:sldMk cId="1704434679" sldId="338"/>
            <ac:spMk id="31" creationId="{BEE92870-08C8-F2E8-50AE-44973AEF9B30}"/>
          </ac:spMkLst>
        </pc:spChg>
        <pc:grpChg chg="add mod">
          <ac:chgData name="Brenni, Giovanni" userId="415fa501-2e2a-4428-bd52-3d9320accab2" providerId="ADAL" clId="{98B48EE4-A13B-5AC0-9360-55E0FA650246}" dt="2026-03-16T15:52:10.751" v="1971" actId="1036"/>
          <ac:grpSpMkLst>
            <pc:docMk/>
            <pc:sldMk cId="1704434679" sldId="338"/>
            <ac:grpSpMk id="32" creationId="{655A99F5-31CD-BF25-4A16-9D858083B5AE}"/>
          </ac:grpSpMkLst>
        </pc:grpChg>
      </pc:sldChg>
      <pc:sldChg chg="addSp delSp modSp new mod">
        <pc:chgData name="Brenni, Giovanni" userId="415fa501-2e2a-4428-bd52-3d9320accab2" providerId="ADAL" clId="{98B48EE4-A13B-5AC0-9360-55E0FA650246}" dt="2026-03-17T10:02:15.824" v="2274" actId="14100"/>
        <pc:sldMkLst>
          <pc:docMk/>
          <pc:sldMk cId="69781974" sldId="339"/>
        </pc:sldMkLst>
        <pc:spChg chg="mod">
          <ac:chgData name="Brenni, Giovanni" userId="415fa501-2e2a-4428-bd52-3d9320accab2" providerId="ADAL" clId="{98B48EE4-A13B-5AC0-9360-55E0FA650246}" dt="2026-03-17T09:58:24.740" v="2270" actId="20577"/>
          <ac:spMkLst>
            <pc:docMk/>
            <pc:sldMk cId="69781974" sldId="339"/>
            <ac:spMk id="2" creationId="{B1D3D6CC-AA86-06C4-16EA-890367B90588}"/>
          </ac:spMkLst>
        </pc:spChg>
        <pc:spChg chg="add mod topLvl">
          <ac:chgData name="Brenni, Giovanni" userId="415fa501-2e2a-4428-bd52-3d9320accab2" providerId="ADAL" clId="{98B48EE4-A13B-5AC0-9360-55E0FA650246}" dt="2026-03-17T09:57:42.901" v="2207" actId="165"/>
          <ac:spMkLst>
            <pc:docMk/>
            <pc:sldMk cId="69781974" sldId="339"/>
            <ac:spMk id="5" creationId="{733DD4DB-4D9D-3D62-F176-96A7F08EC5AE}"/>
          </ac:spMkLst>
        </pc:spChg>
        <pc:spChg chg="add mod">
          <ac:chgData name="Brenni, Giovanni" userId="415fa501-2e2a-4428-bd52-3d9320accab2" providerId="ADAL" clId="{98B48EE4-A13B-5AC0-9360-55E0FA650246}" dt="2026-03-17T09:57:10.798" v="2179"/>
          <ac:spMkLst>
            <pc:docMk/>
            <pc:sldMk cId="69781974" sldId="339"/>
            <ac:spMk id="6" creationId="{770F4E16-2F2F-0388-D068-D209ED5C00FD}"/>
          </ac:spMkLst>
        </pc:spChg>
        <pc:spChg chg="add mod">
          <ac:chgData name="Brenni, Giovanni" userId="415fa501-2e2a-4428-bd52-3d9320accab2" providerId="ADAL" clId="{98B48EE4-A13B-5AC0-9360-55E0FA650246}" dt="2026-03-17T09:57:10.798" v="2179"/>
          <ac:spMkLst>
            <pc:docMk/>
            <pc:sldMk cId="69781974" sldId="339"/>
            <ac:spMk id="7" creationId="{28D1391D-781C-436A-98DF-4525326A1B1F}"/>
          </ac:spMkLst>
        </pc:spChg>
        <pc:spChg chg="add mod">
          <ac:chgData name="Brenni, Giovanni" userId="415fa501-2e2a-4428-bd52-3d9320accab2" providerId="ADAL" clId="{98B48EE4-A13B-5AC0-9360-55E0FA650246}" dt="2026-03-17T09:58:05.991" v="2245" actId="20577"/>
          <ac:spMkLst>
            <pc:docMk/>
            <pc:sldMk cId="69781974" sldId="339"/>
            <ac:spMk id="12" creationId="{12C02953-9A95-BD9E-E559-2E1B6A4AE153}"/>
          </ac:spMkLst>
        </pc:spChg>
        <pc:grpChg chg="add mod">
          <ac:chgData name="Brenni, Giovanni" userId="415fa501-2e2a-4428-bd52-3d9320accab2" providerId="ADAL" clId="{98B48EE4-A13B-5AC0-9360-55E0FA650246}" dt="2026-03-17T09:57:25.134" v="2182" actId="12789"/>
          <ac:grpSpMkLst>
            <pc:docMk/>
            <pc:sldMk cId="69781974" sldId="339"/>
            <ac:grpSpMk id="8" creationId="{D893D9C5-3389-73D6-41B1-049CFEB27BE4}"/>
          </ac:grpSpMkLst>
        </pc:grpChg>
        <pc:picChg chg="mod topLvl">
          <ac:chgData name="Brenni, Giovanni" userId="415fa501-2e2a-4428-bd52-3d9320accab2" providerId="ADAL" clId="{98B48EE4-A13B-5AC0-9360-55E0FA650246}" dt="2026-03-17T09:57:42.901" v="2207" actId="165"/>
          <ac:picMkLst>
            <pc:docMk/>
            <pc:sldMk cId="69781974" sldId="339"/>
            <ac:picMk id="3" creationId="{5EF8F90A-82B3-D0B1-5551-B7C723FC0E99}"/>
          </ac:picMkLst>
        </pc:picChg>
        <pc:picChg chg="add mod">
          <ac:chgData name="Brenni, Giovanni" userId="415fa501-2e2a-4428-bd52-3d9320accab2" providerId="ADAL" clId="{98B48EE4-A13B-5AC0-9360-55E0FA650246}" dt="2026-03-17T10:02:15.824" v="2274" actId="14100"/>
          <ac:picMkLst>
            <pc:docMk/>
            <pc:sldMk cId="69781974" sldId="339"/>
            <ac:picMk id="13" creationId="{0AAB0A2C-1695-DAA7-A1FE-314DDBBA14FD}"/>
          </ac:picMkLst>
        </pc:picChg>
      </pc:sldChg>
    </pc:docChg>
  </pc:docChgLst>
  <pc:docChgLst>
    <pc:chgData name="Brenni, Giovanni" userId="S::giovanni.brenni@student.unisg.ch::415fa501-2e2a-4428-bd52-3d9320accab2" providerId="AD" clId="Web-{6858C0A3-2392-E91E-F64A-6DF16F2E8FBD}"/>
    <pc:docChg chg="addSld modSld">
      <pc:chgData name="Brenni, Giovanni" userId="S::giovanni.brenni@student.unisg.ch::415fa501-2e2a-4428-bd52-3d9320accab2" providerId="AD" clId="Web-{6858C0A3-2392-E91E-F64A-6DF16F2E8FBD}" dt="2026-03-15T08:51:11.982" v="31" actId="20577"/>
      <pc:docMkLst>
        <pc:docMk/>
      </pc:docMkLst>
      <pc:sldChg chg="modSp">
        <pc:chgData name="Brenni, Giovanni" userId="S::giovanni.brenni@student.unisg.ch::415fa501-2e2a-4428-bd52-3d9320accab2" providerId="AD" clId="Web-{6858C0A3-2392-E91E-F64A-6DF16F2E8FBD}" dt="2026-03-14T16:48:29.723" v="21" actId="20577"/>
        <pc:sldMkLst>
          <pc:docMk/>
          <pc:sldMk cId="4197039381" sldId="309"/>
        </pc:sldMkLst>
        <pc:spChg chg="mod">
          <ac:chgData name="Brenni, Giovanni" userId="S::giovanni.brenni@student.unisg.ch::415fa501-2e2a-4428-bd52-3d9320accab2" providerId="AD" clId="Web-{6858C0A3-2392-E91E-F64A-6DF16F2E8FBD}" dt="2026-03-14T16:48:29.723" v="21" actId="20577"/>
          <ac:spMkLst>
            <pc:docMk/>
            <pc:sldMk cId="4197039381" sldId="309"/>
            <ac:spMk id="85" creationId="{3EB5C026-6A78-821E-7015-5E5F3C9F5986}"/>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3_0.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04_0.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14B_ED7C44B1.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14B_ED7C44B1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 Population 65+</c:v>
                </c:pt>
              </c:strCache>
            </c:strRef>
          </c:tx>
          <c:spPr>
            <a:solidFill>
              <a:srgbClr val="2C5F2D"/>
            </a:solidFill>
            <a:effectLst/>
          </c:spPr>
          <c:invertIfNegative val="0"/>
          <c:dLbls>
            <c:numFmt formatCode="#,##0" sourceLinked="0"/>
            <c:spPr>
              <a:noFill/>
              <a:ln>
                <a:noFill/>
              </a:ln>
              <a:effectLst/>
            </c:spPr>
            <c:txPr>
              <a:bodyPr/>
              <a:lstStyle/>
              <a:p>
                <a:pPr>
                  <a:defRPr sz="700" b="0" i="0" u="none" strike="noStrike">
                    <a:solidFill>
                      <a:srgbClr val="333333"/>
                    </a:solidFill>
                    <a:latin typeface="Arial"/>
                  </a:defRPr>
                </a:pPr>
                <a:endParaRPr lang="en-C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Sheet1!$A$2:$A$29</c:f>
              <c:strCache>
                <c:ptCount val="28"/>
                <c:pt idx="0">
                  <c:v>IT</c:v>
                </c:pt>
                <c:pt idx="1">
                  <c:v>PT</c:v>
                </c:pt>
                <c:pt idx="2">
                  <c:v>BG</c:v>
                </c:pt>
                <c:pt idx="3">
                  <c:v>FI</c:v>
                </c:pt>
                <c:pt idx="4">
                  <c:v>EL</c:v>
                </c:pt>
                <c:pt idx="5">
                  <c:v>DE</c:v>
                </c:pt>
                <c:pt idx="6">
                  <c:v>HR</c:v>
                </c:pt>
                <c:pt idx="7">
                  <c:v>SI</c:v>
                </c:pt>
                <c:pt idx="8">
                  <c:v>FR</c:v>
                </c:pt>
                <c:pt idx="9">
                  <c:v>LV</c:v>
                </c:pt>
                <c:pt idx="10">
                  <c:v>LT</c:v>
                </c:pt>
                <c:pt idx="11">
                  <c:v>CZ</c:v>
                </c:pt>
                <c:pt idx="12">
                  <c:v>EE</c:v>
                </c:pt>
                <c:pt idx="13">
                  <c:v>HU</c:v>
                </c:pt>
                <c:pt idx="14">
                  <c:v>NL</c:v>
                </c:pt>
                <c:pt idx="15">
                  <c:v>ES</c:v>
                </c:pt>
                <c:pt idx="16">
                  <c:v>SE</c:v>
                </c:pt>
                <c:pt idx="17">
                  <c:v>DK</c:v>
                </c:pt>
                <c:pt idx="18">
                  <c:v>AT</c:v>
                </c:pt>
                <c:pt idx="19">
                  <c:v>PL</c:v>
                </c:pt>
                <c:pt idx="20">
                  <c:v>RO</c:v>
                </c:pt>
                <c:pt idx="21">
                  <c:v>BE</c:v>
                </c:pt>
                <c:pt idx="22">
                  <c:v>MT</c:v>
                </c:pt>
                <c:pt idx="23">
                  <c:v>CH</c:v>
                </c:pt>
                <c:pt idx="24">
                  <c:v>SK</c:v>
                </c:pt>
                <c:pt idx="25">
                  <c:v>CY</c:v>
                </c:pt>
                <c:pt idx="26">
                  <c:v>IE</c:v>
                </c:pt>
                <c:pt idx="27">
                  <c:v>LU</c:v>
                </c:pt>
              </c:strCache>
            </c:strRef>
          </c:cat>
          <c:val>
            <c:numRef>
              <c:f>Sheet1!$B$2:$B$29</c:f>
              <c:numCache>
                <c:formatCode>General</c:formatCode>
                <c:ptCount val="28"/>
                <c:pt idx="0">
                  <c:v>24.7</c:v>
                </c:pt>
                <c:pt idx="1">
                  <c:v>24.3</c:v>
                </c:pt>
                <c:pt idx="2">
                  <c:v>24</c:v>
                </c:pt>
                <c:pt idx="3">
                  <c:v>23.7</c:v>
                </c:pt>
                <c:pt idx="4">
                  <c:v>23.7</c:v>
                </c:pt>
                <c:pt idx="5">
                  <c:v>23</c:v>
                </c:pt>
                <c:pt idx="6">
                  <c:v>23</c:v>
                </c:pt>
                <c:pt idx="7">
                  <c:v>22</c:v>
                </c:pt>
                <c:pt idx="8">
                  <c:v>22</c:v>
                </c:pt>
                <c:pt idx="9">
                  <c:v>21.5</c:v>
                </c:pt>
                <c:pt idx="10">
                  <c:v>21.5</c:v>
                </c:pt>
                <c:pt idx="11">
                  <c:v>21.3</c:v>
                </c:pt>
                <c:pt idx="12">
                  <c:v>21.3</c:v>
                </c:pt>
                <c:pt idx="13">
                  <c:v>21.3</c:v>
                </c:pt>
                <c:pt idx="14">
                  <c:v>20.9</c:v>
                </c:pt>
                <c:pt idx="15">
                  <c:v>20.9</c:v>
                </c:pt>
                <c:pt idx="16">
                  <c:v>20.9</c:v>
                </c:pt>
                <c:pt idx="17">
                  <c:v>20.8</c:v>
                </c:pt>
                <c:pt idx="18">
                  <c:v>20.6</c:v>
                </c:pt>
                <c:pt idx="19">
                  <c:v>20.5</c:v>
                </c:pt>
                <c:pt idx="20">
                  <c:v>20.399999999999999</c:v>
                </c:pt>
                <c:pt idx="21">
                  <c:v>20.3</c:v>
                </c:pt>
                <c:pt idx="22">
                  <c:v>20</c:v>
                </c:pt>
                <c:pt idx="23">
                  <c:v>19.5</c:v>
                </c:pt>
                <c:pt idx="24">
                  <c:v>18.600000000000001</c:v>
                </c:pt>
                <c:pt idx="25">
                  <c:v>18.3</c:v>
                </c:pt>
                <c:pt idx="26">
                  <c:v>15.7</c:v>
                </c:pt>
                <c:pt idx="27">
                  <c:v>15.2</c:v>
                </c:pt>
              </c:numCache>
            </c:numRef>
          </c:val>
          <c:extLst>
            <c:ext xmlns:c16="http://schemas.microsoft.com/office/drawing/2014/chart" uri="{C3380CC4-5D6E-409C-BE32-E72D297353CC}">
              <c16:uniqueId val="{00000000-C98C-44A2-B9D8-A70F5D44F9D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max val="28"/>
          <c:min val="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Death Gap (years)</c:v>
                </c:pt>
              </c:strCache>
            </c:strRef>
          </c:tx>
          <c:spPr>
            <a:solidFill>
              <a:srgbClr val="065A82"/>
            </a:solidFill>
            <a:effectLst/>
          </c:spPr>
          <c:invertIfNegative val="0"/>
          <c:dLbls>
            <c:numFmt formatCode="#,##0" sourceLinked="0"/>
            <c:spPr>
              <a:noFill/>
              <a:ln>
                <a:noFill/>
              </a:ln>
              <a:effectLst/>
            </c:spPr>
            <c:txPr>
              <a:bodyPr/>
              <a:lstStyle/>
              <a:p>
                <a:pPr>
                  <a:defRPr sz="700" b="0" i="0" u="none" strike="noStrike">
                    <a:solidFill>
                      <a:srgbClr val="333333"/>
                    </a:solidFill>
                    <a:latin typeface="Arial"/>
                  </a:defRPr>
                </a:pPr>
                <a:endParaRPr lang="en-C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Sheet1!$A$2:$A$29</c:f>
              <c:strCache>
                <c:ptCount val="28"/>
                <c:pt idx="0">
                  <c:v>Luxembourg</c:v>
                </c:pt>
                <c:pt idx="1">
                  <c:v>Slovenia</c:v>
                </c:pt>
                <c:pt idx="2">
                  <c:v>Italy</c:v>
                </c:pt>
                <c:pt idx="3">
                  <c:v>Greece</c:v>
                </c:pt>
                <c:pt idx="4">
                  <c:v>Austria</c:v>
                </c:pt>
                <c:pt idx="5">
                  <c:v>Spain</c:v>
                </c:pt>
                <c:pt idx="6">
                  <c:v>Switzerlan</c:v>
                </c:pt>
                <c:pt idx="7">
                  <c:v>France</c:v>
                </c:pt>
                <c:pt idx="8">
                  <c:v>Malta</c:v>
                </c:pt>
                <c:pt idx="9">
                  <c:v>Cyprus</c:v>
                </c:pt>
                <c:pt idx="10">
                  <c:v>Sweden</c:v>
                </c:pt>
                <c:pt idx="11">
                  <c:v>Ireland</c:v>
                </c:pt>
                <c:pt idx="12">
                  <c:v>Belgium</c:v>
                </c:pt>
                <c:pt idx="13">
                  <c:v>Finland</c:v>
                </c:pt>
                <c:pt idx="14">
                  <c:v>Portugal</c:v>
                </c:pt>
                <c:pt idx="15">
                  <c:v>Poland</c:v>
                </c:pt>
                <c:pt idx="16">
                  <c:v>Croatia</c:v>
                </c:pt>
                <c:pt idx="17">
                  <c:v>Czechia</c:v>
                </c:pt>
                <c:pt idx="18">
                  <c:v>Denmark</c:v>
                </c:pt>
                <c:pt idx="19">
                  <c:v>Germany</c:v>
                </c:pt>
                <c:pt idx="20">
                  <c:v>Netherland</c:v>
                </c:pt>
                <c:pt idx="21">
                  <c:v>Estonia</c:v>
                </c:pt>
                <c:pt idx="22">
                  <c:v>Slovakia</c:v>
                </c:pt>
                <c:pt idx="23">
                  <c:v>Romania</c:v>
                </c:pt>
                <c:pt idx="24">
                  <c:v>Hungary</c:v>
                </c:pt>
                <c:pt idx="25">
                  <c:v>Bulgaria</c:v>
                </c:pt>
                <c:pt idx="26">
                  <c:v>Lithuania</c:v>
                </c:pt>
                <c:pt idx="27">
                  <c:v>Latvia</c:v>
                </c:pt>
              </c:strCache>
            </c:strRef>
          </c:cat>
          <c:val>
            <c:numRef>
              <c:f>Sheet1!$B$2:$B$29</c:f>
              <c:numCache>
                <c:formatCode>General</c:formatCode>
                <c:ptCount val="28"/>
                <c:pt idx="0">
                  <c:v>20.7</c:v>
                </c:pt>
                <c:pt idx="1">
                  <c:v>19.600000000000001</c:v>
                </c:pt>
                <c:pt idx="2">
                  <c:v>19.5</c:v>
                </c:pt>
                <c:pt idx="3">
                  <c:v>19.399999999999999</c:v>
                </c:pt>
                <c:pt idx="4">
                  <c:v>19.2</c:v>
                </c:pt>
                <c:pt idx="5">
                  <c:v>19</c:v>
                </c:pt>
                <c:pt idx="6">
                  <c:v>19</c:v>
                </c:pt>
                <c:pt idx="7">
                  <c:v>18.7</c:v>
                </c:pt>
                <c:pt idx="8">
                  <c:v>18.600000000000001</c:v>
                </c:pt>
                <c:pt idx="9">
                  <c:v>17.3</c:v>
                </c:pt>
                <c:pt idx="10">
                  <c:v>17.2</c:v>
                </c:pt>
                <c:pt idx="11">
                  <c:v>16.8</c:v>
                </c:pt>
                <c:pt idx="12">
                  <c:v>16.7</c:v>
                </c:pt>
                <c:pt idx="13">
                  <c:v>16.600000000000001</c:v>
                </c:pt>
                <c:pt idx="14">
                  <c:v>16.3</c:v>
                </c:pt>
                <c:pt idx="15">
                  <c:v>15.5</c:v>
                </c:pt>
                <c:pt idx="16">
                  <c:v>14.8</c:v>
                </c:pt>
                <c:pt idx="17">
                  <c:v>14.8</c:v>
                </c:pt>
                <c:pt idx="18">
                  <c:v>14.8</c:v>
                </c:pt>
                <c:pt idx="19">
                  <c:v>14.6</c:v>
                </c:pt>
                <c:pt idx="20">
                  <c:v>14.5</c:v>
                </c:pt>
                <c:pt idx="21">
                  <c:v>14.1</c:v>
                </c:pt>
                <c:pt idx="22">
                  <c:v>14</c:v>
                </c:pt>
                <c:pt idx="23">
                  <c:v>13</c:v>
                </c:pt>
                <c:pt idx="24">
                  <c:v>12.8</c:v>
                </c:pt>
                <c:pt idx="25">
                  <c:v>12.4</c:v>
                </c:pt>
                <c:pt idx="26">
                  <c:v>12.2</c:v>
                </c:pt>
                <c:pt idx="27">
                  <c:v>10.8</c:v>
                </c:pt>
              </c:numCache>
            </c:numRef>
          </c:val>
          <c:extLst>
            <c:ext xmlns:c16="http://schemas.microsoft.com/office/drawing/2014/chart" uri="{C3380CC4-5D6E-409C-BE32-E72D297353CC}">
              <c16:uniqueId val="{00000000-59F3-42E2-A89F-2A8B93747C6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3000000"/>
          <a:lstStyle/>
          <a:p>
            <a:pPr>
              <a:defRPr sz="7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max val="22"/>
          <c:min val="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Observations</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C638-4741-9289-68BE44C65ACD}"/>
              </c:ext>
            </c:extLst>
          </c:dPt>
          <c:dPt>
            <c:idx val="1"/>
            <c:invertIfNegative val="0"/>
            <c:bubble3D val="0"/>
            <c:extLst>
              <c:ext xmlns:c16="http://schemas.microsoft.com/office/drawing/2014/chart" uri="{C3380CC4-5D6E-409C-BE32-E72D297353CC}">
                <c16:uniqueId val="{00000002-C638-4741-9289-68BE44C65ACD}"/>
              </c:ext>
            </c:extLst>
          </c:dPt>
          <c:dPt>
            <c:idx val="2"/>
            <c:invertIfNegative val="0"/>
            <c:bubble3D val="0"/>
            <c:extLst>
              <c:ext xmlns:c16="http://schemas.microsoft.com/office/drawing/2014/chart" uri="{C3380CC4-5D6E-409C-BE32-E72D297353CC}">
                <c16:uniqueId val="{00000004-C638-4741-9289-68BE44C65ACD}"/>
              </c:ext>
            </c:extLst>
          </c:dPt>
          <c:dLbls>
            <c:numFmt formatCode="#,##0" sourceLinked="0"/>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C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Other Banking</c:v>
                </c:pt>
                <c:pt idx="1">
                  <c:v>Bank</c:v>
                </c:pt>
                <c:pt idx="2">
                  <c:v>Savings Bank</c:v>
                </c:pt>
              </c:strCache>
            </c:strRef>
          </c:cat>
          <c:val>
            <c:numRef>
              <c:f>Sheet1!$B$2:$B$4</c:f>
              <c:numCache>
                <c:formatCode>General</c:formatCode>
                <c:ptCount val="3"/>
                <c:pt idx="0">
                  <c:v>16352</c:v>
                </c:pt>
                <c:pt idx="1">
                  <c:v>26032</c:v>
                </c:pt>
                <c:pt idx="2">
                  <c:v>41104</c:v>
                </c:pt>
              </c:numCache>
            </c:numRef>
          </c:val>
          <c:extLst>
            <c:ext xmlns:c16="http://schemas.microsoft.com/office/drawing/2014/chart" uri="{C3380CC4-5D6E-409C-BE32-E72D297353CC}">
              <c16:uniqueId val="{00000005-C638-4741-9289-68BE44C65ACD}"/>
            </c:ext>
          </c:extLst>
        </c:ser>
        <c:dLbls>
          <c:showLegendKey val="0"/>
          <c:showVal val="1"/>
          <c:showCatName val="0"/>
          <c:showSerName val="0"/>
          <c:showPercent val="0"/>
          <c:showBubbleSize val="0"/>
        </c:dLbls>
        <c:gapWidth val="182"/>
        <c:axId val="2094734554"/>
        <c:axId val="2094734552"/>
      </c:barChart>
      <c:catAx>
        <c:axId val="209473455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800" b="0" i="0" u="none" strike="noStrike" kern="1200" baseline="0">
                <a:solidFill>
                  <a:schemeClr val="bg1">
                    <a:lumMod val="50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sz="800"/>
      </a:pPr>
      <a:endParaRPr lang="en-CH"/>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Obs</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0566-6846-9300-8DB1FFD8BA20}"/>
              </c:ext>
            </c:extLst>
          </c:dPt>
          <c:dPt>
            <c:idx val="1"/>
            <c:invertIfNegative val="0"/>
            <c:bubble3D val="0"/>
            <c:extLst>
              <c:ext xmlns:c16="http://schemas.microsoft.com/office/drawing/2014/chart" uri="{C3380CC4-5D6E-409C-BE32-E72D297353CC}">
                <c16:uniqueId val="{00000001-0566-6846-9300-8DB1FFD8BA20}"/>
              </c:ext>
            </c:extLst>
          </c:dPt>
          <c:dPt>
            <c:idx val="2"/>
            <c:invertIfNegative val="0"/>
            <c:bubble3D val="0"/>
            <c:extLst>
              <c:ext xmlns:c16="http://schemas.microsoft.com/office/drawing/2014/chart" uri="{C3380CC4-5D6E-409C-BE32-E72D297353CC}">
                <c16:uniqueId val="{00000002-0566-6846-9300-8DB1FFD8BA20}"/>
              </c:ext>
            </c:extLst>
          </c:dPt>
          <c:dPt>
            <c:idx val="3"/>
            <c:invertIfNegative val="0"/>
            <c:bubble3D val="0"/>
            <c:extLst>
              <c:ext xmlns:c16="http://schemas.microsoft.com/office/drawing/2014/chart" uri="{C3380CC4-5D6E-409C-BE32-E72D297353CC}">
                <c16:uniqueId val="{00000003-0566-6846-9300-8DB1FFD8BA20}"/>
              </c:ext>
            </c:extLst>
          </c:dPt>
          <c:dPt>
            <c:idx val="4"/>
            <c:invertIfNegative val="0"/>
            <c:bubble3D val="0"/>
            <c:extLst>
              <c:ext xmlns:c16="http://schemas.microsoft.com/office/drawing/2014/chart" uri="{C3380CC4-5D6E-409C-BE32-E72D297353CC}">
                <c16:uniqueId val="{00000004-0566-6846-9300-8DB1FFD8BA20}"/>
              </c:ext>
            </c:extLst>
          </c:dPt>
          <c:dPt>
            <c:idx val="5"/>
            <c:invertIfNegative val="0"/>
            <c:bubble3D val="0"/>
            <c:extLst>
              <c:ext xmlns:c16="http://schemas.microsoft.com/office/drawing/2014/chart" uri="{C3380CC4-5D6E-409C-BE32-E72D297353CC}">
                <c16:uniqueId val="{00000005-0566-6846-9300-8DB1FFD8BA20}"/>
              </c:ext>
            </c:extLst>
          </c:dPt>
          <c:dPt>
            <c:idx val="6"/>
            <c:invertIfNegative val="0"/>
            <c:bubble3D val="0"/>
            <c:extLst>
              <c:ext xmlns:c16="http://schemas.microsoft.com/office/drawing/2014/chart" uri="{C3380CC4-5D6E-409C-BE32-E72D297353CC}">
                <c16:uniqueId val="{00000006-0566-6846-9300-8DB1FFD8BA20}"/>
              </c:ext>
            </c:extLst>
          </c:dPt>
          <c:dPt>
            <c:idx val="7"/>
            <c:invertIfNegative val="0"/>
            <c:bubble3D val="0"/>
            <c:extLst>
              <c:ext xmlns:c16="http://schemas.microsoft.com/office/drawing/2014/chart" uri="{C3380CC4-5D6E-409C-BE32-E72D297353CC}">
                <c16:uniqueId val="{00000007-0566-6846-9300-8DB1FFD8BA20}"/>
              </c:ext>
            </c:extLst>
          </c:dPt>
          <c:dPt>
            <c:idx val="8"/>
            <c:invertIfNegative val="0"/>
            <c:bubble3D val="0"/>
            <c:extLst>
              <c:ext xmlns:c16="http://schemas.microsoft.com/office/drawing/2014/chart" uri="{C3380CC4-5D6E-409C-BE32-E72D297353CC}">
                <c16:uniqueId val="{00000008-0566-6846-9300-8DB1FFD8BA20}"/>
              </c:ext>
            </c:extLst>
          </c:dPt>
          <c:dPt>
            <c:idx val="9"/>
            <c:invertIfNegative val="0"/>
            <c:bubble3D val="0"/>
            <c:extLst>
              <c:ext xmlns:c16="http://schemas.microsoft.com/office/drawing/2014/chart" uri="{C3380CC4-5D6E-409C-BE32-E72D297353CC}">
                <c16:uniqueId val="{0000000A-0566-6846-9300-8DB1FFD8BA20}"/>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en-CH"/>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Sweden</c:v>
                </c:pt>
                <c:pt idx="1">
                  <c:v>Denmark</c:v>
                </c:pt>
                <c:pt idx="2">
                  <c:v>Portugal</c:v>
                </c:pt>
                <c:pt idx="3">
                  <c:v>Spain</c:v>
                </c:pt>
                <c:pt idx="4">
                  <c:v>France</c:v>
                </c:pt>
                <c:pt idx="5">
                  <c:v>Switzerland</c:v>
                </c:pt>
                <c:pt idx="6">
                  <c:v>Finland</c:v>
                </c:pt>
                <c:pt idx="7">
                  <c:v>Italy</c:v>
                </c:pt>
                <c:pt idx="8">
                  <c:v>Austria</c:v>
                </c:pt>
                <c:pt idx="9">
                  <c:v>Germany</c:v>
                </c:pt>
              </c:strCache>
            </c:strRef>
          </c:cat>
          <c:val>
            <c:numRef>
              <c:f>Sheet1!$B$2:$B$11</c:f>
              <c:numCache>
                <c:formatCode>General</c:formatCode>
                <c:ptCount val="10"/>
                <c:pt idx="0">
                  <c:v>480</c:v>
                </c:pt>
                <c:pt idx="1">
                  <c:v>944</c:v>
                </c:pt>
                <c:pt idx="2">
                  <c:v>1232</c:v>
                </c:pt>
                <c:pt idx="3">
                  <c:v>1280</c:v>
                </c:pt>
                <c:pt idx="4">
                  <c:v>1280</c:v>
                </c:pt>
                <c:pt idx="5">
                  <c:v>2576</c:v>
                </c:pt>
                <c:pt idx="6">
                  <c:v>2688</c:v>
                </c:pt>
                <c:pt idx="7">
                  <c:v>4720</c:v>
                </c:pt>
                <c:pt idx="8">
                  <c:v>6128</c:v>
                </c:pt>
                <c:pt idx="9">
                  <c:v>18832</c:v>
                </c:pt>
              </c:numCache>
            </c:numRef>
          </c:val>
          <c:extLst>
            <c:ext xmlns:c16="http://schemas.microsoft.com/office/drawing/2014/chart" uri="{C3380CC4-5D6E-409C-BE32-E72D297353CC}">
              <c16:uniqueId val="{0000000B-0566-6846-9300-8DB1FFD8BA20}"/>
            </c:ext>
          </c:extLst>
        </c:ser>
        <c:dLbls>
          <c:showLegendKey val="0"/>
          <c:showVal val="1"/>
          <c:showCatName val="0"/>
          <c:showSerName val="0"/>
          <c:showPercent val="0"/>
          <c:showBubbleSize val="0"/>
        </c:dLbls>
        <c:gapWidth val="182"/>
        <c:axId val="2094734554"/>
        <c:axId val="2094734552"/>
      </c:barChart>
      <c:catAx>
        <c:axId val="209473455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800" b="0" i="0" u="none" strike="noStrike" kern="1200" baseline="0">
                <a:solidFill>
                  <a:schemeClr val="bg1">
                    <a:lumMod val="50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pPr>
      <a:endParaRPr lang="en-CH"/>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45CE27-0FC1-4345-A9D1-813E9F3C96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a:extLst>
              <a:ext uri="{FF2B5EF4-FFF2-40B4-BE49-F238E27FC236}">
                <a16:creationId xmlns:a16="http://schemas.microsoft.com/office/drawing/2014/main" id="{04FAFF02-ADA2-494F-92F2-18E0CD47E8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F4C96F-5C6D-48ED-8D42-B768302B23AD}" type="datetimeFigureOut">
              <a:rPr lang="de-CH" smtClean="0"/>
              <a:t>25.03.2026</a:t>
            </a:fld>
            <a:endParaRPr lang="de-CH"/>
          </a:p>
        </p:txBody>
      </p:sp>
      <p:sp>
        <p:nvSpPr>
          <p:cNvPr id="4" name="Footer Placeholder 3">
            <a:extLst>
              <a:ext uri="{FF2B5EF4-FFF2-40B4-BE49-F238E27FC236}">
                <a16:creationId xmlns:a16="http://schemas.microsoft.com/office/drawing/2014/main" id="{84D7311C-885A-4219-9687-E8E9C81D34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Slide Number Placeholder 4">
            <a:extLst>
              <a:ext uri="{FF2B5EF4-FFF2-40B4-BE49-F238E27FC236}">
                <a16:creationId xmlns:a16="http://schemas.microsoft.com/office/drawing/2014/main" id="{88755352-F100-4DC1-827B-1EFA0F247A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6BEFE-BF9F-47C0-9B2B-37E6860B00C1}" type="slidenum">
              <a:rPr lang="de-CH" smtClean="0"/>
              <a:t>‹#›</a:t>
            </a:fld>
            <a:endParaRPr lang="de-CH"/>
          </a:p>
        </p:txBody>
      </p:sp>
    </p:spTree>
    <p:extLst>
      <p:ext uri="{BB962C8B-B14F-4D97-AF65-F5344CB8AC3E}">
        <p14:creationId xmlns:p14="http://schemas.microsoft.com/office/powerpoint/2010/main" val="12454366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D3A44-FA09-4C0A-99A6-1BA009890161}" type="datetimeFigureOut">
              <a:rPr lang="de-CH" smtClean="0"/>
              <a:t>25.03.2026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EFE3F1-1C0D-4780-BCDC-4F7033F6C9E1}" type="slidenum">
              <a:rPr lang="de-CH" smtClean="0"/>
              <a:t>‹#›</a:t>
            </a:fld>
            <a:endParaRPr lang="de-CH"/>
          </a:p>
        </p:txBody>
      </p:sp>
    </p:spTree>
    <p:extLst>
      <p:ext uri="{BB962C8B-B14F-4D97-AF65-F5344CB8AC3E}">
        <p14:creationId xmlns:p14="http://schemas.microsoft.com/office/powerpoint/2010/main" val="887218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Slide 1">
    <p:bg>
      <p:bgPr>
        <a:solidFill>
          <a:schemeClr val="bg1"/>
        </a:solidFill>
        <a:effectLst/>
      </p:bgPr>
    </p:bg>
    <p:spTree>
      <p:nvGrpSpPr>
        <p:cNvPr id="1" name=""/>
        <p:cNvGrpSpPr/>
        <p:nvPr/>
      </p:nvGrpSpPr>
      <p:grpSpPr>
        <a:xfrm>
          <a:off x="0" y="0"/>
          <a:ext cx="0" cy="0"/>
          <a:chOff x="0" y="0"/>
          <a:chExt cx="0" cy="0"/>
        </a:xfrm>
      </p:grpSpPr>
      <p:pic>
        <p:nvPicPr>
          <p:cNvPr id="13" name="Picture 12" descr="A picture containing skating, building, ramp, board&#10;&#10;Description automatically generated">
            <a:extLst>
              <a:ext uri="{FF2B5EF4-FFF2-40B4-BE49-F238E27FC236}">
                <a16:creationId xmlns:a16="http://schemas.microsoft.com/office/drawing/2014/main" id="{9F7E1813-5682-4AAE-8DC8-5A613DE12B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479" r="7910" b="19850"/>
          <a:stretch/>
        </p:blipFill>
        <p:spPr>
          <a:xfrm>
            <a:off x="0" y="0"/>
            <a:ext cx="9136420" cy="5143500"/>
          </a:xfrm>
          <a:prstGeom prst="rect">
            <a:avLst/>
          </a:prstGeom>
        </p:spPr>
      </p:pic>
      <p:sp>
        <p:nvSpPr>
          <p:cNvPr id="11" name="Freeform: Shape 10">
            <a:extLst>
              <a:ext uri="{FF2B5EF4-FFF2-40B4-BE49-F238E27FC236}">
                <a16:creationId xmlns:a16="http://schemas.microsoft.com/office/drawing/2014/main" id="{43D7A234-EBF8-4A9A-ACFF-4329BD747ADC}"/>
              </a:ext>
            </a:extLst>
          </p:cNvPr>
          <p:cNvSpPr>
            <a:spLocks noChangeAspect="1"/>
          </p:cNvSpPr>
          <p:nvPr userDrawn="1"/>
        </p:nvSpPr>
        <p:spPr>
          <a:xfrm>
            <a:off x="4575791" y="3166310"/>
            <a:ext cx="4568210" cy="5009983"/>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69B6FC2A-29C4-4742-B32D-604659C0CB22}"/>
              </a:ext>
            </a:extLst>
          </p:cNvPr>
          <p:cNvSpPr txBox="1"/>
          <p:nvPr userDrawn="1"/>
        </p:nvSpPr>
        <p:spPr>
          <a:xfrm>
            <a:off x="6789318" y="4613375"/>
            <a:ext cx="1995907" cy="153888"/>
          </a:xfrm>
          <a:prstGeom prst="rect">
            <a:avLst/>
          </a:prstGeom>
          <a:noFill/>
        </p:spPr>
        <p:txBody>
          <a:bodyPr wrap="square" lIns="0" tIns="0" rIns="0" bIns="0" rtlCol="0">
            <a:spAutoFit/>
          </a:bodyPr>
          <a:lstStyle/>
          <a:p>
            <a:pPr algn="r"/>
            <a:r>
              <a:rPr lang="en-GB" sz="1000">
                <a:solidFill>
                  <a:schemeClr val="bg2"/>
                </a:solidFill>
              </a:rPr>
              <a:t>From insight to impact.</a:t>
            </a:r>
          </a:p>
        </p:txBody>
      </p:sp>
      <p:pic>
        <p:nvPicPr>
          <p:cNvPr id="1703305363" name="Rectangle 2" descr="{&quot;templafy&quot;:{&quot;id&quot;:&quot;e71f292f-c887-405d-8ce7-c2554695bcfc&quot;}}"/>
          <p:cNvPicPr>
            <a:picLocks noChangeAspect="1"/>
          </p:cNvPicPr>
          <p:nvPr/>
        </p:nvPicPr>
        <p:blipFill>
          <a:blip r:embed="rId3"/>
          <a:stretch>
            <a:fillRect/>
          </a:stretch>
        </p:blipFill>
        <p:spPr>
          <a:xfrm>
            <a:off x="361173" y="313025"/>
            <a:ext cx="2221200" cy="460800"/>
          </a:xfrm>
          <a:prstGeom prst="rect">
            <a:avLst/>
          </a:prstGeom>
        </p:spPr>
      </p:pic>
      <p:sp>
        <p:nvSpPr>
          <p:cNvPr id="5" name="Title 4">
            <a:extLst>
              <a:ext uri="{FF2B5EF4-FFF2-40B4-BE49-F238E27FC236}">
                <a16:creationId xmlns:a16="http://schemas.microsoft.com/office/drawing/2014/main" id="{A891F29F-BED8-4555-9938-829D3AC33287}"/>
              </a:ext>
            </a:extLst>
          </p:cNvPr>
          <p:cNvSpPr>
            <a:spLocks noGrp="1"/>
          </p:cNvSpPr>
          <p:nvPr>
            <p:ph type="title"/>
          </p:nvPr>
        </p:nvSpPr>
        <p:spPr>
          <a:xfrm>
            <a:off x="827015" y="1098178"/>
            <a:ext cx="7958210" cy="1792800"/>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7" name="Text Placeholder 6">
            <a:extLst>
              <a:ext uri="{FF2B5EF4-FFF2-40B4-BE49-F238E27FC236}">
                <a16:creationId xmlns:a16="http://schemas.microsoft.com/office/drawing/2014/main" id="{D3654089-CB0E-4321-8557-8E0B4ACD847A}"/>
              </a:ext>
            </a:extLst>
          </p:cNvPr>
          <p:cNvSpPr>
            <a:spLocks noGrp="1"/>
          </p:cNvSpPr>
          <p:nvPr>
            <p:ph type="body" sz="quarter" idx="10"/>
          </p:nvPr>
        </p:nvSpPr>
        <p:spPr>
          <a:xfrm>
            <a:off x="831027" y="3123868"/>
            <a:ext cx="3650486" cy="1356057"/>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505765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Slide 2">
    <p:bg>
      <p:bgPr>
        <a:solidFill>
          <a:schemeClr val="bg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69B6FC2A-29C4-4742-B32D-604659C0CB22}"/>
              </a:ext>
            </a:extLst>
          </p:cNvPr>
          <p:cNvSpPr txBox="1"/>
          <p:nvPr userDrawn="1"/>
        </p:nvSpPr>
        <p:spPr>
          <a:xfrm>
            <a:off x="828000" y="4613375"/>
            <a:ext cx="1997563" cy="153888"/>
          </a:xfrm>
          <a:prstGeom prst="rect">
            <a:avLst/>
          </a:prstGeom>
          <a:noFill/>
        </p:spPr>
        <p:txBody>
          <a:bodyPr wrap="square" lIns="0" tIns="0" rIns="0" bIns="0" rtlCol="0">
            <a:spAutoFit/>
          </a:bodyPr>
          <a:lstStyle/>
          <a:p>
            <a:pPr algn="l"/>
            <a:r>
              <a:rPr lang="en-GB" sz="1000">
                <a:solidFill>
                  <a:schemeClr val="tx1"/>
                </a:solidFill>
              </a:rPr>
              <a:t>From </a:t>
            </a:r>
            <a:r>
              <a:rPr lang="en-GB" sz="1000" err="1">
                <a:solidFill>
                  <a:schemeClr val="tx1"/>
                </a:solidFill>
              </a:rPr>
              <a:t>insight</a:t>
            </a:r>
            <a:r>
              <a:rPr lang="en-GB" sz="1000">
                <a:solidFill>
                  <a:schemeClr val="tx1"/>
                </a:solidFill>
              </a:rPr>
              <a:t> </a:t>
            </a:r>
            <a:r>
              <a:rPr lang="en-GB" sz="1000" err="1">
                <a:solidFill>
                  <a:schemeClr val="tx1"/>
                </a:solidFill>
              </a:rPr>
              <a:t>to</a:t>
            </a:r>
            <a:r>
              <a:rPr lang="en-GB" sz="1000">
                <a:solidFill>
                  <a:schemeClr val="tx1"/>
                </a:solidFill>
              </a:rPr>
              <a:t> </a:t>
            </a:r>
            <a:r>
              <a:rPr lang="en-GB" sz="1000" err="1">
                <a:solidFill>
                  <a:schemeClr val="tx1"/>
                </a:solidFill>
              </a:rPr>
              <a:t>impact</a:t>
            </a:r>
            <a:r>
              <a:rPr lang="en-GB" sz="1000">
                <a:solidFill>
                  <a:schemeClr val="tx1"/>
                </a:solidFill>
              </a:rPr>
              <a:t>.</a:t>
            </a:r>
          </a:p>
        </p:txBody>
      </p:sp>
      <p:sp>
        <p:nvSpPr>
          <p:cNvPr id="6" name="Picture Placeholder 5">
            <a:extLst>
              <a:ext uri="{FF2B5EF4-FFF2-40B4-BE49-F238E27FC236}">
                <a16:creationId xmlns:a16="http://schemas.microsoft.com/office/drawing/2014/main" id="{1CACC6D5-D1D4-442A-84CB-4AA5E5B9ECDE}"/>
              </a:ext>
            </a:extLst>
          </p:cNvPr>
          <p:cNvSpPr>
            <a:spLocks noGrp="1"/>
          </p:cNvSpPr>
          <p:nvPr>
            <p:ph type="pic" sz="quarter" idx="10"/>
          </p:nvPr>
        </p:nvSpPr>
        <p:spPr>
          <a:xfrm>
            <a:off x="5965200" y="0"/>
            <a:ext cx="3178800" cy="5143500"/>
          </a:xfrm>
        </p:spPr>
        <p:txBody>
          <a:bodyPr/>
          <a:lstStyle/>
          <a:p>
            <a:r>
              <a:rPr lang="en-GB"/>
              <a:t>Click icon to add picture</a:t>
            </a:r>
          </a:p>
        </p:txBody>
      </p:sp>
      <p:pic>
        <p:nvPicPr>
          <p:cNvPr id="1311272286" name="Rectangle 8" descr="{&quot;templafy&quot;:{&quot;id&quot;:&quot;51713646-4b5d-4189-98b0-0b0bb394ba3a&quot;}}"/>
          <p:cNvPicPr>
            <a:picLocks noChangeAspect="1"/>
          </p:cNvPicPr>
          <p:nvPr/>
        </p:nvPicPr>
        <p:blipFill>
          <a:blip r:embed="rId2"/>
          <a:stretch>
            <a:fillRect/>
          </a:stretch>
        </p:blipFill>
        <p:spPr>
          <a:xfrm>
            <a:off x="358775" y="313025"/>
            <a:ext cx="2221200" cy="460800"/>
          </a:xfrm>
          <a:prstGeom prst="rect">
            <a:avLst/>
          </a:prstGeom>
        </p:spPr>
      </p:pic>
      <p:sp>
        <p:nvSpPr>
          <p:cNvPr id="10" name="Title 4">
            <a:extLst>
              <a:ext uri="{FF2B5EF4-FFF2-40B4-BE49-F238E27FC236}">
                <a16:creationId xmlns:a16="http://schemas.microsoft.com/office/drawing/2014/main" id="{80E529E2-449E-41BE-B0F7-70294EC17C81}"/>
              </a:ext>
            </a:extLst>
          </p:cNvPr>
          <p:cNvSpPr>
            <a:spLocks noGrp="1"/>
          </p:cNvSpPr>
          <p:nvPr>
            <p:ph type="title"/>
          </p:nvPr>
        </p:nvSpPr>
        <p:spPr>
          <a:xfrm>
            <a:off x="827013" y="1276350"/>
            <a:ext cx="4764489" cy="1942874"/>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11" name="Text Placeholder 6">
            <a:extLst>
              <a:ext uri="{FF2B5EF4-FFF2-40B4-BE49-F238E27FC236}">
                <a16:creationId xmlns:a16="http://schemas.microsoft.com/office/drawing/2014/main" id="{3CEDF5E3-A68C-469F-902C-69F694A0D4F6}"/>
              </a:ext>
            </a:extLst>
          </p:cNvPr>
          <p:cNvSpPr>
            <a:spLocks noGrp="1"/>
          </p:cNvSpPr>
          <p:nvPr>
            <p:ph type="body" sz="quarter" idx="11"/>
          </p:nvPr>
        </p:nvSpPr>
        <p:spPr>
          <a:xfrm>
            <a:off x="831027" y="3452115"/>
            <a:ext cx="3034391"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endParaRPr lang="en-GB"/>
          </a:p>
        </p:txBody>
      </p:sp>
    </p:spTree>
    <p:extLst>
      <p:ext uri="{BB962C8B-B14F-4D97-AF65-F5344CB8AC3E}">
        <p14:creationId xmlns:p14="http://schemas.microsoft.com/office/powerpoint/2010/main" val="12790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Slide 3">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B100237-7431-49D0-8F7C-9E1F2717B96C}"/>
              </a:ext>
            </a:extLst>
          </p:cNvPr>
          <p:cNvSpPr/>
          <p:nvPr userDrawn="1"/>
        </p:nvSpPr>
        <p:spPr>
          <a:xfrm>
            <a:off x="5761585" y="1624745"/>
            <a:ext cx="2419577" cy="2689737"/>
          </a:xfrm>
          <a:custGeom>
            <a:avLst/>
            <a:gdLst>
              <a:gd name="connsiteX0" fmla="*/ 0 w 1861343"/>
              <a:gd name="connsiteY0" fmla="*/ 0 h 2329962"/>
              <a:gd name="connsiteX1" fmla="*/ 1861343 w 1861343"/>
              <a:gd name="connsiteY1" fmla="*/ 0 h 2329962"/>
              <a:gd name="connsiteX2" fmla="*/ 1861343 w 1861343"/>
              <a:gd name="connsiteY2" fmla="*/ 2329962 h 2329962"/>
              <a:gd name="connsiteX3" fmla="*/ 0 w 1861343"/>
              <a:gd name="connsiteY3" fmla="*/ 2329962 h 2329962"/>
              <a:gd name="connsiteX4" fmla="*/ 0 w 1861343"/>
              <a:gd name="connsiteY4" fmla="*/ 0 h 2329962"/>
              <a:gd name="connsiteX0" fmla="*/ 0 w 3408789"/>
              <a:gd name="connsiteY0" fmla="*/ 852854 h 2329962"/>
              <a:gd name="connsiteX1" fmla="*/ 3408789 w 3408789"/>
              <a:gd name="connsiteY1" fmla="*/ 0 h 2329962"/>
              <a:gd name="connsiteX2" fmla="*/ 3408789 w 3408789"/>
              <a:gd name="connsiteY2" fmla="*/ 2329962 h 2329962"/>
              <a:gd name="connsiteX3" fmla="*/ 1547446 w 3408789"/>
              <a:gd name="connsiteY3" fmla="*/ 2329962 h 2329962"/>
              <a:gd name="connsiteX4" fmla="*/ 0 w 3408789"/>
              <a:gd name="connsiteY4" fmla="*/ 852854 h 2329962"/>
              <a:gd name="connsiteX0" fmla="*/ 0 w 3408789"/>
              <a:gd name="connsiteY0" fmla="*/ 852854 h 3516924"/>
              <a:gd name="connsiteX1" fmla="*/ 3408789 w 3408789"/>
              <a:gd name="connsiteY1" fmla="*/ 0 h 3516924"/>
              <a:gd name="connsiteX2" fmla="*/ 3408789 w 3408789"/>
              <a:gd name="connsiteY2" fmla="*/ 2329962 h 3516924"/>
              <a:gd name="connsiteX3" fmla="*/ 483577 w 3408789"/>
              <a:gd name="connsiteY3" fmla="*/ 3516924 h 3516924"/>
              <a:gd name="connsiteX4" fmla="*/ 0 w 3408789"/>
              <a:gd name="connsiteY4" fmla="*/ 852854 h 3516924"/>
              <a:gd name="connsiteX0" fmla="*/ 0 w 3417582"/>
              <a:gd name="connsiteY0" fmla="*/ 852854 h 3789485"/>
              <a:gd name="connsiteX1" fmla="*/ 3408789 w 3417582"/>
              <a:gd name="connsiteY1" fmla="*/ 0 h 3789485"/>
              <a:gd name="connsiteX2" fmla="*/ 3417582 w 3417582"/>
              <a:gd name="connsiteY2" fmla="*/ 3789485 h 3789485"/>
              <a:gd name="connsiteX3" fmla="*/ 483577 w 3417582"/>
              <a:gd name="connsiteY3" fmla="*/ 3516924 h 3789485"/>
              <a:gd name="connsiteX4" fmla="*/ 0 w 3417582"/>
              <a:gd name="connsiteY4" fmla="*/ 852854 h 3789485"/>
              <a:gd name="connsiteX0" fmla="*/ 0 w 3417582"/>
              <a:gd name="connsiteY0" fmla="*/ 852854 h 3789485"/>
              <a:gd name="connsiteX1" fmla="*/ 3408789 w 3417582"/>
              <a:gd name="connsiteY1" fmla="*/ 0 h 3789485"/>
              <a:gd name="connsiteX2" fmla="*/ 3417582 w 3417582"/>
              <a:gd name="connsiteY2" fmla="*/ 3789485 h 3789485"/>
              <a:gd name="connsiteX3" fmla="*/ 501162 w 3417582"/>
              <a:gd name="connsiteY3" fmla="*/ 3570549 h 3789485"/>
              <a:gd name="connsiteX4" fmla="*/ 0 w 3417582"/>
              <a:gd name="connsiteY4" fmla="*/ 852854 h 3789485"/>
              <a:gd name="connsiteX0" fmla="*/ 0 w 3408789"/>
              <a:gd name="connsiteY0" fmla="*/ 852854 h 3852049"/>
              <a:gd name="connsiteX1" fmla="*/ 3408789 w 3408789"/>
              <a:gd name="connsiteY1" fmla="*/ 0 h 3852049"/>
              <a:gd name="connsiteX2" fmla="*/ 3399997 w 3408789"/>
              <a:gd name="connsiteY2" fmla="*/ 3852049 h 3852049"/>
              <a:gd name="connsiteX3" fmla="*/ 501162 w 3408789"/>
              <a:gd name="connsiteY3" fmla="*/ 3570549 h 3852049"/>
              <a:gd name="connsiteX4" fmla="*/ 0 w 3408789"/>
              <a:gd name="connsiteY4" fmla="*/ 852854 h 3852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789" h="3852049">
                <a:moveTo>
                  <a:pt x="0" y="852854"/>
                </a:moveTo>
                <a:lnTo>
                  <a:pt x="3408789" y="0"/>
                </a:lnTo>
                <a:cubicBezTo>
                  <a:pt x="3405858" y="1284016"/>
                  <a:pt x="3402928" y="2568033"/>
                  <a:pt x="3399997" y="3852049"/>
                </a:cubicBezTo>
                <a:lnTo>
                  <a:pt x="501162" y="3570549"/>
                </a:lnTo>
                <a:lnTo>
                  <a:pt x="0" y="852854"/>
                </a:lnTo>
                <a:close/>
              </a:path>
            </a:pathLst>
          </a:cu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DF9714C5-06E3-4370-A728-9DC7B080DE43}"/>
              </a:ext>
            </a:extLst>
          </p:cNvPr>
          <p:cNvSpPr txBox="1"/>
          <p:nvPr userDrawn="1"/>
        </p:nvSpPr>
        <p:spPr>
          <a:xfrm>
            <a:off x="6787662" y="4613375"/>
            <a:ext cx="1997563" cy="153888"/>
          </a:xfrm>
          <a:prstGeom prst="rect">
            <a:avLst/>
          </a:prstGeom>
          <a:noFill/>
        </p:spPr>
        <p:txBody>
          <a:bodyPr wrap="square" lIns="0" tIns="0" rIns="0" bIns="0" rtlCol="0">
            <a:spAutoFit/>
          </a:bodyPr>
          <a:lstStyle/>
          <a:p>
            <a:pPr algn="r"/>
            <a:r>
              <a:rPr lang="en-GB" sz="1000">
                <a:solidFill>
                  <a:schemeClr val="tx1"/>
                </a:solidFill>
              </a:rPr>
              <a:t>From </a:t>
            </a:r>
            <a:r>
              <a:rPr lang="en-GB" sz="1000" err="1">
                <a:solidFill>
                  <a:schemeClr val="tx1"/>
                </a:solidFill>
              </a:rPr>
              <a:t>insight</a:t>
            </a:r>
            <a:r>
              <a:rPr lang="en-GB" sz="1000">
                <a:solidFill>
                  <a:schemeClr val="tx1"/>
                </a:solidFill>
              </a:rPr>
              <a:t> </a:t>
            </a:r>
            <a:r>
              <a:rPr lang="en-GB" sz="1000" err="1">
                <a:solidFill>
                  <a:schemeClr val="tx1"/>
                </a:solidFill>
              </a:rPr>
              <a:t>to</a:t>
            </a:r>
            <a:r>
              <a:rPr lang="en-GB" sz="1000">
                <a:solidFill>
                  <a:schemeClr val="tx1"/>
                </a:solidFill>
              </a:rPr>
              <a:t> </a:t>
            </a:r>
            <a:r>
              <a:rPr lang="en-GB" sz="1000" err="1">
                <a:solidFill>
                  <a:schemeClr val="tx1"/>
                </a:solidFill>
              </a:rPr>
              <a:t>impact</a:t>
            </a:r>
            <a:r>
              <a:rPr lang="en-GB" sz="1000">
                <a:solidFill>
                  <a:schemeClr val="tx1"/>
                </a:solidFill>
              </a:rPr>
              <a:t>.</a:t>
            </a:r>
          </a:p>
        </p:txBody>
      </p:sp>
      <p:pic>
        <p:nvPicPr>
          <p:cNvPr id="1057249515" name="Rectangle 7" descr="{&quot;templafy&quot;:{&quot;id&quot;:&quot;5cce6515-ac04-4d9a-8376-12efa4e71373&quot;}}"/>
          <p:cNvPicPr>
            <a:picLocks noChangeAspect="1"/>
          </p:cNvPicPr>
          <p:nvPr/>
        </p:nvPicPr>
        <p:blipFill>
          <a:blip r:embed="rId2"/>
          <a:stretch>
            <a:fillRect/>
          </a:stretch>
        </p:blipFill>
        <p:spPr>
          <a:xfrm>
            <a:off x="358775" y="313025"/>
            <a:ext cx="2221200" cy="460800"/>
          </a:xfrm>
          <a:prstGeom prst="rect">
            <a:avLst/>
          </a:prstGeom>
        </p:spPr>
      </p:pic>
      <p:sp>
        <p:nvSpPr>
          <p:cNvPr id="13" name="Title 4">
            <a:extLst>
              <a:ext uri="{FF2B5EF4-FFF2-40B4-BE49-F238E27FC236}">
                <a16:creationId xmlns:a16="http://schemas.microsoft.com/office/drawing/2014/main" id="{77013848-41F0-44AD-9301-BEF9A1A4878E}"/>
              </a:ext>
            </a:extLst>
          </p:cNvPr>
          <p:cNvSpPr>
            <a:spLocks noGrp="1"/>
          </p:cNvSpPr>
          <p:nvPr>
            <p:ph type="title"/>
          </p:nvPr>
        </p:nvSpPr>
        <p:spPr>
          <a:xfrm>
            <a:off x="827013" y="1276350"/>
            <a:ext cx="4503600" cy="1942874"/>
          </a:xfrm>
        </p:spPr>
        <p:txBody>
          <a:bodyPr anchor="b"/>
          <a:lstStyle>
            <a:lvl1pPr>
              <a:lnSpc>
                <a:spcPts val="4200"/>
              </a:lnSpc>
              <a:defRPr sz="4000">
                <a:latin typeface="Gill Sans Nova Light" panose="020B0302020104020203" pitchFamily="34" charset="0"/>
              </a:defRPr>
            </a:lvl1pPr>
          </a:lstStyle>
          <a:p>
            <a:r>
              <a:rPr lang="en-GB"/>
              <a:t>Click to edit Master title style</a:t>
            </a:r>
          </a:p>
        </p:txBody>
      </p:sp>
      <p:sp>
        <p:nvSpPr>
          <p:cNvPr id="14" name="Text Placeholder 6">
            <a:extLst>
              <a:ext uri="{FF2B5EF4-FFF2-40B4-BE49-F238E27FC236}">
                <a16:creationId xmlns:a16="http://schemas.microsoft.com/office/drawing/2014/main" id="{8245421C-670F-4227-B79D-994FE547F9A2}"/>
              </a:ext>
            </a:extLst>
          </p:cNvPr>
          <p:cNvSpPr>
            <a:spLocks noGrp="1"/>
          </p:cNvSpPr>
          <p:nvPr>
            <p:ph type="body" sz="quarter" idx="11"/>
          </p:nvPr>
        </p:nvSpPr>
        <p:spPr>
          <a:xfrm>
            <a:off x="831027" y="3452115"/>
            <a:ext cx="3650486"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a:t>Click to edit Master text styles</a:t>
            </a:r>
          </a:p>
          <a:p>
            <a:pPr lvl="1"/>
            <a:r>
              <a:rPr lang="en-GB"/>
              <a:t>Second level</a:t>
            </a:r>
          </a:p>
          <a:p>
            <a:pPr lvl="2"/>
            <a:r>
              <a:rPr lang="en-GB"/>
              <a:t>Third level</a:t>
            </a:r>
          </a:p>
          <a:p>
            <a:pPr lvl="3"/>
            <a:endParaRPr lang="en-GB"/>
          </a:p>
        </p:txBody>
      </p:sp>
      <p:sp>
        <p:nvSpPr>
          <p:cNvPr id="3" name="Bildplatzhalter 2">
            <a:extLst>
              <a:ext uri="{FF2B5EF4-FFF2-40B4-BE49-F238E27FC236}">
                <a16:creationId xmlns:a16="http://schemas.microsoft.com/office/drawing/2014/main" id="{A334A812-F883-AF52-F92E-916B48E7D3E0}"/>
              </a:ext>
            </a:extLst>
          </p:cNvPr>
          <p:cNvSpPr>
            <a:spLocks noGrp="1"/>
          </p:cNvSpPr>
          <p:nvPr>
            <p:ph type="pic" sz="quarter" idx="12"/>
          </p:nvPr>
        </p:nvSpPr>
        <p:spPr>
          <a:xfrm>
            <a:off x="5752800" y="447950"/>
            <a:ext cx="3404886" cy="3798786"/>
          </a:xfrm>
          <a:custGeom>
            <a:avLst/>
            <a:gdLst>
              <a:gd name="connsiteX0" fmla="*/ 0 w 3392932"/>
              <a:gd name="connsiteY0" fmla="*/ 0 h 3804762"/>
              <a:gd name="connsiteX1" fmla="*/ 3392932 w 3392932"/>
              <a:gd name="connsiteY1" fmla="*/ 0 h 3804762"/>
              <a:gd name="connsiteX2" fmla="*/ 3392932 w 3392932"/>
              <a:gd name="connsiteY2" fmla="*/ 3804762 h 3804762"/>
              <a:gd name="connsiteX3" fmla="*/ 0 w 3392932"/>
              <a:gd name="connsiteY3" fmla="*/ 3804762 h 3804762"/>
              <a:gd name="connsiteX4" fmla="*/ 0 w 3392932"/>
              <a:gd name="connsiteY4" fmla="*/ 0 h 3804762"/>
              <a:gd name="connsiteX0" fmla="*/ 741082 w 3392932"/>
              <a:gd name="connsiteY0" fmla="*/ 753035 h 3804762"/>
              <a:gd name="connsiteX1" fmla="*/ 3392932 w 3392932"/>
              <a:gd name="connsiteY1" fmla="*/ 0 h 3804762"/>
              <a:gd name="connsiteX2" fmla="*/ 3392932 w 3392932"/>
              <a:gd name="connsiteY2" fmla="*/ 3804762 h 3804762"/>
              <a:gd name="connsiteX3" fmla="*/ 0 w 3392932"/>
              <a:gd name="connsiteY3" fmla="*/ 3804762 h 3804762"/>
              <a:gd name="connsiteX4" fmla="*/ 741082 w 3392932"/>
              <a:gd name="connsiteY4" fmla="*/ 753035 h 3804762"/>
              <a:gd name="connsiteX0" fmla="*/ 0 w 2651850"/>
              <a:gd name="connsiteY0" fmla="*/ 753035 h 3804762"/>
              <a:gd name="connsiteX1" fmla="*/ 2651850 w 2651850"/>
              <a:gd name="connsiteY1" fmla="*/ 0 h 3804762"/>
              <a:gd name="connsiteX2" fmla="*/ 2651850 w 2651850"/>
              <a:gd name="connsiteY2" fmla="*/ 3804762 h 3804762"/>
              <a:gd name="connsiteX3" fmla="*/ 29883 w 2651850"/>
              <a:gd name="connsiteY3" fmla="*/ 3380433 h 3804762"/>
              <a:gd name="connsiteX4" fmla="*/ 0 w 2651850"/>
              <a:gd name="connsiteY4" fmla="*/ 753035 h 3804762"/>
              <a:gd name="connsiteX0" fmla="*/ 239058 w 2890908"/>
              <a:gd name="connsiteY0" fmla="*/ 753035 h 3804762"/>
              <a:gd name="connsiteX1" fmla="*/ 2890908 w 2890908"/>
              <a:gd name="connsiteY1" fmla="*/ 0 h 3804762"/>
              <a:gd name="connsiteX2" fmla="*/ 2890908 w 2890908"/>
              <a:gd name="connsiteY2" fmla="*/ 3804762 h 3804762"/>
              <a:gd name="connsiteX3" fmla="*/ 0 w 2890908"/>
              <a:gd name="connsiteY3" fmla="*/ 3517892 h 3804762"/>
              <a:gd name="connsiteX4" fmla="*/ 239058 w 2890908"/>
              <a:gd name="connsiteY4" fmla="*/ 753035 h 3804762"/>
              <a:gd name="connsiteX0" fmla="*/ 0 w 3410862"/>
              <a:gd name="connsiteY0" fmla="*/ 842682 h 3804762"/>
              <a:gd name="connsiteX1" fmla="*/ 3410862 w 3410862"/>
              <a:gd name="connsiteY1" fmla="*/ 0 h 3804762"/>
              <a:gd name="connsiteX2" fmla="*/ 3410862 w 3410862"/>
              <a:gd name="connsiteY2" fmla="*/ 3804762 h 3804762"/>
              <a:gd name="connsiteX3" fmla="*/ 519954 w 3410862"/>
              <a:gd name="connsiteY3" fmla="*/ 3517892 h 3804762"/>
              <a:gd name="connsiteX4" fmla="*/ 0 w 3410862"/>
              <a:gd name="connsiteY4" fmla="*/ 842682 h 3804762"/>
              <a:gd name="connsiteX0" fmla="*/ 0 w 3410862"/>
              <a:gd name="connsiteY0" fmla="*/ 842682 h 3517892"/>
              <a:gd name="connsiteX1" fmla="*/ 3410862 w 3410862"/>
              <a:gd name="connsiteY1" fmla="*/ 0 h 3517892"/>
              <a:gd name="connsiteX2" fmla="*/ 3034344 w 3410862"/>
              <a:gd name="connsiteY2" fmla="*/ 3398362 h 3517892"/>
              <a:gd name="connsiteX3" fmla="*/ 519954 w 3410862"/>
              <a:gd name="connsiteY3" fmla="*/ 3517892 h 3517892"/>
              <a:gd name="connsiteX4" fmla="*/ 0 w 3410862"/>
              <a:gd name="connsiteY4" fmla="*/ 842682 h 3517892"/>
              <a:gd name="connsiteX0" fmla="*/ 0 w 3410862"/>
              <a:gd name="connsiteY0" fmla="*/ 842682 h 3774879"/>
              <a:gd name="connsiteX1" fmla="*/ 3410862 w 3410862"/>
              <a:gd name="connsiteY1" fmla="*/ 0 h 3774879"/>
              <a:gd name="connsiteX2" fmla="*/ 3410862 w 3410862"/>
              <a:gd name="connsiteY2" fmla="*/ 3774879 h 3774879"/>
              <a:gd name="connsiteX3" fmla="*/ 519954 w 3410862"/>
              <a:gd name="connsiteY3" fmla="*/ 3517892 h 3774879"/>
              <a:gd name="connsiteX4" fmla="*/ 0 w 3410862"/>
              <a:gd name="connsiteY4" fmla="*/ 842682 h 3774879"/>
              <a:gd name="connsiteX0" fmla="*/ 0 w 3410862"/>
              <a:gd name="connsiteY0" fmla="*/ 842682 h 3810738"/>
              <a:gd name="connsiteX1" fmla="*/ 3410862 w 3410862"/>
              <a:gd name="connsiteY1" fmla="*/ 0 h 3810738"/>
              <a:gd name="connsiteX2" fmla="*/ 3404886 w 3410862"/>
              <a:gd name="connsiteY2" fmla="*/ 3810738 h 3810738"/>
              <a:gd name="connsiteX3" fmla="*/ 519954 w 3410862"/>
              <a:gd name="connsiteY3" fmla="*/ 3517892 h 3810738"/>
              <a:gd name="connsiteX4" fmla="*/ 0 w 3410862"/>
              <a:gd name="connsiteY4" fmla="*/ 842682 h 3810738"/>
              <a:gd name="connsiteX0" fmla="*/ 0 w 3404886"/>
              <a:gd name="connsiteY0" fmla="*/ 280894 h 3248950"/>
              <a:gd name="connsiteX1" fmla="*/ 3135945 w 3404886"/>
              <a:gd name="connsiteY1" fmla="*/ 0 h 3248950"/>
              <a:gd name="connsiteX2" fmla="*/ 3404886 w 3404886"/>
              <a:gd name="connsiteY2" fmla="*/ 3248950 h 3248950"/>
              <a:gd name="connsiteX3" fmla="*/ 519954 w 3404886"/>
              <a:gd name="connsiteY3" fmla="*/ 2956104 h 3248950"/>
              <a:gd name="connsiteX4" fmla="*/ 0 w 3404886"/>
              <a:gd name="connsiteY4" fmla="*/ 280894 h 3248950"/>
              <a:gd name="connsiteX0" fmla="*/ 0 w 3404886"/>
              <a:gd name="connsiteY0" fmla="*/ 830730 h 3798786"/>
              <a:gd name="connsiteX1" fmla="*/ 3404886 w 3404886"/>
              <a:gd name="connsiteY1" fmla="*/ 0 h 3798786"/>
              <a:gd name="connsiteX2" fmla="*/ 3404886 w 3404886"/>
              <a:gd name="connsiteY2" fmla="*/ 3798786 h 3798786"/>
              <a:gd name="connsiteX3" fmla="*/ 519954 w 3404886"/>
              <a:gd name="connsiteY3" fmla="*/ 3505940 h 3798786"/>
              <a:gd name="connsiteX4" fmla="*/ 0 w 3404886"/>
              <a:gd name="connsiteY4" fmla="*/ 830730 h 379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886" h="3798786">
                <a:moveTo>
                  <a:pt x="0" y="830730"/>
                </a:moveTo>
                <a:lnTo>
                  <a:pt x="3404886" y="0"/>
                </a:lnTo>
                <a:lnTo>
                  <a:pt x="3404886" y="3798786"/>
                </a:lnTo>
                <a:lnTo>
                  <a:pt x="519954" y="3505940"/>
                </a:lnTo>
                <a:lnTo>
                  <a:pt x="0" y="830730"/>
                </a:lnTo>
                <a:close/>
              </a:path>
            </a:pathLst>
          </a:custGeom>
          <a:solidFill>
            <a:schemeClr val="accent2"/>
          </a:solidFill>
          <a:ln>
            <a:noFill/>
          </a:ln>
        </p:spPr>
        <p:txBody>
          <a:bodyPr/>
          <a:lstStyle/>
          <a:p>
            <a:endParaRPr lang="en-GB"/>
          </a:p>
        </p:txBody>
      </p:sp>
    </p:spTree>
    <p:extLst>
      <p:ext uri="{BB962C8B-B14F-4D97-AF65-F5344CB8AC3E}">
        <p14:creationId xmlns:p14="http://schemas.microsoft.com/office/powerpoint/2010/main" val="134451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mit Bild">
    <p:spTree>
      <p:nvGrpSpPr>
        <p:cNvPr id="1" name=""/>
        <p:cNvGrpSpPr/>
        <p:nvPr/>
      </p:nvGrpSpPr>
      <p:grpSpPr>
        <a:xfrm>
          <a:off x="0" y="0"/>
          <a:ext cx="0" cy="0"/>
          <a:chOff x="0" y="0"/>
          <a:chExt cx="0" cy="0"/>
        </a:xfrm>
      </p:grpSpPr>
      <p:pic>
        <p:nvPicPr>
          <p:cNvPr id="12" name="Picture 11" descr="A picture containing skating, building, ramp, board&#10;&#10;Description automatically generated">
            <a:extLst>
              <a:ext uri="{FF2B5EF4-FFF2-40B4-BE49-F238E27FC236}">
                <a16:creationId xmlns:a16="http://schemas.microsoft.com/office/drawing/2014/main" id="{71655C6F-D683-4181-8A76-C2CF9E2F41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8763"/>
          <a:stretch/>
        </p:blipFill>
        <p:spPr>
          <a:xfrm>
            <a:off x="5963683" y="0"/>
            <a:ext cx="3180318" cy="5143500"/>
          </a:xfrm>
          <a:prstGeom prst="rect">
            <a:avLst/>
          </a:prstGeom>
        </p:spPr>
      </p:pic>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a:xfrm>
            <a:off x="358775" y="376238"/>
            <a:ext cx="5464509" cy="675727"/>
          </a:xfrm>
        </p:spPr>
        <p:txBody>
          <a:bodyPr/>
          <a:lstStyle>
            <a:lvl1pPr>
              <a:lnSpc>
                <a:spcPts val="4400"/>
              </a:lnSpc>
              <a:defRPr sz="4000">
                <a:latin typeface="Gill Sans Nova Light" panose="020B0302020104020203" pitchFamily="34" charset="0"/>
              </a:defRPr>
            </a:lvl1pPr>
          </a:lstStyle>
          <a:p>
            <a:r>
              <a:rPr lang="en-GB"/>
              <a:t>Click to edit Master title style</a:t>
            </a:r>
          </a:p>
        </p:txBody>
      </p:sp>
      <p:sp>
        <p:nvSpPr>
          <p:cNvPr id="5" name="Text Placeholder 4">
            <a:extLst>
              <a:ext uri="{FF2B5EF4-FFF2-40B4-BE49-F238E27FC236}">
                <a16:creationId xmlns:a16="http://schemas.microsoft.com/office/drawing/2014/main" id="{47F3237B-A6D8-401E-A0E8-75ED37DDC0FA}"/>
              </a:ext>
            </a:extLst>
          </p:cNvPr>
          <p:cNvSpPr>
            <a:spLocks noGrp="1"/>
          </p:cNvSpPr>
          <p:nvPr>
            <p:ph type="body" sz="quarter" idx="13" hasCustomPrompt="1"/>
          </p:nvPr>
        </p:nvSpPr>
        <p:spPr>
          <a:xfrm>
            <a:off x="358775" y="1276350"/>
            <a:ext cx="5000404" cy="3203575"/>
          </a:xfrm>
        </p:spPr>
        <p:txBody>
          <a:bodyPr>
            <a:normAutofit/>
          </a:bodyPr>
          <a:lstStyle>
            <a:lvl1pPr marL="396000" indent="-396000">
              <a:spcAft>
                <a:spcPts val="600"/>
              </a:spcAft>
              <a:buFont typeface="+mj-lt"/>
              <a:buAutoNum type="arabicPeriod"/>
              <a:defRPr sz="1600"/>
            </a:lvl1pPr>
            <a:lvl2pPr marL="720000" indent="-288000">
              <a:spcAft>
                <a:spcPts val="400"/>
              </a:spcAft>
              <a:buFont typeface="Arial" panose="020B0604020202020204" pitchFamily="34" charset="0"/>
              <a:buChar char="‒"/>
              <a:defRPr sz="1600"/>
            </a:lvl2pPr>
            <a:lvl3pPr marL="1008000" indent="-288000">
              <a:spcAft>
                <a:spcPts val="400"/>
              </a:spcAft>
              <a:buSzPct val="110000"/>
              <a:buFont typeface="Arial" panose="020B0604020202020204" pitchFamily="34" charset="0"/>
              <a:buChar char="•"/>
              <a:defRPr sz="1600"/>
            </a:lvl3pPr>
            <a:lvl4pPr marL="1296000" indent="-288000">
              <a:spcAft>
                <a:spcPts val="400"/>
              </a:spcAft>
              <a:buFont typeface="Arial" panose="020B0604020202020204" pitchFamily="34" charset="0"/>
              <a:buChar char="◦"/>
              <a:defRPr sz="1600"/>
            </a:lvl4pPr>
            <a:lvl5pPr marL="1296000" indent="-288000">
              <a:spcAft>
                <a:spcPts val="400"/>
              </a:spcAft>
              <a:buFont typeface="Arial" panose="020B0604020202020204" pitchFamily="34" charset="0"/>
              <a:buChar char="◦"/>
              <a:defRPr sz="1600"/>
            </a:lvl5pPr>
            <a:lvl6pPr marL="1296000" indent="-288000">
              <a:defRPr sz="1600"/>
            </a:lvl6pPr>
            <a:lvl7pPr marL="1296000" indent="-288000">
              <a:defRPr sz="1600"/>
            </a:lvl7pPr>
            <a:lvl8pPr marL="1296000" indent="-288000">
              <a:defRPr sz="1600"/>
            </a:lvl8pPr>
            <a:lvl9pPr marL="1296000" indent="-288000">
              <a:defRPr sz="1600"/>
            </a:lvl9pPr>
          </a:lstStyle>
          <a:p>
            <a:pPr lvl="0"/>
            <a:r>
              <a:rPr lang="en-GB"/>
              <a:t>Click to edit Master text styles</a:t>
            </a:r>
          </a:p>
          <a:p>
            <a:pPr lvl="1"/>
            <a:r>
              <a:rPr lang="en-GB" err="1"/>
              <a:t>Zweite</a:t>
            </a:r>
            <a:r>
              <a:rPr lang="en-GB"/>
              <a:t> Ebene</a:t>
            </a:r>
          </a:p>
          <a:p>
            <a:pPr lvl="2"/>
            <a:r>
              <a:rPr lang="en-GB" err="1"/>
              <a:t>Dritte</a:t>
            </a:r>
            <a:r>
              <a:rPr lang="en-GB"/>
              <a:t> Ebene</a:t>
            </a:r>
          </a:p>
          <a:p>
            <a:pPr lvl="3"/>
            <a:r>
              <a:rPr lang="en-GB" err="1"/>
              <a:t>Vierte</a:t>
            </a:r>
            <a:r>
              <a:rPr lang="en-GB"/>
              <a:t> Ebene</a:t>
            </a:r>
          </a:p>
          <a:p>
            <a:pPr lvl="4"/>
            <a:r>
              <a:rPr lang="en-GB" err="1"/>
              <a:t>Fünfte</a:t>
            </a:r>
            <a:r>
              <a:rPr lang="en-GB"/>
              <a:t> Ebene</a:t>
            </a:r>
          </a:p>
          <a:p>
            <a:pPr lvl="5"/>
            <a:r>
              <a:rPr lang="en-GB" err="1"/>
              <a:t>Sechste</a:t>
            </a:r>
            <a:r>
              <a:rPr lang="en-GB"/>
              <a:t> Ebene</a:t>
            </a:r>
          </a:p>
          <a:p>
            <a:pPr lvl="6"/>
            <a:r>
              <a:rPr lang="en-GB" err="1"/>
              <a:t>Siebte</a:t>
            </a:r>
            <a:r>
              <a:rPr lang="en-GB"/>
              <a:t> Ebene</a:t>
            </a:r>
          </a:p>
          <a:p>
            <a:pPr lvl="7"/>
            <a:r>
              <a:rPr lang="en-GB" err="1"/>
              <a:t>Achte</a:t>
            </a:r>
            <a:r>
              <a:rPr lang="en-GB"/>
              <a:t> Ebene</a:t>
            </a:r>
          </a:p>
          <a:p>
            <a:pPr lvl="8"/>
            <a:r>
              <a:rPr lang="en-GB" err="1"/>
              <a:t>Neunte</a:t>
            </a:r>
            <a:r>
              <a:rPr lang="en-GB"/>
              <a:t> Ebene</a:t>
            </a:r>
          </a:p>
        </p:txBody>
      </p:sp>
      <p:sp>
        <p:nvSpPr>
          <p:cNvPr id="13" name="Rectangle 12" descr="{&quot;templafy&quot;:{&quot;id&quot;:&quot;57fa69e2-e601-4bd0-9df7-d22060b419e4&quot;}}" hidden="1">
            <a:extLst>
              <a:ext uri="{FF2B5EF4-FFF2-40B4-BE49-F238E27FC236}">
                <a16:creationId xmlns:a16="http://schemas.microsoft.com/office/drawing/2014/main" id="{829DC8B1-9D54-4E8C-B174-7B9355FD57F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School of Finance (SoF-HSG)</a:t>
            </a:r>
          </a:p>
        </p:txBody>
      </p:sp>
      <p:sp>
        <p:nvSpPr>
          <p:cNvPr id="3" name="Freeform: Shape 2">
            <a:extLst>
              <a:ext uri="{FF2B5EF4-FFF2-40B4-BE49-F238E27FC236}">
                <a16:creationId xmlns:a16="http://schemas.microsoft.com/office/drawing/2014/main" id="{0996A659-F272-FD50-65D2-285E28569550}"/>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4">
            <a:extLst>
              <a:ext uri="{FF2B5EF4-FFF2-40B4-BE49-F238E27FC236}">
                <a16:creationId xmlns:a16="http://schemas.microsoft.com/office/drawing/2014/main" id="{49C4DE21-6B1C-1D32-611F-A475D0674D31}"/>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9" name="Rectangle 9" descr="{&quot;templafy&quot;:{&quot;id&quot;:&quot;a686ddd6-f847-45d7-8410-5ee4c6292e19&quot;}}">
            <a:extLst>
              <a:ext uri="{FF2B5EF4-FFF2-40B4-BE49-F238E27FC236}">
                <a16:creationId xmlns:a16="http://schemas.microsoft.com/office/drawing/2014/main" id="{0C5F4D98-1367-F2BD-57DF-11531683912B}"/>
              </a:ext>
            </a:extLst>
          </p:cNvPr>
          <p:cNvPicPr>
            <a:picLocks noChangeAspect="1"/>
          </p:cNvPicPr>
          <p:nvPr userDrawn="1"/>
        </p:nvPicPr>
        <p:blipFill>
          <a:blip r:embed="rId3"/>
          <a:stretch>
            <a:fillRect/>
          </a:stretch>
        </p:blipFill>
        <p:spPr>
          <a:xfrm>
            <a:off x="358775" y="4668427"/>
            <a:ext cx="1026000" cy="212400"/>
          </a:xfrm>
          <a:prstGeom prst="rect">
            <a:avLst/>
          </a:prstGeom>
        </p:spPr>
      </p:pic>
      <p:sp>
        <p:nvSpPr>
          <p:cNvPr id="11" name="Rectangle 10" descr="{&quot;templafy&quot;:{&quot;id&quot;:&quot;72a3a3be-e050-47d5-94d9-e6cb5f8c7f03&quot;}}">
            <a:extLst>
              <a:ext uri="{FF2B5EF4-FFF2-40B4-BE49-F238E27FC236}">
                <a16:creationId xmlns:a16="http://schemas.microsoft.com/office/drawing/2014/main" id="{649014B4-8A96-0B64-4ABB-963D239BD6E9}"/>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March 2026</a:t>
            </a:r>
          </a:p>
        </p:txBody>
      </p:sp>
      <p:sp>
        <p:nvSpPr>
          <p:cNvPr id="14" name="Rectangle 13" descr="{&quot;templafy&quot;:{&quot;id&quot;:&quot;8b77cfe1-601f-4616-9ce4-864cfa8534fd&quot;}}">
            <a:extLst>
              <a:ext uri="{FF2B5EF4-FFF2-40B4-BE49-F238E27FC236}">
                <a16:creationId xmlns:a16="http://schemas.microsoft.com/office/drawing/2014/main" id="{4FFF5A03-CA94-2A40-1138-F49CF1EE9231}"/>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Research Seminar – Topic Discussion</a:t>
            </a:r>
          </a:p>
        </p:txBody>
      </p:sp>
    </p:spTree>
    <p:extLst>
      <p:ext uri="{BB962C8B-B14F-4D97-AF65-F5344CB8AC3E}">
        <p14:creationId xmlns:p14="http://schemas.microsoft.com/office/powerpoint/2010/main" val="2341394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apiteltrenner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bg2"/>
                </a:solidFill>
                <a:latin typeface="Gill Sans Nova Light" panose="020B0302020104020203" pitchFamily="34" charset="0"/>
              </a:defRPr>
            </a:lvl1pPr>
          </a:lstStyle>
          <a:p>
            <a:r>
              <a:rPr lang="en-GB"/>
              <a:t>Click to edit Master title style</a:t>
            </a:r>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bg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Freeform: Shape 3">
            <a:extLst>
              <a:ext uri="{FF2B5EF4-FFF2-40B4-BE49-F238E27FC236}">
                <a16:creationId xmlns:a16="http://schemas.microsoft.com/office/drawing/2014/main" id="{AA3A5247-554A-42FF-BCCF-A11D65465AA4}"/>
              </a:ext>
            </a:extLst>
          </p:cNvPr>
          <p:cNvSpPr>
            <a:spLocks noChangeAspect="1"/>
          </p:cNvSpPr>
          <p:nvPr userDrawn="1"/>
        </p:nvSpPr>
        <p:spPr>
          <a:xfrm>
            <a:off x="4572001" y="3166310"/>
            <a:ext cx="4572000" cy="5009983"/>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67247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renner 2">
    <p:bg>
      <p:bgPr>
        <a:solidFill>
          <a:schemeClr val="bg2"/>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C68F798-C07C-4BF8-8573-0552735B83EA}"/>
              </a:ext>
            </a:extLst>
          </p:cNvPr>
          <p:cNvSpPr>
            <a:spLocks noGrp="1"/>
          </p:cNvSpPr>
          <p:nvPr>
            <p:ph type="pic" sz="quarter" idx="11"/>
          </p:nvPr>
        </p:nvSpPr>
        <p:spPr>
          <a:xfrm>
            <a:off x="0" y="0"/>
            <a:ext cx="9144000" cy="5143500"/>
          </a:xfrm>
        </p:spPr>
        <p:txBody>
          <a:bodyPr/>
          <a:lstStyle/>
          <a:p>
            <a:r>
              <a:rPr lang="en-GB"/>
              <a:t>Click icon to add picture</a:t>
            </a:r>
          </a:p>
        </p:txBody>
      </p:sp>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tx1"/>
                </a:solidFill>
                <a:latin typeface="Gill Sans Nova Light" panose="020B0302020104020203" pitchFamily="34" charset="0"/>
              </a:defRPr>
            </a:lvl1pPr>
          </a:lstStyle>
          <a:p>
            <a:r>
              <a:rPr lang="en-GB"/>
              <a:t>Click to edit Master title style</a:t>
            </a:r>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2251138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zwei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3203576"/>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320357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Rectangle 6" descr="{&quot;templafy&quot;:{&quot;id&quot;:&quot;2f4be301-7db5-44d0-ae7c-4ec34c731e7b&quot;}}" hidden="1">
            <a:extLst>
              <a:ext uri="{FF2B5EF4-FFF2-40B4-BE49-F238E27FC236}">
                <a16:creationId xmlns:a16="http://schemas.microsoft.com/office/drawing/2014/main" id="{B915E154-BDC4-452C-BDE7-882BE349B50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School of Finance (SoF-HSG)</a:t>
            </a:r>
          </a:p>
        </p:txBody>
      </p:sp>
      <p:sp>
        <p:nvSpPr>
          <p:cNvPr id="6" name="Freeform: Shape 5">
            <a:extLst>
              <a:ext uri="{FF2B5EF4-FFF2-40B4-BE49-F238E27FC236}">
                <a16:creationId xmlns:a16="http://schemas.microsoft.com/office/drawing/2014/main" id="{D1DC7FD6-78B5-D37D-A962-B78595D23753}"/>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4">
            <a:extLst>
              <a:ext uri="{FF2B5EF4-FFF2-40B4-BE49-F238E27FC236}">
                <a16:creationId xmlns:a16="http://schemas.microsoft.com/office/drawing/2014/main" id="{1ACBBA7C-1793-BDDC-FE22-C995AF3936D4}"/>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12" name="Rectangle 9" descr="{&quot;templafy&quot;:{&quot;id&quot;:&quot;a686ddd6-f847-45d7-8410-5ee4c6292e19&quot;}}">
            <a:extLst>
              <a:ext uri="{FF2B5EF4-FFF2-40B4-BE49-F238E27FC236}">
                <a16:creationId xmlns:a16="http://schemas.microsoft.com/office/drawing/2014/main" id="{AD8275D9-1FE2-A52D-09BD-FF0D016C4129}"/>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14" name="Rectangle 13" descr="{&quot;templafy&quot;:{&quot;id&quot;:&quot;72a3a3be-e050-47d5-94d9-e6cb5f8c7f03&quot;}}">
            <a:extLst>
              <a:ext uri="{FF2B5EF4-FFF2-40B4-BE49-F238E27FC236}">
                <a16:creationId xmlns:a16="http://schemas.microsoft.com/office/drawing/2014/main" id="{2D774627-C965-756D-B30B-E10E54C17F8B}"/>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March 2026</a:t>
            </a:r>
          </a:p>
        </p:txBody>
      </p:sp>
      <p:sp>
        <p:nvSpPr>
          <p:cNvPr id="15" name="Rectangle 14" descr="{&quot;templafy&quot;:{&quot;id&quot;:&quot;8b77cfe1-601f-4616-9ce4-864cfa8534fd&quot;}}">
            <a:extLst>
              <a:ext uri="{FF2B5EF4-FFF2-40B4-BE49-F238E27FC236}">
                <a16:creationId xmlns:a16="http://schemas.microsoft.com/office/drawing/2014/main" id="{81A0655A-9E62-C06F-FD70-9D47055CFC90}"/>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Research Seminar – Topic Discussion</a:t>
            </a:r>
          </a:p>
        </p:txBody>
      </p:sp>
    </p:spTree>
    <p:extLst>
      <p:ext uri="{BB962C8B-B14F-4D97-AF65-F5344CB8AC3E}">
        <p14:creationId xmlns:p14="http://schemas.microsoft.com/office/powerpoint/2010/main" val="850542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B1DFF60-9E69-4915-A0DD-67FF253288CC}"/>
              </a:ext>
            </a:extLst>
          </p:cNvPr>
          <p:cNvSpPr>
            <a:spLocks noGrp="1"/>
          </p:cNvSpPr>
          <p:nvPr>
            <p:ph idx="1"/>
          </p:nvPr>
        </p:nvSpPr>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Rectangle 8" descr="{&quot;templafy&quot;:{&quot;id&quot;:&quot;41d8c364-9428-4db7-aa0c-4eaa985a9522&quot;}}" hidden="1">
            <a:extLst>
              <a:ext uri="{FF2B5EF4-FFF2-40B4-BE49-F238E27FC236}">
                <a16:creationId xmlns:a16="http://schemas.microsoft.com/office/drawing/2014/main" id="{2B2F7145-7DCA-4B3F-A8AE-07622CB5DF8E}"/>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School of Finance (SoF-HSG)</a:t>
            </a:r>
          </a:p>
        </p:txBody>
      </p:sp>
      <p:sp>
        <p:nvSpPr>
          <p:cNvPr id="4" name="Freeform: Shape 3">
            <a:extLst>
              <a:ext uri="{FF2B5EF4-FFF2-40B4-BE49-F238E27FC236}">
                <a16:creationId xmlns:a16="http://schemas.microsoft.com/office/drawing/2014/main" id="{93A8DF6F-0F56-3257-EBDA-56E41644FAFB}"/>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40D0BE63-4096-A535-D71C-3CEE24B4115B}"/>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7" name="Rectangle 9" descr="{&quot;templafy&quot;:{&quot;id&quot;:&quot;a686ddd6-f847-45d7-8410-5ee4c6292e19&quot;}}">
            <a:extLst>
              <a:ext uri="{FF2B5EF4-FFF2-40B4-BE49-F238E27FC236}">
                <a16:creationId xmlns:a16="http://schemas.microsoft.com/office/drawing/2014/main" id="{BDB8732E-F13D-603A-B3F8-83C12A4E6D6F}"/>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10" name="Rectangle 9" descr="{&quot;templafy&quot;:{&quot;id&quot;:&quot;72a3a3be-e050-47d5-94d9-e6cb5f8c7f03&quot;}}">
            <a:extLst>
              <a:ext uri="{FF2B5EF4-FFF2-40B4-BE49-F238E27FC236}">
                <a16:creationId xmlns:a16="http://schemas.microsoft.com/office/drawing/2014/main" id="{A4AF5C95-C949-81DC-D669-38210C0547DB}"/>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March 2026</a:t>
            </a:r>
          </a:p>
        </p:txBody>
      </p:sp>
      <p:sp>
        <p:nvSpPr>
          <p:cNvPr id="14" name="Rectangle 13" descr="{&quot;templafy&quot;:{&quot;id&quot;:&quot;8b77cfe1-601f-4616-9ce4-864cfa8534fd&quot;}}">
            <a:extLst>
              <a:ext uri="{FF2B5EF4-FFF2-40B4-BE49-F238E27FC236}">
                <a16:creationId xmlns:a16="http://schemas.microsoft.com/office/drawing/2014/main" id="{A2D82699-381C-3AE9-44CD-10F0582A2BBA}"/>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Research Seminar – Topic Discussion</a:t>
            </a:r>
          </a:p>
        </p:txBody>
      </p:sp>
    </p:spTree>
    <p:extLst>
      <p:ext uri="{BB962C8B-B14F-4D97-AF65-F5344CB8AC3E}">
        <p14:creationId xmlns:p14="http://schemas.microsoft.com/office/powerpoint/2010/main" val="4154111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zwei Bil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358774" y="1276350"/>
            <a:ext cx="4213225" cy="3203576"/>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1276350"/>
            <a:ext cx="4213225" cy="3203575"/>
          </a:xfrm>
        </p:spPr>
        <p:txBody>
          <a:bodyPr/>
          <a:lstStyle/>
          <a:p>
            <a:r>
              <a:rPr lang="en-GB"/>
              <a:t>Click icon to add picture</a:t>
            </a:r>
          </a:p>
        </p:txBody>
      </p:sp>
      <p:sp>
        <p:nvSpPr>
          <p:cNvPr id="15" name="Rectangle 14" descr="{&quot;templafy&quot;:{&quot;id&quot;:&quot;0ff56024-4d1f-4773-bfc1-9ba6a6a51b39&quot;}}" hidden="1">
            <a:extLst>
              <a:ext uri="{FF2B5EF4-FFF2-40B4-BE49-F238E27FC236}">
                <a16:creationId xmlns:a16="http://schemas.microsoft.com/office/drawing/2014/main" id="{544AC9A2-9666-4133-BC67-BE44B6459332}"/>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School of Finance (SoF-HSG)</a:t>
            </a:r>
          </a:p>
        </p:txBody>
      </p:sp>
      <p:sp>
        <p:nvSpPr>
          <p:cNvPr id="3" name="Freeform: Shape 2">
            <a:extLst>
              <a:ext uri="{FF2B5EF4-FFF2-40B4-BE49-F238E27FC236}">
                <a16:creationId xmlns:a16="http://schemas.microsoft.com/office/drawing/2014/main" id="{6828AA86-4257-6F97-61D5-8126E02D1F1E}"/>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4">
            <a:extLst>
              <a:ext uri="{FF2B5EF4-FFF2-40B4-BE49-F238E27FC236}">
                <a16:creationId xmlns:a16="http://schemas.microsoft.com/office/drawing/2014/main" id="{BE3CB348-12A7-965A-4290-4B67ED162B83}"/>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7" name="Rectangle 9" descr="{&quot;templafy&quot;:{&quot;id&quot;:&quot;a686ddd6-f847-45d7-8410-5ee4c6292e19&quot;}}">
            <a:extLst>
              <a:ext uri="{FF2B5EF4-FFF2-40B4-BE49-F238E27FC236}">
                <a16:creationId xmlns:a16="http://schemas.microsoft.com/office/drawing/2014/main" id="{53B0BF2C-A6C0-9504-CEE9-C1C1C729EFE6}"/>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9" name="Rectangle 8" descr="{&quot;templafy&quot;:{&quot;id&quot;:&quot;72a3a3be-e050-47d5-94d9-e6cb5f8c7f03&quot;}}">
            <a:extLst>
              <a:ext uri="{FF2B5EF4-FFF2-40B4-BE49-F238E27FC236}">
                <a16:creationId xmlns:a16="http://schemas.microsoft.com/office/drawing/2014/main" id="{4ADBBC90-46EC-30E2-B8CC-509E30071567}"/>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March 2026</a:t>
            </a:r>
          </a:p>
        </p:txBody>
      </p:sp>
      <p:sp>
        <p:nvSpPr>
          <p:cNvPr id="14" name="Rectangle 13" descr="{&quot;templafy&quot;:{&quot;id&quot;:&quot;8b77cfe1-601f-4616-9ce4-864cfa8534fd&quot;}}">
            <a:extLst>
              <a:ext uri="{FF2B5EF4-FFF2-40B4-BE49-F238E27FC236}">
                <a16:creationId xmlns:a16="http://schemas.microsoft.com/office/drawing/2014/main" id="{BA02F510-AE6D-4051-C6F9-2B2B39A47E41}"/>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Research Seminar – Topic Discussion</a:t>
            </a:r>
          </a:p>
        </p:txBody>
      </p:sp>
    </p:spTree>
    <p:extLst>
      <p:ext uri="{BB962C8B-B14F-4D97-AF65-F5344CB8AC3E}">
        <p14:creationId xmlns:p14="http://schemas.microsoft.com/office/powerpoint/2010/main" val="3479676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Bilder mit Legen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0" y="0"/>
            <a:ext cx="4571999" cy="3887599"/>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0"/>
            <a:ext cx="4572000" cy="3887599"/>
          </a:xfrm>
        </p:spPr>
        <p:txBody>
          <a:bodyPr/>
          <a:lstStyle/>
          <a:p>
            <a:r>
              <a:rPr lang="en-GB"/>
              <a:t>Click icon to add picture</a:t>
            </a:r>
          </a:p>
        </p:txBody>
      </p:sp>
      <p:sp>
        <p:nvSpPr>
          <p:cNvPr id="4" name="Text Placeholder 3">
            <a:extLst>
              <a:ext uri="{FF2B5EF4-FFF2-40B4-BE49-F238E27FC236}">
                <a16:creationId xmlns:a16="http://schemas.microsoft.com/office/drawing/2014/main" id="{C19FAD45-6EEE-4522-8CA6-5189DCDD487C}"/>
              </a:ext>
            </a:extLst>
          </p:cNvPr>
          <p:cNvSpPr>
            <a:spLocks noGrp="1"/>
          </p:cNvSpPr>
          <p:nvPr>
            <p:ph type="body" sz="quarter" idx="16"/>
          </p:nvPr>
        </p:nvSpPr>
        <p:spPr>
          <a:xfrm>
            <a:off x="358775" y="3989388"/>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2" name="Text Placeholder 3">
            <a:extLst>
              <a:ext uri="{FF2B5EF4-FFF2-40B4-BE49-F238E27FC236}">
                <a16:creationId xmlns:a16="http://schemas.microsoft.com/office/drawing/2014/main" id="{447F9A9E-BA08-4C8F-96E1-0E7C7D71B398}"/>
              </a:ext>
            </a:extLst>
          </p:cNvPr>
          <p:cNvSpPr>
            <a:spLocks noGrp="1"/>
          </p:cNvSpPr>
          <p:nvPr>
            <p:ph type="body" sz="quarter" idx="17"/>
          </p:nvPr>
        </p:nvSpPr>
        <p:spPr>
          <a:xfrm>
            <a:off x="4662487" y="3989387"/>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6" name="Rectangle 15" descr="{&quot;templafy&quot;:{&quot;id&quot;:&quot;4780b9c7-75d7-49af-995d-3035d682835c&quot;}}" hidden="1">
            <a:extLst>
              <a:ext uri="{FF2B5EF4-FFF2-40B4-BE49-F238E27FC236}">
                <a16:creationId xmlns:a16="http://schemas.microsoft.com/office/drawing/2014/main" id="{97ACC166-7757-4B59-A180-1D797D03E7B1}"/>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School of Finance (SoF-HSG)</a:t>
            </a:r>
          </a:p>
        </p:txBody>
      </p:sp>
      <p:sp>
        <p:nvSpPr>
          <p:cNvPr id="2" name="Freeform: Shape 1">
            <a:extLst>
              <a:ext uri="{FF2B5EF4-FFF2-40B4-BE49-F238E27FC236}">
                <a16:creationId xmlns:a16="http://schemas.microsoft.com/office/drawing/2014/main" id="{B6076EB4-F755-4C21-00F7-8A448E1EF3B1}"/>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4">
            <a:extLst>
              <a:ext uri="{FF2B5EF4-FFF2-40B4-BE49-F238E27FC236}">
                <a16:creationId xmlns:a16="http://schemas.microsoft.com/office/drawing/2014/main" id="{C51B7B72-6F46-8B5E-CFCE-2C40E7C6EA13}"/>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7" name="Rectangle 9" descr="{&quot;templafy&quot;:{&quot;id&quot;:&quot;a686ddd6-f847-45d7-8410-5ee4c6292e19&quot;}}">
            <a:extLst>
              <a:ext uri="{FF2B5EF4-FFF2-40B4-BE49-F238E27FC236}">
                <a16:creationId xmlns:a16="http://schemas.microsoft.com/office/drawing/2014/main" id="{DD865BEC-A047-C82E-38E0-D8C2ED5B7596}"/>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9" name="Rectangle 8" descr="{&quot;templafy&quot;:{&quot;id&quot;:&quot;72a3a3be-e050-47d5-94d9-e6cb5f8c7f03&quot;}}">
            <a:extLst>
              <a:ext uri="{FF2B5EF4-FFF2-40B4-BE49-F238E27FC236}">
                <a16:creationId xmlns:a16="http://schemas.microsoft.com/office/drawing/2014/main" id="{F6ED04CD-52C8-47E2-CA03-951B59EA3E9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March 2026</a:t>
            </a:r>
          </a:p>
        </p:txBody>
      </p:sp>
      <p:sp>
        <p:nvSpPr>
          <p:cNvPr id="15" name="Rectangle 14" descr="{&quot;templafy&quot;:{&quot;id&quot;:&quot;8b77cfe1-601f-4616-9ce4-864cfa8534fd&quot;}}">
            <a:extLst>
              <a:ext uri="{FF2B5EF4-FFF2-40B4-BE49-F238E27FC236}">
                <a16:creationId xmlns:a16="http://schemas.microsoft.com/office/drawing/2014/main" id="{41661903-13D9-9366-C1BF-B6B35F6F471C}"/>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Research Seminar – Topic Discussion</a:t>
            </a:r>
          </a:p>
        </p:txBody>
      </p:sp>
    </p:spTree>
    <p:extLst>
      <p:ext uri="{BB962C8B-B14F-4D97-AF65-F5344CB8AC3E}">
        <p14:creationId xmlns:p14="http://schemas.microsoft.com/office/powerpoint/2010/main" val="2081201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F4CC-30A2-4B7B-BA9D-1A66D47649F5}"/>
              </a:ext>
            </a:extLst>
          </p:cNvPr>
          <p:cNvSpPr>
            <a:spLocks noGrp="1"/>
          </p:cNvSpPr>
          <p:nvPr>
            <p:ph type="title"/>
          </p:nvPr>
        </p:nvSpPr>
        <p:spPr/>
        <p:txBody>
          <a:bodyPr/>
          <a:lstStyle/>
          <a:p>
            <a:r>
              <a:rPr lang="en-GB"/>
              <a:t>Click to edit Master title style</a:t>
            </a:r>
          </a:p>
        </p:txBody>
      </p:sp>
      <p:sp>
        <p:nvSpPr>
          <p:cNvPr id="12" name="Rectangle 11" descr="{&quot;templafy&quot;:{&quot;id&quot;:&quot;0bfa71f2-5450-4936-a878-527a7ee69f0e&quot;}}" hidden="1">
            <a:extLst>
              <a:ext uri="{FF2B5EF4-FFF2-40B4-BE49-F238E27FC236}">
                <a16:creationId xmlns:a16="http://schemas.microsoft.com/office/drawing/2014/main" id="{87F7EA06-4518-4086-9E1C-ACD1F4782ADD}"/>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a:solidFill>
                  <a:schemeClr val="tx1"/>
                </a:solidFill>
              </a:rPr>
              <a:t>School of Finance (SoF-HSG)</a:t>
            </a:r>
          </a:p>
        </p:txBody>
      </p:sp>
      <p:sp>
        <p:nvSpPr>
          <p:cNvPr id="6" name="Freeform: Shape 5">
            <a:extLst>
              <a:ext uri="{FF2B5EF4-FFF2-40B4-BE49-F238E27FC236}">
                <a16:creationId xmlns:a16="http://schemas.microsoft.com/office/drawing/2014/main" id="{679255CD-4FAC-0CAA-FA66-EB78CF3B2035}"/>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4">
            <a:extLst>
              <a:ext uri="{FF2B5EF4-FFF2-40B4-BE49-F238E27FC236}">
                <a16:creationId xmlns:a16="http://schemas.microsoft.com/office/drawing/2014/main" id="{82C844E2-E511-DBF7-1CE7-0E81BA8CD653}"/>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a:t>
            </a:fld>
            <a:endParaRPr lang="en-GB"/>
          </a:p>
        </p:txBody>
      </p:sp>
      <p:pic>
        <p:nvPicPr>
          <p:cNvPr id="9" name="Rectangle 9" descr="{&quot;templafy&quot;:{&quot;id&quot;:&quot;a686ddd6-f847-45d7-8410-5ee4c6292e19&quot;}}">
            <a:extLst>
              <a:ext uri="{FF2B5EF4-FFF2-40B4-BE49-F238E27FC236}">
                <a16:creationId xmlns:a16="http://schemas.microsoft.com/office/drawing/2014/main" id="{53F0B1EF-F75C-BF03-BFD4-332298EE5AD6}"/>
              </a:ext>
            </a:extLst>
          </p:cNvPr>
          <p:cNvPicPr>
            <a:picLocks noChangeAspect="1"/>
          </p:cNvPicPr>
          <p:nvPr userDrawn="1"/>
        </p:nvPicPr>
        <p:blipFill>
          <a:blip r:embed="rId2"/>
          <a:stretch>
            <a:fillRect/>
          </a:stretch>
        </p:blipFill>
        <p:spPr>
          <a:xfrm>
            <a:off x="358775" y="4668427"/>
            <a:ext cx="1026000" cy="212400"/>
          </a:xfrm>
          <a:prstGeom prst="rect">
            <a:avLst/>
          </a:prstGeom>
        </p:spPr>
      </p:pic>
      <p:sp>
        <p:nvSpPr>
          <p:cNvPr id="10" name="Rectangle 9" descr="{&quot;templafy&quot;:{&quot;id&quot;:&quot;72a3a3be-e050-47d5-94d9-e6cb5f8c7f03&quot;}}">
            <a:extLst>
              <a:ext uri="{FF2B5EF4-FFF2-40B4-BE49-F238E27FC236}">
                <a16:creationId xmlns:a16="http://schemas.microsoft.com/office/drawing/2014/main" id="{D9B2BCF8-92A1-2BD3-C63A-5384BE781D81}"/>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March 2026</a:t>
            </a:r>
          </a:p>
        </p:txBody>
      </p:sp>
      <p:sp>
        <p:nvSpPr>
          <p:cNvPr id="11" name="Rectangle 10" descr="{&quot;templafy&quot;:{&quot;id&quot;:&quot;8b77cfe1-601f-4616-9ce4-864cfa8534fd&quot;}}">
            <a:extLst>
              <a:ext uri="{FF2B5EF4-FFF2-40B4-BE49-F238E27FC236}">
                <a16:creationId xmlns:a16="http://schemas.microsoft.com/office/drawing/2014/main" id="{50828103-FA40-77BE-B71E-489AFDE8121C}"/>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Research Seminar – Topic Discussion</a:t>
            </a:r>
          </a:p>
        </p:txBody>
      </p:sp>
    </p:spTree>
    <p:extLst>
      <p:ext uri="{BB962C8B-B14F-4D97-AF65-F5344CB8AC3E}">
        <p14:creationId xmlns:p14="http://schemas.microsoft.com/office/powerpoint/2010/main" val="385140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Vollfläch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C11C186-C392-4982-A2C0-7824EE98FA4F}"/>
              </a:ext>
            </a:extLst>
          </p:cNvPr>
          <p:cNvSpPr>
            <a:spLocks noGrp="1"/>
          </p:cNvSpPr>
          <p:nvPr>
            <p:ph type="pic" sz="quarter" idx="10"/>
          </p:nvPr>
        </p:nvSpPr>
        <p:spPr>
          <a:xfrm>
            <a:off x="0" y="0"/>
            <a:ext cx="9144000" cy="5143500"/>
          </a:xfrm>
        </p:spPr>
        <p:txBody>
          <a:bodyPr/>
          <a:lstStyle/>
          <a:p>
            <a:r>
              <a:rPr lang="en-GB"/>
              <a:t>Click icon to add picture</a:t>
            </a:r>
          </a:p>
        </p:txBody>
      </p:sp>
    </p:spTree>
    <p:extLst>
      <p:ext uri="{BB962C8B-B14F-4D97-AF65-F5344CB8AC3E}">
        <p14:creationId xmlns:p14="http://schemas.microsoft.com/office/powerpoint/2010/main" val="3489334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itat schwarze Schrift">
    <p:bg>
      <p:bgPr>
        <a:solidFill>
          <a:schemeClr val="accent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a:t>Click to edit Master text styles</a:t>
            </a:r>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1104120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itat weisse Schrift">
    <p:bg>
      <p:bgPr>
        <a:solidFill>
          <a:schemeClr val="accent3"/>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a:t>Click to edit Master text styles</a:t>
            </a:r>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solidFill>
                  <a:schemeClr val="tx1"/>
                </a:solidFill>
              </a:defRPr>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3818851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8000" y="735013"/>
            <a:ext cx="5148000" cy="3728674"/>
          </a:xfrm>
        </p:spPr>
        <p:txBody>
          <a:bodyPr>
            <a:normAutofit/>
          </a:bodyPr>
          <a:lstStyle>
            <a:lvl1pPr>
              <a:lnSpc>
                <a:spcPct val="90000"/>
              </a:lnSpc>
              <a:defRPr sz="7900">
                <a:solidFill>
                  <a:schemeClr val="bg2"/>
                </a:solidFill>
                <a:latin typeface="Gill Sans Nova Light" panose="020B0302020104020203" pitchFamily="34" charset="0"/>
              </a:defRPr>
            </a:lvl1pPr>
          </a:lstStyle>
          <a:p>
            <a:r>
              <a:rPr lang="en-GB"/>
              <a:t>Click to edit Master title style</a:t>
            </a:r>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8558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7998" y="735013"/>
            <a:ext cx="5148000" cy="3728674"/>
          </a:xfrm>
        </p:spPr>
        <p:txBody>
          <a:bodyPr>
            <a:normAutofit/>
          </a:bodyPr>
          <a:lstStyle>
            <a:lvl1pPr>
              <a:lnSpc>
                <a:spcPct val="90000"/>
              </a:lnSpc>
              <a:defRPr sz="7900">
                <a:solidFill>
                  <a:schemeClr val="tx1"/>
                </a:solidFill>
                <a:latin typeface="Gill Sans Nova Light" panose="020B0302020104020203" pitchFamily="34" charset="0"/>
              </a:defRPr>
            </a:lvl1pPr>
          </a:lstStyle>
          <a:p>
            <a:r>
              <a:rPr lang="en-GB"/>
              <a:t>Click to edit Master title style</a:t>
            </a:r>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902494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021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81B0-6792-4738-ACB8-050730738F15}"/>
              </a:ext>
            </a:extLst>
          </p:cNvPr>
          <p:cNvSpPr>
            <a:spLocks noGrp="1"/>
          </p:cNvSpPr>
          <p:nvPr>
            <p:ph type="title"/>
          </p:nvPr>
        </p:nvSpPr>
        <p:spPr>
          <a:xfrm>
            <a:off x="828000" y="1044000"/>
            <a:ext cx="7957225" cy="685801"/>
          </a:xfrm>
        </p:spPr>
        <p:txBody>
          <a:bodyPr/>
          <a:lstStyle>
            <a:lvl1pPr>
              <a:lnSpc>
                <a:spcPts val="5200"/>
              </a:lnSpc>
              <a:defRPr sz="5000">
                <a:latin typeface="Gill Sans Nova Light" panose="020B0302020104020203" pitchFamily="34" charset="0"/>
              </a:defRPr>
            </a:lvl1pPr>
          </a:lstStyle>
          <a:p>
            <a:r>
              <a:rPr lang="en-GB"/>
              <a:t>Click to edit Master title style</a:t>
            </a:r>
          </a:p>
        </p:txBody>
      </p:sp>
      <p:sp>
        <p:nvSpPr>
          <p:cNvPr id="7" name="Text Placeholder 6">
            <a:extLst>
              <a:ext uri="{FF2B5EF4-FFF2-40B4-BE49-F238E27FC236}">
                <a16:creationId xmlns:a16="http://schemas.microsoft.com/office/drawing/2014/main" id="{D87D0F6F-53A1-4152-9807-5EC1BBC8849C}"/>
              </a:ext>
            </a:extLst>
          </p:cNvPr>
          <p:cNvSpPr>
            <a:spLocks noGrp="1"/>
          </p:cNvSpPr>
          <p:nvPr>
            <p:ph type="body" sz="quarter" idx="13"/>
          </p:nvPr>
        </p:nvSpPr>
        <p:spPr>
          <a:xfrm>
            <a:off x="828000"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8" name="Text Placeholder 6">
            <a:extLst>
              <a:ext uri="{FF2B5EF4-FFF2-40B4-BE49-F238E27FC236}">
                <a16:creationId xmlns:a16="http://schemas.microsoft.com/office/drawing/2014/main" id="{7824BC02-7B0E-4C56-B49A-5A28F9E62BE1}"/>
              </a:ext>
            </a:extLst>
          </p:cNvPr>
          <p:cNvSpPr>
            <a:spLocks noGrp="1"/>
          </p:cNvSpPr>
          <p:nvPr>
            <p:ph type="body" sz="quarter" idx="14"/>
          </p:nvPr>
        </p:nvSpPr>
        <p:spPr>
          <a:xfrm>
            <a:off x="828000"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2" name="Text Placeholder 6">
            <a:extLst>
              <a:ext uri="{FF2B5EF4-FFF2-40B4-BE49-F238E27FC236}">
                <a16:creationId xmlns:a16="http://schemas.microsoft.com/office/drawing/2014/main" id="{ADF580D6-76FA-48E5-A6F9-C7D7F9ECA0CF}"/>
              </a:ext>
            </a:extLst>
          </p:cNvPr>
          <p:cNvSpPr>
            <a:spLocks noGrp="1"/>
          </p:cNvSpPr>
          <p:nvPr>
            <p:ph type="body" sz="quarter" idx="16"/>
          </p:nvPr>
        </p:nvSpPr>
        <p:spPr>
          <a:xfrm>
            <a:off x="2886816"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3" name="Text Placeholder 6">
            <a:extLst>
              <a:ext uri="{FF2B5EF4-FFF2-40B4-BE49-F238E27FC236}">
                <a16:creationId xmlns:a16="http://schemas.microsoft.com/office/drawing/2014/main" id="{D6CE2E2F-1BA4-4018-8B3C-5192B4A35E20}"/>
              </a:ext>
            </a:extLst>
          </p:cNvPr>
          <p:cNvSpPr>
            <a:spLocks noGrp="1"/>
          </p:cNvSpPr>
          <p:nvPr>
            <p:ph type="body" sz="quarter" idx="17"/>
          </p:nvPr>
        </p:nvSpPr>
        <p:spPr>
          <a:xfrm>
            <a:off x="2886816"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4" name="Text Placeholder 6">
            <a:extLst>
              <a:ext uri="{FF2B5EF4-FFF2-40B4-BE49-F238E27FC236}">
                <a16:creationId xmlns:a16="http://schemas.microsoft.com/office/drawing/2014/main" id="{9780CD93-461B-4895-AFE1-B11CB717CAC3}"/>
              </a:ext>
            </a:extLst>
          </p:cNvPr>
          <p:cNvSpPr>
            <a:spLocks noGrp="1"/>
          </p:cNvSpPr>
          <p:nvPr>
            <p:ph type="body" sz="quarter" idx="18"/>
          </p:nvPr>
        </p:nvSpPr>
        <p:spPr>
          <a:xfrm>
            <a:off x="4945933"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5" name="Text Placeholder 6">
            <a:extLst>
              <a:ext uri="{FF2B5EF4-FFF2-40B4-BE49-F238E27FC236}">
                <a16:creationId xmlns:a16="http://schemas.microsoft.com/office/drawing/2014/main" id="{7670DE1A-52CE-4331-B7C3-9D35588A2926}"/>
              </a:ext>
            </a:extLst>
          </p:cNvPr>
          <p:cNvSpPr>
            <a:spLocks noGrp="1"/>
          </p:cNvSpPr>
          <p:nvPr>
            <p:ph type="body" sz="quarter" idx="19"/>
          </p:nvPr>
        </p:nvSpPr>
        <p:spPr>
          <a:xfrm>
            <a:off x="4945933"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pic>
        <p:nvPicPr>
          <p:cNvPr id="822201520" name="Rectangle 10" descr="{&quot;templafy&quot;:{&quot;id&quot;:&quot;83a1c2a2-c5ce-461f-94a3-7bf4eb5a6a7a&quot;}}"/>
          <p:cNvPicPr>
            <a:picLocks noChangeAspect="1"/>
          </p:cNvPicPr>
          <p:nvPr/>
        </p:nvPicPr>
        <p:blipFill>
          <a:blip r:embed="rId2"/>
          <a:stretch>
            <a:fillRect/>
          </a:stretch>
        </p:blipFill>
        <p:spPr>
          <a:xfrm>
            <a:off x="798816" y="4048055"/>
            <a:ext cx="2221200" cy="460800"/>
          </a:xfrm>
          <a:prstGeom prst="rect">
            <a:avLst/>
          </a:prstGeom>
        </p:spPr>
      </p:pic>
      <p:sp>
        <p:nvSpPr>
          <p:cNvPr id="3" name="Rectangle 2" descr="{&quot;templafy&quot;:{&quot;id&quot;:&quot;6b7dbdc9-b930-48a1-b054-0486b079e669&quot;}}">
            <a:extLst>
              <a:ext uri="{FF2B5EF4-FFF2-40B4-BE49-F238E27FC236}">
                <a16:creationId xmlns:a16="http://schemas.microsoft.com/office/drawing/2014/main" id="{36F02173-B0F5-4193-B6FF-8607454762B4}"/>
              </a:ext>
            </a:extLst>
          </p:cNvPr>
          <p:cNvSpPr/>
          <p:nvPr userDrawn="1"/>
        </p:nvSpPr>
        <p:spPr>
          <a:xfrm>
            <a:off x="4945930" y="3515014"/>
            <a:ext cx="2038450" cy="991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l">
              <a:lnSpc>
                <a:spcPts val="1200"/>
              </a:lnSpc>
            </a:pPr>
            <a:r>
              <a:rPr lang="en-GB" sz="1000">
                <a:solidFill>
                  <a:schemeClr val="tx1"/>
                </a:solidFill>
              </a:rPr>
              <a:t>School of Finance (SoF-HSG) 
Unterer Graben 21 
9000 St.Gallen 
unisg.ch/universitaet/schools/finance</a:t>
            </a:r>
          </a:p>
        </p:txBody>
      </p:sp>
    </p:spTree>
    <p:extLst>
      <p:ext uri="{BB962C8B-B14F-4D97-AF65-F5344CB8AC3E}">
        <p14:creationId xmlns:p14="http://schemas.microsoft.com/office/powerpoint/2010/main" val="518709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072C7-786E-4CDF-B498-A0E43C94C17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27AB401-27B1-4459-8033-ADE495ECDDC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63339B70-EA91-4D1E-AD6F-9A1F4FF36CD8}"/>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7" name="Rectangle 6" descr="{&quot;templafy&quot;:{&quot;id&quot;:&quot;879ad7e6-7cb7-4494-9174-c3323cc290b2&quot;}}">
            <a:extLst>
              <a:ext uri="{FF2B5EF4-FFF2-40B4-BE49-F238E27FC236}">
                <a16:creationId xmlns:a16="http://schemas.microsoft.com/office/drawing/2014/main" id="{BB3C8683-B834-4D63-9D68-06A85DD6080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Dezember 2025</a:t>
            </a:r>
          </a:p>
        </p:txBody>
      </p:sp>
    </p:spTree>
    <p:extLst>
      <p:ext uri="{BB962C8B-B14F-4D97-AF65-F5344CB8AC3E}">
        <p14:creationId xmlns:p14="http://schemas.microsoft.com/office/powerpoint/2010/main" val="18372074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A27F37-4AAD-450C-8838-DE5B9F07D8B8}"/>
              </a:ext>
            </a:extLst>
          </p:cNvPr>
          <p:cNvSpPr>
            <a:spLocks noGrp="1"/>
          </p:cNvSpPr>
          <p:nvPr>
            <p:ph type="title" orient="vert"/>
          </p:nvPr>
        </p:nvSpPr>
        <p:spPr>
          <a:xfrm>
            <a:off x="6543675" y="273844"/>
            <a:ext cx="1971675" cy="4358879"/>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9286A52-83BF-4684-B707-32690AD3C036}"/>
              </a:ext>
            </a:extLst>
          </p:cNvPr>
          <p:cNvSpPr>
            <a:spLocks noGrp="1"/>
          </p:cNvSpPr>
          <p:nvPr>
            <p:ph type="body" orient="vert" idx="1"/>
          </p:nvPr>
        </p:nvSpPr>
        <p:spPr>
          <a:xfrm>
            <a:off x="628650" y="273844"/>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BC25666C-0F9A-44A4-B3AC-35B212491C34}"/>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7" name="Rectangle 6" descr="{&quot;templafy&quot;:{&quot;id&quot;:&quot;9ce69437-fe7b-4dee-8cfc-9988023a4741&quot;}}">
            <a:extLst>
              <a:ext uri="{FF2B5EF4-FFF2-40B4-BE49-F238E27FC236}">
                <a16:creationId xmlns:a16="http://schemas.microsoft.com/office/drawing/2014/main" id="{D21A4773-433D-4BA4-8284-587A192E038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a:solidFill>
                  <a:schemeClr val="tx1"/>
                </a:solidFill>
              </a:rPr>
              <a:t>Dezember 2025</a:t>
            </a:r>
          </a:p>
        </p:txBody>
      </p:sp>
    </p:spTree>
    <p:extLst>
      <p:ext uri="{BB962C8B-B14F-4D97-AF65-F5344CB8AC3E}">
        <p14:creationId xmlns:p14="http://schemas.microsoft.com/office/powerpoint/2010/main" val="851528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85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8526C4E-7639-88E6-EA4D-E7C5D11716BD}"/>
              </a:ext>
            </a:extLst>
          </p:cNvPr>
          <p:cNvGraphicFramePr>
            <a:graphicFrameLocks/>
          </p:cNvGraphicFramePr>
          <p:nvPr userDrawn="1">
            <p:custDataLst>
              <p:tags r:id="rId23"/>
            </p:custDataLst>
            <p:extLst>
              <p:ext uri="{D42A27DB-BD31-4B8C-83A1-F6EECF244321}">
                <p14:modId xmlns:p14="http://schemas.microsoft.com/office/powerpoint/2010/main" val="6545954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425" imgH="424" progId="TCLayout.ActiveDocument.1">
                  <p:embed/>
                </p:oleObj>
              </mc:Choice>
              <mc:Fallback>
                <p:oleObj name="think-cell Slide" r:id="rId24" imgW="425" imgH="424" progId="TCLayout.ActiveDocument.1">
                  <p:embed/>
                  <p:pic>
                    <p:nvPicPr>
                      <p:cNvPr id="8" name="think-cell data - do not delete" hidden="1">
                        <a:extLst>
                          <a:ext uri="{FF2B5EF4-FFF2-40B4-BE49-F238E27FC236}">
                            <a16:creationId xmlns:a16="http://schemas.microsoft.com/office/drawing/2014/main" id="{98526C4E-7639-88E6-EA4D-E7C5D11716BD}"/>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22501321-794C-47B8-ABDC-7DAF88C9DC68}"/>
              </a:ext>
            </a:extLst>
          </p:cNvPr>
          <p:cNvSpPr>
            <a:spLocks noGrp="1"/>
          </p:cNvSpPr>
          <p:nvPr>
            <p:ph type="title"/>
          </p:nvPr>
        </p:nvSpPr>
        <p:spPr>
          <a:xfrm>
            <a:off x="358775" y="376238"/>
            <a:ext cx="8426450" cy="609662"/>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076F94A2-50F8-430F-B46C-2D50472D7A69}"/>
              </a:ext>
            </a:extLst>
          </p:cNvPr>
          <p:cNvSpPr>
            <a:spLocks noGrp="1"/>
          </p:cNvSpPr>
          <p:nvPr>
            <p:ph type="body" idx="1"/>
          </p:nvPr>
        </p:nvSpPr>
        <p:spPr>
          <a:xfrm>
            <a:off x="358775" y="1276350"/>
            <a:ext cx="8426450" cy="3203575"/>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01CEDF7-309C-40F3-8700-9F4DBE766E2C}"/>
              </a:ext>
            </a:extLst>
          </p:cNvPr>
          <p:cNvSpPr>
            <a:spLocks noGrp="1"/>
          </p:cNvSpPr>
          <p:nvPr>
            <p:ph type="dt" sz="half" idx="2"/>
          </p:nvPr>
        </p:nvSpPr>
        <p:spPr>
          <a:xfrm>
            <a:off x="6804000" y="4770375"/>
            <a:ext cx="1177196" cy="184336"/>
          </a:xfrm>
          <a:prstGeom prst="rect">
            <a:avLst/>
          </a:prstGeom>
        </p:spPr>
        <p:txBody>
          <a:bodyPr vert="horz" lIns="0" tIns="0" rIns="0" bIns="0" rtlCol="0" anchor="t"/>
          <a:lstStyle>
            <a:lvl1pPr algn="l">
              <a:defRPr sz="800">
                <a:solidFill>
                  <a:schemeClr val="tx1"/>
                </a:solidFill>
              </a:defRPr>
            </a:lvl1pPr>
          </a:lstStyle>
          <a:p>
            <a:fld id="{ED8FFC02-F414-406A-9AF9-AE6E7846E736}" type="datetime4">
              <a:rPr lang="en-GB" smtClean="0"/>
              <a:t>25 March 2026</a:t>
            </a:fld>
            <a:endParaRPr lang="en-GB"/>
          </a:p>
        </p:txBody>
      </p:sp>
      <p:sp>
        <p:nvSpPr>
          <p:cNvPr id="5" name="Footer Placeholder 4">
            <a:extLst>
              <a:ext uri="{FF2B5EF4-FFF2-40B4-BE49-F238E27FC236}">
                <a16:creationId xmlns:a16="http://schemas.microsoft.com/office/drawing/2014/main" id="{867B08D8-7EDB-4388-A7EE-8AB294EA7887}"/>
              </a:ext>
            </a:extLst>
          </p:cNvPr>
          <p:cNvSpPr>
            <a:spLocks noGrp="1"/>
          </p:cNvSpPr>
          <p:nvPr>
            <p:ph type="ftr" sz="quarter" idx="3"/>
          </p:nvPr>
        </p:nvSpPr>
        <p:spPr>
          <a:xfrm>
            <a:off x="2519999" y="4770374"/>
            <a:ext cx="3086100" cy="184335"/>
          </a:xfrm>
          <a:prstGeom prst="rect">
            <a:avLst/>
          </a:prstGeom>
        </p:spPr>
        <p:txBody>
          <a:bodyPr vert="horz" lIns="0" tIns="0" rIns="0" bIns="0" rtlCol="0" anchor="t"/>
          <a:lstStyle>
            <a:lvl1pPr algn="l">
              <a:defRPr sz="800">
                <a:solidFill>
                  <a:schemeClr val="tx1"/>
                </a:solidFill>
              </a:defRPr>
            </a:lvl1pPr>
          </a:lstStyle>
          <a:p>
            <a:r>
              <a:rPr lang="en-GB"/>
              <a:t>Corporate Design - Power Point Master</a:t>
            </a:r>
          </a:p>
        </p:txBody>
      </p:sp>
      <p:sp>
        <p:nvSpPr>
          <p:cNvPr id="6" name="Slide Number Placeholder 5">
            <a:extLst>
              <a:ext uri="{FF2B5EF4-FFF2-40B4-BE49-F238E27FC236}">
                <a16:creationId xmlns:a16="http://schemas.microsoft.com/office/drawing/2014/main" id="{7A26C2A0-BCAA-4FD2-BD67-F5225215B65D}"/>
              </a:ext>
            </a:extLst>
          </p:cNvPr>
          <p:cNvSpPr>
            <a:spLocks noGrp="1"/>
          </p:cNvSpPr>
          <p:nvPr>
            <p:ph type="sldNum" sz="quarter" idx="4"/>
          </p:nvPr>
        </p:nvSpPr>
        <p:spPr>
          <a:xfrm>
            <a:off x="8571600" y="4767263"/>
            <a:ext cx="216000" cy="273844"/>
          </a:xfrm>
          <a:prstGeom prst="rect">
            <a:avLst/>
          </a:prstGeom>
        </p:spPr>
        <p:txBody>
          <a:bodyPr vert="horz" lIns="0" tIns="0" rIns="0" bIns="0" rtlCol="0" anchor="t"/>
          <a:lstStyle>
            <a:lvl1pPr algn="ctr">
              <a:defRPr sz="800" spc="-30" baseline="0">
                <a:solidFill>
                  <a:schemeClr val="bg2"/>
                </a:solidFill>
              </a:defRPr>
            </a:lvl1pPr>
          </a:lstStyle>
          <a:p>
            <a:fld id="{7559FC98-AF75-4A00-A03C-DF9FEBF6BCB9}" type="slidenum">
              <a:rPr lang="en-GB" smtClean="0"/>
              <a:pPr/>
              <a:t>‹#›</a:t>
            </a:fld>
            <a:endParaRPr lang="en-GB"/>
          </a:p>
        </p:txBody>
      </p:sp>
    </p:spTree>
    <p:extLst>
      <p:ext uri="{BB962C8B-B14F-4D97-AF65-F5344CB8AC3E}">
        <p14:creationId xmlns:p14="http://schemas.microsoft.com/office/powerpoint/2010/main" val="4246037650"/>
      </p:ext>
    </p:extLst>
  </p:cSld>
  <p:clrMap bg1="lt1" tx1="dk1" bg2="lt2" tx2="dk2" accent1="accent1" accent2="accent2" accent3="accent3" accent4="accent4" accent5="accent5" accent6="accent6" hlink="hlink" folHlink="folHlink"/>
  <p:sldLayoutIdLst>
    <p:sldLayoutId id="2147483661" r:id="rId1"/>
    <p:sldLayoutId id="2147483688" r:id="rId2"/>
    <p:sldLayoutId id="2147483689" r:id="rId3"/>
    <p:sldLayoutId id="2147483677" r:id="rId4"/>
    <p:sldLayoutId id="2147483663" r:id="rId5"/>
    <p:sldLayoutId id="2147483686" r:id="rId6"/>
    <p:sldLayoutId id="2147483664" r:id="rId7"/>
    <p:sldLayoutId id="2147483662" r:id="rId8"/>
    <p:sldLayoutId id="2147483672" r:id="rId9"/>
    <p:sldLayoutId id="2147483673" r:id="rId10"/>
    <p:sldLayoutId id="2147483666" r:id="rId11"/>
    <p:sldLayoutId id="2147483680" r:id="rId12"/>
    <p:sldLayoutId id="2147483678" r:id="rId13"/>
    <p:sldLayoutId id="2147483679" r:id="rId14"/>
    <p:sldLayoutId id="2147483675" r:id="rId15"/>
    <p:sldLayoutId id="2147483683" r:id="rId16"/>
    <p:sldLayoutId id="2147483667" r:id="rId17"/>
    <p:sldLayoutId id="2147483681" r:id="rId18"/>
    <p:sldLayoutId id="2147483670" r:id="rId19"/>
    <p:sldLayoutId id="2147483671" r:id="rId20"/>
    <p:sldLayoutId id="2147483690" r:id="rId21"/>
  </p:sldLayoutIdLst>
  <p:hf hdr="0"/>
  <p:txStyles>
    <p:titleStyle>
      <a:lvl1pPr algn="l" defTabSz="6858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3">
          <p15:clr>
            <a:srgbClr val="F26B43"/>
          </p15:clr>
        </p15:guide>
        <p15:guide id="3" pos="226">
          <p15:clr>
            <a:srgbClr val="F26B43"/>
          </p15:clr>
        </p15:guide>
        <p15:guide id="4" pos="5534">
          <p15:clr>
            <a:srgbClr val="F26B43"/>
          </p15:clr>
        </p15:guide>
        <p15:guide id="5" orient="horz" pos="237">
          <p15:clr>
            <a:srgbClr val="F26B43"/>
          </p15:clr>
        </p15:guide>
        <p15:guide id="6" orient="horz" pos="804" userDrawn="1">
          <p15:clr>
            <a:srgbClr val="F26B43"/>
          </p15:clr>
        </p15:guide>
        <p15:guide id="7" orient="horz" pos="2822">
          <p15:clr>
            <a:srgbClr val="F26B43"/>
          </p15:clr>
        </p15:guide>
        <p15:guide id="8" pos="2823">
          <p15:clr>
            <a:srgbClr val="F26B43"/>
          </p15:clr>
        </p15:guide>
        <p15:guide id="9" pos="2937">
          <p15:clr>
            <a:srgbClr val="F26B43"/>
          </p15:clr>
        </p15:guide>
        <p15:guide id="10" orient="horz" pos="4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customXml" Target="../../customXml/item5.xml"/><Relationship Id="rId1" Type="http://schemas.openxmlformats.org/officeDocument/2006/relationships/customXml" Target="../../customXml/item6.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tags" Target="../tags/tag4.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5.x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6.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7.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8.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data.worldbank.org/indicator/FD.AST.PRVT.GD.ZS?utm_source=chatgpt.com" TargetMode="External"/><Relationship Id="rId3" Type="http://schemas.openxmlformats.org/officeDocument/2006/relationships/oleObject" Target="../embeddings/oleObject4.bin"/><Relationship Id="rId7" Type="http://schemas.openxmlformats.org/officeDocument/2006/relationships/hyperlink" Target="https://data.worldbank.org/indicator/CM.MKT.LCAP.GD.ZS?utm_source=chatgpt.com" TargetMode="External"/><Relationship Id="rId2" Type="http://schemas.openxmlformats.org/officeDocument/2006/relationships/slideLayout" Target="../slideLayouts/slideLayout11.xml"/><Relationship Id="rId1" Type="http://schemas.openxmlformats.org/officeDocument/2006/relationships/tags" Target="../tags/tag9.xml"/><Relationship Id="rId6" Type="http://schemas.openxmlformats.org/officeDocument/2006/relationships/hyperlink" Target="https://www.census.gov/data-tools/demo/idb/#/dashboard?dashboard_page=country&amp;COUNTRY_YR_ANIM=2026" TargetMode="External"/><Relationship Id="rId11" Type="http://schemas.openxmlformats.org/officeDocument/2006/relationships/hyperlink" Target="https://databank.worldbank.org/source/global-financial-development/Series/GFDD.DI.13" TargetMode="External"/><Relationship Id="rId5" Type="http://schemas.openxmlformats.org/officeDocument/2006/relationships/hyperlink" Target="https://data.worldbank.org/indicator/SP.POP.65UP.TO.ZS" TargetMode="External"/><Relationship Id="rId10" Type="http://schemas.openxmlformats.org/officeDocument/2006/relationships/image" Target="../media/image6.png"/><Relationship Id="rId4" Type="http://schemas.openxmlformats.org/officeDocument/2006/relationships/image" Target="../media/image1.emf"/><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10.xml"/><Relationship Id="rId5" Type="http://schemas.openxmlformats.org/officeDocument/2006/relationships/image" Target="../media/image7.png"/><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1.xml"/><Relationship Id="rId1" Type="http://schemas.openxmlformats.org/officeDocument/2006/relationships/tags" Target="../tags/tag11.xml"/><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12.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hyperlink" Target="https://ec.europa.eu/eurostat/databrowser/view/tespm100__custom_20473233/default/table" TargetMode="External"/><Relationship Id="rId7" Type="http://schemas.openxmlformats.org/officeDocument/2006/relationships/hyperlink" Target="https://www.oecd.org/content/dam/oecd/en/publications/reports/2009/09/pensions-at-a-glance-2009_g1ghab79/pension_glance-2009-en.pdf" TargetMode="External"/><Relationship Id="rId2" Type="http://schemas.openxmlformats.org/officeDocument/2006/relationships/image" Target="../media/image8.png"/><Relationship Id="rId1" Type="http://schemas.openxmlformats.org/officeDocument/2006/relationships/slideLayout" Target="../slideLayouts/slideLayout11.xml"/><Relationship Id="rId6" Type="http://schemas.openxmlformats.org/officeDocument/2006/relationships/hyperlink" Target="https://www.oecd.org/content/dam/oecd/en/publications/reports/2011/03/pensions-at-a-glance-2011_g1g12126/pension_glance-2011-en.pdf" TargetMode="External"/><Relationship Id="rId5" Type="http://schemas.openxmlformats.org/officeDocument/2006/relationships/hyperlink" Target="https://www.oecd.org/content/dam/oecd/en/publications/reports/2012/06/oecd-pensions-outlook-2012_g1g1aeb6/9789264169401-en.pdf" TargetMode="External"/><Relationship Id="rId4" Type="http://schemas.openxmlformats.org/officeDocument/2006/relationships/hyperlink" Target="https://www.oecd.org/content/dam/oecd/en/publications/reports/2013/11/pensions-at-a-glance-2013_g1g3404e/pension_glance-2013-en.pdf" TargetMode="Externa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1.xml"/><Relationship Id="rId1" Type="http://schemas.openxmlformats.org/officeDocument/2006/relationships/tags" Target="../tags/tag13.xml"/><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1.xml"/><Relationship Id="rId1" Type="http://schemas.openxmlformats.org/officeDocument/2006/relationships/tags" Target="../tags/tag14.xml"/><Relationship Id="rId5" Type="http://schemas.openxmlformats.org/officeDocument/2006/relationships/image" Target="../media/image9.png"/><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customXml" Target="../../customXml/item7.xml"/><Relationship Id="rId1" Type="http://schemas.openxmlformats.org/officeDocument/2006/relationships/customXml" Target="../../customXml/item10.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1.xml"/><Relationship Id="rId1" Type="http://schemas.openxmlformats.org/officeDocument/2006/relationships/tags" Target="../tags/tag16.xml"/><Relationship Id="rId4" Type="http://schemas.openxmlformats.org/officeDocument/2006/relationships/image" Target="../media/image1.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customXml" Target="../../customXml/item1.xml"/><Relationship Id="rId1" Type="http://schemas.openxmlformats.org/officeDocument/2006/relationships/customXml" Target="../../customXml/item3.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2B148-A860-ECBA-2ED8-01762B0228B6}"/>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F70F8C0-1CD5-3F78-623F-DE23DD2564F6}"/>
              </a:ext>
            </a:extLst>
          </p:cNvPr>
          <p:cNvGraphicFramePr>
            <a:graphicFrameLocks/>
          </p:cNvGraphicFramePr>
          <p:nvPr>
            <p:custDataLst>
              <p:tags r:id="rId3"/>
            </p:custDataLst>
            <p:extLst>
              <p:ext uri="{D42A27DB-BD31-4B8C-83A1-F6EECF244321}">
                <p14:modId xmlns:p14="http://schemas.microsoft.com/office/powerpoint/2010/main" val="17721136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4" name="think-cell data - do not delete" hidden="1">
                        <a:extLst>
                          <a:ext uri="{FF2B5EF4-FFF2-40B4-BE49-F238E27FC236}">
                            <a16:creationId xmlns:a16="http://schemas.microsoft.com/office/drawing/2014/main" id="{3F70F8C0-1CD5-3F78-623F-DE23DD2564F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80DA267-FE76-AC4A-F116-66E2ADC23EA2}"/>
              </a:ext>
            </a:extLst>
          </p:cNvPr>
          <p:cNvSpPr>
            <a:spLocks noGrp="1"/>
          </p:cNvSpPr>
          <p:nvPr>
            <p:ph type="title"/>
          </p:nvPr>
        </p:nvSpPr>
        <p:spPr>
          <a:xfrm>
            <a:off x="827015" y="1098178"/>
            <a:ext cx="7958210" cy="1792800"/>
          </a:xfrm>
        </p:spPr>
        <p:txBody>
          <a:bodyPr vert="horz" rIns="0"/>
          <a:lstStyle/>
          <a:p>
            <a:r>
              <a:rPr lang="de-LI"/>
              <a:t>Research Seminar – Question Suggestion in Financial Institutions</a:t>
            </a:r>
            <a:endParaRPr lang="en-GB"/>
          </a:p>
        </p:txBody>
      </p:sp>
      <p:sp>
        <p:nvSpPr>
          <p:cNvPr id="3" name="Text Placeholder 2">
            <a:extLst>
              <a:ext uri="{FF2B5EF4-FFF2-40B4-BE49-F238E27FC236}">
                <a16:creationId xmlns:a16="http://schemas.microsoft.com/office/drawing/2014/main" id="{18DB647C-51AF-7D10-406E-85F1508DE80F}"/>
              </a:ext>
            </a:extLst>
          </p:cNvPr>
          <p:cNvSpPr>
            <a:spLocks noGrp="1"/>
          </p:cNvSpPr>
          <p:nvPr>
            <p:ph type="body" sz="quarter" idx="10"/>
          </p:nvPr>
        </p:nvSpPr>
        <p:spPr>
          <a:xfrm>
            <a:off x="831027" y="3123868"/>
            <a:ext cx="3650486" cy="1356057"/>
          </a:xfrm>
        </p:spPr>
        <p:txBody>
          <a:bodyPr/>
          <a:lstStyle/>
          <a:p>
            <a:r>
              <a:rPr lang="en-GB"/>
              <a:t>St.Gallen, </a:t>
            </a:r>
            <a:r>
              <a:rPr lang="de-LI"/>
              <a:t>11th March 2026</a:t>
            </a:r>
            <a:endParaRPr lang="en-GB"/>
          </a:p>
        </p:txBody>
      </p:sp>
    </p:spTree>
    <p:custDataLst>
      <p:custData r:id="rId1"/>
      <p:custData r:id="rId2"/>
    </p:custDataLst>
    <p:extLst>
      <p:ext uri="{BB962C8B-B14F-4D97-AF65-F5344CB8AC3E}">
        <p14:creationId xmlns:p14="http://schemas.microsoft.com/office/powerpoint/2010/main" val="2598718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AA628-B905-8D22-0295-7AF765D1E53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7DFFB23-4C37-E815-4A9C-7CAE2C4165EA}"/>
              </a:ext>
            </a:extLst>
          </p:cNvPr>
          <p:cNvGraphicFramePr>
            <a:graphicFrameLocks/>
          </p:cNvGraphicFramePr>
          <p:nvPr>
            <p:custDataLst>
              <p:tags r:id="rId1"/>
            </p:custDataLst>
            <p:extLst>
              <p:ext uri="{D42A27DB-BD31-4B8C-83A1-F6EECF244321}">
                <p14:modId xmlns:p14="http://schemas.microsoft.com/office/powerpoint/2010/main" val="117878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37DFFB23-4C37-E815-4A9C-7CAE2C4165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E246792-BAF2-99E5-1C72-12F358394AEF}"/>
              </a:ext>
            </a:extLst>
          </p:cNvPr>
          <p:cNvSpPr>
            <a:spLocks noGrp="1"/>
          </p:cNvSpPr>
          <p:nvPr>
            <p:ph type="title"/>
          </p:nvPr>
        </p:nvSpPr>
        <p:spPr/>
        <p:txBody>
          <a:bodyPr vert="horz" rIns="0"/>
          <a:lstStyle/>
          <a:p>
            <a:r>
              <a:rPr lang="de-LI"/>
              <a:t>Proposed research question &amp; hypotheses</a:t>
            </a:r>
          </a:p>
        </p:txBody>
      </p:sp>
      <p:sp>
        <p:nvSpPr>
          <p:cNvPr id="3" name="Slide Number Placeholder 2">
            <a:extLst>
              <a:ext uri="{FF2B5EF4-FFF2-40B4-BE49-F238E27FC236}">
                <a16:creationId xmlns:a16="http://schemas.microsoft.com/office/drawing/2014/main" id="{0C22791F-8E99-917F-09C5-C3713F6E5B06}"/>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2</a:t>
            </a:fld>
            <a:endParaRPr lang="en-GB"/>
          </a:p>
        </p:txBody>
      </p:sp>
      <p:sp>
        <p:nvSpPr>
          <p:cNvPr id="5" name="TextBox 4">
            <a:extLst>
              <a:ext uri="{FF2B5EF4-FFF2-40B4-BE49-F238E27FC236}">
                <a16:creationId xmlns:a16="http://schemas.microsoft.com/office/drawing/2014/main" id="{22F9D5DE-8D30-2E2C-716F-9C0D4BC46E6F}"/>
              </a:ext>
            </a:extLst>
          </p:cNvPr>
          <p:cNvSpPr txBox="1"/>
          <p:nvPr/>
        </p:nvSpPr>
        <p:spPr>
          <a:xfrm>
            <a:off x="2656632" y="1033562"/>
            <a:ext cx="5404624" cy="307777"/>
          </a:xfrm>
          <a:prstGeom prst="rect">
            <a:avLst/>
          </a:prstGeom>
          <a:noFill/>
        </p:spPr>
        <p:txBody>
          <a:bodyPr wrap="square" rtlCol="0">
            <a:spAutoFit/>
          </a:bodyPr>
          <a:lstStyle/>
          <a:p>
            <a:r>
              <a:rPr lang="en-GB" sz="1400" i="1"/>
              <a:t>Do demographics affect bank funding?</a:t>
            </a:r>
          </a:p>
        </p:txBody>
      </p:sp>
      <p:sp>
        <p:nvSpPr>
          <p:cNvPr id="6" name="TextBox 5">
            <a:extLst>
              <a:ext uri="{FF2B5EF4-FFF2-40B4-BE49-F238E27FC236}">
                <a16:creationId xmlns:a16="http://schemas.microsoft.com/office/drawing/2014/main" id="{8B60FAF3-B3A3-AB14-E29C-A7C3B3ADEC33}"/>
              </a:ext>
            </a:extLst>
          </p:cNvPr>
          <p:cNvSpPr txBox="1"/>
          <p:nvPr/>
        </p:nvSpPr>
        <p:spPr>
          <a:xfrm>
            <a:off x="2656632" y="1571233"/>
            <a:ext cx="5404624" cy="523220"/>
          </a:xfrm>
          <a:prstGeom prst="rect">
            <a:avLst/>
          </a:prstGeom>
          <a:noFill/>
        </p:spPr>
        <p:txBody>
          <a:bodyPr wrap="square" rtlCol="0">
            <a:spAutoFit/>
          </a:bodyPr>
          <a:lstStyle/>
          <a:p>
            <a:r>
              <a:rPr lang="en-US" sz="1400"/>
              <a:t>Population Aging and Bank Deposit Funding:</a:t>
            </a:r>
            <a:br>
              <a:rPr lang="en-US" sz="1400"/>
            </a:br>
            <a:r>
              <a:rPr lang="en-US" sz="1400"/>
              <a:t>The Role of Financial System Structure</a:t>
            </a:r>
            <a:endParaRPr lang="en-GB" sz="1400" i="1"/>
          </a:p>
        </p:txBody>
      </p:sp>
      <p:sp>
        <p:nvSpPr>
          <p:cNvPr id="7" name="TextBox 6">
            <a:extLst>
              <a:ext uri="{FF2B5EF4-FFF2-40B4-BE49-F238E27FC236}">
                <a16:creationId xmlns:a16="http://schemas.microsoft.com/office/drawing/2014/main" id="{F41A0D64-2157-56F9-7708-46C2D09B5BA9}"/>
              </a:ext>
            </a:extLst>
          </p:cNvPr>
          <p:cNvSpPr txBox="1"/>
          <p:nvPr/>
        </p:nvSpPr>
        <p:spPr>
          <a:xfrm>
            <a:off x="691375" y="1033562"/>
            <a:ext cx="1735874" cy="523220"/>
          </a:xfrm>
          <a:prstGeom prst="rect">
            <a:avLst/>
          </a:prstGeom>
          <a:noFill/>
        </p:spPr>
        <p:txBody>
          <a:bodyPr wrap="square" rtlCol="0">
            <a:spAutoFit/>
          </a:bodyPr>
          <a:lstStyle/>
          <a:p>
            <a:r>
              <a:rPr lang="en-GB" sz="1400" b="1">
                <a:solidFill>
                  <a:schemeClr val="accent1"/>
                </a:solidFill>
              </a:rPr>
              <a:t>Generic question</a:t>
            </a:r>
            <a:br>
              <a:rPr lang="en-GB" sz="1400" b="1">
                <a:solidFill>
                  <a:schemeClr val="accent1"/>
                </a:solidFill>
              </a:rPr>
            </a:br>
            <a:r>
              <a:rPr lang="en-GB" sz="1400">
                <a:solidFill>
                  <a:schemeClr val="accent1"/>
                </a:solidFill>
              </a:rPr>
              <a:t>(allocated)</a:t>
            </a:r>
          </a:p>
        </p:txBody>
      </p:sp>
      <p:sp>
        <p:nvSpPr>
          <p:cNvPr id="9" name="TextBox 8">
            <a:extLst>
              <a:ext uri="{FF2B5EF4-FFF2-40B4-BE49-F238E27FC236}">
                <a16:creationId xmlns:a16="http://schemas.microsoft.com/office/drawing/2014/main" id="{A03581C9-6A06-5757-5515-2A9CD68F1D97}"/>
              </a:ext>
            </a:extLst>
          </p:cNvPr>
          <p:cNvSpPr txBox="1"/>
          <p:nvPr/>
        </p:nvSpPr>
        <p:spPr>
          <a:xfrm>
            <a:off x="691375" y="1571233"/>
            <a:ext cx="1735874" cy="523220"/>
          </a:xfrm>
          <a:prstGeom prst="rect">
            <a:avLst/>
          </a:prstGeom>
          <a:noFill/>
        </p:spPr>
        <p:txBody>
          <a:bodyPr wrap="square" rtlCol="0">
            <a:spAutoFit/>
          </a:bodyPr>
          <a:lstStyle/>
          <a:p>
            <a:r>
              <a:rPr lang="en-GB" sz="1400" b="1">
                <a:solidFill>
                  <a:schemeClr val="accent1"/>
                </a:solidFill>
              </a:rPr>
              <a:t>Specific question</a:t>
            </a:r>
            <a:br>
              <a:rPr lang="en-GB" sz="1400" b="1">
                <a:solidFill>
                  <a:schemeClr val="accent1"/>
                </a:solidFill>
              </a:rPr>
            </a:br>
            <a:r>
              <a:rPr lang="en-GB" sz="1400">
                <a:solidFill>
                  <a:schemeClr val="accent1"/>
                </a:solidFill>
              </a:rPr>
              <a:t>(to be defined)</a:t>
            </a:r>
          </a:p>
        </p:txBody>
      </p:sp>
      <p:sp>
        <p:nvSpPr>
          <p:cNvPr id="13" name="TextBox 12">
            <a:extLst>
              <a:ext uri="{FF2B5EF4-FFF2-40B4-BE49-F238E27FC236}">
                <a16:creationId xmlns:a16="http://schemas.microsoft.com/office/drawing/2014/main" id="{0D2FAFB4-7C71-863F-413A-872ABE7526F6}"/>
              </a:ext>
            </a:extLst>
          </p:cNvPr>
          <p:cNvSpPr txBox="1"/>
          <p:nvPr/>
        </p:nvSpPr>
        <p:spPr>
          <a:xfrm>
            <a:off x="683940" y="3050153"/>
            <a:ext cx="1735874" cy="307777"/>
          </a:xfrm>
          <a:prstGeom prst="rect">
            <a:avLst/>
          </a:prstGeom>
          <a:noFill/>
        </p:spPr>
        <p:txBody>
          <a:bodyPr wrap="square" rtlCol="0">
            <a:spAutoFit/>
          </a:bodyPr>
          <a:lstStyle/>
          <a:p>
            <a:r>
              <a:rPr lang="en-GB" sz="1400" b="1">
                <a:solidFill>
                  <a:schemeClr val="accent1"/>
                </a:solidFill>
              </a:rPr>
              <a:t>Hypotheses</a:t>
            </a:r>
          </a:p>
        </p:txBody>
      </p:sp>
      <p:sp>
        <p:nvSpPr>
          <p:cNvPr id="14" name="TextBox 13">
            <a:extLst>
              <a:ext uri="{FF2B5EF4-FFF2-40B4-BE49-F238E27FC236}">
                <a16:creationId xmlns:a16="http://schemas.microsoft.com/office/drawing/2014/main" id="{E7256112-E54B-10D8-40BE-DA2FC7AA814E}"/>
              </a:ext>
            </a:extLst>
          </p:cNvPr>
          <p:cNvSpPr txBox="1"/>
          <p:nvPr/>
        </p:nvSpPr>
        <p:spPr>
          <a:xfrm>
            <a:off x="2649197" y="3050153"/>
            <a:ext cx="5706783" cy="1169551"/>
          </a:xfrm>
          <a:prstGeom prst="rect">
            <a:avLst/>
          </a:prstGeom>
          <a:noFill/>
        </p:spPr>
        <p:txBody>
          <a:bodyPr wrap="square" rtlCol="0">
            <a:spAutoFit/>
          </a:bodyPr>
          <a:lstStyle/>
          <a:p>
            <a:r>
              <a:rPr lang="en-GB" sz="1400" b="1" i="1"/>
              <a:t>H1:</a:t>
            </a:r>
            <a:r>
              <a:rPr lang="en-GB" sz="1400" i="1"/>
              <a:t> </a:t>
            </a:r>
            <a:r>
              <a:rPr lang="en-US" sz="1400" i="1"/>
              <a:t>The positive effect of population aging on retail deposit funding is stronger in </a:t>
            </a:r>
            <a:r>
              <a:rPr lang="en-US" sz="1400" b="1" i="1"/>
              <a:t>bank-based</a:t>
            </a:r>
            <a:r>
              <a:rPr lang="en-US" sz="1400" i="1"/>
              <a:t> financial systems than in </a:t>
            </a:r>
            <a:r>
              <a:rPr lang="en-US" sz="1400" b="1" i="1"/>
              <a:t>market-based</a:t>
            </a:r>
            <a:r>
              <a:rPr lang="en-US" sz="1400" i="1"/>
              <a:t> financial systems</a:t>
            </a:r>
          </a:p>
          <a:p>
            <a:endParaRPr lang="en-GB" sz="1400" i="1"/>
          </a:p>
          <a:p>
            <a:r>
              <a:rPr lang="en-GB" sz="1400" b="1" i="1"/>
              <a:t>H2:</a:t>
            </a:r>
            <a:r>
              <a:rPr lang="en-GB" sz="1400" i="1"/>
              <a:t> </a:t>
            </a:r>
            <a:r>
              <a:rPr lang="en-US" sz="1400" i="1"/>
              <a:t>A higher share of the very old population (85+) is associated with higher retail deposit funding, regardless of the financial system structure</a:t>
            </a:r>
          </a:p>
        </p:txBody>
      </p:sp>
      <p:cxnSp>
        <p:nvCxnSpPr>
          <p:cNvPr id="16" name="Straight Connector 15">
            <a:extLst>
              <a:ext uri="{FF2B5EF4-FFF2-40B4-BE49-F238E27FC236}">
                <a16:creationId xmlns:a16="http://schemas.microsoft.com/office/drawing/2014/main" id="{E015440E-AD03-CDB5-99C7-FBC3EBB42BB8}"/>
              </a:ext>
            </a:extLst>
          </p:cNvPr>
          <p:cNvCxnSpPr>
            <a:cxnSpLocks/>
          </p:cNvCxnSpPr>
          <p:nvPr/>
        </p:nvCxnSpPr>
        <p:spPr>
          <a:xfrm>
            <a:off x="788019" y="2571750"/>
            <a:ext cx="7567961" cy="0"/>
          </a:xfrm>
          <a:prstGeom prst="line">
            <a:avLst/>
          </a:prstGeom>
          <a:ln>
            <a:prstDash val="dash"/>
          </a:ln>
        </p:spPr>
        <p:style>
          <a:lnRef idx="1">
            <a:schemeClr val="dk1"/>
          </a:lnRef>
          <a:fillRef idx="0">
            <a:schemeClr val="dk1"/>
          </a:fillRef>
          <a:effectRef idx="0">
            <a:schemeClr val="dk1"/>
          </a:effectRef>
          <a:fontRef idx="minor">
            <a:schemeClr val="tx1"/>
          </a:fontRef>
        </p:style>
      </p:cxnSp>
      <p:grpSp>
        <p:nvGrpSpPr>
          <p:cNvPr id="18" name="Down arrow">
            <a:extLst>
              <a:ext uri="{FF2B5EF4-FFF2-40B4-BE49-F238E27FC236}">
                <a16:creationId xmlns:a16="http://schemas.microsoft.com/office/drawing/2014/main" id="{22781C76-7737-F7E0-406C-AE13C693ADD4}"/>
              </a:ext>
            </a:extLst>
          </p:cNvPr>
          <p:cNvGrpSpPr>
            <a:grpSpLocks noChangeAspect="1"/>
          </p:cNvGrpSpPr>
          <p:nvPr/>
        </p:nvGrpSpPr>
        <p:grpSpPr>
          <a:xfrm rot="10800000" flipV="1">
            <a:off x="4402962" y="2402713"/>
            <a:ext cx="338074" cy="338074"/>
            <a:chOff x="1413494" y="4670360"/>
            <a:chExt cx="442162" cy="456033"/>
          </a:xfrm>
        </p:grpSpPr>
        <p:sp>
          <p:nvSpPr>
            <p:cNvPr id="19" name="Ellipse 69">
              <a:extLst>
                <a:ext uri="{FF2B5EF4-FFF2-40B4-BE49-F238E27FC236}">
                  <a16:creationId xmlns:a16="http://schemas.microsoft.com/office/drawing/2014/main" id="{634D9E76-3793-E6DB-86CD-2D7837F7B13E}"/>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i="0" u="none" strike="noStrike" cap="none" normalizeH="0" baseline="0">
                <a:ln>
                  <a:noFill/>
                </a:ln>
                <a:solidFill>
                  <a:schemeClr val="accent2"/>
                </a:solidFill>
                <a:effectLst/>
                <a:latin typeface="Lato" panose="020F0502020204030203" pitchFamily="34" charset="77"/>
              </a:endParaRPr>
            </a:p>
          </p:txBody>
        </p:sp>
        <p:sp>
          <p:nvSpPr>
            <p:cNvPr id="20" name="Flèche vers la droite 45">
              <a:extLst>
                <a:ext uri="{FF2B5EF4-FFF2-40B4-BE49-F238E27FC236}">
                  <a16:creationId xmlns:a16="http://schemas.microsoft.com/office/drawing/2014/main" id="{C23C2D03-E673-615D-7BF4-08ACC7F41297}"/>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i="0" u="none" strike="noStrike" cap="none" normalizeH="0" baseline="0">
                <a:ln>
                  <a:noFill/>
                </a:ln>
                <a:solidFill>
                  <a:schemeClr val="accent2"/>
                </a:solidFill>
                <a:effectLst/>
                <a:latin typeface="Lato" panose="020F0502020204030203" pitchFamily="34" charset="77"/>
              </a:endParaRPr>
            </a:p>
          </p:txBody>
        </p:sp>
      </p:grpSp>
    </p:spTree>
    <p:extLst>
      <p:ext uri="{BB962C8B-B14F-4D97-AF65-F5344CB8AC3E}">
        <p14:creationId xmlns:p14="http://schemas.microsoft.com/office/powerpoint/2010/main" val="19055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11623-87D2-2016-7BF6-A6EBCDC0FDD9}"/>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9CB0C3B-E310-AB56-0AB1-3C782CB83BD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29CB0C3B-E310-AB56-0AB1-3C782CB83B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D6679A7-6F32-7F71-90F2-C71638D472F2}"/>
              </a:ext>
            </a:extLst>
          </p:cNvPr>
          <p:cNvSpPr>
            <a:spLocks noGrp="1"/>
          </p:cNvSpPr>
          <p:nvPr>
            <p:ph type="title"/>
          </p:nvPr>
        </p:nvSpPr>
        <p:spPr/>
        <p:txBody>
          <a:bodyPr vert="horz" rIns="0"/>
          <a:lstStyle/>
          <a:p>
            <a:r>
              <a:rPr lang="de-LI"/>
              <a:t>Overview of the economic intuition</a:t>
            </a:r>
          </a:p>
        </p:txBody>
      </p:sp>
      <p:sp>
        <p:nvSpPr>
          <p:cNvPr id="3" name="Slide Number Placeholder 2">
            <a:extLst>
              <a:ext uri="{FF2B5EF4-FFF2-40B4-BE49-F238E27FC236}">
                <a16:creationId xmlns:a16="http://schemas.microsoft.com/office/drawing/2014/main" id="{47AEF1E4-BDE0-0A34-61D3-E2B942F06AAA}"/>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3</a:t>
            </a:fld>
            <a:endParaRPr lang="en-GB"/>
          </a:p>
        </p:txBody>
      </p:sp>
      <p:sp>
        <p:nvSpPr>
          <p:cNvPr id="13" name="TextBox 12">
            <a:extLst>
              <a:ext uri="{FF2B5EF4-FFF2-40B4-BE49-F238E27FC236}">
                <a16:creationId xmlns:a16="http://schemas.microsoft.com/office/drawing/2014/main" id="{33E841A1-68B6-CEEC-FAA2-58C4B5B16CBD}"/>
              </a:ext>
            </a:extLst>
          </p:cNvPr>
          <p:cNvSpPr txBox="1"/>
          <p:nvPr/>
        </p:nvSpPr>
        <p:spPr>
          <a:xfrm>
            <a:off x="276922" y="1134688"/>
            <a:ext cx="854927" cy="261610"/>
          </a:xfrm>
          <a:prstGeom prst="rect">
            <a:avLst/>
          </a:prstGeom>
          <a:noFill/>
        </p:spPr>
        <p:txBody>
          <a:bodyPr wrap="square" rtlCol="0">
            <a:spAutoFit/>
          </a:bodyPr>
          <a:lstStyle/>
          <a:p>
            <a:r>
              <a:rPr lang="en-GB" sz="1100" b="1">
                <a:solidFill>
                  <a:schemeClr val="accent1"/>
                </a:solidFill>
              </a:rPr>
              <a:t>H1</a:t>
            </a:r>
            <a:endParaRPr lang="en-GB" sz="1100">
              <a:solidFill>
                <a:schemeClr val="accent1"/>
              </a:solidFill>
            </a:endParaRPr>
          </a:p>
        </p:txBody>
      </p:sp>
      <p:sp>
        <p:nvSpPr>
          <p:cNvPr id="14" name="TextBox 13">
            <a:extLst>
              <a:ext uri="{FF2B5EF4-FFF2-40B4-BE49-F238E27FC236}">
                <a16:creationId xmlns:a16="http://schemas.microsoft.com/office/drawing/2014/main" id="{2AAA8B21-42D6-950F-8D03-1ACF33505DB9}"/>
              </a:ext>
            </a:extLst>
          </p:cNvPr>
          <p:cNvSpPr txBox="1"/>
          <p:nvPr/>
        </p:nvSpPr>
        <p:spPr>
          <a:xfrm>
            <a:off x="276922" y="2956880"/>
            <a:ext cx="854927" cy="261610"/>
          </a:xfrm>
          <a:prstGeom prst="rect">
            <a:avLst/>
          </a:prstGeom>
          <a:noFill/>
        </p:spPr>
        <p:txBody>
          <a:bodyPr wrap="square" rtlCol="0">
            <a:spAutoFit/>
          </a:bodyPr>
          <a:lstStyle/>
          <a:p>
            <a:r>
              <a:rPr lang="en-GB" sz="1100" b="1">
                <a:solidFill>
                  <a:schemeClr val="accent1"/>
                </a:solidFill>
              </a:rPr>
              <a:t>H2</a:t>
            </a:r>
            <a:endParaRPr lang="en-GB" sz="1100">
              <a:solidFill>
                <a:schemeClr val="accent1"/>
              </a:solidFill>
            </a:endParaRPr>
          </a:p>
        </p:txBody>
      </p:sp>
      <p:sp>
        <p:nvSpPr>
          <p:cNvPr id="5" name="TextBox 4">
            <a:extLst>
              <a:ext uri="{FF2B5EF4-FFF2-40B4-BE49-F238E27FC236}">
                <a16:creationId xmlns:a16="http://schemas.microsoft.com/office/drawing/2014/main" id="{E1358DAF-E46C-5C16-7180-0B9DD568C128}"/>
              </a:ext>
            </a:extLst>
          </p:cNvPr>
          <p:cNvSpPr txBox="1"/>
          <p:nvPr/>
        </p:nvSpPr>
        <p:spPr>
          <a:xfrm>
            <a:off x="1107689" y="2956880"/>
            <a:ext cx="1196898" cy="1615827"/>
          </a:xfrm>
          <a:prstGeom prst="rect">
            <a:avLst/>
          </a:prstGeom>
          <a:noFill/>
        </p:spPr>
        <p:txBody>
          <a:bodyPr wrap="square" rtlCol="0">
            <a:spAutoFit/>
          </a:bodyPr>
          <a:lstStyle/>
          <a:p>
            <a:r>
              <a:rPr lang="en-GB" sz="1100"/>
              <a:t>Very old households face estate planning; want to simplify portfolios, ensure liquidity for healthcare costs, make inheritance easier</a:t>
            </a:r>
          </a:p>
        </p:txBody>
      </p:sp>
      <p:sp>
        <p:nvSpPr>
          <p:cNvPr id="7" name="TextBox 6">
            <a:extLst>
              <a:ext uri="{FF2B5EF4-FFF2-40B4-BE49-F238E27FC236}">
                <a16:creationId xmlns:a16="http://schemas.microsoft.com/office/drawing/2014/main" id="{B3A36AB4-0B4A-DBBB-7361-6010FA57B29D}"/>
              </a:ext>
            </a:extLst>
          </p:cNvPr>
          <p:cNvSpPr txBox="1"/>
          <p:nvPr/>
        </p:nvSpPr>
        <p:spPr>
          <a:xfrm>
            <a:off x="2727848" y="2956880"/>
            <a:ext cx="1196898" cy="1107996"/>
          </a:xfrm>
          <a:prstGeom prst="rect">
            <a:avLst/>
          </a:prstGeom>
          <a:noFill/>
        </p:spPr>
        <p:txBody>
          <a:bodyPr wrap="square" rtlCol="0">
            <a:spAutoFit/>
          </a:bodyPr>
          <a:lstStyle/>
          <a:p>
            <a:r>
              <a:rPr lang="en-GB" sz="1100"/>
              <a:t>Complex assets (e.g., stocks, funds, private investments, …) are gradually liquidated</a:t>
            </a:r>
          </a:p>
        </p:txBody>
      </p:sp>
      <p:sp>
        <p:nvSpPr>
          <p:cNvPr id="9" name="TextBox 8">
            <a:extLst>
              <a:ext uri="{FF2B5EF4-FFF2-40B4-BE49-F238E27FC236}">
                <a16:creationId xmlns:a16="http://schemas.microsoft.com/office/drawing/2014/main" id="{D23E1E16-E0E1-29FE-A2A2-816499CBE3B2}"/>
              </a:ext>
            </a:extLst>
          </p:cNvPr>
          <p:cNvSpPr txBox="1"/>
          <p:nvPr/>
        </p:nvSpPr>
        <p:spPr>
          <a:xfrm>
            <a:off x="4348007" y="2956880"/>
            <a:ext cx="1196898" cy="938719"/>
          </a:xfrm>
          <a:prstGeom prst="rect">
            <a:avLst/>
          </a:prstGeom>
          <a:noFill/>
        </p:spPr>
        <p:txBody>
          <a:bodyPr wrap="square" rtlCol="0">
            <a:spAutoFit/>
          </a:bodyPr>
          <a:lstStyle/>
          <a:p>
            <a:r>
              <a:rPr lang="en-GB" sz="1100"/>
              <a:t>Wealth moves into the simplest liquid accounts (i.e., bank deposits)</a:t>
            </a:r>
          </a:p>
        </p:txBody>
      </p:sp>
      <p:grpSp>
        <p:nvGrpSpPr>
          <p:cNvPr id="11" name="Down arrow">
            <a:extLst>
              <a:ext uri="{FF2B5EF4-FFF2-40B4-BE49-F238E27FC236}">
                <a16:creationId xmlns:a16="http://schemas.microsoft.com/office/drawing/2014/main" id="{0909B879-8EB9-22E8-3BC8-E0736DD06368}"/>
              </a:ext>
            </a:extLst>
          </p:cNvPr>
          <p:cNvGrpSpPr>
            <a:grpSpLocks noChangeAspect="1"/>
          </p:cNvGrpSpPr>
          <p:nvPr/>
        </p:nvGrpSpPr>
        <p:grpSpPr>
          <a:xfrm rot="5400000" flipV="1">
            <a:off x="2362547" y="3035647"/>
            <a:ext cx="307340" cy="307340"/>
            <a:chOff x="1413494" y="4670360"/>
            <a:chExt cx="442162" cy="456033"/>
          </a:xfrm>
        </p:grpSpPr>
        <p:sp>
          <p:nvSpPr>
            <p:cNvPr id="12" name="Ellipse 69">
              <a:extLst>
                <a:ext uri="{FF2B5EF4-FFF2-40B4-BE49-F238E27FC236}">
                  <a16:creationId xmlns:a16="http://schemas.microsoft.com/office/drawing/2014/main" id="{7DA5453F-02D6-6DF6-18B2-9488153FB8F3}"/>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15" name="Flèche vers la droite 45">
              <a:extLst>
                <a:ext uri="{FF2B5EF4-FFF2-40B4-BE49-F238E27FC236}">
                  <a16:creationId xmlns:a16="http://schemas.microsoft.com/office/drawing/2014/main" id="{E2989131-786C-C4CF-2393-2F40E5C57A9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grpSp>
        <p:nvGrpSpPr>
          <p:cNvPr id="16" name="Down arrow">
            <a:extLst>
              <a:ext uri="{FF2B5EF4-FFF2-40B4-BE49-F238E27FC236}">
                <a16:creationId xmlns:a16="http://schemas.microsoft.com/office/drawing/2014/main" id="{9BDE0665-A531-2082-5B6C-E9FE0B74B842}"/>
              </a:ext>
            </a:extLst>
          </p:cNvPr>
          <p:cNvGrpSpPr>
            <a:grpSpLocks noChangeAspect="1"/>
          </p:cNvGrpSpPr>
          <p:nvPr/>
        </p:nvGrpSpPr>
        <p:grpSpPr>
          <a:xfrm rot="5400000" flipV="1">
            <a:off x="3982706" y="3035647"/>
            <a:ext cx="307340" cy="307340"/>
            <a:chOff x="1413494" y="4670360"/>
            <a:chExt cx="442162" cy="456033"/>
          </a:xfrm>
        </p:grpSpPr>
        <p:sp>
          <p:nvSpPr>
            <p:cNvPr id="19" name="Ellipse 69">
              <a:extLst>
                <a:ext uri="{FF2B5EF4-FFF2-40B4-BE49-F238E27FC236}">
                  <a16:creationId xmlns:a16="http://schemas.microsoft.com/office/drawing/2014/main" id="{5AD55213-E855-54E5-6F78-0A86D0BAB46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42" name="Flèche vers la droite 45">
              <a:extLst>
                <a:ext uri="{FF2B5EF4-FFF2-40B4-BE49-F238E27FC236}">
                  <a16:creationId xmlns:a16="http://schemas.microsoft.com/office/drawing/2014/main" id="{889AD119-D52D-284F-BE7B-E6D2CC257D3B}"/>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cxnSp>
        <p:nvCxnSpPr>
          <p:cNvPr id="49" name="Straight Connector 48">
            <a:extLst>
              <a:ext uri="{FF2B5EF4-FFF2-40B4-BE49-F238E27FC236}">
                <a16:creationId xmlns:a16="http://schemas.microsoft.com/office/drawing/2014/main" id="{14C1D42D-3594-B77A-DC5C-831547E1F397}"/>
              </a:ext>
            </a:extLst>
          </p:cNvPr>
          <p:cNvCxnSpPr>
            <a:cxnSpLocks/>
          </p:cNvCxnSpPr>
          <p:nvPr/>
        </p:nvCxnSpPr>
        <p:spPr>
          <a:xfrm>
            <a:off x="358775" y="2720903"/>
            <a:ext cx="8426450"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007D5F33-E060-22C9-96A1-158115066B2D}"/>
              </a:ext>
            </a:extLst>
          </p:cNvPr>
          <p:cNvSpPr txBox="1"/>
          <p:nvPr/>
        </p:nvSpPr>
        <p:spPr>
          <a:xfrm>
            <a:off x="1107689" y="1130418"/>
            <a:ext cx="1196898" cy="1277273"/>
          </a:xfrm>
          <a:prstGeom prst="rect">
            <a:avLst/>
          </a:prstGeom>
          <a:noFill/>
        </p:spPr>
        <p:txBody>
          <a:bodyPr wrap="square" rtlCol="0">
            <a:spAutoFit/>
          </a:bodyPr>
          <a:lstStyle/>
          <a:p>
            <a:r>
              <a:rPr lang="en-GB" sz="1100"/>
              <a:t>Older households have lower risk tolerance due to shorter investment horizons</a:t>
            </a:r>
          </a:p>
        </p:txBody>
      </p:sp>
      <p:sp>
        <p:nvSpPr>
          <p:cNvPr id="53" name="TextBox 52">
            <a:extLst>
              <a:ext uri="{FF2B5EF4-FFF2-40B4-BE49-F238E27FC236}">
                <a16:creationId xmlns:a16="http://schemas.microsoft.com/office/drawing/2014/main" id="{7E566856-7BF8-9573-C9A9-83FEAC4C89CE}"/>
              </a:ext>
            </a:extLst>
          </p:cNvPr>
          <p:cNvSpPr txBox="1"/>
          <p:nvPr/>
        </p:nvSpPr>
        <p:spPr>
          <a:xfrm>
            <a:off x="2727848" y="1130418"/>
            <a:ext cx="1196898" cy="600164"/>
          </a:xfrm>
          <a:prstGeom prst="rect">
            <a:avLst/>
          </a:prstGeom>
          <a:noFill/>
        </p:spPr>
        <p:txBody>
          <a:bodyPr wrap="square" rtlCol="0">
            <a:spAutoFit/>
          </a:bodyPr>
          <a:lstStyle/>
          <a:p>
            <a:r>
              <a:rPr lang="en-GB" sz="1100"/>
              <a:t>Higher demand for safe assets as result</a:t>
            </a:r>
          </a:p>
        </p:txBody>
      </p:sp>
      <p:sp>
        <p:nvSpPr>
          <p:cNvPr id="54" name="TextBox 53">
            <a:extLst>
              <a:ext uri="{FF2B5EF4-FFF2-40B4-BE49-F238E27FC236}">
                <a16:creationId xmlns:a16="http://schemas.microsoft.com/office/drawing/2014/main" id="{C4BF5B29-E9E6-00EA-E3F9-E3E857EF7611}"/>
              </a:ext>
            </a:extLst>
          </p:cNvPr>
          <p:cNvSpPr txBox="1"/>
          <p:nvPr/>
        </p:nvSpPr>
        <p:spPr>
          <a:xfrm>
            <a:off x="5968166" y="1130418"/>
            <a:ext cx="1196898" cy="1446550"/>
          </a:xfrm>
          <a:prstGeom prst="rect">
            <a:avLst/>
          </a:prstGeom>
          <a:noFill/>
        </p:spPr>
        <p:txBody>
          <a:bodyPr wrap="square" rtlCol="0">
            <a:spAutoFit/>
          </a:bodyPr>
          <a:lstStyle/>
          <a:p>
            <a:r>
              <a:rPr lang="en-GB" sz="1100" b="1"/>
              <a:t>Bank-based: </a:t>
            </a:r>
            <a:r>
              <a:rPr lang="en-GB" sz="1100"/>
              <a:t>Safe assets = bank deposits</a:t>
            </a:r>
            <a:br>
              <a:rPr lang="en-GB" sz="1100" b="1"/>
            </a:br>
            <a:br>
              <a:rPr lang="en-GB" sz="1100" b="1"/>
            </a:br>
            <a:r>
              <a:rPr lang="en-GB" sz="1100" b="1"/>
              <a:t>Market-based: </a:t>
            </a:r>
            <a:r>
              <a:rPr lang="en-GB" sz="1100"/>
              <a:t>Safe assets = govt bonds, bond ETFS, …</a:t>
            </a:r>
          </a:p>
        </p:txBody>
      </p:sp>
      <p:sp>
        <p:nvSpPr>
          <p:cNvPr id="55" name="TextBox 54">
            <a:extLst>
              <a:ext uri="{FF2B5EF4-FFF2-40B4-BE49-F238E27FC236}">
                <a16:creationId xmlns:a16="http://schemas.microsoft.com/office/drawing/2014/main" id="{C1A713BE-348E-CE1E-0E9D-185BB46A1CB4}"/>
              </a:ext>
            </a:extLst>
          </p:cNvPr>
          <p:cNvSpPr txBox="1"/>
          <p:nvPr/>
        </p:nvSpPr>
        <p:spPr>
          <a:xfrm>
            <a:off x="4348007" y="1130418"/>
            <a:ext cx="1196898" cy="769441"/>
          </a:xfrm>
          <a:prstGeom prst="rect">
            <a:avLst/>
          </a:prstGeom>
          <a:noFill/>
        </p:spPr>
        <p:txBody>
          <a:bodyPr wrap="square" rtlCol="0">
            <a:spAutoFit/>
          </a:bodyPr>
          <a:lstStyle/>
          <a:p>
            <a:r>
              <a:rPr lang="en-GB" sz="1100"/>
              <a:t>Households rebalance portfolios toward low-risk assets</a:t>
            </a:r>
          </a:p>
        </p:txBody>
      </p:sp>
      <p:sp>
        <p:nvSpPr>
          <p:cNvPr id="56" name="TextBox 55">
            <a:extLst>
              <a:ext uri="{FF2B5EF4-FFF2-40B4-BE49-F238E27FC236}">
                <a16:creationId xmlns:a16="http://schemas.microsoft.com/office/drawing/2014/main" id="{48C4278F-2325-D9DC-39C9-BA216BE25D4E}"/>
              </a:ext>
            </a:extLst>
          </p:cNvPr>
          <p:cNvSpPr txBox="1"/>
          <p:nvPr/>
        </p:nvSpPr>
        <p:spPr>
          <a:xfrm>
            <a:off x="7588327" y="1130418"/>
            <a:ext cx="1196898" cy="1446550"/>
          </a:xfrm>
          <a:prstGeom prst="rect">
            <a:avLst/>
          </a:prstGeom>
          <a:noFill/>
        </p:spPr>
        <p:txBody>
          <a:bodyPr wrap="square" rtlCol="0">
            <a:spAutoFit/>
          </a:bodyPr>
          <a:lstStyle/>
          <a:p>
            <a:r>
              <a:rPr lang="en-US" sz="1100"/>
              <a:t>In bank-based systems: Deposits increase</a:t>
            </a:r>
            <a:br>
              <a:rPr lang="en-US" sz="1100"/>
            </a:br>
            <a:br>
              <a:rPr lang="en-US" sz="1100"/>
            </a:br>
            <a:r>
              <a:rPr lang="en-US" sz="1100"/>
              <a:t>In market-based systems: Deposits increase less or not at all</a:t>
            </a:r>
          </a:p>
        </p:txBody>
      </p:sp>
      <p:grpSp>
        <p:nvGrpSpPr>
          <p:cNvPr id="57" name="Down arrow">
            <a:extLst>
              <a:ext uri="{FF2B5EF4-FFF2-40B4-BE49-F238E27FC236}">
                <a16:creationId xmlns:a16="http://schemas.microsoft.com/office/drawing/2014/main" id="{5A86EA59-5D5D-B5FC-A0D8-5A28DDB6A4B2}"/>
              </a:ext>
            </a:extLst>
          </p:cNvPr>
          <p:cNvGrpSpPr>
            <a:grpSpLocks noChangeAspect="1"/>
          </p:cNvGrpSpPr>
          <p:nvPr/>
        </p:nvGrpSpPr>
        <p:grpSpPr>
          <a:xfrm rot="5400000" flipV="1">
            <a:off x="2362547" y="1169274"/>
            <a:ext cx="307340" cy="307340"/>
            <a:chOff x="1413494" y="4670360"/>
            <a:chExt cx="442162" cy="456033"/>
          </a:xfrm>
        </p:grpSpPr>
        <p:sp>
          <p:nvSpPr>
            <p:cNvPr id="58" name="Ellipse 69">
              <a:extLst>
                <a:ext uri="{FF2B5EF4-FFF2-40B4-BE49-F238E27FC236}">
                  <a16:creationId xmlns:a16="http://schemas.microsoft.com/office/drawing/2014/main" id="{F2BAF445-95FE-4E33-0DCD-187FD35EAC95}"/>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59" name="Flèche vers la droite 45">
              <a:extLst>
                <a:ext uri="{FF2B5EF4-FFF2-40B4-BE49-F238E27FC236}">
                  <a16:creationId xmlns:a16="http://schemas.microsoft.com/office/drawing/2014/main" id="{AB289334-6779-26C7-6B0A-9338BF4742CC}"/>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grpSp>
        <p:nvGrpSpPr>
          <p:cNvPr id="60" name="Down arrow">
            <a:extLst>
              <a:ext uri="{FF2B5EF4-FFF2-40B4-BE49-F238E27FC236}">
                <a16:creationId xmlns:a16="http://schemas.microsoft.com/office/drawing/2014/main" id="{3DC532D4-0391-E36B-7D3F-801FAF11F8BD}"/>
              </a:ext>
            </a:extLst>
          </p:cNvPr>
          <p:cNvGrpSpPr>
            <a:grpSpLocks noChangeAspect="1"/>
          </p:cNvGrpSpPr>
          <p:nvPr/>
        </p:nvGrpSpPr>
        <p:grpSpPr>
          <a:xfrm rot="5400000" flipV="1">
            <a:off x="3982706" y="1169274"/>
            <a:ext cx="307340" cy="307340"/>
            <a:chOff x="1413494" y="4670360"/>
            <a:chExt cx="442162" cy="456033"/>
          </a:xfrm>
        </p:grpSpPr>
        <p:sp>
          <p:nvSpPr>
            <p:cNvPr id="61" name="Ellipse 69">
              <a:extLst>
                <a:ext uri="{FF2B5EF4-FFF2-40B4-BE49-F238E27FC236}">
                  <a16:creationId xmlns:a16="http://schemas.microsoft.com/office/drawing/2014/main" id="{9D18EF50-C3C0-2DF9-6032-038A300EEF2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62" name="Flèche vers la droite 45">
              <a:extLst>
                <a:ext uri="{FF2B5EF4-FFF2-40B4-BE49-F238E27FC236}">
                  <a16:creationId xmlns:a16="http://schemas.microsoft.com/office/drawing/2014/main" id="{D2FF3705-3AEA-F61D-DAA1-08D57AC97176}"/>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grpSp>
        <p:nvGrpSpPr>
          <p:cNvPr id="63" name="Down arrow">
            <a:extLst>
              <a:ext uri="{FF2B5EF4-FFF2-40B4-BE49-F238E27FC236}">
                <a16:creationId xmlns:a16="http://schemas.microsoft.com/office/drawing/2014/main" id="{F3CC6FB9-5BC4-5FA8-F33F-F998433F8377}"/>
              </a:ext>
            </a:extLst>
          </p:cNvPr>
          <p:cNvGrpSpPr>
            <a:grpSpLocks noChangeAspect="1"/>
          </p:cNvGrpSpPr>
          <p:nvPr/>
        </p:nvGrpSpPr>
        <p:grpSpPr>
          <a:xfrm rot="5400000" flipV="1">
            <a:off x="5602865" y="1169274"/>
            <a:ext cx="307340" cy="307340"/>
            <a:chOff x="1413494" y="4670360"/>
            <a:chExt cx="442162" cy="456033"/>
          </a:xfrm>
        </p:grpSpPr>
        <p:sp>
          <p:nvSpPr>
            <p:cNvPr id="64" name="Ellipse 69">
              <a:extLst>
                <a:ext uri="{FF2B5EF4-FFF2-40B4-BE49-F238E27FC236}">
                  <a16:creationId xmlns:a16="http://schemas.microsoft.com/office/drawing/2014/main" id="{D3A4B153-102C-7258-267B-7CCF289F60E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65" name="Flèche vers la droite 45">
              <a:extLst>
                <a:ext uri="{FF2B5EF4-FFF2-40B4-BE49-F238E27FC236}">
                  <a16:creationId xmlns:a16="http://schemas.microsoft.com/office/drawing/2014/main" id="{7C101E6A-A18F-2405-89EB-A1B5540DB24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grpSp>
        <p:nvGrpSpPr>
          <p:cNvPr id="66" name="Down arrow">
            <a:extLst>
              <a:ext uri="{FF2B5EF4-FFF2-40B4-BE49-F238E27FC236}">
                <a16:creationId xmlns:a16="http://schemas.microsoft.com/office/drawing/2014/main" id="{C1608F51-425D-A377-AF53-A0BB78C419AA}"/>
              </a:ext>
            </a:extLst>
          </p:cNvPr>
          <p:cNvGrpSpPr>
            <a:grpSpLocks noChangeAspect="1"/>
          </p:cNvGrpSpPr>
          <p:nvPr/>
        </p:nvGrpSpPr>
        <p:grpSpPr>
          <a:xfrm rot="5400000" flipV="1">
            <a:off x="7178421" y="1169274"/>
            <a:ext cx="307340" cy="307340"/>
            <a:chOff x="1413494" y="4670360"/>
            <a:chExt cx="442162" cy="456033"/>
          </a:xfrm>
        </p:grpSpPr>
        <p:sp>
          <p:nvSpPr>
            <p:cNvPr id="67" name="Ellipse 69">
              <a:extLst>
                <a:ext uri="{FF2B5EF4-FFF2-40B4-BE49-F238E27FC236}">
                  <a16:creationId xmlns:a16="http://schemas.microsoft.com/office/drawing/2014/main" id="{1AB04E4B-C046-9C91-3AA1-23243ACD6475}"/>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sp>
          <p:nvSpPr>
            <p:cNvPr id="68" name="Flèche vers la droite 45">
              <a:extLst>
                <a:ext uri="{FF2B5EF4-FFF2-40B4-BE49-F238E27FC236}">
                  <a16:creationId xmlns:a16="http://schemas.microsoft.com/office/drawing/2014/main" id="{40F8AFDE-B2C5-5EAD-35A5-CC2D38BC6223}"/>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u="none" strike="noStrike" cap="none" normalizeH="0" baseline="0">
                <a:ln>
                  <a:noFill/>
                </a:ln>
                <a:solidFill>
                  <a:schemeClr val="accent2"/>
                </a:solidFill>
                <a:effectLst/>
                <a:latin typeface="Lato" panose="020F0502020204030203" pitchFamily="34" charset="77"/>
              </a:endParaRPr>
            </a:p>
          </p:txBody>
        </p:sp>
      </p:grpSp>
      <p:sp>
        <p:nvSpPr>
          <p:cNvPr id="6" name="Rectangle 5">
            <a:extLst>
              <a:ext uri="{FF2B5EF4-FFF2-40B4-BE49-F238E27FC236}">
                <a16:creationId xmlns:a16="http://schemas.microsoft.com/office/drawing/2014/main" id="{4090AB51-34C0-1856-C931-386C8FBE1FCF}"/>
              </a:ext>
            </a:extLst>
          </p:cNvPr>
          <p:cNvSpPr/>
          <p:nvPr/>
        </p:nvSpPr>
        <p:spPr>
          <a:xfrm>
            <a:off x="1039091" y="894442"/>
            <a:ext cx="4486939" cy="1677308"/>
          </a:xfrm>
          <a:prstGeom prst="rect">
            <a:avLst/>
          </a:prstGeom>
          <a:noFill/>
          <a:ln>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04591DB1-9876-9FA4-A868-18DC1A7C36EF}"/>
              </a:ext>
            </a:extLst>
          </p:cNvPr>
          <p:cNvSpPr txBox="1"/>
          <p:nvPr/>
        </p:nvSpPr>
        <p:spPr>
          <a:xfrm>
            <a:off x="3701492" y="872728"/>
            <a:ext cx="2017158" cy="261610"/>
          </a:xfrm>
          <a:prstGeom prst="rect">
            <a:avLst/>
          </a:prstGeom>
          <a:noFill/>
        </p:spPr>
        <p:txBody>
          <a:bodyPr wrap="square" rtlCol="0">
            <a:spAutoFit/>
          </a:bodyPr>
          <a:lstStyle/>
          <a:p>
            <a:r>
              <a:rPr lang="de-LI" sz="1100" b="1" i="1">
                <a:solidFill>
                  <a:schemeClr val="accent3"/>
                </a:solidFill>
              </a:rPr>
              <a:t>Well known from literature</a:t>
            </a:r>
            <a:endParaRPr lang="en-GB" sz="1100" b="1" i="1">
              <a:solidFill>
                <a:schemeClr val="accent3"/>
              </a:solidFill>
            </a:endParaRPr>
          </a:p>
        </p:txBody>
      </p:sp>
      <p:sp>
        <p:nvSpPr>
          <p:cNvPr id="10" name="Rectangle 9">
            <a:extLst>
              <a:ext uri="{FF2B5EF4-FFF2-40B4-BE49-F238E27FC236}">
                <a16:creationId xmlns:a16="http://schemas.microsoft.com/office/drawing/2014/main" id="{C3546FCB-8AFA-3951-2F84-979C80070FB3}"/>
              </a:ext>
            </a:extLst>
          </p:cNvPr>
          <p:cNvSpPr/>
          <p:nvPr/>
        </p:nvSpPr>
        <p:spPr>
          <a:xfrm>
            <a:off x="5977918" y="894442"/>
            <a:ext cx="2715809" cy="1677308"/>
          </a:xfrm>
          <a:prstGeom prst="rect">
            <a:avLst/>
          </a:prstGeom>
          <a:noFill/>
          <a:ln>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38B5F28E-AF1D-2AAC-687B-75C27255DBF5}"/>
              </a:ext>
            </a:extLst>
          </p:cNvPr>
          <p:cNvSpPr txBox="1"/>
          <p:nvPr/>
        </p:nvSpPr>
        <p:spPr>
          <a:xfrm>
            <a:off x="6922935" y="872728"/>
            <a:ext cx="1945812" cy="261610"/>
          </a:xfrm>
          <a:prstGeom prst="rect">
            <a:avLst/>
          </a:prstGeom>
          <a:noFill/>
        </p:spPr>
        <p:txBody>
          <a:bodyPr wrap="square" rtlCol="0">
            <a:spAutoFit/>
          </a:bodyPr>
          <a:lstStyle/>
          <a:p>
            <a:r>
              <a:rPr lang="de-LI" sz="1100" b="1" i="1">
                <a:solidFill>
                  <a:schemeClr val="accent4"/>
                </a:solidFill>
              </a:rPr>
              <a:t>Our research contribution</a:t>
            </a:r>
            <a:endParaRPr lang="en-GB" sz="1100" b="1" i="1">
              <a:solidFill>
                <a:schemeClr val="accent4"/>
              </a:solidFill>
            </a:endParaRPr>
          </a:p>
        </p:txBody>
      </p:sp>
    </p:spTree>
    <p:extLst>
      <p:ext uri="{BB962C8B-B14F-4D97-AF65-F5344CB8AC3E}">
        <p14:creationId xmlns:p14="http://schemas.microsoft.com/office/powerpoint/2010/main" val="290294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944D1-26AF-70EC-7A89-D832556C509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1C25FE5-CFE6-CF8F-0B95-FA4BC6707A1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C1C25FE5-CFE6-CF8F-0B95-FA4BC6707A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A9725D4-5EAA-D7EC-9D4E-A21F39C2A0F0}"/>
              </a:ext>
            </a:extLst>
          </p:cNvPr>
          <p:cNvSpPr>
            <a:spLocks noGrp="1"/>
          </p:cNvSpPr>
          <p:nvPr>
            <p:ph type="title"/>
          </p:nvPr>
        </p:nvSpPr>
        <p:spPr/>
        <p:txBody>
          <a:bodyPr vert="horz" rIns="0"/>
          <a:lstStyle/>
          <a:p>
            <a:r>
              <a:rPr lang="de-LI"/>
              <a:t>Academic papers supporting the theory (1/2)</a:t>
            </a:r>
          </a:p>
        </p:txBody>
      </p:sp>
      <p:sp>
        <p:nvSpPr>
          <p:cNvPr id="3" name="Slide Number Placeholder 2">
            <a:extLst>
              <a:ext uri="{FF2B5EF4-FFF2-40B4-BE49-F238E27FC236}">
                <a16:creationId xmlns:a16="http://schemas.microsoft.com/office/drawing/2014/main" id="{23263496-AE91-B5B1-C258-9199E7889928}"/>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4</a:t>
            </a:fld>
            <a:endParaRPr lang="en-GB"/>
          </a:p>
        </p:txBody>
      </p:sp>
      <p:sp>
        <p:nvSpPr>
          <p:cNvPr id="12" name="Rectangle 11">
            <a:extLst>
              <a:ext uri="{FF2B5EF4-FFF2-40B4-BE49-F238E27FC236}">
                <a16:creationId xmlns:a16="http://schemas.microsoft.com/office/drawing/2014/main" id="{0DCFCFFF-47D0-D3A4-64A4-0EABCA121B64}"/>
              </a:ext>
            </a:extLst>
          </p:cNvPr>
          <p:cNvSpPr/>
          <p:nvPr/>
        </p:nvSpPr>
        <p:spPr>
          <a:xfrm>
            <a:off x="1563107"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Household portfolios</a:t>
            </a:r>
            <a:br>
              <a:rPr lang="de-LI" sz="1100"/>
            </a:br>
            <a:r>
              <a:rPr lang="en-CH" sz="1100"/>
              <a:t>(</a:t>
            </a:r>
            <a:r>
              <a:rPr lang="de-LI" sz="1100"/>
              <a:t>Guiso et al.</a:t>
            </a:r>
            <a:r>
              <a:rPr lang="en-CH" sz="1100"/>
              <a:t>)</a:t>
            </a:r>
            <a:endParaRPr lang="en-GB" sz="1100"/>
          </a:p>
        </p:txBody>
      </p:sp>
      <p:grpSp>
        <p:nvGrpSpPr>
          <p:cNvPr id="25" name="Down arrow">
            <a:extLst>
              <a:ext uri="{FF2B5EF4-FFF2-40B4-BE49-F238E27FC236}">
                <a16:creationId xmlns:a16="http://schemas.microsoft.com/office/drawing/2014/main" id="{12161DF6-AD8F-9A58-7627-ABFB3663F2D0}"/>
              </a:ext>
            </a:extLst>
          </p:cNvPr>
          <p:cNvGrpSpPr>
            <a:grpSpLocks noChangeAspect="1"/>
          </p:cNvGrpSpPr>
          <p:nvPr/>
        </p:nvGrpSpPr>
        <p:grpSpPr>
          <a:xfrm rot="10800000" flipV="1">
            <a:off x="2203951" y="3825572"/>
            <a:ext cx="307340" cy="307340"/>
            <a:chOff x="1413494" y="4670360"/>
            <a:chExt cx="442162" cy="456033"/>
          </a:xfrm>
        </p:grpSpPr>
        <p:sp>
          <p:nvSpPr>
            <p:cNvPr id="26" name="Ellipse 69">
              <a:extLst>
                <a:ext uri="{FF2B5EF4-FFF2-40B4-BE49-F238E27FC236}">
                  <a16:creationId xmlns:a16="http://schemas.microsoft.com/office/drawing/2014/main" id="{F901888E-D77B-4629-042B-38CAC8C6580C}"/>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27" name="Flèche vers la droite 45">
              <a:extLst>
                <a:ext uri="{FF2B5EF4-FFF2-40B4-BE49-F238E27FC236}">
                  <a16:creationId xmlns:a16="http://schemas.microsoft.com/office/drawing/2014/main" id="{C5D20004-8F18-F854-D6BA-CDC14D0AA4F5}"/>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49" name="Rectangle 48">
            <a:extLst>
              <a:ext uri="{FF2B5EF4-FFF2-40B4-BE49-F238E27FC236}">
                <a16:creationId xmlns:a16="http://schemas.microsoft.com/office/drawing/2014/main" id="{715F6B14-4433-4C73-28B5-7BE4C0164DD6}"/>
              </a:ext>
            </a:extLst>
          </p:cNvPr>
          <p:cNvSpPr/>
          <p:nvPr/>
        </p:nvSpPr>
        <p:spPr>
          <a:xfrm>
            <a:off x="3440803"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100"/>
              <a:t>Life cycle model</a:t>
            </a:r>
            <a:br>
              <a:rPr lang="de-LI" sz="1100"/>
            </a:br>
            <a:r>
              <a:rPr lang="de-LI" sz="1100"/>
              <a:t>(Danziger et al.)</a:t>
            </a:r>
            <a:endParaRPr lang="en-GB" sz="1100"/>
          </a:p>
        </p:txBody>
      </p:sp>
      <p:grpSp>
        <p:nvGrpSpPr>
          <p:cNvPr id="51" name="Down arrow">
            <a:extLst>
              <a:ext uri="{FF2B5EF4-FFF2-40B4-BE49-F238E27FC236}">
                <a16:creationId xmlns:a16="http://schemas.microsoft.com/office/drawing/2014/main" id="{304C5B10-9394-4E1F-2E15-B7B4FBBC56D1}"/>
              </a:ext>
            </a:extLst>
          </p:cNvPr>
          <p:cNvGrpSpPr>
            <a:grpSpLocks noChangeAspect="1"/>
          </p:cNvGrpSpPr>
          <p:nvPr/>
        </p:nvGrpSpPr>
        <p:grpSpPr>
          <a:xfrm rot="10800000" flipV="1">
            <a:off x="4081647" y="3825572"/>
            <a:ext cx="307340" cy="307340"/>
            <a:chOff x="1413494" y="4670360"/>
            <a:chExt cx="442162" cy="456033"/>
          </a:xfrm>
        </p:grpSpPr>
        <p:sp>
          <p:nvSpPr>
            <p:cNvPr id="52" name="Ellipse 69">
              <a:extLst>
                <a:ext uri="{FF2B5EF4-FFF2-40B4-BE49-F238E27FC236}">
                  <a16:creationId xmlns:a16="http://schemas.microsoft.com/office/drawing/2014/main" id="{6FC27C4B-17BA-0822-A25F-21B8460A1C9B}"/>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3" name="Flèche vers la droite 45">
              <a:extLst>
                <a:ext uri="{FF2B5EF4-FFF2-40B4-BE49-F238E27FC236}">
                  <a16:creationId xmlns:a16="http://schemas.microsoft.com/office/drawing/2014/main" id="{E4902DD5-66B3-A909-5F5C-BA079546F452}"/>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54" name="Rectangle 53">
            <a:extLst>
              <a:ext uri="{FF2B5EF4-FFF2-40B4-BE49-F238E27FC236}">
                <a16:creationId xmlns:a16="http://schemas.microsoft.com/office/drawing/2014/main" id="{A5EF5983-FADB-BDEA-95C5-80C3188CAA90}"/>
              </a:ext>
            </a:extLst>
          </p:cNvPr>
          <p:cNvSpPr/>
          <p:nvPr/>
        </p:nvSpPr>
        <p:spPr>
          <a:xfrm>
            <a:off x="5318499"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Household Finance</a:t>
            </a:r>
            <a:br>
              <a:rPr lang="en-GB" sz="1100"/>
            </a:br>
            <a:r>
              <a:rPr lang="en-GB" sz="1100"/>
              <a:t>(Campbell)</a:t>
            </a:r>
          </a:p>
        </p:txBody>
      </p:sp>
      <p:grpSp>
        <p:nvGrpSpPr>
          <p:cNvPr id="56" name="Down arrow">
            <a:extLst>
              <a:ext uri="{FF2B5EF4-FFF2-40B4-BE49-F238E27FC236}">
                <a16:creationId xmlns:a16="http://schemas.microsoft.com/office/drawing/2014/main" id="{AEAD4985-FD3C-154E-EFA3-04DD25EA48DE}"/>
              </a:ext>
            </a:extLst>
          </p:cNvPr>
          <p:cNvGrpSpPr>
            <a:grpSpLocks noChangeAspect="1"/>
          </p:cNvGrpSpPr>
          <p:nvPr/>
        </p:nvGrpSpPr>
        <p:grpSpPr>
          <a:xfrm rot="10800000" flipV="1">
            <a:off x="5959343" y="3825572"/>
            <a:ext cx="307340" cy="307340"/>
            <a:chOff x="1413494" y="4670360"/>
            <a:chExt cx="442162" cy="456033"/>
          </a:xfrm>
        </p:grpSpPr>
        <p:sp>
          <p:nvSpPr>
            <p:cNvPr id="57" name="Ellipse 69">
              <a:extLst>
                <a:ext uri="{FF2B5EF4-FFF2-40B4-BE49-F238E27FC236}">
                  <a16:creationId xmlns:a16="http://schemas.microsoft.com/office/drawing/2014/main" id="{FC44B479-F414-C331-2B98-2E0BB1110FF7}"/>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8" name="Flèche vers la droite 45">
              <a:extLst>
                <a:ext uri="{FF2B5EF4-FFF2-40B4-BE49-F238E27FC236}">
                  <a16:creationId xmlns:a16="http://schemas.microsoft.com/office/drawing/2014/main" id="{2EEAFDE5-4421-266C-3CFB-9BBBD623AB3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63" name="Rectangle 62">
            <a:extLst>
              <a:ext uri="{FF2B5EF4-FFF2-40B4-BE49-F238E27FC236}">
                <a16:creationId xmlns:a16="http://schemas.microsoft.com/office/drawing/2014/main" id="{48F2C340-EE11-044C-81C3-C56517905165}"/>
              </a:ext>
            </a:extLst>
          </p:cNvPr>
          <p:cNvSpPr/>
          <p:nvPr/>
        </p:nvSpPr>
        <p:spPr>
          <a:xfrm>
            <a:off x="7196196"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100"/>
              <a:t>Financial systems</a:t>
            </a:r>
            <a:endParaRPr lang="en-GB" sz="1100"/>
          </a:p>
        </p:txBody>
      </p:sp>
      <p:grpSp>
        <p:nvGrpSpPr>
          <p:cNvPr id="65" name="Down arrow">
            <a:extLst>
              <a:ext uri="{FF2B5EF4-FFF2-40B4-BE49-F238E27FC236}">
                <a16:creationId xmlns:a16="http://schemas.microsoft.com/office/drawing/2014/main" id="{24DEA024-3780-1F27-B421-08F8507753F5}"/>
              </a:ext>
            </a:extLst>
          </p:cNvPr>
          <p:cNvGrpSpPr>
            <a:grpSpLocks noChangeAspect="1"/>
          </p:cNvGrpSpPr>
          <p:nvPr/>
        </p:nvGrpSpPr>
        <p:grpSpPr>
          <a:xfrm rot="10800000" flipV="1">
            <a:off x="7837040" y="3825572"/>
            <a:ext cx="307340" cy="307340"/>
            <a:chOff x="1413494" y="4670360"/>
            <a:chExt cx="442162" cy="456033"/>
          </a:xfrm>
        </p:grpSpPr>
        <p:sp>
          <p:nvSpPr>
            <p:cNvPr id="66" name="Ellipse 69">
              <a:extLst>
                <a:ext uri="{FF2B5EF4-FFF2-40B4-BE49-F238E27FC236}">
                  <a16:creationId xmlns:a16="http://schemas.microsoft.com/office/drawing/2014/main" id="{56BE5086-23E3-0A64-89C2-7784859C1428}"/>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67" name="Flèche vers la droite 45">
              <a:extLst>
                <a:ext uri="{FF2B5EF4-FFF2-40B4-BE49-F238E27FC236}">
                  <a16:creationId xmlns:a16="http://schemas.microsoft.com/office/drawing/2014/main" id="{8D68A094-335B-8623-1C63-16E6770BC04A}"/>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73" name="TextBox 72">
            <a:extLst>
              <a:ext uri="{FF2B5EF4-FFF2-40B4-BE49-F238E27FC236}">
                <a16:creationId xmlns:a16="http://schemas.microsoft.com/office/drawing/2014/main" id="{25363D27-3146-9201-6DA4-04C01BCD5E78}"/>
              </a:ext>
            </a:extLst>
          </p:cNvPr>
          <p:cNvSpPr txBox="1"/>
          <p:nvPr/>
        </p:nvSpPr>
        <p:spPr>
          <a:xfrm>
            <a:off x="358775" y="1606787"/>
            <a:ext cx="854927" cy="261610"/>
          </a:xfrm>
          <a:prstGeom prst="rect">
            <a:avLst/>
          </a:prstGeom>
          <a:noFill/>
        </p:spPr>
        <p:txBody>
          <a:bodyPr wrap="square" rtlCol="0">
            <a:spAutoFit/>
          </a:bodyPr>
          <a:lstStyle/>
          <a:p>
            <a:r>
              <a:rPr lang="en-CH" sz="1100" b="1">
                <a:solidFill>
                  <a:schemeClr val="accent1"/>
                </a:solidFill>
              </a:rPr>
              <a:t>Topic</a:t>
            </a:r>
            <a:endParaRPr lang="en-GB" sz="1100">
              <a:solidFill>
                <a:schemeClr val="accent1"/>
              </a:solidFill>
            </a:endParaRPr>
          </a:p>
        </p:txBody>
      </p:sp>
      <p:sp>
        <p:nvSpPr>
          <p:cNvPr id="74" name="TextBox 73">
            <a:extLst>
              <a:ext uri="{FF2B5EF4-FFF2-40B4-BE49-F238E27FC236}">
                <a16:creationId xmlns:a16="http://schemas.microsoft.com/office/drawing/2014/main" id="{EDA92D50-408C-D55C-DCCD-52C054E7AE5E}"/>
              </a:ext>
            </a:extLst>
          </p:cNvPr>
          <p:cNvSpPr txBox="1"/>
          <p:nvPr/>
        </p:nvSpPr>
        <p:spPr>
          <a:xfrm>
            <a:off x="1563106" y="1602517"/>
            <a:ext cx="1589027" cy="600164"/>
          </a:xfrm>
          <a:prstGeom prst="rect">
            <a:avLst/>
          </a:prstGeom>
          <a:noFill/>
        </p:spPr>
        <p:txBody>
          <a:bodyPr wrap="square" rtlCol="0">
            <a:spAutoFit/>
          </a:bodyPr>
          <a:lstStyle/>
          <a:p>
            <a:r>
              <a:rPr lang="de-LI" sz="1100"/>
              <a:t>Theoretical &amp; empirical analysis of household portfolio structure</a:t>
            </a:r>
            <a:endParaRPr lang="en-GB" sz="1100"/>
          </a:p>
        </p:txBody>
      </p:sp>
      <p:sp>
        <p:nvSpPr>
          <p:cNvPr id="75" name="TextBox 74">
            <a:extLst>
              <a:ext uri="{FF2B5EF4-FFF2-40B4-BE49-F238E27FC236}">
                <a16:creationId xmlns:a16="http://schemas.microsoft.com/office/drawing/2014/main" id="{1E2C2428-02CD-34B7-3CCF-4275AF5ED162}"/>
              </a:ext>
            </a:extLst>
          </p:cNvPr>
          <p:cNvSpPr txBox="1"/>
          <p:nvPr/>
        </p:nvSpPr>
        <p:spPr>
          <a:xfrm>
            <a:off x="358775" y="2198462"/>
            <a:ext cx="854927" cy="261610"/>
          </a:xfrm>
          <a:prstGeom prst="rect">
            <a:avLst/>
          </a:prstGeom>
          <a:noFill/>
        </p:spPr>
        <p:txBody>
          <a:bodyPr wrap="square" rtlCol="0">
            <a:spAutoFit/>
          </a:bodyPr>
          <a:lstStyle/>
          <a:p>
            <a:r>
              <a:rPr lang="en-CH" sz="1100" b="1">
                <a:solidFill>
                  <a:schemeClr val="accent1"/>
                </a:solidFill>
              </a:rPr>
              <a:t>Year</a:t>
            </a:r>
            <a:endParaRPr lang="en-GB" sz="1100">
              <a:solidFill>
                <a:schemeClr val="accent1"/>
              </a:solidFill>
            </a:endParaRPr>
          </a:p>
        </p:txBody>
      </p:sp>
      <p:sp>
        <p:nvSpPr>
          <p:cNvPr id="76" name="TextBox 75">
            <a:extLst>
              <a:ext uri="{FF2B5EF4-FFF2-40B4-BE49-F238E27FC236}">
                <a16:creationId xmlns:a16="http://schemas.microsoft.com/office/drawing/2014/main" id="{CAF98DD7-1101-7237-92A4-4AB68CE8E511}"/>
              </a:ext>
            </a:extLst>
          </p:cNvPr>
          <p:cNvSpPr txBox="1"/>
          <p:nvPr/>
        </p:nvSpPr>
        <p:spPr>
          <a:xfrm>
            <a:off x="1563106" y="2194192"/>
            <a:ext cx="1589027" cy="261610"/>
          </a:xfrm>
          <a:prstGeom prst="rect">
            <a:avLst/>
          </a:prstGeom>
          <a:noFill/>
        </p:spPr>
        <p:txBody>
          <a:bodyPr wrap="square" rtlCol="0">
            <a:spAutoFit/>
          </a:bodyPr>
          <a:lstStyle/>
          <a:p>
            <a:pPr algn="ctr"/>
            <a:r>
              <a:rPr lang="de-LI" sz="1100"/>
              <a:t>2002</a:t>
            </a:r>
            <a:endParaRPr lang="en-GB" sz="1100"/>
          </a:p>
        </p:txBody>
      </p:sp>
      <p:sp>
        <p:nvSpPr>
          <p:cNvPr id="77" name="TextBox 76">
            <a:extLst>
              <a:ext uri="{FF2B5EF4-FFF2-40B4-BE49-F238E27FC236}">
                <a16:creationId xmlns:a16="http://schemas.microsoft.com/office/drawing/2014/main" id="{D0A76AF6-8A7D-931D-539E-D4B6304A487D}"/>
              </a:ext>
            </a:extLst>
          </p:cNvPr>
          <p:cNvSpPr txBox="1"/>
          <p:nvPr/>
        </p:nvSpPr>
        <p:spPr>
          <a:xfrm>
            <a:off x="358775" y="2559209"/>
            <a:ext cx="854927" cy="261610"/>
          </a:xfrm>
          <a:prstGeom prst="rect">
            <a:avLst/>
          </a:prstGeom>
          <a:noFill/>
        </p:spPr>
        <p:txBody>
          <a:bodyPr wrap="square" rtlCol="0">
            <a:spAutoFit/>
          </a:bodyPr>
          <a:lstStyle/>
          <a:p>
            <a:r>
              <a:rPr lang="en-CH" sz="1100" b="1">
                <a:solidFill>
                  <a:schemeClr val="accent1"/>
                </a:solidFill>
              </a:rPr>
              <a:t>Journal</a:t>
            </a:r>
            <a:endParaRPr lang="en-GB" sz="1100">
              <a:solidFill>
                <a:schemeClr val="accent1"/>
              </a:solidFill>
            </a:endParaRPr>
          </a:p>
        </p:txBody>
      </p:sp>
      <p:sp>
        <p:nvSpPr>
          <p:cNvPr id="78" name="TextBox 77">
            <a:extLst>
              <a:ext uri="{FF2B5EF4-FFF2-40B4-BE49-F238E27FC236}">
                <a16:creationId xmlns:a16="http://schemas.microsoft.com/office/drawing/2014/main" id="{3C6C5725-E1B0-2744-A8D1-5050F25F5A65}"/>
              </a:ext>
            </a:extLst>
          </p:cNvPr>
          <p:cNvSpPr txBox="1"/>
          <p:nvPr/>
        </p:nvSpPr>
        <p:spPr>
          <a:xfrm>
            <a:off x="1563106" y="2554939"/>
            <a:ext cx="1589027" cy="261610"/>
          </a:xfrm>
          <a:prstGeom prst="rect">
            <a:avLst/>
          </a:prstGeom>
          <a:noFill/>
        </p:spPr>
        <p:txBody>
          <a:bodyPr wrap="square" rtlCol="0">
            <a:spAutoFit/>
          </a:bodyPr>
          <a:lstStyle/>
          <a:p>
            <a:pPr algn="ctr"/>
            <a:r>
              <a:rPr lang="de-LI" sz="1100"/>
              <a:t>Book</a:t>
            </a:r>
            <a:endParaRPr lang="en-GB" sz="1100"/>
          </a:p>
        </p:txBody>
      </p:sp>
      <p:sp>
        <p:nvSpPr>
          <p:cNvPr id="79" name="TextBox 78">
            <a:extLst>
              <a:ext uri="{FF2B5EF4-FFF2-40B4-BE49-F238E27FC236}">
                <a16:creationId xmlns:a16="http://schemas.microsoft.com/office/drawing/2014/main" id="{E3AB9748-0394-5FEC-5759-4B046ACD0CCB}"/>
              </a:ext>
            </a:extLst>
          </p:cNvPr>
          <p:cNvSpPr txBox="1"/>
          <p:nvPr/>
        </p:nvSpPr>
        <p:spPr>
          <a:xfrm>
            <a:off x="358775" y="3066157"/>
            <a:ext cx="986805" cy="261610"/>
          </a:xfrm>
          <a:prstGeom prst="rect">
            <a:avLst/>
          </a:prstGeom>
          <a:noFill/>
        </p:spPr>
        <p:txBody>
          <a:bodyPr wrap="square" rtlCol="0">
            <a:spAutoFit/>
          </a:bodyPr>
          <a:lstStyle/>
          <a:p>
            <a:r>
              <a:rPr lang="en-CH" sz="1100" b="1">
                <a:solidFill>
                  <a:schemeClr val="accent1"/>
                </a:solidFill>
              </a:rPr>
              <a:t>Key findings</a:t>
            </a:r>
            <a:endParaRPr lang="en-GB" sz="1100">
              <a:solidFill>
                <a:schemeClr val="accent1"/>
              </a:solidFill>
            </a:endParaRPr>
          </a:p>
        </p:txBody>
      </p:sp>
      <p:sp>
        <p:nvSpPr>
          <p:cNvPr id="80" name="TextBox 79">
            <a:extLst>
              <a:ext uri="{FF2B5EF4-FFF2-40B4-BE49-F238E27FC236}">
                <a16:creationId xmlns:a16="http://schemas.microsoft.com/office/drawing/2014/main" id="{A837D2E6-1C4B-571D-9381-7A8416B08FE8}"/>
              </a:ext>
            </a:extLst>
          </p:cNvPr>
          <p:cNvSpPr txBox="1"/>
          <p:nvPr/>
        </p:nvSpPr>
        <p:spPr>
          <a:xfrm>
            <a:off x="1563106" y="3061887"/>
            <a:ext cx="1589027" cy="769441"/>
          </a:xfrm>
          <a:prstGeom prst="rect">
            <a:avLst/>
          </a:prstGeom>
          <a:noFill/>
        </p:spPr>
        <p:txBody>
          <a:bodyPr wrap="square" rtlCol="0">
            <a:spAutoFit/>
          </a:bodyPr>
          <a:lstStyle/>
          <a:p>
            <a:r>
              <a:rPr lang="en-US" sz="1100"/>
              <a:t>Older households systematically shift wealth toward safe assets</a:t>
            </a:r>
            <a:endParaRPr lang="en-GB" sz="1100"/>
          </a:p>
        </p:txBody>
      </p:sp>
      <p:sp>
        <p:nvSpPr>
          <p:cNvPr id="81" name="TextBox 80">
            <a:extLst>
              <a:ext uri="{FF2B5EF4-FFF2-40B4-BE49-F238E27FC236}">
                <a16:creationId xmlns:a16="http://schemas.microsoft.com/office/drawing/2014/main" id="{F4AE7FA3-59FC-89EA-3DF6-8B37782CF097}"/>
              </a:ext>
            </a:extLst>
          </p:cNvPr>
          <p:cNvSpPr txBox="1"/>
          <p:nvPr/>
        </p:nvSpPr>
        <p:spPr>
          <a:xfrm>
            <a:off x="3440803" y="1602517"/>
            <a:ext cx="1589027" cy="600164"/>
          </a:xfrm>
          <a:prstGeom prst="rect">
            <a:avLst/>
          </a:prstGeom>
          <a:noFill/>
        </p:spPr>
        <p:txBody>
          <a:bodyPr wrap="square" rtlCol="0">
            <a:spAutoFit/>
          </a:bodyPr>
          <a:lstStyle/>
          <a:p>
            <a:r>
              <a:rPr lang="en-US" sz="1100"/>
              <a:t>Consumption Behavior of the Elderly in the Society</a:t>
            </a:r>
            <a:endParaRPr lang="en-GB" sz="1100"/>
          </a:p>
        </p:txBody>
      </p:sp>
      <p:sp>
        <p:nvSpPr>
          <p:cNvPr id="82" name="TextBox 81">
            <a:extLst>
              <a:ext uri="{FF2B5EF4-FFF2-40B4-BE49-F238E27FC236}">
                <a16:creationId xmlns:a16="http://schemas.microsoft.com/office/drawing/2014/main" id="{5472CAB2-F26B-2110-FE2B-0E41AEF65DCD}"/>
              </a:ext>
            </a:extLst>
          </p:cNvPr>
          <p:cNvSpPr txBox="1"/>
          <p:nvPr/>
        </p:nvSpPr>
        <p:spPr>
          <a:xfrm>
            <a:off x="3440803" y="2194192"/>
            <a:ext cx="1589027" cy="261610"/>
          </a:xfrm>
          <a:prstGeom prst="rect">
            <a:avLst/>
          </a:prstGeom>
          <a:noFill/>
        </p:spPr>
        <p:txBody>
          <a:bodyPr wrap="square" rtlCol="0">
            <a:spAutoFit/>
          </a:bodyPr>
          <a:lstStyle/>
          <a:p>
            <a:pPr algn="ctr"/>
            <a:r>
              <a:rPr lang="de-LI" sz="1100"/>
              <a:t>1982</a:t>
            </a:r>
            <a:endParaRPr lang="en-GB" sz="1100"/>
          </a:p>
        </p:txBody>
      </p:sp>
      <p:sp>
        <p:nvSpPr>
          <p:cNvPr id="83" name="TextBox 82">
            <a:extLst>
              <a:ext uri="{FF2B5EF4-FFF2-40B4-BE49-F238E27FC236}">
                <a16:creationId xmlns:a16="http://schemas.microsoft.com/office/drawing/2014/main" id="{13509875-AA5C-4D2B-EAB0-75AE861D005A}"/>
              </a:ext>
            </a:extLst>
          </p:cNvPr>
          <p:cNvSpPr txBox="1"/>
          <p:nvPr/>
        </p:nvSpPr>
        <p:spPr>
          <a:xfrm>
            <a:off x="3440803" y="2554939"/>
            <a:ext cx="1589027" cy="430887"/>
          </a:xfrm>
          <a:prstGeom prst="rect">
            <a:avLst/>
          </a:prstGeom>
          <a:noFill/>
        </p:spPr>
        <p:txBody>
          <a:bodyPr wrap="square" rtlCol="0">
            <a:spAutoFit/>
          </a:bodyPr>
          <a:lstStyle/>
          <a:p>
            <a:pPr algn="ctr"/>
            <a:r>
              <a:rPr lang="de-LI" sz="1100"/>
              <a:t>Journal of Post Keynesian Economics</a:t>
            </a:r>
            <a:endParaRPr lang="en-GB" sz="1100"/>
          </a:p>
        </p:txBody>
      </p:sp>
      <p:sp>
        <p:nvSpPr>
          <p:cNvPr id="84" name="TextBox 83">
            <a:extLst>
              <a:ext uri="{FF2B5EF4-FFF2-40B4-BE49-F238E27FC236}">
                <a16:creationId xmlns:a16="http://schemas.microsoft.com/office/drawing/2014/main" id="{37F5E816-BC8C-01D9-D1FB-20766C8472D0}"/>
              </a:ext>
            </a:extLst>
          </p:cNvPr>
          <p:cNvSpPr txBox="1"/>
          <p:nvPr/>
        </p:nvSpPr>
        <p:spPr>
          <a:xfrm>
            <a:off x="3440803" y="3061887"/>
            <a:ext cx="1589027" cy="430887"/>
          </a:xfrm>
          <a:prstGeom prst="rect">
            <a:avLst/>
          </a:prstGeom>
          <a:noFill/>
        </p:spPr>
        <p:txBody>
          <a:bodyPr wrap="square" rtlCol="0">
            <a:spAutoFit/>
          </a:bodyPr>
          <a:lstStyle/>
          <a:p>
            <a:r>
              <a:rPr lang="de-LI" sz="1100"/>
              <a:t>The elderly save more than the young people</a:t>
            </a:r>
            <a:endParaRPr lang="en-GB" sz="1100"/>
          </a:p>
        </p:txBody>
      </p:sp>
      <p:sp>
        <p:nvSpPr>
          <p:cNvPr id="85" name="TextBox 84">
            <a:extLst>
              <a:ext uri="{FF2B5EF4-FFF2-40B4-BE49-F238E27FC236}">
                <a16:creationId xmlns:a16="http://schemas.microsoft.com/office/drawing/2014/main" id="{141B05C5-DC2D-776E-6654-0C1E3C235C20}"/>
              </a:ext>
            </a:extLst>
          </p:cNvPr>
          <p:cNvSpPr txBox="1"/>
          <p:nvPr/>
        </p:nvSpPr>
        <p:spPr>
          <a:xfrm>
            <a:off x="5318501" y="1602517"/>
            <a:ext cx="1589027" cy="600164"/>
          </a:xfrm>
          <a:prstGeom prst="rect">
            <a:avLst/>
          </a:prstGeom>
          <a:noFill/>
        </p:spPr>
        <p:txBody>
          <a:bodyPr wrap="square" rtlCol="0">
            <a:spAutoFit/>
          </a:bodyPr>
          <a:lstStyle/>
          <a:p>
            <a:r>
              <a:rPr lang="de-LI" sz="1100"/>
              <a:t>Theoretical &amp; empirical analysis of household portfolio structure</a:t>
            </a:r>
            <a:endParaRPr lang="en-GB" sz="1100"/>
          </a:p>
        </p:txBody>
      </p:sp>
      <p:sp>
        <p:nvSpPr>
          <p:cNvPr id="86" name="TextBox 85">
            <a:extLst>
              <a:ext uri="{FF2B5EF4-FFF2-40B4-BE49-F238E27FC236}">
                <a16:creationId xmlns:a16="http://schemas.microsoft.com/office/drawing/2014/main" id="{06898A07-16C5-3E1B-B015-6E3090D5EEAC}"/>
              </a:ext>
            </a:extLst>
          </p:cNvPr>
          <p:cNvSpPr txBox="1"/>
          <p:nvPr/>
        </p:nvSpPr>
        <p:spPr>
          <a:xfrm>
            <a:off x="5318501" y="2194192"/>
            <a:ext cx="1589027" cy="261610"/>
          </a:xfrm>
          <a:prstGeom prst="rect">
            <a:avLst/>
          </a:prstGeom>
          <a:noFill/>
        </p:spPr>
        <p:txBody>
          <a:bodyPr wrap="square" rtlCol="0">
            <a:spAutoFit/>
          </a:bodyPr>
          <a:lstStyle/>
          <a:p>
            <a:pPr algn="ctr"/>
            <a:r>
              <a:rPr lang="de-LI" sz="1100"/>
              <a:t>2006</a:t>
            </a:r>
            <a:endParaRPr lang="en-GB" sz="1100"/>
          </a:p>
        </p:txBody>
      </p:sp>
      <p:sp>
        <p:nvSpPr>
          <p:cNvPr id="87" name="TextBox 86">
            <a:extLst>
              <a:ext uri="{FF2B5EF4-FFF2-40B4-BE49-F238E27FC236}">
                <a16:creationId xmlns:a16="http://schemas.microsoft.com/office/drawing/2014/main" id="{5CCF5E12-E41E-352E-DEC9-FA524572F44F}"/>
              </a:ext>
            </a:extLst>
          </p:cNvPr>
          <p:cNvSpPr txBox="1"/>
          <p:nvPr/>
        </p:nvSpPr>
        <p:spPr>
          <a:xfrm>
            <a:off x="5318501" y="2554939"/>
            <a:ext cx="1589027" cy="261610"/>
          </a:xfrm>
          <a:prstGeom prst="rect">
            <a:avLst/>
          </a:prstGeom>
          <a:noFill/>
        </p:spPr>
        <p:txBody>
          <a:bodyPr wrap="square" rtlCol="0">
            <a:spAutoFit/>
          </a:bodyPr>
          <a:lstStyle/>
          <a:p>
            <a:pPr algn="ctr"/>
            <a:r>
              <a:rPr lang="de-LI" sz="1100"/>
              <a:t>Journal of Finance</a:t>
            </a:r>
            <a:endParaRPr lang="en-GB" sz="1100"/>
          </a:p>
        </p:txBody>
      </p:sp>
      <p:sp>
        <p:nvSpPr>
          <p:cNvPr id="88" name="TextBox 87">
            <a:extLst>
              <a:ext uri="{FF2B5EF4-FFF2-40B4-BE49-F238E27FC236}">
                <a16:creationId xmlns:a16="http://schemas.microsoft.com/office/drawing/2014/main" id="{9F24CE6A-2884-6E49-19CE-76B263657C0A}"/>
              </a:ext>
            </a:extLst>
          </p:cNvPr>
          <p:cNvSpPr txBox="1"/>
          <p:nvPr/>
        </p:nvSpPr>
        <p:spPr>
          <a:xfrm>
            <a:off x="5318501" y="3061887"/>
            <a:ext cx="1589027" cy="769441"/>
          </a:xfrm>
          <a:prstGeom prst="rect">
            <a:avLst/>
          </a:prstGeom>
          <a:noFill/>
        </p:spPr>
        <p:txBody>
          <a:bodyPr wrap="square" rtlCol="0">
            <a:spAutoFit/>
          </a:bodyPr>
          <a:lstStyle/>
          <a:p>
            <a:r>
              <a:rPr lang="en-US" sz="1100"/>
              <a:t>Older households allocate a larger share of their portfolios to safe and liquid assets</a:t>
            </a:r>
            <a:endParaRPr lang="en-GB" sz="1100"/>
          </a:p>
        </p:txBody>
      </p:sp>
      <p:sp>
        <p:nvSpPr>
          <p:cNvPr id="89" name="TextBox 88">
            <a:extLst>
              <a:ext uri="{FF2B5EF4-FFF2-40B4-BE49-F238E27FC236}">
                <a16:creationId xmlns:a16="http://schemas.microsoft.com/office/drawing/2014/main" id="{47383F7E-A9A6-C4E6-969C-7A97863245A0}"/>
              </a:ext>
            </a:extLst>
          </p:cNvPr>
          <p:cNvSpPr txBox="1"/>
          <p:nvPr/>
        </p:nvSpPr>
        <p:spPr>
          <a:xfrm>
            <a:off x="7196198" y="1602517"/>
            <a:ext cx="1589027" cy="430887"/>
          </a:xfrm>
          <a:prstGeom prst="rect">
            <a:avLst/>
          </a:prstGeom>
          <a:noFill/>
        </p:spPr>
        <p:txBody>
          <a:bodyPr wrap="square" rtlCol="0">
            <a:spAutoFit/>
          </a:bodyPr>
          <a:lstStyle/>
          <a:p>
            <a:r>
              <a:rPr lang="en-CH" sz="1100"/>
              <a:t>Bank-based vs. market-based financial systems</a:t>
            </a:r>
            <a:endParaRPr lang="en-GB" sz="1100"/>
          </a:p>
        </p:txBody>
      </p:sp>
      <p:sp>
        <p:nvSpPr>
          <p:cNvPr id="90" name="TextBox 89">
            <a:extLst>
              <a:ext uri="{FF2B5EF4-FFF2-40B4-BE49-F238E27FC236}">
                <a16:creationId xmlns:a16="http://schemas.microsoft.com/office/drawing/2014/main" id="{FB90F80D-D1FA-2493-8FAA-C61F8EE2ACB0}"/>
              </a:ext>
            </a:extLst>
          </p:cNvPr>
          <p:cNvSpPr txBox="1"/>
          <p:nvPr/>
        </p:nvSpPr>
        <p:spPr>
          <a:xfrm>
            <a:off x="7196198" y="2194192"/>
            <a:ext cx="1589027" cy="261610"/>
          </a:xfrm>
          <a:prstGeom prst="rect">
            <a:avLst/>
          </a:prstGeom>
          <a:noFill/>
        </p:spPr>
        <p:txBody>
          <a:bodyPr wrap="square" rtlCol="0">
            <a:spAutoFit/>
          </a:bodyPr>
          <a:lstStyle/>
          <a:p>
            <a:pPr algn="ctr"/>
            <a:r>
              <a:rPr lang="en-CH" sz="1100"/>
              <a:t>2002</a:t>
            </a:r>
            <a:endParaRPr lang="en-GB" sz="1100"/>
          </a:p>
        </p:txBody>
      </p:sp>
      <p:sp>
        <p:nvSpPr>
          <p:cNvPr id="91" name="TextBox 90">
            <a:extLst>
              <a:ext uri="{FF2B5EF4-FFF2-40B4-BE49-F238E27FC236}">
                <a16:creationId xmlns:a16="http://schemas.microsoft.com/office/drawing/2014/main" id="{7A8120EB-D08E-B326-6D0A-FB396D852EDC}"/>
              </a:ext>
            </a:extLst>
          </p:cNvPr>
          <p:cNvSpPr txBox="1"/>
          <p:nvPr/>
        </p:nvSpPr>
        <p:spPr>
          <a:xfrm>
            <a:off x="7196198" y="2554939"/>
            <a:ext cx="1589027" cy="430887"/>
          </a:xfrm>
          <a:prstGeom prst="rect">
            <a:avLst/>
          </a:prstGeom>
          <a:noFill/>
        </p:spPr>
        <p:txBody>
          <a:bodyPr wrap="square" rtlCol="0">
            <a:spAutoFit/>
          </a:bodyPr>
          <a:lstStyle/>
          <a:p>
            <a:pPr algn="ctr"/>
            <a:r>
              <a:rPr lang="en-CH" sz="1100"/>
              <a:t>Journal of Financial Intermediation </a:t>
            </a:r>
            <a:endParaRPr lang="en-GB" sz="1100"/>
          </a:p>
        </p:txBody>
      </p:sp>
      <p:sp>
        <p:nvSpPr>
          <p:cNvPr id="92" name="TextBox 91">
            <a:extLst>
              <a:ext uri="{FF2B5EF4-FFF2-40B4-BE49-F238E27FC236}">
                <a16:creationId xmlns:a16="http://schemas.microsoft.com/office/drawing/2014/main" id="{99391502-4DA6-2653-556D-13C80754FF2F}"/>
              </a:ext>
            </a:extLst>
          </p:cNvPr>
          <p:cNvSpPr txBox="1"/>
          <p:nvPr/>
        </p:nvSpPr>
        <p:spPr>
          <a:xfrm>
            <a:off x="7196198" y="3061887"/>
            <a:ext cx="1589027" cy="430887"/>
          </a:xfrm>
          <a:prstGeom prst="rect">
            <a:avLst/>
          </a:prstGeom>
          <a:noFill/>
        </p:spPr>
        <p:txBody>
          <a:bodyPr wrap="square" rtlCol="0">
            <a:spAutoFit/>
          </a:bodyPr>
          <a:lstStyle/>
          <a:p>
            <a:r>
              <a:rPr lang="en-CH" sz="1100"/>
              <a:t>No system is superior for economic growth</a:t>
            </a:r>
            <a:endParaRPr lang="en-GB" sz="1100"/>
          </a:p>
        </p:txBody>
      </p:sp>
      <p:sp>
        <p:nvSpPr>
          <p:cNvPr id="93" name="TextBox 92">
            <a:extLst>
              <a:ext uri="{FF2B5EF4-FFF2-40B4-BE49-F238E27FC236}">
                <a16:creationId xmlns:a16="http://schemas.microsoft.com/office/drawing/2014/main" id="{C0B2F91A-9CFC-7B41-F35A-A5297FEE90EB}"/>
              </a:ext>
            </a:extLst>
          </p:cNvPr>
          <p:cNvSpPr txBox="1"/>
          <p:nvPr/>
        </p:nvSpPr>
        <p:spPr>
          <a:xfrm>
            <a:off x="1563106" y="4175588"/>
            <a:ext cx="1589027" cy="430887"/>
          </a:xfrm>
          <a:prstGeom prst="rect">
            <a:avLst/>
          </a:prstGeom>
          <a:noFill/>
        </p:spPr>
        <p:txBody>
          <a:bodyPr wrap="square" rtlCol="0">
            <a:spAutoFit/>
          </a:bodyPr>
          <a:lstStyle/>
          <a:p>
            <a:pPr algn="ctr"/>
            <a:r>
              <a:rPr lang="en-US" sz="1100" i="1"/>
              <a:t>Supports H1 on broad level</a:t>
            </a:r>
            <a:endParaRPr lang="en-GB" sz="1100" i="1"/>
          </a:p>
        </p:txBody>
      </p:sp>
      <p:sp>
        <p:nvSpPr>
          <p:cNvPr id="94" name="TextBox 93">
            <a:extLst>
              <a:ext uri="{FF2B5EF4-FFF2-40B4-BE49-F238E27FC236}">
                <a16:creationId xmlns:a16="http://schemas.microsoft.com/office/drawing/2014/main" id="{75003AED-6EAA-4CB7-3545-1A1FA88B03C8}"/>
              </a:ext>
            </a:extLst>
          </p:cNvPr>
          <p:cNvSpPr txBox="1"/>
          <p:nvPr/>
        </p:nvSpPr>
        <p:spPr>
          <a:xfrm>
            <a:off x="3440803" y="4175588"/>
            <a:ext cx="1589027" cy="430887"/>
          </a:xfrm>
          <a:prstGeom prst="rect">
            <a:avLst/>
          </a:prstGeom>
          <a:noFill/>
        </p:spPr>
        <p:txBody>
          <a:bodyPr wrap="square" rtlCol="0">
            <a:spAutoFit/>
          </a:bodyPr>
          <a:lstStyle/>
          <a:p>
            <a:pPr algn="ctr"/>
            <a:r>
              <a:rPr lang="de-LI" sz="1100" i="1"/>
              <a:t>Supports H1 specifically, indicates support for H2</a:t>
            </a:r>
            <a:endParaRPr lang="en-GB" sz="1100" i="1"/>
          </a:p>
        </p:txBody>
      </p:sp>
      <p:sp>
        <p:nvSpPr>
          <p:cNvPr id="95" name="TextBox 94">
            <a:extLst>
              <a:ext uri="{FF2B5EF4-FFF2-40B4-BE49-F238E27FC236}">
                <a16:creationId xmlns:a16="http://schemas.microsoft.com/office/drawing/2014/main" id="{B2B73729-5818-F181-5899-1D9C1750E5FB}"/>
              </a:ext>
            </a:extLst>
          </p:cNvPr>
          <p:cNvSpPr txBox="1"/>
          <p:nvPr/>
        </p:nvSpPr>
        <p:spPr>
          <a:xfrm>
            <a:off x="5318501" y="4175588"/>
            <a:ext cx="1589027" cy="261610"/>
          </a:xfrm>
          <a:prstGeom prst="rect">
            <a:avLst/>
          </a:prstGeom>
          <a:noFill/>
        </p:spPr>
        <p:txBody>
          <a:bodyPr wrap="square" rtlCol="0">
            <a:spAutoFit/>
          </a:bodyPr>
          <a:lstStyle/>
          <a:p>
            <a:pPr algn="ctr"/>
            <a:r>
              <a:rPr lang="de-LI" sz="1100" i="1"/>
              <a:t>Mainly supports H1</a:t>
            </a:r>
            <a:endParaRPr lang="en-GB" sz="1100" i="1"/>
          </a:p>
        </p:txBody>
      </p:sp>
      <p:sp>
        <p:nvSpPr>
          <p:cNvPr id="96" name="TextBox 95">
            <a:extLst>
              <a:ext uri="{FF2B5EF4-FFF2-40B4-BE49-F238E27FC236}">
                <a16:creationId xmlns:a16="http://schemas.microsoft.com/office/drawing/2014/main" id="{F5B2220A-144A-C059-A8E7-7F54C49DDCF9}"/>
              </a:ext>
            </a:extLst>
          </p:cNvPr>
          <p:cNvSpPr txBox="1"/>
          <p:nvPr/>
        </p:nvSpPr>
        <p:spPr>
          <a:xfrm>
            <a:off x="7196198" y="4175588"/>
            <a:ext cx="1589027" cy="430887"/>
          </a:xfrm>
          <a:prstGeom prst="rect">
            <a:avLst/>
          </a:prstGeom>
          <a:noFill/>
        </p:spPr>
        <p:txBody>
          <a:bodyPr wrap="square" rtlCol="0">
            <a:spAutoFit/>
          </a:bodyPr>
          <a:lstStyle/>
          <a:p>
            <a:pPr algn="ctr"/>
            <a:r>
              <a:rPr lang="de-LI" sz="1100" i="1"/>
              <a:t>Helps to distinguish between systems (H1)</a:t>
            </a:r>
            <a:endParaRPr lang="en-GB" sz="1100" i="1"/>
          </a:p>
        </p:txBody>
      </p:sp>
    </p:spTree>
    <p:extLst>
      <p:ext uri="{BB962C8B-B14F-4D97-AF65-F5344CB8AC3E}">
        <p14:creationId xmlns:p14="http://schemas.microsoft.com/office/powerpoint/2010/main" val="1807499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63C01-342F-9778-119E-E19121BB838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C19A380-5C06-085B-90DC-C07677727E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8C19A380-5C06-085B-90DC-C07677727E1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11EE040-4F40-DC93-5A48-49AEB3EC66EE}"/>
              </a:ext>
            </a:extLst>
          </p:cNvPr>
          <p:cNvSpPr>
            <a:spLocks noGrp="1"/>
          </p:cNvSpPr>
          <p:nvPr>
            <p:ph type="title"/>
          </p:nvPr>
        </p:nvSpPr>
        <p:spPr/>
        <p:txBody>
          <a:bodyPr vert="horz" rIns="0"/>
          <a:lstStyle/>
          <a:p>
            <a:r>
              <a:rPr lang="de-LI"/>
              <a:t>Academic papers supporting the theory (2/2)</a:t>
            </a:r>
          </a:p>
        </p:txBody>
      </p:sp>
      <p:sp>
        <p:nvSpPr>
          <p:cNvPr id="3" name="Slide Number Placeholder 2">
            <a:extLst>
              <a:ext uri="{FF2B5EF4-FFF2-40B4-BE49-F238E27FC236}">
                <a16:creationId xmlns:a16="http://schemas.microsoft.com/office/drawing/2014/main" id="{F3C47F98-630E-4EE3-6D32-5601E23773CF}"/>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5</a:t>
            </a:fld>
            <a:endParaRPr lang="en-GB"/>
          </a:p>
        </p:txBody>
      </p:sp>
      <p:sp>
        <p:nvSpPr>
          <p:cNvPr id="12" name="Rectangle 11">
            <a:extLst>
              <a:ext uri="{FF2B5EF4-FFF2-40B4-BE49-F238E27FC236}">
                <a16:creationId xmlns:a16="http://schemas.microsoft.com/office/drawing/2014/main" id="{452612F6-2542-BDCF-B52B-5E847EC2D6A2}"/>
              </a:ext>
            </a:extLst>
          </p:cNvPr>
          <p:cNvSpPr/>
          <p:nvPr/>
        </p:nvSpPr>
        <p:spPr>
          <a:xfrm>
            <a:off x="1563107"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Population ageing &amp; bank risk taking</a:t>
            </a:r>
            <a:br>
              <a:rPr lang="de-LI" sz="1100"/>
            </a:br>
            <a:r>
              <a:rPr lang="de-LI" sz="1100"/>
              <a:t>(Doerr et al.)</a:t>
            </a:r>
            <a:endParaRPr lang="en-GB" sz="1100"/>
          </a:p>
        </p:txBody>
      </p:sp>
      <p:grpSp>
        <p:nvGrpSpPr>
          <p:cNvPr id="25" name="Down arrow">
            <a:extLst>
              <a:ext uri="{FF2B5EF4-FFF2-40B4-BE49-F238E27FC236}">
                <a16:creationId xmlns:a16="http://schemas.microsoft.com/office/drawing/2014/main" id="{067F3BC2-457D-46EE-CC28-119F9439FC44}"/>
              </a:ext>
            </a:extLst>
          </p:cNvPr>
          <p:cNvGrpSpPr>
            <a:grpSpLocks noChangeAspect="1"/>
          </p:cNvGrpSpPr>
          <p:nvPr/>
        </p:nvGrpSpPr>
        <p:grpSpPr>
          <a:xfrm rot="10800000" flipV="1">
            <a:off x="2203951" y="3825572"/>
            <a:ext cx="307340" cy="307340"/>
            <a:chOff x="1413494" y="4670360"/>
            <a:chExt cx="442162" cy="456033"/>
          </a:xfrm>
        </p:grpSpPr>
        <p:sp>
          <p:nvSpPr>
            <p:cNvPr id="26" name="Ellipse 69">
              <a:extLst>
                <a:ext uri="{FF2B5EF4-FFF2-40B4-BE49-F238E27FC236}">
                  <a16:creationId xmlns:a16="http://schemas.microsoft.com/office/drawing/2014/main" id="{DD20CCDA-0ED1-DE18-0D54-8763A16EDFC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27" name="Flèche vers la droite 45">
              <a:extLst>
                <a:ext uri="{FF2B5EF4-FFF2-40B4-BE49-F238E27FC236}">
                  <a16:creationId xmlns:a16="http://schemas.microsoft.com/office/drawing/2014/main" id="{6334DF22-AD7C-B8F9-B479-DB8DF309E2CC}"/>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49" name="Rectangle 48">
            <a:extLst>
              <a:ext uri="{FF2B5EF4-FFF2-40B4-BE49-F238E27FC236}">
                <a16:creationId xmlns:a16="http://schemas.microsoft.com/office/drawing/2014/main" id="{6CAA2D51-9DD1-ACF2-79E7-FDD1575AD2D7}"/>
              </a:ext>
            </a:extLst>
          </p:cNvPr>
          <p:cNvSpPr/>
          <p:nvPr/>
        </p:nvSpPr>
        <p:spPr>
          <a:xfrm>
            <a:off x="3440803"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Banking on demography</a:t>
            </a:r>
            <a:br>
              <a:rPr lang="de-LI" sz="1100"/>
            </a:br>
            <a:r>
              <a:rPr lang="de-LI" sz="1100"/>
              <a:t>(Doerr &amp; Kabas)</a:t>
            </a:r>
            <a:endParaRPr lang="en-GB" sz="1100"/>
          </a:p>
        </p:txBody>
      </p:sp>
      <p:grpSp>
        <p:nvGrpSpPr>
          <p:cNvPr id="51" name="Down arrow">
            <a:extLst>
              <a:ext uri="{FF2B5EF4-FFF2-40B4-BE49-F238E27FC236}">
                <a16:creationId xmlns:a16="http://schemas.microsoft.com/office/drawing/2014/main" id="{098F8DAD-BC8D-67D6-4F3F-DD900A2A9C9B}"/>
              </a:ext>
            </a:extLst>
          </p:cNvPr>
          <p:cNvGrpSpPr>
            <a:grpSpLocks noChangeAspect="1"/>
          </p:cNvGrpSpPr>
          <p:nvPr/>
        </p:nvGrpSpPr>
        <p:grpSpPr>
          <a:xfrm rot="10800000" flipV="1">
            <a:off x="4081647" y="3825572"/>
            <a:ext cx="307340" cy="307340"/>
            <a:chOff x="1413494" y="4670360"/>
            <a:chExt cx="442162" cy="456033"/>
          </a:xfrm>
        </p:grpSpPr>
        <p:sp>
          <p:nvSpPr>
            <p:cNvPr id="52" name="Ellipse 69">
              <a:extLst>
                <a:ext uri="{FF2B5EF4-FFF2-40B4-BE49-F238E27FC236}">
                  <a16:creationId xmlns:a16="http://schemas.microsoft.com/office/drawing/2014/main" id="{652D05E1-D80D-EC0C-F447-B31AA4432C8A}"/>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3" name="Flèche vers la droite 45">
              <a:extLst>
                <a:ext uri="{FF2B5EF4-FFF2-40B4-BE49-F238E27FC236}">
                  <a16:creationId xmlns:a16="http://schemas.microsoft.com/office/drawing/2014/main" id="{C8C0A881-ADB2-7099-C4C0-6BFA181B1BAD}"/>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54" name="Rectangle 53">
            <a:extLst>
              <a:ext uri="{FF2B5EF4-FFF2-40B4-BE49-F238E27FC236}">
                <a16:creationId xmlns:a16="http://schemas.microsoft.com/office/drawing/2014/main" id="{1BA75A29-D528-587A-1B2E-384C33ED805B}"/>
              </a:ext>
            </a:extLst>
          </p:cNvPr>
          <p:cNvSpPr/>
          <p:nvPr/>
        </p:nvSpPr>
        <p:spPr>
          <a:xfrm>
            <a:off x="5318499"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Demographics &amp; structure of bank BS</a:t>
            </a:r>
            <a:br>
              <a:rPr lang="en-GB" sz="1100"/>
            </a:br>
            <a:r>
              <a:rPr lang="en-GB" sz="1100"/>
              <a:t>(Avramidis &amp; Pennacchi)</a:t>
            </a:r>
          </a:p>
        </p:txBody>
      </p:sp>
      <p:grpSp>
        <p:nvGrpSpPr>
          <p:cNvPr id="56" name="Down arrow">
            <a:extLst>
              <a:ext uri="{FF2B5EF4-FFF2-40B4-BE49-F238E27FC236}">
                <a16:creationId xmlns:a16="http://schemas.microsoft.com/office/drawing/2014/main" id="{9E09EE23-7667-5AEE-AE97-50FD810AC8FF}"/>
              </a:ext>
            </a:extLst>
          </p:cNvPr>
          <p:cNvGrpSpPr>
            <a:grpSpLocks noChangeAspect="1"/>
          </p:cNvGrpSpPr>
          <p:nvPr/>
        </p:nvGrpSpPr>
        <p:grpSpPr>
          <a:xfrm rot="10800000" flipV="1">
            <a:off x="5959343" y="3825572"/>
            <a:ext cx="307340" cy="307340"/>
            <a:chOff x="1413494" y="4670360"/>
            <a:chExt cx="442162" cy="456033"/>
          </a:xfrm>
        </p:grpSpPr>
        <p:sp>
          <p:nvSpPr>
            <p:cNvPr id="57" name="Ellipse 69">
              <a:extLst>
                <a:ext uri="{FF2B5EF4-FFF2-40B4-BE49-F238E27FC236}">
                  <a16:creationId xmlns:a16="http://schemas.microsoft.com/office/drawing/2014/main" id="{E6EE182A-D72C-FB3F-DE6C-B747613CD8C1}"/>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8" name="Flèche vers la droite 45">
              <a:extLst>
                <a:ext uri="{FF2B5EF4-FFF2-40B4-BE49-F238E27FC236}">
                  <a16:creationId xmlns:a16="http://schemas.microsoft.com/office/drawing/2014/main" id="{19A8F4F4-B6BE-4D37-8545-E4842326933D}"/>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63" name="Rectangle 62">
            <a:extLst>
              <a:ext uri="{FF2B5EF4-FFF2-40B4-BE49-F238E27FC236}">
                <a16:creationId xmlns:a16="http://schemas.microsoft.com/office/drawing/2014/main" id="{7CD9DB22-53D1-75D9-231F-950F98E5F1F2}"/>
              </a:ext>
            </a:extLst>
          </p:cNvPr>
          <p:cNvSpPr/>
          <p:nvPr/>
        </p:nvSpPr>
        <p:spPr>
          <a:xfrm>
            <a:off x="7196196"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Bank-based system growth</a:t>
            </a:r>
            <a:br>
              <a:rPr lang="de-LI" sz="1100"/>
            </a:br>
            <a:r>
              <a:rPr lang="de-LI" sz="1100"/>
              <a:t>(Beck et al.)</a:t>
            </a:r>
            <a:endParaRPr lang="en-GB" sz="1100"/>
          </a:p>
        </p:txBody>
      </p:sp>
      <p:grpSp>
        <p:nvGrpSpPr>
          <p:cNvPr id="65" name="Down arrow">
            <a:extLst>
              <a:ext uri="{FF2B5EF4-FFF2-40B4-BE49-F238E27FC236}">
                <a16:creationId xmlns:a16="http://schemas.microsoft.com/office/drawing/2014/main" id="{F9778E33-6B6C-16EC-563B-F6CBB403E056}"/>
              </a:ext>
            </a:extLst>
          </p:cNvPr>
          <p:cNvGrpSpPr>
            <a:grpSpLocks noChangeAspect="1"/>
          </p:cNvGrpSpPr>
          <p:nvPr/>
        </p:nvGrpSpPr>
        <p:grpSpPr>
          <a:xfrm rot="10800000" flipV="1">
            <a:off x="7837040" y="3825572"/>
            <a:ext cx="307340" cy="307340"/>
            <a:chOff x="1413494" y="4670360"/>
            <a:chExt cx="442162" cy="456033"/>
          </a:xfrm>
        </p:grpSpPr>
        <p:sp>
          <p:nvSpPr>
            <p:cNvPr id="66" name="Ellipse 69">
              <a:extLst>
                <a:ext uri="{FF2B5EF4-FFF2-40B4-BE49-F238E27FC236}">
                  <a16:creationId xmlns:a16="http://schemas.microsoft.com/office/drawing/2014/main" id="{F08AF08D-2C24-D601-A5D7-84F25EED1356}"/>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67" name="Flèche vers la droite 45">
              <a:extLst>
                <a:ext uri="{FF2B5EF4-FFF2-40B4-BE49-F238E27FC236}">
                  <a16:creationId xmlns:a16="http://schemas.microsoft.com/office/drawing/2014/main" id="{29E66249-7A75-0C26-C857-6B540339D76A}"/>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73" name="TextBox 72">
            <a:extLst>
              <a:ext uri="{FF2B5EF4-FFF2-40B4-BE49-F238E27FC236}">
                <a16:creationId xmlns:a16="http://schemas.microsoft.com/office/drawing/2014/main" id="{EC71A7E1-5415-5251-47FB-EC4FCEE8C118}"/>
              </a:ext>
            </a:extLst>
          </p:cNvPr>
          <p:cNvSpPr txBox="1"/>
          <p:nvPr/>
        </p:nvSpPr>
        <p:spPr>
          <a:xfrm>
            <a:off x="358775" y="1606787"/>
            <a:ext cx="854927" cy="261610"/>
          </a:xfrm>
          <a:prstGeom prst="rect">
            <a:avLst/>
          </a:prstGeom>
          <a:noFill/>
        </p:spPr>
        <p:txBody>
          <a:bodyPr wrap="square" rtlCol="0">
            <a:spAutoFit/>
          </a:bodyPr>
          <a:lstStyle/>
          <a:p>
            <a:r>
              <a:rPr lang="en-CH" sz="1100" b="1">
                <a:solidFill>
                  <a:schemeClr val="accent1"/>
                </a:solidFill>
              </a:rPr>
              <a:t>Topic</a:t>
            </a:r>
            <a:endParaRPr lang="en-GB" sz="1100">
              <a:solidFill>
                <a:schemeClr val="accent1"/>
              </a:solidFill>
            </a:endParaRPr>
          </a:p>
        </p:txBody>
      </p:sp>
      <p:sp>
        <p:nvSpPr>
          <p:cNvPr id="74" name="TextBox 73">
            <a:extLst>
              <a:ext uri="{FF2B5EF4-FFF2-40B4-BE49-F238E27FC236}">
                <a16:creationId xmlns:a16="http://schemas.microsoft.com/office/drawing/2014/main" id="{FAE23196-8E77-1F8D-3C8A-E9188314749F}"/>
              </a:ext>
            </a:extLst>
          </p:cNvPr>
          <p:cNvSpPr txBox="1"/>
          <p:nvPr/>
        </p:nvSpPr>
        <p:spPr>
          <a:xfrm>
            <a:off x="1563106" y="1602517"/>
            <a:ext cx="1589027" cy="600164"/>
          </a:xfrm>
          <a:prstGeom prst="rect">
            <a:avLst/>
          </a:prstGeom>
          <a:noFill/>
        </p:spPr>
        <p:txBody>
          <a:bodyPr wrap="square" rtlCol="0">
            <a:spAutoFit/>
          </a:bodyPr>
          <a:lstStyle/>
          <a:p>
            <a:r>
              <a:rPr lang="en-US" sz="1100"/>
              <a:t>What are the impl. of an aging population for financial stability?</a:t>
            </a:r>
            <a:endParaRPr lang="en-GB" sz="1100"/>
          </a:p>
        </p:txBody>
      </p:sp>
      <p:sp>
        <p:nvSpPr>
          <p:cNvPr id="75" name="TextBox 74">
            <a:extLst>
              <a:ext uri="{FF2B5EF4-FFF2-40B4-BE49-F238E27FC236}">
                <a16:creationId xmlns:a16="http://schemas.microsoft.com/office/drawing/2014/main" id="{D5912DBB-A65B-0EA4-24E0-3D5429B818EB}"/>
              </a:ext>
            </a:extLst>
          </p:cNvPr>
          <p:cNvSpPr txBox="1"/>
          <p:nvPr/>
        </p:nvSpPr>
        <p:spPr>
          <a:xfrm>
            <a:off x="358775" y="2198462"/>
            <a:ext cx="854927" cy="261610"/>
          </a:xfrm>
          <a:prstGeom prst="rect">
            <a:avLst/>
          </a:prstGeom>
          <a:noFill/>
        </p:spPr>
        <p:txBody>
          <a:bodyPr wrap="square" rtlCol="0">
            <a:spAutoFit/>
          </a:bodyPr>
          <a:lstStyle/>
          <a:p>
            <a:r>
              <a:rPr lang="en-CH" sz="1100" b="1">
                <a:solidFill>
                  <a:schemeClr val="accent1"/>
                </a:solidFill>
              </a:rPr>
              <a:t>Year</a:t>
            </a:r>
            <a:endParaRPr lang="en-GB" sz="1100">
              <a:solidFill>
                <a:schemeClr val="accent1"/>
              </a:solidFill>
            </a:endParaRPr>
          </a:p>
        </p:txBody>
      </p:sp>
      <p:sp>
        <p:nvSpPr>
          <p:cNvPr id="76" name="TextBox 75">
            <a:extLst>
              <a:ext uri="{FF2B5EF4-FFF2-40B4-BE49-F238E27FC236}">
                <a16:creationId xmlns:a16="http://schemas.microsoft.com/office/drawing/2014/main" id="{287088CA-4A19-2555-26D7-DD458D6CDD3E}"/>
              </a:ext>
            </a:extLst>
          </p:cNvPr>
          <p:cNvSpPr txBox="1"/>
          <p:nvPr/>
        </p:nvSpPr>
        <p:spPr>
          <a:xfrm>
            <a:off x="1563106" y="2194192"/>
            <a:ext cx="1589027" cy="261610"/>
          </a:xfrm>
          <a:prstGeom prst="rect">
            <a:avLst/>
          </a:prstGeom>
          <a:noFill/>
        </p:spPr>
        <p:txBody>
          <a:bodyPr wrap="square" rtlCol="0">
            <a:spAutoFit/>
          </a:bodyPr>
          <a:lstStyle/>
          <a:p>
            <a:pPr algn="ctr"/>
            <a:r>
              <a:rPr lang="de-LI" sz="1100"/>
              <a:t>2022</a:t>
            </a:r>
            <a:endParaRPr lang="en-GB" sz="1100"/>
          </a:p>
        </p:txBody>
      </p:sp>
      <p:sp>
        <p:nvSpPr>
          <p:cNvPr id="77" name="TextBox 76">
            <a:extLst>
              <a:ext uri="{FF2B5EF4-FFF2-40B4-BE49-F238E27FC236}">
                <a16:creationId xmlns:a16="http://schemas.microsoft.com/office/drawing/2014/main" id="{E7C52042-C597-DEB5-79B2-3FBC93C669F3}"/>
              </a:ext>
            </a:extLst>
          </p:cNvPr>
          <p:cNvSpPr txBox="1"/>
          <p:nvPr/>
        </p:nvSpPr>
        <p:spPr>
          <a:xfrm>
            <a:off x="358775" y="2559209"/>
            <a:ext cx="854927" cy="261610"/>
          </a:xfrm>
          <a:prstGeom prst="rect">
            <a:avLst/>
          </a:prstGeom>
          <a:noFill/>
        </p:spPr>
        <p:txBody>
          <a:bodyPr wrap="square" rtlCol="0">
            <a:spAutoFit/>
          </a:bodyPr>
          <a:lstStyle/>
          <a:p>
            <a:r>
              <a:rPr lang="en-CH" sz="1100" b="1">
                <a:solidFill>
                  <a:schemeClr val="accent1"/>
                </a:solidFill>
              </a:rPr>
              <a:t>Journal</a:t>
            </a:r>
            <a:endParaRPr lang="en-GB" sz="1100">
              <a:solidFill>
                <a:schemeClr val="accent1"/>
              </a:solidFill>
            </a:endParaRPr>
          </a:p>
        </p:txBody>
      </p:sp>
      <p:sp>
        <p:nvSpPr>
          <p:cNvPr id="78" name="TextBox 77">
            <a:extLst>
              <a:ext uri="{FF2B5EF4-FFF2-40B4-BE49-F238E27FC236}">
                <a16:creationId xmlns:a16="http://schemas.microsoft.com/office/drawing/2014/main" id="{13EABE43-D81F-C7F0-886A-C857A3A10443}"/>
              </a:ext>
            </a:extLst>
          </p:cNvPr>
          <p:cNvSpPr txBox="1"/>
          <p:nvPr/>
        </p:nvSpPr>
        <p:spPr>
          <a:xfrm>
            <a:off x="1563106" y="2554939"/>
            <a:ext cx="1589027" cy="261610"/>
          </a:xfrm>
          <a:prstGeom prst="rect">
            <a:avLst/>
          </a:prstGeom>
          <a:noFill/>
        </p:spPr>
        <p:txBody>
          <a:bodyPr wrap="square" rtlCol="0">
            <a:spAutoFit/>
          </a:bodyPr>
          <a:lstStyle/>
          <a:p>
            <a:pPr algn="ctr"/>
            <a:r>
              <a:rPr lang="de-LI" sz="1100"/>
              <a:t>BIS Working Paper</a:t>
            </a:r>
            <a:endParaRPr lang="en-GB" sz="1100"/>
          </a:p>
        </p:txBody>
      </p:sp>
      <p:sp>
        <p:nvSpPr>
          <p:cNvPr id="79" name="TextBox 78">
            <a:extLst>
              <a:ext uri="{FF2B5EF4-FFF2-40B4-BE49-F238E27FC236}">
                <a16:creationId xmlns:a16="http://schemas.microsoft.com/office/drawing/2014/main" id="{AA66518D-28EB-F0A2-D991-1E7B791C752E}"/>
              </a:ext>
            </a:extLst>
          </p:cNvPr>
          <p:cNvSpPr txBox="1"/>
          <p:nvPr/>
        </p:nvSpPr>
        <p:spPr>
          <a:xfrm>
            <a:off x="358775" y="3066157"/>
            <a:ext cx="986805" cy="261610"/>
          </a:xfrm>
          <a:prstGeom prst="rect">
            <a:avLst/>
          </a:prstGeom>
          <a:noFill/>
        </p:spPr>
        <p:txBody>
          <a:bodyPr wrap="square" rtlCol="0">
            <a:spAutoFit/>
          </a:bodyPr>
          <a:lstStyle/>
          <a:p>
            <a:r>
              <a:rPr lang="en-CH" sz="1100" b="1">
                <a:solidFill>
                  <a:schemeClr val="accent1"/>
                </a:solidFill>
              </a:rPr>
              <a:t>Key findings</a:t>
            </a:r>
            <a:endParaRPr lang="en-GB" sz="1100">
              <a:solidFill>
                <a:schemeClr val="accent1"/>
              </a:solidFill>
            </a:endParaRPr>
          </a:p>
        </p:txBody>
      </p:sp>
      <p:sp>
        <p:nvSpPr>
          <p:cNvPr id="80" name="TextBox 79">
            <a:extLst>
              <a:ext uri="{FF2B5EF4-FFF2-40B4-BE49-F238E27FC236}">
                <a16:creationId xmlns:a16="http://schemas.microsoft.com/office/drawing/2014/main" id="{3E3B3BEC-2771-BD93-EF6A-40992415B7B1}"/>
              </a:ext>
            </a:extLst>
          </p:cNvPr>
          <p:cNvSpPr txBox="1"/>
          <p:nvPr/>
        </p:nvSpPr>
        <p:spPr>
          <a:xfrm>
            <a:off x="1563106" y="3061887"/>
            <a:ext cx="1589027" cy="600164"/>
          </a:xfrm>
          <a:prstGeom prst="rect">
            <a:avLst/>
          </a:prstGeom>
          <a:noFill/>
        </p:spPr>
        <p:txBody>
          <a:bodyPr wrap="square" rtlCol="0">
            <a:spAutoFit/>
          </a:bodyPr>
          <a:lstStyle/>
          <a:p>
            <a:r>
              <a:rPr lang="en-US" sz="1100"/>
              <a:t>Areas with more elderly people experience higher bank deposits</a:t>
            </a:r>
            <a:endParaRPr lang="en-GB" sz="1100"/>
          </a:p>
        </p:txBody>
      </p:sp>
      <p:sp>
        <p:nvSpPr>
          <p:cNvPr id="81" name="TextBox 80">
            <a:extLst>
              <a:ext uri="{FF2B5EF4-FFF2-40B4-BE49-F238E27FC236}">
                <a16:creationId xmlns:a16="http://schemas.microsoft.com/office/drawing/2014/main" id="{99F881A2-16F5-A9C0-FB83-1C25B3A4329A}"/>
              </a:ext>
            </a:extLst>
          </p:cNvPr>
          <p:cNvSpPr txBox="1"/>
          <p:nvPr/>
        </p:nvSpPr>
        <p:spPr>
          <a:xfrm>
            <a:off x="3440803" y="1602517"/>
            <a:ext cx="1589027" cy="600164"/>
          </a:xfrm>
          <a:prstGeom prst="rect">
            <a:avLst/>
          </a:prstGeom>
          <a:noFill/>
        </p:spPr>
        <p:txBody>
          <a:bodyPr wrap="square" rtlCol="0">
            <a:spAutoFit/>
          </a:bodyPr>
          <a:lstStyle/>
          <a:p>
            <a:r>
              <a:rPr lang="en-US" sz="1100"/>
              <a:t>Impact of ageing population on banking sector</a:t>
            </a:r>
            <a:endParaRPr lang="en-GB" sz="1100"/>
          </a:p>
        </p:txBody>
      </p:sp>
      <p:sp>
        <p:nvSpPr>
          <p:cNvPr id="82" name="TextBox 81">
            <a:extLst>
              <a:ext uri="{FF2B5EF4-FFF2-40B4-BE49-F238E27FC236}">
                <a16:creationId xmlns:a16="http://schemas.microsoft.com/office/drawing/2014/main" id="{6E2A8F12-C5BC-B64C-5CF2-D3E232D68CD3}"/>
              </a:ext>
            </a:extLst>
          </p:cNvPr>
          <p:cNvSpPr txBox="1"/>
          <p:nvPr/>
        </p:nvSpPr>
        <p:spPr>
          <a:xfrm>
            <a:off x="3440803" y="2194192"/>
            <a:ext cx="1589027" cy="261610"/>
          </a:xfrm>
          <a:prstGeom prst="rect">
            <a:avLst/>
          </a:prstGeom>
          <a:noFill/>
        </p:spPr>
        <p:txBody>
          <a:bodyPr wrap="square" rtlCol="0">
            <a:spAutoFit/>
          </a:bodyPr>
          <a:lstStyle/>
          <a:p>
            <a:pPr algn="ctr"/>
            <a:r>
              <a:rPr lang="de-LI" sz="1100"/>
              <a:t>2019</a:t>
            </a:r>
            <a:endParaRPr lang="en-GB" sz="1100"/>
          </a:p>
        </p:txBody>
      </p:sp>
      <p:sp>
        <p:nvSpPr>
          <p:cNvPr id="83" name="TextBox 82">
            <a:extLst>
              <a:ext uri="{FF2B5EF4-FFF2-40B4-BE49-F238E27FC236}">
                <a16:creationId xmlns:a16="http://schemas.microsoft.com/office/drawing/2014/main" id="{F212CA17-3427-BE18-96C3-6845B0245825}"/>
              </a:ext>
            </a:extLst>
          </p:cNvPr>
          <p:cNvSpPr txBox="1"/>
          <p:nvPr/>
        </p:nvSpPr>
        <p:spPr>
          <a:xfrm>
            <a:off x="3440803" y="2554939"/>
            <a:ext cx="1589027" cy="261610"/>
          </a:xfrm>
          <a:prstGeom prst="rect">
            <a:avLst/>
          </a:prstGeom>
          <a:noFill/>
        </p:spPr>
        <p:txBody>
          <a:bodyPr wrap="square" rtlCol="0">
            <a:spAutoFit/>
          </a:bodyPr>
          <a:lstStyle/>
          <a:p>
            <a:pPr algn="ctr"/>
            <a:r>
              <a:rPr lang="de-LI" sz="1100"/>
              <a:t>N.a.</a:t>
            </a:r>
            <a:endParaRPr lang="en-GB" sz="1100"/>
          </a:p>
        </p:txBody>
      </p:sp>
      <p:sp>
        <p:nvSpPr>
          <p:cNvPr id="84" name="TextBox 83">
            <a:extLst>
              <a:ext uri="{FF2B5EF4-FFF2-40B4-BE49-F238E27FC236}">
                <a16:creationId xmlns:a16="http://schemas.microsoft.com/office/drawing/2014/main" id="{F2295E64-D5C0-5EB1-169A-95B97580970F}"/>
              </a:ext>
            </a:extLst>
          </p:cNvPr>
          <p:cNvSpPr txBox="1"/>
          <p:nvPr/>
        </p:nvSpPr>
        <p:spPr>
          <a:xfrm>
            <a:off x="3440803" y="3061887"/>
            <a:ext cx="1589027" cy="769441"/>
          </a:xfrm>
          <a:prstGeom prst="rect">
            <a:avLst/>
          </a:prstGeom>
          <a:noFill/>
        </p:spPr>
        <p:txBody>
          <a:bodyPr wrap="square" rtlCol="0">
            <a:spAutoFit/>
          </a:bodyPr>
          <a:lstStyle/>
          <a:p>
            <a:r>
              <a:rPr lang="en-US" sz="1100"/>
              <a:t>A 10% increase in the elderly population increases bank deposits by about 4.6%</a:t>
            </a:r>
            <a:endParaRPr lang="en-GB" sz="1100"/>
          </a:p>
        </p:txBody>
      </p:sp>
      <p:sp>
        <p:nvSpPr>
          <p:cNvPr id="85" name="TextBox 84">
            <a:extLst>
              <a:ext uri="{FF2B5EF4-FFF2-40B4-BE49-F238E27FC236}">
                <a16:creationId xmlns:a16="http://schemas.microsoft.com/office/drawing/2014/main" id="{3EB5C026-6A78-821E-7015-5E5F3C9F5986}"/>
              </a:ext>
            </a:extLst>
          </p:cNvPr>
          <p:cNvSpPr txBox="1"/>
          <p:nvPr/>
        </p:nvSpPr>
        <p:spPr>
          <a:xfrm>
            <a:off x="5318501" y="1602517"/>
            <a:ext cx="1589027" cy="430887"/>
          </a:xfrm>
          <a:prstGeom prst="rect">
            <a:avLst/>
          </a:prstGeom>
          <a:noFill/>
        </p:spPr>
        <p:txBody>
          <a:bodyPr wrap="square" lIns="91440" tIns="45720" rIns="91440" bIns="45720" rtlCol="0" anchor="t">
            <a:spAutoFit/>
          </a:bodyPr>
          <a:lstStyle/>
          <a:p>
            <a:r>
              <a:rPr lang="en-US" sz="1100"/>
              <a:t>Impact of ageing on bank A/L</a:t>
            </a:r>
          </a:p>
        </p:txBody>
      </p:sp>
      <p:sp>
        <p:nvSpPr>
          <p:cNvPr id="86" name="TextBox 85">
            <a:extLst>
              <a:ext uri="{FF2B5EF4-FFF2-40B4-BE49-F238E27FC236}">
                <a16:creationId xmlns:a16="http://schemas.microsoft.com/office/drawing/2014/main" id="{283DDC51-6444-A38D-CBD8-01F712175980}"/>
              </a:ext>
            </a:extLst>
          </p:cNvPr>
          <p:cNvSpPr txBox="1"/>
          <p:nvPr/>
        </p:nvSpPr>
        <p:spPr>
          <a:xfrm>
            <a:off x="5318501" y="2194192"/>
            <a:ext cx="1589027" cy="261610"/>
          </a:xfrm>
          <a:prstGeom prst="rect">
            <a:avLst/>
          </a:prstGeom>
          <a:noFill/>
        </p:spPr>
        <p:txBody>
          <a:bodyPr wrap="square" rtlCol="0">
            <a:spAutoFit/>
          </a:bodyPr>
          <a:lstStyle/>
          <a:p>
            <a:pPr algn="ctr"/>
            <a:r>
              <a:rPr lang="de-LI" sz="1100"/>
              <a:t>2025</a:t>
            </a:r>
            <a:endParaRPr lang="en-GB" sz="1100"/>
          </a:p>
        </p:txBody>
      </p:sp>
      <p:sp>
        <p:nvSpPr>
          <p:cNvPr id="87" name="TextBox 86">
            <a:extLst>
              <a:ext uri="{FF2B5EF4-FFF2-40B4-BE49-F238E27FC236}">
                <a16:creationId xmlns:a16="http://schemas.microsoft.com/office/drawing/2014/main" id="{A8C524B0-82AD-703E-B8F8-5CCC6DEE8CAD}"/>
              </a:ext>
            </a:extLst>
          </p:cNvPr>
          <p:cNvSpPr txBox="1"/>
          <p:nvPr/>
        </p:nvSpPr>
        <p:spPr>
          <a:xfrm>
            <a:off x="5318501" y="2554939"/>
            <a:ext cx="1589027" cy="430887"/>
          </a:xfrm>
          <a:prstGeom prst="rect">
            <a:avLst/>
          </a:prstGeom>
          <a:noFill/>
        </p:spPr>
        <p:txBody>
          <a:bodyPr wrap="square" rtlCol="0">
            <a:spAutoFit/>
          </a:bodyPr>
          <a:lstStyle/>
          <a:p>
            <a:pPr algn="ctr"/>
            <a:r>
              <a:rPr lang="de-LI" sz="1100"/>
              <a:t>Journal of Money, Credit, Banking</a:t>
            </a:r>
            <a:endParaRPr lang="en-GB" sz="1100"/>
          </a:p>
        </p:txBody>
      </p:sp>
      <p:sp>
        <p:nvSpPr>
          <p:cNvPr id="88" name="TextBox 87">
            <a:extLst>
              <a:ext uri="{FF2B5EF4-FFF2-40B4-BE49-F238E27FC236}">
                <a16:creationId xmlns:a16="http://schemas.microsoft.com/office/drawing/2014/main" id="{DA6921A7-350B-BA30-2109-0BAC554ECF15}"/>
              </a:ext>
            </a:extLst>
          </p:cNvPr>
          <p:cNvSpPr txBox="1"/>
          <p:nvPr/>
        </p:nvSpPr>
        <p:spPr>
          <a:xfrm>
            <a:off x="5318501" y="3061887"/>
            <a:ext cx="1589027" cy="769441"/>
          </a:xfrm>
          <a:prstGeom prst="rect">
            <a:avLst/>
          </a:prstGeom>
          <a:noFill/>
        </p:spPr>
        <p:txBody>
          <a:bodyPr wrap="square" rtlCol="0">
            <a:spAutoFit/>
          </a:bodyPr>
          <a:lstStyle/>
          <a:p>
            <a:r>
              <a:rPr lang="en-US" sz="1100"/>
              <a:t>Banks in older regions rely more on retail deposits and less on wholesale funding</a:t>
            </a:r>
            <a:endParaRPr lang="en-GB" sz="1100"/>
          </a:p>
        </p:txBody>
      </p:sp>
      <p:sp>
        <p:nvSpPr>
          <p:cNvPr id="89" name="TextBox 88">
            <a:extLst>
              <a:ext uri="{FF2B5EF4-FFF2-40B4-BE49-F238E27FC236}">
                <a16:creationId xmlns:a16="http://schemas.microsoft.com/office/drawing/2014/main" id="{5592DA2B-6199-37DF-A959-85C99F70B398}"/>
              </a:ext>
            </a:extLst>
          </p:cNvPr>
          <p:cNvSpPr txBox="1"/>
          <p:nvPr/>
        </p:nvSpPr>
        <p:spPr>
          <a:xfrm>
            <a:off x="7196198" y="1602517"/>
            <a:ext cx="1589027" cy="430887"/>
          </a:xfrm>
          <a:prstGeom prst="rect">
            <a:avLst/>
          </a:prstGeom>
          <a:noFill/>
        </p:spPr>
        <p:txBody>
          <a:bodyPr wrap="square" rtlCol="0">
            <a:spAutoFit/>
          </a:bodyPr>
          <a:lstStyle/>
          <a:p>
            <a:r>
              <a:rPr lang="de-LI" sz="1100"/>
              <a:t>Financial intermediary and private saving rates</a:t>
            </a:r>
            <a:endParaRPr lang="en-GB" sz="1100"/>
          </a:p>
        </p:txBody>
      </p:sp>
      <p:sp>
        <p:nvSpPr>
          <p:cNvPr id="90" name="TextBox 89">
            <a:extLst>
              <a:ext uri="{FF2B5EF4-FFF2-40B4-BE49-F238E27FC236}">
                <a16:creationId xmlns:a16="http://schemas.microsoft.com/office/drawing/2014/main" id="{0D05FE3E-F3A2-DC67-15FC-288E7380E330}"/>
              </a:ext>
            </a:extLst>
          </p:cNvPr>
          <p:cNvSpPr txBox="1"/>
          <p:nvPr/>
        </p:nvSpPr>
        <p:spPr>
          <a:xfrm>
            <a:off x="7196198" y="2194192"/>
            <a:ext cx="1589027" cy="261610"/>
          </a:xfrm>
          <a:prstGeom prst="rect">
            <a:avLst/>
          </a:prstGeom>
          <a:noFill/>
        </p:spPr>
        <p:txBody>
          <a:bodyPr wrap="square" rtlCol="0">
            <a:spAutoFit/>
          </a:bodyPr>
          <a:lstStyle/>
          <a:p>
            <a:pPr algn="ctr"/>
            <a:r>
              <a:rPr lang="de-LI" sz="1100"/>
              <a:t>2000</a:t>
            </a:r>
            <a:endParaRPr lang="en-GB" sz="1100"/>
          </a:p>
        </p:txBody>
      </p:sp>
      <p:sp>
        <p:nvSpPr>
          <p:cNvPr id="91" name="TextBox 90">
            <a:extLst>
              <a:ext uri="{FF2B5EF4-FFF2-40B4-BE49-F238E27FC236}">
                <a16:creationId xmlns:a16="http://schemas.microsoft.com/office/drawing/2014/main" id="{11EEF867-64BD-759B-7B28-F3168B22F470}"/>
              </a:ext>
            </a:extLst>
          </p:cNvPr>
          <p:cNvSpPr txBox="1"/>
          <p:nvPr/>
        </p:nvSpPr>
        <p:spPr>
          <a:xfrm>
            <a:off x="7196198" y="2554939"/>
            <a:ext cx="1589027" cy="430887"/>
          </a:xfrm>
          <a:prstGeom prst="rect">
            <a:avLst/>
          </a:prstGeom>
          <a:noFill/>
        </p:spPr>
        <p:txBody>
          <a:bodyPr wrap="square" rtlCol="0">
            <a:spAutoFit/>
          </a:bodyPr>
          <a:lstStyle/>
          <a:p>
            <a:pPr algn="ctr"/>
            <a:r>
              <a:rPr lang="de-LI" sz="1100"/>
              <a:t>Journal of Financial Economics</a:t>
            </a:r>
            <a:endParaRPr lang="en-GB" sz="1100"/>
          </a:p>
        </p:txBody>
      </p:sp>
      <p:sp>
        <p:nvSpPr>
          <p:cNvPr id="92" name="TextBox 91">
            <a:extLst>
              <a:ext uri="{FF2B5EF4-FFF2-40B4-BE49-F238E27FC236}">
                <a16:creationId xmlns:a16="http://schemas.microsoft.com/office/drawing/2014/main" id="{DF8E80AE-D592-EC6F-C581-042700A975E3}"/>
              </a:ext>
            </a:extLst>
          </p:cNvPr>
          <p:cNvSpPr txBox="1"/>
          <p:nvPr/>
        </p:nvSpPr>
        <p:spPr>
          <a:xfrm>
            <a:off x="7196198" y="3061887"/>
            <a:ext cx="1589027" cy="769441"/>
          </a:xfrm>
          <a:prstGeom prst="rect">
            <a:avLst/>
          </a:prstGeom>
          <a:noFill/>
        </p:spPr>
        <p:txBody>
          <a:bodyPr wrap="square" rtlCol="0">
            <a:spAutoFit/>
          </a:bodyPr>
          <a:lstStyle/>
          <a:p>
            <a:r>
              <a:rPr lang="en-US" sz="1100"/>
              <a:t>Bank-based financial systems rely heavily on deposits as the main savings channel</a:t>
            </a:r>
            <a:endParaRPr lang="en-GB" sz="1100"/>
          </a:p>
        </p:txBody>
      </p:sp>
      <p:sp>
        <p:nvSpPr>
          <p:cNvPr id="93" name="TextBox 92">
            <a:extLst>
              <a:ext uri="{FF2B5EF4-FFF2-40B4-BE49-F238E27FC236}">
                <a16:creationId xmlns:a16="http://schemas.microsoft.com/office/drawing/2014/main" id="{F113DB48-E8F5-7D0B-3D46-3D3C24EDA71C}"/>
              </a:ext>
            </a:extLst>
          </p:cNvPr>
          <p:cNvSpPr txBox="1"/>
          <p:nvPr/>
        </p:nvSpPr>
        <p:spPr>
          <a:xfrm>
            <a:off x="1563106" y="4175588"/>
            <a:ext cx="1589027" cy="261610"/>
          </a:xfrm>
          <a:prstGeom prst="rect">
            <a:avLst/>
          </a:prstGeom>
          <a:noFill/>
        </p:spPr>
        <p:txBody>
          <a:bodyPr wrap="square" rtlCol="0">
            <a:spAutoFit/>
          </a:bodyPr>
          <a:lstStyle/>
          <a:p>
            <a:pPr algn="ctr"/>
            <a:r>
              <a:rPr lang="en-US" sz="1100" i="1"/>
              <a:t>Strong support for H1</a:t>
            </a:r>
            <a:endParaRPr lang="en-GB" sz="1100" i="1"/>
          </a:p>
        </p:txBody>
      </p:sp>
      <p:sp>
        <p:nvSpPr>
          <p:cNvPr id="94" name="TextBox 93">
            <a:extLst>
              <a:ext uri="{FF2B5EF4-FFF2-40B4-BE49-F238E27FC236}">
                <a16:creationId xmlns:a16="http://schemas.microsoft.com/office/drawing/2014/main" id="{B40F5BFD-2DC4-2E4F-2E7B-3F030BB5A7C1}"/>
              </a:ext>
            </a:extLst>
          </p:cNvPr>
          <p:cNvSpPr txBox="1"/>
          <p:nvPr/>
        </p:nvSpPr>
        <p:spPr>
          <a:xfrm>
            <a:off x="3440803" y="4175588"/>
            <a:ext cx="1589027" cy="261610"/>
          </a:xfrm>
          <a:prstGeom prst="rect">
            <a:avLst/>
          </a:prstGeom>
          <a:noFill/>
        </p:spPr>
        <p:txBody>
          <a:bodyPr wrap="square" rtlCol="0">
            <a:spAutoFit/>
          </a:bodyPr>
          <a:lstStyle/>
          <a:p>
            <a:pPr algn="ctr"/>
            <a:r>
              <a:rPr lang="en-US" sz="1100" i="1"/>
              <a:t>Strong support for H1</a:t>
            </a:r>
            <a:endParaRPr lang="en-GB" sz="1100" i="1"/>
          </a:p>
        </p:txBody>
      </p:sp>
      <p:sp>
        <p:nvSpPr>
          <p:cNvPr id="95" name="TextBox 94">
            <a:extLst>
              <a:ext uri="{FF2B5EF4-FFF2-40B4-BE49-F238E27FC236}">
                <a16:creationId xmlns:a16="http://schemas.microsoft.com/office/drawing/2014/main" id="{4FC0F028-2731-A103-3B7F-CA7D2BDDDFEB}"/>
              </a:ext>
            </a:extLst>
          </p:cNvPr>
          <p:cNvSpPr txBox="1"/>
          <p:nvPr/>
        </p:nvSpPr>
        <p:spPr>
          <a:xfrm>
            <a:off x="5318501" y="4175588"/>
            <a:ext cx="1589027" cy="261610"/>
          </a:xfrm>
          <a:prstGeom prst="rect">
            <a:avLst/>
          </a:prstGeom>
          <a:noFill/>
        </p:spPr>
        <p:txBody>
          <a:bodyPr wrap="square" rtlCol="0">
            <a:spAutoFit/>
          </a:bodyPr>
          <a:lstStyle/>
          <a:p>
            <a:pPr algn="ctr"/>
            <a:r>
              <a:rPr lang="en-US" sz="1100" i="1"/>
              <a:t>Strong support for H1</a:t>
            </a:r>
            <a:endParaRPr lang="en-GB" sz="1100" i="1"/>
          </a:p>
        </p:txBody>
      </p:sp>
      <p:sp>
        <p:nvSpPr>
          <p:cNvPr id="96" name="TextBox 95">
            <a:extLst>
              <a:ext uri="{FF2B5EF4-FFF2-40B4-BE49-F238E27FC236}">
                <a16:creationId xmlns:a16="http://schemas.microsoft.com/office/drawing/2014/main" id="{0E722EBC-90ED-9909-889E-38F402C5F278}"/>
              </a:ext>
            </a:extLst>
          </p:cNvPr>
          <p:cNvSpPr txBox="1"/>
          <p:nvPr/>
        </p:nvSpPr>
        <p:spPr>
          <a:xfrm>
            <a:off x="7196198" y="4175588"/>
            <a:ext cx="1589027" cy="430887"/>
          </a:xfrm>
          <a:prstGeom prst="rect">
            <a:avLst/>
          </a:prstGeom>
          <a:noFill/>
        </p:spPr>
        <p:txBody>
          <a:bodyPr wrap="square" rtlCol="0">
            <a:spAutoFit/>
          </a:bodyPr>
          <a:lstStyle/>
          <a:p>
            <a:pPr algn="ctr"/>
            <a:r>
              <a:rPr lang="de-LI" sz="1100" i="1"/>
              <a:t>Supports intuition behind H1 split by system</a:t>
            </a:r>
            <a:endParaRPr lang="en-GB" sz="1100" i="1"/>
          </a:p>
        </p:txBody>
      </p:sp>
      <p:sp>
        <p:nvSpPr>
          <p:cNvPr id="5" name="Rectangle 4">
            <a:extLst>
              <a:ext uri="{FF2B5EF4-FFF2-40B4-BE49-F238E27FC236}">
                <a16:creationId xmlns:a16="http://schemas.microsoft.com/office/drawing/2014/main" id="{21561ECE-C27C-0227-B646-4CB5FC8A15C2}"/>
              </a:ext>
            </a:extLst>
          </p:cNvPr>
          <p:cNvSpPr/>
          <p:nvPr/>
        </p:nvSpPr>
        <p:spPr>
          <a:xfrm>
            <a:off x="1471961" y="801864"/>
            <a:ext cx="5516137" cy="3710664"/>
          </a:xfrm>
          <a:prstGeom prst="rect">
            <a:avLst/>
          </a:prstGeom>
          <a:noFill/>
          <a:ln>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B0BEB4E-C18E-734A-7C47-0FEB163DB55B}"/>
              </a:ext>
            </a:extLst>
          </p:cNvPr>
          <p:cNvSpPr txBox="1"/>
          <p:nvPr/>
        </p:nvSpPr>
        <p:spPr>
          <a:xfrm>
            <a:off x="5078104" y="772128"/>
            <a:ext cx="2017158" cy="261610"/>
          </a:xfrm>
          <a:prstGeom prst="rect">
            <a:avLst/>
          </a:prstGeom>
          <a:noFill/>
        </p:spPr>
        <p:txBody>
          <a:bodyPr wrap="square" rtlCol="0">
            <a:spAutoFit/>
          </a:bodyPr>
          <a:lstStyle/>
          <a:p>
            <a:r>
              <a:rPr lang="en-CH" sz="1100" b="1" i="1">
                <a:solidFill>
                  <a:schemeClr val="accent3"/>
                </a:solidFill>
              </a:rPr>
              <a:t>Strongly supporting &amp; recent</a:t>
            </a:r>
            <a:endParaRPr lang="en-GB" sz="1100" b="1" i="1">
              <a:solidFill>
                <a:schemeClr val="accent3"/>
              </a:solidFill>
            </a:endParaRPr>
          </a:p>
        </p:txBody>
      </p:sp>
    </p:spTree>
    <p:extLst>
      <p:ext uri="{BB962C8B-B14F-4D97-AF65-F5344CB8AC3E}">
        <p14:creationId xmlns:p14="http://schemas.microsoft.com/office/powerpoint/2010/main" val="4197039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9306D-B757-5B2E-3192-5E08E5E7E279}"/>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E436731-8636-8DC0-3584-82B7848FE3B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AE436731-8636-8DC0-3584-82B7848FE3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94D70A3-5757-E87F-A557-F6242A34DDA8}"/>
              </a:ext>
            </a:extLst>
          </p:cNvPr>
          <p:cNvSpPr>
            <a:spLocks noGrp="1"/>
          </p:cNvSpPr>
          <p:nvPr>
            <p:ph type="title"/>
          </p:nvPr>
        </p:nvSpPr>
        <p:spPr/>
        <p:txBody>
          <a:bodyPr vert="horz" rIns="0"/>
          <a:lstStyle/>
          <a:p>
            <a:r>
              <a:rPr lang="de-LI"/>
              <a:t>Academic papers on pension systems &amp; </a:t>
            </a:r>
            <a:r>
              <a:rPr lang="de-LI" err="1"/>
              <a:t>classification</a:t>
            </a:r>
            <a:r>
              <a:rPr lang="de-LI"/>
              <a:t> (1/2)</a:t>
            </a:r>
          </a:p>
          <a:p>
            <a:endParaRPr lang="de-LI"/>
          </a:p>
        </p:txBody>
      </p:sp>
      <p:sp>
        <p:nvSpPr>
          <p:cNvPr id="3" name="Slide Number Placeholder 2">
            <a:extLst>
              <a:ext uri="{FF2B5EF4-FFF2-40B4-BE49-F238E27FC236}">
                <a16:creationId xmlns:a16="http://schemas.microsoft.com/office/drawing/2014/main" id="{5646EAFC-DEDE-D662-E735-752BA891EFD4}"/>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6</a:t>
            </a:fld>
            <a:endParaRPr lang="en-GB"/>
          </a:p>
        </p:txBody>
      </p:sp>
      <p:sp>
        <p:nvSpPr>
          <p:cNvPr id="12" name="Rectangle 11">
            <a:extLst>
              <a:ext uri="{FF2B5EF4-FFF2-40B4-BE49-F238E27FC236}">
                <a16:creationId xmlns:a16="http://schemas.microsoft.com/office/drawing/2014/main" id="{BC6878DA-9672-2942-ED40-781C70FAEA2C}"/>
              </a:ext>
            </a:extLst>
          </p:cNvPr>
          <p:cNvSpPr/>
          <p:nvPr/>
        </p:nvSpPr>
        <p:spPr>
          <a:xfrm>
            <a:off x="1563107"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Addio et al.</a:t>
            </a:r>
            <a:endParaRPr lang="en-GB" sz="1100"/>
          </a:p>
        </p:txBody>
      </p:sp>
      <p:grpSp>
        <p:nvGrpSpPr>
          <p:cNvPr id="25" name="Down arrow">
            <a:extLst>
              <a:ext uri="{FF2B5EF4-FFF2-40B4-BE49-F238E27FC236}">
                <a16:creationId xmlns:a16="http://schemas.microsoft.com/office/drawing/2014/main" id="{B831132E-8FA7-98D2-BF6C-872E8796E77D}"/>
              </a:ext>
            </a:extLst>
          </p:cNvPr>
          <p:cNvGrpSpPr>
            <a:grpSpLocks noChangeAspect="1"/>
          </p:cNvGrpSpPr>
          <p:nvPr/>
        </p:nvGrpSpPr>
        <p:grpSpPr>
          <a:xfrm rot="10800000" flipV="1">
            <a:off x="2203951" y="3825572"/>
            <a:ext cx="307340" cy="307340"/>
            <a:chOff x="1413494" y="4670360"/>
            <a:chExt cx="442162" cy="456033"/>
          </a:xfrm>
        </p:grpSpPr>
        <p:sp>
          <p:nvSpPr>
            <p:cNvPr id="26" name="Ellipse 69">
              <a:extLst>
                <a:ext uri="{FF2B5EF4-FFF2-40B4-BE49-F238E27FC236}">
                  <a16:creationId xmlns:a16="http://schemas.microsoft.com/office/drawing/2014/main" id="{5D1EF948-0E21-3DAF-AF39-D5F510BA80CB}"/>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27" name="Flèche vers la droite 45">
              <a:extLst>
                <a:ext uri="{FF2B5EF4-FFF2-40B4-BE49-F238E27FC236}">
                  <a16:creationId xmlns:a16="http://schemas.microsoft.com/office/drawing/2014/main" id="{5AC5221B-9F73-BCB7-E612-C5101D93C65B}"/>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49" name="Rectangle 48">
            <a:extLst>
              <a:ext uri="{FF2B5EF4-FFF2-40B4-BE49-F238E27FC236}">
                <a16:creationId xmlns:a16="http://schemas.microsoft.com/office/drawing/2014/main" id="{99F0823E-57BF-2BB5-9945-D3129014CB75}"/>
              </a:ext>
            </a:extLst>
          </p:cNvPr>
          <p:cNvSpPr/>
          <p:nvPr/>
        </p:nvSpPr>
        <p:spPr>
          <a:xfrm>
            <a:off x="3440803"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Scharfstein</a:t>
            </a:r>
            <a:endParaRPr lang="en-GB" sz="1100"/>
          </a:p>
        </p:txBody>
      </p:sp>
      <p:grpSp>
        <p:nvGrpSpPr>
          <p:cNvPr id="51" name="Down arrow">
            <a:extLst>
              <a:ext uri="{FF2B5EF4-FFF2-40B4-BE49-F238E27FC236}">
                <a16:creationId xmlns:a16="http://schemas.microsoft.com/office/drawing/2014/main" id="{E4746C8C-934D-4B5B-37CE-BB70F4BBF6B3}"/>
              </a:ext>
            </a:extLst>
          </p:cNvPr>
          <p:cNvGrpSpPr>
            <a:grpSpLocks noChangeAspect="1"/>
          </p:cNvGrpSpPr>
          <p:nvPr/>
        </p:nvGrpSpPr>
        <p:grpSpPr>
          <a:xfrm rot="10800000" flipV="1">
            <a:off x="4081647" y="3825572"/>
            <a:ext cx="307340" cy="307340"/>
            <a:chOff x="1413494" y="4670360"/>
            <a:chExt cx="442162" cy="456033"/>
          </a:xfrm>
        </p:grpSpPr>
        <p:sp>
          <p:nvSpPr>
            <p:cNvPr id="52" name="Ellipse 69">
              <a:extLst>
                <a:ext uri="{FF2B5EF4-FFF2-40B4-BE49-F238E27FC236}">
                  <a16:creationId xmlns:a16="http://schemas.microsoft.com/office/drawing/2014/main" id="{050404E8-B7E2-F2E2-77E1-3C00A7C39871}"/>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3" name="Flèche vers la droite 45">
              <a:extLst>
                <a:ext uri="{FF2B5EF4-FFF2-40B4-BE49-F238E27FC236}">
                  <a16:creationId xmlns:a16="http://schemas.microsoft.com/office/drawing/2014/main" id="{3F989C58-6F4D-9417-7008-24F0A3B0BC08}"/>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54" name="Rectangle 53">
            <a:extLst>
              <a:ext uri="{FF2B5EF4-FFF2-40B4-BE49-F238E27FC236}">
                <a16:creationId xmlns:a16="http://schemas.microsoft.com/office/drawing/2014/main" id="{478FBA42-5697-56CB-F9E4-5DDB3D9605E1}"/>
              </a:ext>
            </a:extLst>
          </p:cNvPr>
          <p:cNvSpPr/>
          <p:nvPr/>
        </p:nvSpPr>
        <p:spPr>
          <a:xfrm>
            <a:off x="5318499"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Caloia et al.</a:t>
            </a:r>
          </a:p>
        </p:txBody>
      </p:sp>
      <p:grpSp>
        <p:nvGrpSpPr>
          <p:cNvPr id="56" name="Down arrow">
            <a:extLst>
              <a:ext uri="{FF2B5EF4-FFF2-40B4-BE49-F238E27FC236}">
                <a16:creationId xmlns:a16="http://schemas.microsoft.com/office/drawing/2014/main" id="{F173F7ED-C9B4-03CA-D6C6-B391C30FCA38}"/>
              </a:ext>
            </a:extLst>
          </p:cNvPr>
          <p:cNvGrpSpPr>
            <a:grpSpLocks noChangeAspect="1"/>
          </p:cNvGrpSpPr>
          <p:nvPr/>
        </p:nvGrpSpPr>
        <p:grpSpPr>
          <a:xfrm rot="10800000" flipV="1">
            <a:off x="5959343" y="3825572"/>
            <a:ext cx="307340" cy="307340"/>
            <a:chOff x="1413494" y="4670360"/>
            <a:chExt cx="442162" cy="456033"/>
          </a:xfrm>
        </p:grpSpPr>
        <p:sp>
          <p:nvSpPr>
            <p:cNvPr id="57" name="Ellipse 69">
              <a:extLst>
                <a:ext uri="{FF2B5EF4-FFF2-40B4-BE49-F238E27FC236}">
                  <a16:creationId xmlns:a16="http://schemas.microsoft.com/office/drawing/2014/main" id="{41DFE044-99D8-4D3B-1FB6-D8E707291FB7}"/>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58" name="Flèche vers la droite 45">
              <a:extLst>
                <a:ext uri="{FF2B5EF4-FFF2-40B4-BE49-F238E27FC236}">
                  <a16:creationId xmlns:a16="http://schemas.microsoft.com/office/drawing/2014/main" id="{26C437AD-41AB-BF03-BBB3-76B24FEE8357}"/>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73" name="TextBox 72">
            <a:extLst>
              <a:ext uri="{FF2B5EF4-FFF2-40B4-BE49-F238E27FC236}">
                <a16:creationId xmlns:a16="http://schemas.microsoft.com/office/drawing/2014/main" id="{F518A7D8-7518-2111-E8FA-F171D21DD997}"/>
              </a:ext>
            </a:extLst>
          </p:cNvPr>
          <p:cNvSpPr txBox="1"/>
          <p:nvPr/>
        </p:nvSpPr>
        <p:spPr>
          <a:xfrm>
            <a:off x="358775" y="1606787"/>
            <a:ext cx="854927" cy="261610"/>
          </a:xfrm>
          <a:prstGeom prst="rect">
            <a:avLst/>
          </a:prstGeom>
          <a:noFill/>
        </p:spPr>
        <p:txBody>
          <a:bodyPr wrap="square" rtlCol="0">
            <a:spAutoFit/>
          </a:bodyPr>
          <a:lstStyle/>
          <a:p>
            <a:r>
              <a:rPr lang="en-CH" sz="1100" b="1">
                <a:solidFill>
                  <a:schemeClr val="accent1"/>
                </a:solidFill>
              </a:rPr>
              <a:t>Topic</a:t>
            </a:r>
            <a:endParaRPr lang="en-GB" sz="1100">
              <a:solidFill>
                <a:schemeClr val="accent1"/>
              </a:solidFill>
            </a:endParaRPr>
          </a:p>
        </p:txBody>
      </p:sp>
      <p:sp>
        <p:nvSpPr>
          <p:cNvPr id="74" name="TextBox 73">
            <a:extLst>
              <a:ext uri="{FF2B5EF4-FFF2-40B4-BE49-F238E27FC236}">
                <a16:creationId xmlns:a16="http://schemas.microsoft.com/office/drawing/2014/main" id="{3FE8E408-EDAC-CE21-FE97-E5CB8795F483}"/>
              </a:ext>
            </a:extLst>
          </p:cNvPr>
          <p:cNvSpPr txBox="1"/>
          <p:nvPr/>
        </p:nvSpPr>
        <p:spPr>
          <a:xfrm>
            <a:off x="1563106" y="1602517"/>
            <a:ext cx="1589027" cy="600164"/>
          </a:xfrm>
          <a:prstGeom prst="rect">
            <a:avLst/>
          </a:prstGeom>
          <a:noFill/>
        </p:spPr>
        <p:txBody>
          <a:bodyPr wrap="square" rtlCol="0">
            <a:spAutoFit/>
          </a:bodyPr>
          <a:lstStyle/>
          <a:p>
            <a:r>
              <a:rPr lang="en-US" sz="1100"/>
              <a:t>Pension &amp; household savings cross-country analysis</a:t>
            </a:r>
            <a:endParaRPr lang="en-GB" sz="1100"/>
          </a:p>
        </p:txBody>
      </p:sp>
      <p:sp>
        <p:nvSpPr>
          <p:cNvPr id="75" name="TextBox 74">
            <a:extLst>
              <a:ext uri="{FF2B5EF4-FFF2-40B4-BE49-F238E27FC236}">
                <a16:creationId xmlns:a16="http://schemas.microsoft.com/office/drawing/2014/main" id="{7B9EBF5E-86D0-3008-25C0-1882C3109154}"/>
              </a:ext>
            </a:extLst>
          </p:cNvPr>
          <p:cNvSpPr txBox="1"/>
          <p:nvPr/>
        </p:nvSpPr>
        <p:spPr>
          <a:xfrm>
            <a:off x="358775" y="2198462"/>
            <a:ext cx="854927" cy="261610"/>
          </a:xfrm>
          <a:prstGeom prst="rect">
            <a:avLst/>
          </a:prstGeom>
          <a:noFill/>
        </p:spPr>
        <p:txBody>
          <a:bodyPr wrap="square" rtlCol="0">
            <a:spAutoFit/>
          </a:bodyPr>
          <a:lstStyle/>
          <a:p>
            <a:r>
              <a:rPr lang="en-CH" sz="1100" b="1">
                <a:solidFill>
                  <a:schemeClr val="accent1"/>
                </a:solidFill>
              </a:rPr>
              <a:t>Year</a:t>
            </a:r>
            <a:endParaRPr lang="en-GB" sz="1100">
              <a:solidFill>
                <a:schemeClr val="accent1"/>
              </a:solidFill>
            </a:endParaRPr>
          </a:p>
        </p:txBody>
      </p:sp>
      <p:sp>
        <p:nvSpPr>
          <p:cNvPr id="76" name="TextBox 75">
            <a:extLst>
              <a:ext uri="{FF2B5EF4-FFF2-40B4-BE49-F238E27FC236}">
                <a16:creationId xmlns:a16="http://schemas.microsoft.com/office/drawing/2014/main" id="{B987DD09-F19B-FC47-6CF2-C8A856445784}"/>
              </a:ext>
            </a:extLst>
          </p:cNvPr>
          <p:cNvSpPr txBox="1"/>
          <p:nvPr/>
        </p:nvSpPr>
        <p:spPr>
          <a:xfrm>
            <a:off x="1563106" y="2194192"/>
            <a:ext cx="1589027" cy="261610"/>
          </a:xfrm>
          <a:prstGeom prst="rect">
            <a:avLst/>
          </a:prstGeom>
          <a:noFill/>
        </p:spPr>
        <p:txBody>
          <a:bodyPr wrap="square" rtlCol="0">
            <a:spAutoFit/>
          </a:bodyPr>
          <a:lstStyle/>
          <a:p>
            <a:pPr algn="ctr"/>
            <a:r>
              <a:rPr lang="de-LI" sz="1100"/>
              <a:t>2020</a:t>
            </a:r>
            <a:endParaRPr lang="en-GB" sz="1100"/>
          </a:p>
        </p:txBody>
      </p:sp>
      <p:sp>
        <p:nvSpPr>
          <p:cNvPr id="77" name="TextBox 76">
            <a:extLst>
              <a:ext uri="{FF2B5EF4-FFF2-40B4-BE49-F238E27FC236}">
                <a16:creationId xmlns:a16="http://schemas.microsoft.com/office/drawing/2014/main" id="{3F60BF03-CDCA-3D5D-662D-676217DFEDB1}"/>
              </a:ext>
            </a:extLst>
          </p:cNvPr>
          <p:cNvSpPr txBox="1"/>
          <p:nvPr/>
        </p:nvSpPr>
        <p:spPr>
          <a:xfrm>
            <a:off x="358775" y="2559209"/>
            <a:ext cx="854927" cy="261610"/>
          </a:xfrm>
          <a:prstGeom prst="rect">
            <a:avLst/>
          </a:prstGeom>
          <a:noFill/>
        </p:spPr>
        <p:txBody>
          <a:bodyPr wrap="square" rtlCol="0">
            <a:spAutoFit/>
          </a:bodyPr>
          <a:lstStyle/>
          <a:p>
            <a:r>
              <a:rPr lang="en-CH" sz="1100" b="1">
                <a:solidFill>
                  <a:schemeClr val="accent1"/>
                </a:solidFill>
              </a:rPr>
              <a:t>Journal</a:t>
            </a:r>
            <a:endParaRPr lang="en-GB" sz="1100">
              <a:solidFill>
                <a:schemeClr val="accent1"/>
              </a:solidFill>
            </a:endParaRPr>
          </a:p>
        </p:txBody>
      </p:sp>
      <p:sp>
        <p:nvSpPr>
          <p:cNvPr id="78" name="TextBox 77">
            <a:extLst>
              <a:ext uri="{FF2B5EF4-FFF2-40B4-BE49-F238E27FC236}">
                <a16:creationId xmlns:a16="http://schemas.microsoft.com/office/drawing/2014/main" id="{74444803-3176-5C30-7FC4-77D1F528644F}"/>
              </a:ext>
            </a:extLst>
          </p:cNvPr>
          <p:cNvSpPr txBox="1"/>
          <p:nvPr/>
        </p:nvSpPr>
        <p:spPr>
          <a:xfrm>
            <a:off x="1563106" y="2554939"/>
            <a:ext cx="1589027" cy="261610"/>
          </a:xfrm>
          <a:prstGeom prst="rect">
            <a:avLst/>
          </a:prstGeom>
          <a:noFill/>
        </p:spPr>
        <p:txBody>
          <a:bodyPr wrap="square" rtlCol="0">
            <a:spAutoFit/>
          </a:bodyPr>
          <a:lstStyle/>
          <a:p>
            <a:pPr algn="ctr"/>
            <a:r>
              <a:rPr lang="de-LI" sz="1100"/>
              <a:t>ECB Working Paper</a:t>
            </a:r>
            <a:endParaRPr lang="en-GB" sz="1100"/>
          </a:p>
        </p:txBody>
      </p:sp>
      <p:sp>
        <p:nvSpPr>
          <p:cNvPr id="79" name="TextBox 78">
            <a:extLst>
              <a:ext uri="{FF2B5EF4-FFF2-40B4-BE49-F238E27FC236}">
                <a16:creationId xmlns:a16="http://schemas.microsoft.com/office/drawing/2014/main" id="{1B0BAAB5-CD04-FECA-FBD8-2878BDA99A04}"/>
              </a:ext>
            </a:extLst>
          </p:cNvPr>
          <p:cNvSpPr txBox="1"/>
          <p:nvPr/>
        </p:nvSpPr>
        <p:spPr>
          <a:xfrm>
            <a:off x="358775" y="3066157"/>
            <a:ext cx="986805" cy="261610"/>
          </a:xfrm>
          <a:prstGeom prst="rect">
            <a:avLst/>
          </a:prstGeom>
          <a:noFill/>
        </p:spPr>
        <p:txBody>
          <a:bodyPr wrap="square" rtlCol="0">
            <a:spAutoFit/>
          </a:bodyPr>
          <a:lstStyle/>
          <a:p>
            <a:r>
              <a:rPr lang="en-CH" sz="1100" b="1">
                <a:solidFill>
                  <a:schemeClr val="accent1"/>
                </a:solidFill>
              </a:rPr>
              <a:t>Key findings</a:t>
            </a:r>
            <a:endParaRPr lang="en-GB" sz="1100">
              <a:solidFill>
                <a:schemeClr val="accent1"/>
              </a:solidFill>
            </a:endParaRPr>
          </a:p>
        </p:txBody>
      </p:sp>
      <p:sp>
        <p:nvSpPr>
          <p:cNvPr id="80" name="TextBox 79">
            <a:extLst>
              <a:ext uri="{FF2B5EF4-FFF2-40B4-BE49-F238E27FC236}">
                <a16:creationId xmlns:a16="http://schemas.microsoft.com/office/drawing/2014/main" id="{205409A5-C8AE-BCFB-9636-F032DCE02851}"/>
              </a:ext>
            </a:extLst>
          </p:cNvPr>
          <p:cNvSpPr txBox="1"/>
          <p:nvPr/>
        </p:nvSpPr>
        <p:spPr>
          <a:xfrm>
            <a:off x="1563106" y="3061887"/>
            <a:ext cx="1589027" cy="769441"/>
          </a:xfrm>
          <a:prstGeom prst="rect">
            <a:avLst/>
          </a:prstGeom>
          <a:noFill/>
        </p:spPr>
        <p:txBody>
          <a:bodyPr wrap="square" rtlCol="0">
            <a:spAutoFit/>
          </a:bodyPr>
          <a:lstStyle/>
          <a:p>
            <a:r>
              <a:rPr lang="en-US" sz="1100"/>
              <a:t>Strong public pensions → lower need for private retirement savings</a:t>
            </a:r>
            <a:endParaRPr lang="en-GB" sz="1100"/>
          </a:p>
        </p:txBody>
      </p:sp>
      <p:sp>
        <p:nvSpPr>
          <p:cNvPr id="81" name="TextBox 80">
            <a:extLst>
              <a:ext uri="{FF2B5EF4-FFF2-40B4-BE49-F238E27FC236}">
                <a16:creationId xmlns:a16="http://schemas.microsoft.com/office/drawing/2014/main" id="{3EFD206A-1B0E-7E3B-0A99-C6C0449C80CC}"/>
              </a:ext>
            </a:extLst>
          </p:cNvPr>
          <p:cNvSpPr txBox="1"/>
          <p:nvPr/>
        </p:nvSpPr>
        <p:spPr>
          <a:xfrm>
            <a:off x="3440803" y="1602517"/>
            <a:ext cx="1589027" cy="430887"/>
          </a:xfrm>
          <a:prstGeom prst="rect">
            <a:avLst/>
          </a:prstGeom>
          <a:noFill/>
        </p:spPr>
        <p:txBody>
          <a:bodyPr wrap="square" rtlCol="0">
            <a:spAutoFit/>
          </a:bodyPr>
          <a:lstStyle/>
          <a:p>
            <a:r>
              <a:rPr lang="en-US" sz="1100"/>
              <a:t>Pension Policy and the Financial System</a:t>
            </a:r>
            <a:endParaRPr lang="en-GB" sz="1100"/>
          </a:p>
        </p:txBody>
      </p:sp>
      <p:sp>
        <p:nvSpPr>
          <p:cNvPr id="82" name="TextBox 81">
            <a:extLst>
              <a:ext uri="{FF2B5EF4-FFF2-40B4-BE49-F238E27FC236}">
                <a16:creationId xmlns:a16="http://schemas.microsoft.com/office/drawing/2014/main" id="{66DC671B-32CB-B2DD-3CBC-333104421B7F}"/>
              </a:ext>
            </a:extLst>
          </p:cNvPr>
          <p:cNvSpPr txBox="1"/>
          <p:nvPr/>
        </p:nvSpPr>
        <p:spPr>
          <a:xfrm>
            <a:off x="3440803" y="2194192"/>
            <a:ext cx="1589027" cy="261610"/>
          </a:xfrm>
          <a:prstGeom prst="rect">
            <a:avLst/>
          </a:prstGeom>
          <a:noFill/>
        </p:spPr>
        <p:txBody>
          <a:bodyPr wrap="square" rtlCol="0">
            <a:spAutoFit/>
          </a:bodyPr>
          <a:lstStyle/>
          <a:p>
            <a:pPr algn="ctr"/>
            <a:r>
              <a:rPr lang="de-LI" sz="1100"/>
              <a:t>2018</a:t>
            </a:r>
            <a:endParaRPr lang="en-GB" sz="1100"/>
          </a:p>
        </p:txBody>
      </p:sp>
      <p:sp>
        <p:nvSpPr>
          <p:cNvPr id="83" name="TextBox 82">
            <a:extLst>
              <a:ext uri="{FF2B5EF4-FFF2-40B4-BE49-F238E27FC236}">
                <a16:creationId xmlns:a16="http://schemas.microsoft.com/office/drawing/2014/main" id="{A7D7B0B1-6117-5E91-12E5-AF6D24E01533}"/>
              </a:ext>
            </a:extLst>
          </p:cNvPr>
          <p:cNvSpPr txBox="1"/>
          <p:nvPr/>
        </p:nvSpPr>
        <p:spPr>
          <a:xfrm>
            <a:off x="3440803" y="2554939"/>
            <a:ext cx="1589027" cy="261610"/>
          </a:xfrm>
          <a:prstGeom prst="rect">
            <a:avLst/>
          </a:prstGeom>
          <a:noFill/>
        </p:spPr>
        <p:txBody>
          <a:bodyPr wrap="square" rtlCol="0">
            <a:spAutoFit/>
          </a:bodyPr>
          <a:lstStyle/>
          <a:p>
            <a:pPr algn="ctr"/>
            <a:r>
              <a:rPr lang="de-LI" sz="1100"/>
              <a:t>Journal of Finance</a:t>
            </a:r>
            <a:endParaRPr lang="en-GB" sz="1100"/>
          </a:p>
        </p:txBody>
      </p:sp>
      <p:sp>
        <p:nvSpPr>
          <p:cNvPr id="84" name="TextBox 83">
            <a:extLst>
              <a:ext uri="{FF2B5EF4-FFF2-40B4-BE49-F238E27FC236}">
                <a16:creationId xmlns:a16="http://schemas.microsoft.com/office/drawing/2014/main" id="{B1DA8392-3494-9D79-2737-66C7A3DBB498}"/>
              </a:ext>
            </a:extLst>
          </p:cNvPr>
          <p:cNvSpPr txBox="1"/>
          <p:nvPr/>
        </p:nvSpPr>
        <p:spPr>
          <a:xfrm>
            <a:off x="3440803" y="3061887"/>
            <a:ext cx="1589027" cy="600164"/>
          </a:xfrm>
          <a:prstGeom prst="rect">
            <a:avLst/>
          </a:prstGeom>
          <a:noFill/>
        </p:spPr>
        <p:txBody>
          <a:bodyPr wrap="square" rtlCol="0">
            <a:spAutoFit/>
          </a:bodyPr>
          <a:lstStyle/>
          <a:p>
            <a:r>
              <a:rPr lang="en-US" sz="1100"/>
              <a:t>Countries with large private pension systems have larger capital mkts</a:t>
            </a:r>
            <a:endParaRPr lang="en-GB" sz="1100"/>
          </a:p>
        </p:txBody>
      </p:sp>
      <p:sp>
        <p:nvSpPr>
          <p:cNvPr id="85" name="TextBox 84">
            <a:extLst>
              <a:ext uri="{FF2B5EF4-FFF2-40B4-BE49-F238E27FC236}">
                <a16:creationId xmlns:a16="http://schemas.microsoft.com/office/drawing/2014/main" id="{7EE24BEE-006C-B578-17FE-6A52F074E235}"/>
              </a:ext>
            </a:extLst>
          </p:cNvPr>
          <p:cNvSpPr txBox="1"/>
          <p:nvPr/>
        </p:nvSpPr>
        <p:spPr>
          <a:xfrm>
            <a:off x="5318501" y="1602517"/>
            <a:ext cx="1589027" cy="600164"/>
          </a:xfrm>
          <a:prstGeom prst="rect">
            <a:avLst/>
          </a:prstGeom>
          <a:noFill/>
        </p:spPr>
        <p:txBody>
          <a:bodyPr wrap="square" rtlCol="0">
            <a:spAutoFit/>
          </a:bodyPr>
          <a:lstStyle/>
          <a:p>
            <a:r>
              <a:rPr lang="en-US" sz="1100"/>
              <a:t>Household savings &amp; shocks to occupational pension funds</a:t>
            </a:r>
            <a:endParaRPr lang="en-GB" sz="1100"/>
          </a:p>
        </p:txBody>
      </p:sp>
      <p:sp>
        <p:nvSpPr>
          <p:cNvPr id="86" name="TextBox 85">
            <a:extLst>
              <a:ext uri="{FF2B5EF4-FFF2-40B4-BE49-F238E27FC236}">
                <a16:creationId xmlns:a16="http://schemas.microsoft.com/office/drawing/2014/main" id="{0ECA360D-0BD5-A24F-88C0-CDB5F160146C}"/>
              </a:ext>
            </a:extLst>
          </p:cNvPr>
          <p:cNvSpPr txBox="1"/>
          <p:nvPr/>
        </p:nvSpPr>
        <p:spPr>
          <a:xfrm>
            <a:off x="5318501" y="2194192"/>
            <a:ext cx="1589027" cy="261610"/>
          </a:xfrm>
          <a:prstGeom prst="rect">
            <a:avLst/>
          </a:prstGeom>
          <a:noFill/>
        </p:spPr>
        <p:txBody>
          <a:bodyPr wrap="square" rtlCol="0">
            <a:spAutoFit/>
          </a:bodyPr>
          <a:lstStyle/>
          <a:p>
            <a:pPr algn="ctr"/>
            <a:r>
              <a:rPr lang="de-LI" sz="1100"/>
              <a:t>2025</a:t>
            </a:r>
            <a:endParaRPr lang="en-GB" sz="1100"/>
          </a:p>
        </p:txBody>
      </p:sp>
      <p:sp>
        <p:nvSpPr>
          <p:cNvPr id="87" name="TextBox 86">
            <a:extLst>
              <a:ext uri="{FF2B5EF4-FFF2-40B4-BE49-F238E27FC236}">
                <a16:creationId xmlns:a16="http://schemas.microsoft.com/office/drawing/2014/main" id="{EE7867A1-97A5-3467-3FDC-7FA5507097FC}"/>
              </a:ext>
            </a:extLst>
          </p:cNvPr>
          <p:cNvSpPr txBox="1"/>
          <p:nvPr/>
        </p:nvSpPr>
        <p:spPr>
          <a:xfrm>
            <a:off x="5318501" y="2554939"/>
            <a:ext cx="1589027" cy="430887"/>
          </a:xfrm>
          <a:prstGeom prst="rect">
            <a:avLst/>
          </a:prstGeom>
          <a:noFill/>
        </p:spPr>
        <p:txBody>
          <a:bodyPr wrap="square" rtlCol="0">
            <a:spAutoFit/>
          </a:bodyPr>
          <a:lstStyle/>
          <a:p>
            <a:pPr algn="ctr"/>
            <a:r>
              <a:rPr lang="de-LI" sz="1100"/>
              <a:t>Journal of Pension Economics &amp; Finance</a:t>
            </a:r>
            <a:endParaRPr lang="en-GB" sz="1100"/>
          </a:p>
        </p:txBody>
      </p:sp>
      <p:sp>
        <p:nvSpPr>
          <p:cNvPr id="88" name="TextBox 87">
            <a:extLst>
              <a:ext uri="{FF2B5EF4-FFF2-40B4-BE49-F238E27FC236}">
                <a16:creationId xmlns:a16="http://schemas.microsoft.com/office/drawing/2014/main" id="{F966DCFA-A1E5-B24C-0DAF-DCFDBC76F916}"/>
              </a:ext>
            </a:extLst>
          </p:cNvPr>
          <p:cNvSpPr txBox="1"/>
          <p:nvPr/>
        </p:nvSpPr>
        <p:spPr>
          <a:xfrm>
            <a:off x="5318501" y="3061887"/>
            <a:ext cx="1589027" cy="600164"/>
          </a:xfrm>
          <a:prstGeom prst="rect">
            <a:avLst/>
          </a:prstGeom>
          <a:noFill/>
        </p:spPr>
        <p:txBody>
          <a:bodyPr wrap="square" rtlCol="0">
            <a:spAutoFit/>
          </a:bodyPr>
          <a:lstStyle/>
          <a:p>
            <a:r>
              <a:rPr lang="en-US" sz="1100"/>
              <a:t>When pension funds become weaker, HH increase private savings</a:t>
            </a:r>
            <a:endParaRPr lang="en-GB" sz="1100"/>
          </a:p>
        </p:txBody>
      </p:sp>
      <p:sp>
        <p:nvSpPr>
          <p:cNvPr id="93" name="TextBox 92">
            <a:extLst>
              <a:ext uri="{FF2B5EF4-FFF2-40B4-BE49-F238E27FC236}">
                <a16:creationId xmlns:a16="http://schemas.microsoft.com/office/drawing/2014/main" id="{902E6BFD-BC1D-1FB9-F1FA-2138F12D75BB}"/>
              </a:ext>
            </a:extLst>
          </p:cNvPr>
          <p:cNvSpPr txBox="1"/>
          <p:nvPr/>
        </p:nvSpPr>
        <p:spPr>
          <a:xfrm>
            <a:off x="1563106" y="4175588"/>
            <a:ext cx="1589027" cy="430887"/>
          </a:xfrm>
          <a:prstGeom prst="rect">
            <a:avLst/>
          </a:prstGeom>
          <a:noFill/>
        </p:spPr>
        <p:txBody>
          <a:bodyPr wrap="square" rtlCol="0">
            <a:spAutoFit/>
          </a:bodyPr>
          <a:lstStyle/>
          <a:p>
            <a:pPr algn="ctr"/>
            <a:r>
              <a:rPr lang="en-US" sz="1100" i="1"/>
              <a:t>Supports to include pension system as control</a:t>
            </a:r>
            <a:endParaRPr lang="en-GB" sz="1100" i="1"/>
          </a:p>
        </p:txBody>
      </p:sp>
      <p:sp>
        <p:nvSpPr>
          <p:cNvPr id="94" name="TextBox 93">
            <a:extLst>
              <a:ext uri="{FF2B5EF4-FFF2-40B4-BE49-F238E27FC236}">
                <a16:creationId xmlns:a16="http://schemas.microsoft.com/office/drawing/2014/main" id="{55320D9D-FF62-4D5B-588E-8F2A556EC388}"/>
              </a:ext>
            </a:extLst>
          </p:cNvPr>
          <p:cNvSpPr txBox="1"/>
          <p:nvPr/>
        </p:nvSpPr>
        <p:spPr>
          <a:xfrm>
            <a:off x="3440803" y="4175588"/>
            <a:ext cx="1589027" cy="430887"/>
          </a:xfrm>
          <a:prstGeom prst="rect">
            <a:avLst/>
          </a:prstGeom>
          <a:noFill/>
        </p:spPr>
        <p:txBody>
          <a:bodyPr wrap="square" rtlCol="0">
            <a:spAutoFit/>
          </a:bodyPr>
          <a:lstStyle/>
          <a:p>
            <a:pPr algn="ctr"/>
            <a:r>
              <a:rPr lang="en-US" sz="1100" i="1"/>
              <a:t>Makes strong argument to include pension system</a:t>
            </a:r>
            <a:endParaRPr lang="en-GB" sz="1100" i="1"/>
          </a:p>
        </p:txBody>
      </p:sp>
      <p:sp>
        <p:nvSpPr>
          <p:cNvPr id="95" name="TextBox 94">
            <a:extLst>
              <a:ext uri="{FF2B5EF4-FFF2-40B4-BE49-F238E27FC236}">
                <a16:creationId xmlns:a16="http://schemas.microsoft.com/office/drawing/2014/main" id="{08B96789-C9F2-14D2-6BEB-2FD2256E25B8}"/>
              </a:ext>
            </a:extLst>
          </p:cNvPr>
          <p:cNvSpPr txBox="1"/>
          <p:nvPr/>
        </p:nvSpPr>
        <p:spPr>
          <a:xfrm>
            <a:off x="5318501" y="4175588"/>
            <a:ext cx="1589027" cy="430887"/>
          </a:xfrm>
          <a:prstGeom prst="rect">
            <a:avLst/>
          </a:prstGeom>
          <a:noFill/>
        </p:spPr>
        <p:txBody>
          <a:bodyPr wrap="square" rtlCol="0">
            <a:spAutoFit/>
          </a:bodyPr>
          <a:lstStyle/>
          <a:p>
            <a:pPr algn="ctr"/>
            <a:r>
              <a:rPr lang="en-US" sz="1100" i="1"/>
              <a:t>Supports to include pension system as control</a:t>
            </a:r>
            <a:endParaRPr lang="en-GB" sz="1100" i="1"/>
          </a:p>
        </p:txBody>
      </p:sp>
    </p:spTree>
    <p:extLst>
      <p:ext uri="{BB962C8B-B14F-4D97-AF65-F5344CB8AC3E}">
        <p14:creationId xmlns:p14="http://schemas.microsoft.com/office/powerpoint/2010/main" val="1455948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F7E81-903B-E5A1-E794-99C343A39C06}"/>
              </a:ext>
            </a:extLst>
          </p:cNvPr>
          <p:cNvSpPr>
            <a:spLocks noGrp="1"/>
          </p:cNvSpPr>
          <p:nvPr>
            <p:ph type="title"/>
          </p:nvPr>
        </p:nvSpPr>
        <p:spPr/>
        <p:txBody>
          <a:bodyPr/>
          <a:lstStyle/>
          <a:p>
            <a:r>
              <a:rPr lang="de-LI"/>
              <a:t>Academic </a:t>
            </a:r>
            <a:r>
              <a:rPr lang="de-LI" err="1"/>
              <a:t>papers</a:t>
            </a:r>
            <a:r>
              <a:rPr lang="de-LI"/>
              <a:t> on </a:t>
            </a:r>
            <a:r>
              <a:rPr lang="de-LI" err="1"/>
              <a:t>pension</a:t>
            </a:r>
            <a:r>
              <a:rPr lang="de-LI"/>
              <a:t> </a:t>
            </a:r>
            <a:r>
              <a:rPr lang="de-LI" err="1"/>
              <a:t>systems</a:t>
            </a:r>
            <a:r>
              <a:rPr lang="de-LI"/>
              <a:t> &amp; </a:t>
            </a:r>
            <a:r>
              <a:rPr lang="de-LI" err="1"/>
              <a:t>classification</a:t>
            </a:r>
            <a:r>
              <a:rPr lang="de-LI"/>
              <a:t> (2/2)</a:t>
            </a:r>
            <a:endParaRPr lang="en-GB"/>
          </a:p>
        </p:txBody>
      </p:sp>
      <p:sp>
        <p:nvSpPr>
          <p:cNvPr id="4" name="Slide Number Placeholder 3">
            <a:extLst>
              <a:ext uri="{FF2B5EF4-FFF2-40B4-BE49-F238E27FC236}">
                <a16:creationId xmlns:a16="http://schemas.microsoft.com/office/drawing/2014/main" id="{7B160B5F-2B07-497B-72CE-B9726F195796}"/>
              </a:ext>
            </a:extLst>
          </p:cNvPr>
          <p:cNvSpPr>
            <a:spLocks noGrp="1"/>
          </p:cNvSpPr>
          <p:nvPr>
            <p:ph type="sldNum" sz="quarter" idx="12"/>
          </p:nvPr>
        </p:nvSpPr>
        <p:spPr/>
        <p:txBody>
          <a:bodyPr/>
          <a:lstStyle/>
          <a:p>
            <a:fld id="{7559FC98-AF75-4A00-A03C-DF9FEBF6BCB9}" type="slidenum">
              <a:rPr lang="en-GB" smtClean="0"/>
              <a:t>7</a:t>
            </a:fld>
            <a:endParaRPr lang="en-GB"/>
          </a:p>
        </p:txBody>
      </p:sp>
      <p:sp>
        <p:nvSpPr>
          <p:cNvPr id="21" name="TextBox 20">
            <a:extLst>
              <a:ext uri="{FF2B5EF4-FFF2-40B4-BE49-F238E27FC236}">
                <a16:creationId xmlns:a16="http://schemas.microsoft.com/office/drawing/2014/main" id="{4E15BBE8-A175-16AF-0B2B-215D9AD607A7}"/>
              </a:ext>
            </a:extLst>
          </p:cNvPr>
          <p:cNvSpPr txBox="1"/>
          <p:nvPr/>
        </p:nvSpPr>
        <p:spPr>
          <a:xfrm>
            <a:off x="358775" y="1606787"/>
            <a:ext cx="854927" cy="261610"/>
          </a:xfrm>
          <a:prstGeom prst="rect">
            <a:avLst/>
          </a:prstGeom>
          <a:noFill/>
        </p:spPr>
        <p:txBody>
          <a:bodyPr wrap="square" rtlCol="0">
            <a:spAutoFit/>
          </a:bodyPr>
          <a:lstStyle/>
          <a:p>
            <a:r>
              <a:rPr lang="en-CH" sz="1100" b="1">
                <a:solidFill>
                  <a:schemeClr val="accent1"/>
                </a:solidFill>
              </a:rPr>
              <a:t>Topic</a:t>
            </a:r>
            <a:endParaRPr lang="en-GB" sz="1100">
              <a:solidFill>
                <a:schemeClr val="accent1"/>
              </a:solidFill>
            </a:endParaRPr>
          </a:p>
        </p:txBody>
      </p:sp>
      <p:sp>
        <p:nvSpPr>
          <p:cNvPr id="23" name="TextBox 22">
            <a:extLst>
              <a:ext uri="{FF2B5EF4-FFF2-40B4-BE49-F238E27FC236}">
                <a16:creationId xmlns:a16="http://schemas.microsoft.com/office/drawing/2014/main" id="{BA168C6D-7859-9ECA-D1A2-BED1E6C719D9}"/>
              </a:ext>
            </a:extLst>
          </p:cNvPr>
          <p:cNvSpPr txBox="1"/>
          <p:nvPr/>
        </p:nvSpPr>
        <p:spPr>
          <a:xfrm>
            <a:off x="358775" y="2198462"/>
            <a:ext cx="854927" cy="261610"/>
          </a:xfrm>
          <a:prstGeom prst="rect">
            <a:avLst/>
          </a:prstGeom>
          <a:noFill/>
        </p:spPr>
        <p:txBody>
          <a:bodyPr wrap="square" rtlCol="0">
            <a:spAutoFit/>
          </a:bodyPr>
          <a:lstStyle/>
          <a:p>
            <a:r>
              <a:rPr lang="en-CH" sz="1100" b="1">
                <a:solidFill>
                  <a:schemeClr val="accent1"/>
                </a:solidFill>
              </a:rPr>
              <a:t>Year</a:t>
            </a:r>
            <a:endParaRPr lang="en-GB" sz="1100">
              <a:solidFill>
                <a:schemeClr val="accent1"/>
              </a:solidFill>
            </a:endParaRPr>
          </a:p>
        </p:txBody>
      </p:sp>
      <p:sp>
        <p:nvSpPr>
          <p:cNvPr id="25" name="TextBox 24">
            <a:extLst>
              <a:ext uri="{FF2B5EF4-FFF2-40B4-BE49-F238E27FC236}">
                <a16:creationId xmlns:a16="http://schemas.microsoft.com/office/drawing/2014/main" id="{1435F48C-E112-4286-02E4-286AD9364B7D}"/>
              </a:ext>
            </a:extLst>
          </p:cNvPr>
          <p:cNvSpPr txBox="1"/>
          <p:nvPr/>
        </p:nvSpPr>
        <p:spPr>
          <a:xfrm>
            <a:off x="358775" y="2559209"/>
            <a:ext cx="854927" cy="261610"/>
          </a:xfrm>
          <a:prstGeom prst="rect">
            <a:avLst/>
          </a:prstGeom>
          <a:noFill/>
        </p:spPr>
        <p:txBody>
          <a:bodyPr wrap="square" rtlCol="0">
            <a:spAutoFit/>
          </a:bodyPr>
          <a:lstStyle/>
          <a:p>
            <a:r>
              <a:rPr lang="en-CH" sz="1100" b="1">
                <a:solidFill>
                  <a:schemeClr val="accent1"/>
                </a:solidFill>
              </a:rPr>
              <a:t>Journal</a:t>
            </a:r>
            <a:endParaRPr lang="en-GB" sz="1100">
              <a:solidFill>
                <a:schemeClr val="accent1"/>
              </a:solidFill>
            </a:endParaRPr>
          </a:p>
        </p:txBody>
      </p:sp>
      <p:sp>
        <p:nvSpPr>
          <p:cNvPr id="27" name="TextBox 26">
            <a:extLst>
              <a:ext uri="{FF2B5EF4-FFF2-40B4-BE49-F238E27FC236}">
                <a16:creationId xmlns:a16="http://schemas.microsoft.com/office/drawing/2014/main" id="{4ACFE6C7-8493-6B32-F3CA-AA9AB2D7142C}"/>
              </a:ext>
            </a:extLst>
          </p:cNvPr>
          <p:cNvSpPr txBox="1"/>
          <p:nvPr/>
        </p:nvSpPr>
        <p:spPr>
          <a:xfrm>
            <a:off x="358775" y="3066157"/>
            <a:ext cx="986805" cy="261610"/>
          </a:xfrm>
          <a:prstGeom prst="rect">
            <a:avLst/>
          </a:prstGeom>
          <a:noFill/>
        </p:spPr>
        <p:txBody>
          <a:bodyPr wrap="square" rtlCol="0">
            <a:spAutoFit/>
          </a:bodyPr>
          <a:lstStyle/>
          <a:p>
            <a:r>
              <a:rPr lang="en-CH" sz="1100" b="1">
                <a:solidFill>
                  <a:schemeClr val="accent1"/>
                </a:solidFill>
              </a:rPr>
              <a:t>Key findings</a:t>
            </a:r>
            <a:endParaRPr lang="en-GB" sz="1100">
              <a:solidFill>
                <a:schemeClr val="accent1"/>
              </a:solidFill>
            </a:endParaRPr>
          </a:p>
        </p:txBody>
      </p:sp>
      <p:grpSp>
        <p:nvGrpSpPr>
          <p:cNvPr id="48" name="Group 47">
            <a:extLst>
              <a:ext uri="{FF2B5EF4-FFF2-40B4-BE49-F238E27FC236}">
                <a16:creationId xmlns:a16="http://schemas.microsoft.com/office/drawing/2014/main" id="{B5E98DFF-C323-8580-1151-FB7F906D217F}"/>
              </a:ext>
            </a:extLst>
          </p:cNvPr>
          <p:cNvGrpSpPr/>
          <p:nvPr/>
        </p:nvGrpSpPr>
        <p:grpSpPr>
          <a:xfrm>
            <a:off x="1553870" y="1024372"/>
            <a:ext cx="2319974" cy="3582103"/>
            <a:chOff x="1553870" y="1024372"/>
            <a:chExt cx="2319974" cy="3582103"/>
          </a:xfrm>
        </p:grpSpPr>
        <p:sp>
          <p:nvSpPr>
            <p:cNvPr id="5" name="Rectangle 4">
              <a:extLst>
                <a:ext uri="{FF2B5EF4-FFF2-40B4-BE49-F238E27FC236}">
                  <a16:creationId xmlns:a16="http://schemas.microsoft.com/office/drawing/2014/main" id="{8E9E74EC-CE3E-A173-DB61-073A8026CB3C}"/>
                </a:ext>
              </a:extLst>
            </p:cNvPr>
            <p:cNvSpPr/>
            <p:nvPr/>
          </p:nvSpPr>
          <p:spPr>
            <a:xfrm>
              <a:off x="1553870" y="1024372"/>
              <a:ext cx="2319974"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err="1"/>
                <a:t>Bottazzi</a:t>
              </a:r>
              <a:r>
                <a:rPr lang="de-LI" sz="1100"/>
                <a:t>, R., </a:t>
              </a:r>
              <a:r>
                <a:rPr lang="de-LI" sz="1100" err="1"/>
                <a:t>Jappelli</a:t>
              </a:r>
              <a:r>
                <a:rPr lang="de-LI" sz="1100"/>
                <a:t>, T., &amp; </a:t>
              </a:r>
              <a:r>
                <a:rPr lang="de-LI" sz="1100" err="1"/>
                <a:t>Padula</a:t>
              </a:r>
              <a:r>
                <a:rPr lang="de-LI" sz="1100"/>
                <a:t>, M.</a:t>
              </a:r>
              <a:endParaRPr lang="en-GB" sz="1100"/>
            </a:p>
          </p:txBody>
        </p:sp>
        <p:grpSp>
          <p:nvGrpSpPr>
            <p:cNvPr id="6" name="Down arrow">
              <a:extLst>
                <a:ext uri="{FF2B5EF4-FFF2-40B4-BE49-F238E27FC236}">
                  <a16:creationId xmlns:a16="http://schemas.microsoft.com/office/drawing/2014/main" id="{8B2B0557-8696-CE10-B02D-D804E2E4FF65}"/>
                </a:ext>
              </a:extLst>
            </p:cNvPr>
            <p:cNvGrpSpPr>
              <a:grpSpLocks noChangeAspect="1"/>
            </p:cNvGrpSpPr>
            <p:nvPr/>
          </p:nvGrpSpPr>
          <p:grpSpPr>
            <a:xfrm rot="10800000" flipV="1">
              <a:off x="2560188" y="3834712"/>
              <a:ext cx="307340" cy="307340"/>
              <a:chOff x="1413494" y="4670360"/>
              <a:chExt cx="442162" cy="456033"/>
            </a:xfrm>
          </p:grpSpPr>
          <p:sp>
            <p:nvSpPr>
              <p:cNvPr id="7" name="Ellipse 69">
                <a:extLst>
                  <a:ext uri="{FF2B5EF4-FFF2-40B4-BE49-F238E27FC236}">
                    <a16:creationId xmlns:a16="http://schemas.microsoft.com/office/drawing/2014/main" id="{98247331-CC66-50F3-178B-B527B4B037DB}"/>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8" name="Flèche vers la droite 45">
                <a:extLst>
                  <a:ext uri="{FF2B5EF4-FFF2-40B4-BE49-F238E27FC236}">
                    <a16:creationId xmlns:a16="http://schemas.microsoft.com/office/drawing/2014/main" id="{A4B8B7D7-8EE5-69F5-BB25-CB3FEF41706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22" name="TextBox 21">
              <a:extLst>
                <a:ext uri="{FF2B5EF4-FFF2-40B4-BE49-F238E27FC236}">
                  <a16:creationId xmlns:a16="http://schemas.microsoft.com/office/drawing/2014/main" id="{5ACDFFD0-A26D-ABD3-6D9B-EE1DB30ADA90}"/>
                </a:ext>
              </a:extLst>
            </p:cNvPr>
            <p:cNvSpPr txBox="1"/>
            <p:nvPr/>
          </p:nvSpPr>
          <p:spPr>
            <a:xfrm>
              <a:off x="1553872" y="1602517"/>
              <a:ext cx="2319971" cy="600164"/>
            </a:xfrm>
            <a:prstGeom prst="rect">
              <a:avLst/>
            </a:prstGeom>
            <a:noFill/>
          </p:spPr>
          <p:txBody>
            <a:bodyPr wrap="square" rtlCol="0">
              <a:spAutoFit/>
            </a:bodyPr>
            <a:lstStyle/>
            <a:p>
              <a:r>
                <a:rPr lang="en-US" sz="1100"/>
                <a:t>Retirement expectations, pension reforms, and their impact on private wealth accumulation</a:t>
              </a:r>
              <a:endParaRPr lang="en-GB" sz="1100"/>
            </a:p>
          </p:txBody>
        </p:sp>
        <p:sp>
          <p:nvSpPr>
            <p:cNvPr id="24" name="TextBox 23">
              <a:extLst>
                <a:ext uri="{FF2B5EF4-FFF2-40B4-BE49-F238E27FC236}">
                  <a16:creationId xmlns:a16="http://schemas.microsoft.com/office/drawing/2014/main" id="{A05A3063-3C6E-6947-DC74-0D2BEDCCCC38}"/>
                </a:ext>
              </a:extLst>
            </p:cNvPr>
            <p:cNvSpPr txBox="1"/>
            <p:nvPr/>
          </p:nvSpPr>
          <p:spPr>
            <a:xfrm>
              <a:off x="1553872" y="2194192"/>
              <a:ext cx="2319971" cy="261610"/>
            </a:xfrm>
            <a:prstGeom prst="rect">
              <a:avLst/>
            </a:prstGeom>
            <a:noFill/>
          </p:spPr>
          <p:txBody>
            <a:bodyPr wrap="square" rtlCol="0">
              <a:spAutoFit/>
            </a:bodyPr>
            <a:lstStyle/>
            <a:p>
              <a:pPr algn="ctr"/>
              <a:r>
                <a:rPr lang="de-LI" sz="1100"/>
                <a:t>2006</a:t>
              </a:r>
              <a:endParaRPr lang="en-GB" sz="1100"/>
            </a:p>
          </p:txBody>
        </p:sp>
        <p:sp>
          <p:nvSpPr>
            <p:cNvPr id="26" name="TextBox 25">
              <a:extLst>
                <a:ext uri="{FF2B5EF4-FFF2-40B4-BE49-F238E27FC236}">
                  <a16:creationId xmlns:a16="http://schemas.microsoft.com/office/drawing/2014/main" id="{3AF42D62-E5D2-F3AE-963D-5C4F95073054}"/>
                </a:ext>
              </a:extLst>
            </p:cNvPr>
            <p:cNvSpPr txBox="1"/>
            <p:nvPr/>
          </p:nvSpPr>
          <p:spPr>
            <a:xfrm>
              <a:off x="1553872" y="2554939"/>
              <a:ext cx="2319971" cy="261610"/>
            </a:xfrm>
            <a:prstGeom prst="rect">
              <a:avLst/>
            </a:prstGeom>
            <a:noFill/>
          </p:spPr>
          <p:txBody>
            <a:bodyPr wrap="square" rtlCol="0">
              <a:spAutoFit/>
            </a:bodyPr>
            <a:lstStyle/>
            <a:p>
              <a:pPr algn="ctr"/>
              <a:r>
                <a:rPr lang="de-LI" sz="1100"/>
                <a:t>Journal </a:t>
              </a:r>
              <a:r>
                <a:rPr lang="de-LI" sz="1100" err="1"/>
                <a:t>of</a:t>
              </a:r>
              <a:r>
                <a:rPr lang="de-LI" sz="1100"/>
                <a:t> Public Economics</a:t>
              </a:r>
              <a:endParaRPr lang="en-GB" sz="1100"/>
            </a:p>
          </p:txBody>
        </p:sp>
        <p:sp>
          <p:nvSpPr>
            <p:cNvPr id="28" name="TextBox 27">
              <a:extLst>
                <a:ext uri="{FF2B5EF4-FFF2-40B4-BE49-F238E27FC236}">
                  <a16:creationId xmlns:a16="http://schemas.microsoft.com/office/drawing/2014/main" id="{5846BB51-E3D7-EF44-257F-216652D1C8B9}"/>
                </a:ext>
              </a:extLst>
            </p:cNvPr>
            <p:cNvSpPr txBox="1"/>
            <p:nvPr/>
          </p:nvSpPr>
          <p:spPr>
            <a:xfrm>
              <a:off x="1553872" y="3061887"/>
              <a:ext cx="2319971" cy="600164"/>
            </a:xfrm>
            <a:prstGeom prst="rect">
              <a:avLst/>
            </a:prstGeom>
            <a:noFill/>
          </p:spPr>
          <p:txBody>
            <a:bodyPr wrap="square" rtlCol="0">
              <a:spAutoFit/>
            </a:bodyPr>
            <a:lstStyle/>
            <a:p>
              <a:r>
                <a:rPr lang="en-US" sz="1100"/>
                <a:t>Pension generosity can substitute for private wealth especially among informed households</a:t>
              </a:r>
              <a:endParaRPr lang="en-GB" sz="1100"/>
            </a:p>
          </p:txBody>
        </p:sp>
        <p:sp>
          <p:nvSpPr>
            <p:cNvPr id="41" name="TextBox 40">
              <a:extLst>
                <a:ext uri="{FF2B5EF4-FFF2-40B4-BE49-F238E27FC236}">
                  <a16:creationId xmlns:a16="http://schemas.microsoft.com/office/drawing/2014/main" id="{0826E639-64EC-F055-A2CC-60FF2CA2E01C}"/>
                </a:ext>
              </a:extLst>
            </p:cNvPr>
            <p:cNvSpPr txBox="1"/>
            <p:nvPr/>
          </p:nvSpPr>
          <p:spPr>
            <a:xfrm>
              <a:off x="1553872" y="4175588"/>
              <a:ext cx="2319971" cy="430887"/>
            </a:xfrm>
            <a:prstGeom prst="rect">
              <a:avLst/>
            </a:prstGeom>
            <a:noFill/>
          </p:spPr>
          <p:txBody>
            <a:bodyPr wrap="square" rtlCol="0">
              <a:spAutoFit/>
            </a:bodyPr>
            <a:lstStyle/>
            <a:p>
              <a:pPr algn="ctr"/>
              <a:r>
                <a:rPr lang="en-US" sz="1100" i="1"/>
                <a:t>Supports using replacement rate as proxy for pension generosity</a:t>
              </a:r>
              <a:endParaRPr lang="en-GB" sz="1100" i="1"/>
            </a:p>
          </p:txBody>
        </p:sp>
      </p:grpSp>
      <p:grpSp>
        <p:nvGrpSpPr>
          <p:cNvPr id="49" name="Group 48">
            <a:extLst>
              <a:ext uri="{FF2B5EF4-FFF2-40B4-BE49-F238E27FC236}">
                <a16:creationId xmlns:a16="http://schemas.microsoft.com/office/drawing/2014/main" id="{16F172F3-C25C-D297-046D-E2AA735EC004}"/>
              </a:ext>
            </a:extLst>
          </p:cNvPr>
          <p:cNvGrpSpPr/>
          <p:nvPr/>
        </p:nvGrpSpPr>
        <p:grpSpPr>
          <a:xfrm>
            <a:off x="3976515" y="1024372"/>
            <a:ext cx="2319974" cy="3751380"/>
            <a:chOff x="3948810" y="1024372"/>
            <a:chExt cx="2319974" cy="3751380"/>
          </a:xfrm>
        </p:grpSpPr>
        <p:sp>
          <p:nvSpPr>
            <p:cNvPr id="9" name="Rectangle 8">
              <a:extLst>
                <a:ext uri="{FF2B5EF4-FFF2-40B4-BE49-F238E27FC236}">
                  <a16:creationId xmlns:a16="http://schemas.microsoft.com/office/drawing/2014/main" id="{5FE2F18D-0584-4AFC-C30A-10CD02810A69}"/>
                </a:ext>
              </a:extLst>
            </p:cNvPr>
            <p:cNvSpPr/>
            <p:nvPr/>
          </p:nvSpPr>
          <p:spPr>
            <a:xfrm>
              <a:off x="3948810" y="1024372"/>
              <a:ext cx="2319974"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err="1"/>
                <a:t>Alessie</a:t>
              </a:r>
              <a:r>
                <a:rPr lang="de-LI" sz="1100"/>
                <a:t>, R., Angelini, V., &amp; van Santen, P.</a:t>
              </a:r>
              <a:endParaRPr lang="en-GB" sz="1100"/>
            </a:p>
          </p:txBody>
        </p:sp>
        <p:grpSp>
          <p:nvGrpSpPr>
            <p:cNvPr id="10" name="Down arrow">
              <a:extLst>
                <a:ext uri="{FF2B5EF4-FFF2-40B4-BE49-F238E27FC236}">
                  <a16:creationId xmlns:a16="http://schemas.microsoft.com/office/drawing/2014/main" id="{F86803B5-DD12-F004-8136-7D0C94EB69A8}"/>
                </a:ext>
              </a:extLst>
            </p:cNvPr>
            <p:cNvGrpSpPr>
              <a:grpSpLocks noChangeAspect="1"/>
            </p:cNvGrpSpPr>
            <p:nvPr/>
          </p:nvGrpSpPr>
          <p:grpSpPr>
            <a:xfrm rot="10800000" flipV="1">
              <a:off x="4955128" y="3825572"/>
              <a:ext cx="307340" cy="307340"/>
              <a:chOff x="1413494" y="4670360"/>
              <a:chExt cx="442162" cy="456033"/>
            </a:xfrm>
          </p:grpSpPr>
          <p:sp>
            <p:nvSpPr>
              <p:cNvPr id="11" name="Ellipse 69">
                <a:extLst>
                  <a:ext uri="{FF2B5EF4-FFF2-40B4-BE49-F238E27FC236}">
                    <a16:creationId xmlns:a16="http://schemas.microsoft.com/office/drawing/2014/main" id="{FE32057F-93CF-6C16-B53E-97C1AA32CD52}"/>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12" name="Flèche vers la droite 45">
                <a:extLst>
                  <a:ext uri="{FF2B5EF4-FFF2-40B4-BE49-F238E27FC236}">
                    <a16:creationId xmlns:a16="http://schemas.microsoft.com/office/drawing/2014/main" id="{7FE4F6D5-63BF-B26D-4157-21E93C2F1825}"/>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29" name="TextBox 28">
              <a:extLst>
                <a:ext uri="{FF2B5EF4-FFF2-40B4-BE49-F238E27FC236}">
                  <a16:creationId xmlns:a16="http://schemas.microsoft.com/office/drawing/2014/main" id="{196505F0-D9CA-022C-896A-CC73CA5E076A}"/>
                </a:ext>
              </a:extLst>
            </p:cNvPr>
            <p:cNvSpPr txBox="1"/>
            <p:nvPr/>
          </p:nvSpPr>
          <p:spPr>
            <a:xfrm>
              <a:off x="3948812" y="1602517"/>
              <a:ext cx="2319971" cy="600164"/>
            </a:xfrm>
            <a:prstGeom prst="rect">
              <a:avLst/>
            </a:prstGeom>
            <a:noFill/>
          </p:spPr>
          <p:txBody>
            <a:bodyPr wrap="square" rtlCol="0">
              <a:spAutoFit/>
            </a:bodyPr>
            <a:lstStyle/>
            <a:p>
              <a:r>
                <a:rPr lang="en-US" sz="1100"/>
                <a:t>Pension wealth and household savings in Europe: Evidence from SHARELIFE</a:t>
              </a:r>
              <a:endParaRPr lang="en-GB" sz="1100"/>
            </a:p>
          </p:txBody>
        </p:sp>
        <p:sp>
          <p:nvSpPr>
            <p:cNvPr id="30" name="TextBox 29">
              <a:extLst>
                <a:ext uri="{FF2B5EF4-FFF2-40B4-BE49-F238E27FC236}">
                  <a16:creationId xmlns:a16="http://schemas.microsoft.com/office/drawing/2014/main" id="{3AA58702-A6E4-2790-069C-A9BE6C0015E4}"/>
                </a:ext>
              </a:extLst>
            </p:cNvPr>
            <p:cNvSpPr txBox="1"/>
            <p:nvPr/>
          </p:nvSpPr>
          <p:spPr>
            <a:xfrm>
              <a:off x="3948812" y="2194192"/>
              <a:ext cx="2319971" cy="261610"/>
            </a:xfrm>
            <a:prstGeom prst="rect">
              <a:avLst/>
            </a:prstGeom>
            <a:noFill/>
          </p:spPr>
          <p:txBody>
            <a:bodyPr wrap="square" rtlCol="0">
              <a:spAutoFit/>
            </a:bodyPr>
            <a:lstStyle/>
            <a:p>
              <a:pPr algn="ctr"/>
              <a:r>
                <a:rPr lang="de-LI" sz="1100"/>
                <a:t>2013</a:t>
              </a:r>
              <a:endParaRPr lang="en-GB" sz="1100"/>
            </a:p>
          </p:txBody>
        </p:sp>
        <p:sp>
          <p:nvSpPr>
            <p:cNvPr id="31" name="TextBox 30">
              <a:extLst>
                <a:ext uri="{FF2B5EF4-FFF2-40B4-BE49-F238E27FC236}">
                  <a16:creationId xmlns:a16="http://schemas.microsoft.com/office/drawing/2014/main" id="{7CC06481-5E14-F99B-182E-9136C9178599}"/>
                </a:ext>
              </a:extLst>
            </p:cNvPr>
            <p:cNvSpPr txBox="1"/>
            <p:nvPr/>
          </p:nvSpPr>
          <p:spPr>
            <a:xfrm>
              <a:off x="3948812" y="2554939"/>
              <a:ext cx="2319971" cy="261610"/>
            </a:xfrm>
            <a:prstGeom prst="rect">
              <a:avLst/>
            </a:prstGeom>
            <a:noFill/>
          </p:spPr>
          <p:txBody>
            <a:bodyPr wrap="square" rtlCol="0">
              <a:spAutoFit/>
            </a:bodyPr>
            <a:lstStyle/>
            <a:p>
              <a:pPr algn="ctr"/>
              <a:r>
                <a:rPr lang="de-LI" sz="1100"/>
                <a:t>European </a:t>
              </a:r>
              <a:r>
                <a:rPr lang="de-LI" sz="1100" err="1"/>
                <a:t>Economic</a:t>
              </a:r>
              <a:r>
                <a:rPr lang="de-LI" sz="1100"/>
                <a:t> Review</a:t>
              </a:r>
              <a:endParaRPr lang="en-GB" sz="1100"/>
            </a:p>
          </p:txBody>
        </p:sp>
        <p:sp>
          <p:nvSpPr>
            <p:cNvPr id="32" name="TextBox 31">
              <a:extLst>
                <a:ext uri="{FF2B5EF4-FFF2-40B4-BE49-F238E27FC236}">
                  <a16:creationId xmlns:a16="http://schemas.microsoft.com/office/drawing/2014/main" id="{191420D3-074B-C991-1884-7A5E85A6CF53}"/>
                </a:ext>
              </a:extLst>
            </p:cNvPr>
            <p:cNvSpPr txBox="1"/>
            <p:nvPr/>
          </p:nvSpPr>
          <p:spPr>
            <a:xfrm>
              <a:off x="3948812" y="3061887"/>
              <a:ext cx="2319971" cy="600164"/>
            </a:xfrm>
            <a:prstGeom prst="rect">
              <a:avLst/>
            </a:prstGeom>
            <a:noFill/>
          </p:spPr>
          <p:txBody>
            <a:bodyPr wrap="square" rtlCol="0">
              <a:spAutoFit/>
            </a:bodyPr>
            <a:lstStyle/>
            <a:p>
              <a:r>
                <a:rPr lang="en-US" sz="1100"/>
                <a:t>+1 EUR increase in pension reduces private wealth by -0.47 EUR, implying that pension substitutes savings</a:t>
              </a:r>
              <a:endParaRPr lang="en-GB" sz="1100"/>
            </a:p>
          </p:txBody>
        </p:sp>
        <p:sp>
          <p:nvSpPr>
            <p:cNvPr id="42" name="TextBox 41">
              <a:extLst>
                <a:ext uri="{FF2B5EF4-FFF2-40B4-BE49-F238E27FC236}">
                  <a16:creationId xmlns:a16="http://schemas.microsoft.com/office/drawing/2014/main" id="{70063ED9-1D21-6DA6-CD77-0952E3702BF5}"/>
                </a:ext>
              </a:extLst>
            </p:cNvPr>
            <p:cNvSpPr txBox="1"/>
            <p:nvPr/>
          </p:nvSpPr>
          <p:spPr>
            <a:xfrm>
              <a:off x="3948812" y="4175588"/>
              <a:ext cx="2319971" cy="600164"/>
            </a:xfrm>
            <a:prstGeom prst="rect">
              <a:avLst/>
            </a:prstGeom>
            <a:noFill/>
          </p:spPr>
          <p:txBody>
            <a:bodyPr wrap="square" rtlCol="0">
              <a:spAutoFit/>
            </a:bodyPr>
            <a:lstStyle/>
            <a:p>
              <a:pPr algn="ctr"/>
              <a:r>
                <a:rPr lang="en-US" sz="1100" i="1"/>
                <a:t>Uses pension wealth as a measure which takes replacement rate into account</a:t>
              </a:r>
              <a:endParaRPr lang="en-GB" sz="1100" i="1"/>
            </a:p>
          </p:txBody>
        </p:sp>
      </p:grpSp>
      <p:grpSp>
        <p:nvGrpSpPr>
          <p:cNvPr id="47" name="Group 46">
            <a:extLst>
              <a:ext uri="{FF2B5EF4-FFF2-40B4-BE49-F238E27FC236}">
                <a16:creationId xmlns:a16="http://schemas.microsoft.com/office/drawing/2014/main" id="{27663BB0-C7E5-2FE1-7223-26F444327BC8}"/>
              </a:ext>
            </a:extLst>
          </p:cNvPr>
          <p:cNvGrpSpPr/>
          <p:nvPr/>
        </p:nvGrpSpPr>
        <p:grpSpPr>
          <a:xfrm>
            <a:off x="6399160" y="1024372"/>
            <a:ext cx="2874154" cy="3582103"/>
            <a:chOff x="6574646" y="1024372"/>
            <a:chExt cx="2874154" cy="3582103"/>
          </a:xfrm>
        </p:grpSpPr>
        <p:sp>
          <p:nvSpPr>
            <p:cNvPr id="13" name="Rectangle 12">
              <a:extLst>
                <a:ext uri="{FF2B5EF4-FFF2-40B4-BE49-F238E27FC236}">
                  <a16:creationId xmlns:a16="http://schemas.microsoft.com/office/drawing/2014/main" id="{343169D7-BEBC-4880-AB01-9D2A7F514E68}"/>
                </a:ext>
              </a:extLst>
            </p:cNvPr>
            <p:cNvSpPr/>
            <p:nvPr/>
          </p:nvSpPr>
          <p:spPr>
            <a:xfrm>
              <a:off x="6574646" y="1024372"/>
              <a:ext cx="2319974"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Scharfstein, D. S.</a:t>
              </a:r>
            </a:p>
          </p:txBody>
        </p:sp>
        <p:grpSp>
          <p:nvGrpSpPr>
            <p:cNvPr id="14" name="Down arrow">
              <a:extLst>
                <a:ext uri="{FF2B5EF4-FFF2-40B4-BE49-F238E27FC236}">
                  <a16:creationId xmlns:a16="http://schemas.microsoft.com/office/drawing/2014/main" id="{087A34B4-BC62-A90B-A5A8-AEF5F465200E}"/>
                </a:ext>
              </a:extLst>
            </p:cNvPr>
            <p:cNvGrpSpPr>
              <a:grpSpLocks noChangeAspect="1"/>
            </p:cNvGrpSpPr>
            <p:nvPr/>
          </p:nvGrpSpPr>
          <p:grpSpPr>
            <a:xfrm rot="10800000" flipV="1">
              <a:off x="7580964" y="3825572"/>
              <a:ext cx="307340" cy="307340"/>
              <a:chOff x="1413494" y="4670360"/>
              <a:chExt cx="442162" cy="456033"/>
            </a:xfrm>
          </p:grpSpPr>
          <p:sp>
            <p:nvSpPr>
              <p:cNvPr id="15" name="Ellipse 69">
                <a:extLst>
                  <a:ext uri="{FF2B5EF4-FFF2-40B4-BE49-F238E27FC236}">
                    <a16:creationId xmlns:a16="http://schemas.microsoft.com/office/drawing/2014/main" id="{CFCCA541-C7E7-40AB-A51F-8BBAFD874B05}"/>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sp>
            <p:nvSpPr>
              <p:cNvPr id="16" name="Flèche vers la droite 45">
                <a:extLst>
                  <a:ext uri="{FF2B5EF4-FFF2-40B4-BE49-F238E27FC236}">
                    <a16:creationId xmlns:a16="http://schemas.microsoft.com/office/drawing/2014/main" id="{764CDD02-4A4A-8097-1C8F-2EC5CAF2EAE3}"/>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i="0" strike="noStrike" cap="none" normalizeH="0" baseline="0">
                  <a:ln>
                    <a:noFill/>
                  </a:ln>
                  <a:solidFill>
                    <a:schemeClr val="accent2"/>
                  </a:solidFill>
                  <a:effectLst/>
                  <a:latin typeface="Lato" panose="020F0502020204030203" pitchFamily="34" charset="77"/>
                </a:endParaRPr>
              </a:p>
            </p:txBody>
          </p:sp>
        </p:grpSp>
        <p:sp>
          <p:nvSpPr>
            <p:cNvPr id="33" name="TextBox 32">
              <a:extLst>
                <a:ext uri="{FF2B5EF4-FFF2-40B4-BE49-F238E27FC236}">
                  <a16:creationId xmlns:a16="http://schemas.microsoft.com/office/drawing/2014/main" id="{8EE22BFD-26E0-A966-6D87-0A971A7F9ABE}"/>
                </a:ext>
              </a:extLst>
            </p:cNvPr>
            <p:cNvSpPr txBox="1"/>
            <p:nvPr/>
          </p:nvSpPr>
          <p:spPr>
            <a:xfrm>
              <a:off x="6574648" y="1602517"/>
              <a:ext cx="2319971" cy="430887"/>
            </a:xfrm>
            <a:prstGeom prst="rect">
              <a:avLst/>
            </a:prstGeom>
            <a:noFill/>
          </p:spPr>
          <p:txBody>
            <a:bodyPr wrap="square" rtlCol="0">
              <a:spAutoFit/>
            </a:bodyPr>
            <a:lstStyle/>
            <a:p>
              <a:r>
                <a:rPr lang="en-US" sz="1100"/>
                <a:t>Presidential Address: Pension policy and the financial system</a:t>
              </a:r>
              <a:endParaRPr lang="en-GB" sz="1100"/>
            </a:p>
          </p:txBody>
        </p:sp>
        <p:sp>
          <p:nvSpPr>
            <p:cNvPr id="34" name="TextBox 33">
              <a:extLst>
                <a:ext uri="{FF2B5EF4-FFF2-40B4-BE49-F238E27FC236}">
                  <a16:creationId xmlns:a16="http://schemas.microsoft.com/office/drawing/2014/main" id="{A04B9ED9-0172-AABE-C803-52F28B18A5FA}"/>
                </a:ext>
              </a:extLst>
            </p:cNvPr>
            <p:cNvSpPr txBox="1"/>
            <p:nvPr/>
          </p:nvSpPr>
          <p:spPr>
            <a:xfrm>
              <a:off x="6574648" y="2194192"/>
              <a:ext cx="2319971" cy="261610"/>
            </a:xfrm>
            <a:prstGeom prst="rect">
              <a:avLst/>
            </a:prstGeom>
            <a:noFill/>
          </p:spPr>
          <p:txBody>
            <a:bodyPr wrap="square" rtlCol="0">
              <a:spAutoFit/>
            </a:bodyPr>
            <a:lstStyle/>
            <a:p>
              <a:pPr algn="ctr"/>
              <a:r>
                <a:rPr lang="de-LI" sz="1100"/>
                <a:t>2018</a:t>
              </a:r>
              <a:endParaRPr lang="en-GB" sz="1100"/>
            </a:p>
          </p:txBody>
        </p:sp>
        <p:sp>
          <p:nvSpPr>
            <p:cNvPr id="35" name="TextBox 34">
              <a:extLst>
                <a:ext uri="{FF2B5EF4-FFF2-40B4-BE49-F238E27FC236}">
                  <a16:creationId xmlns:a16="http://schemas.microsoft.com/office/drawing/2014/main" id="{E51C5B54-414B-2E6E-7636-92DF09FD6E82}"/>
                </a:ext>
              </a:extLst>
            </p:cNvPr>
            <p:cNvSpPr txBox="1"/>
            <p:nvPr/>
          </p:nvSpPr>
          <p:spPr>
            <a:xfrm>
              <a:off x="6574648" y="2554939"/>
              <a:ext cx="2319971" cy="261610"/>
            </a:xfrm>
            <a:prstGeom prst="rect">
              <a:avLst/>
            </a:prstGeom>
            <a:noFill/>
          </p:spPr>
          <p:txBody>
            <a:bodyPr wrap="square" rtlCol="0">
              <a:spAutoFit/>
            </a:bodyPr>
            <a:lstStyle/>
            <a:p>
              <a:pPr algn="ctr"/>
              <a:r>
                <a:rPr lang="de-LI" sz="1100"/>
                <a:t>The Journal </a:t>
              </a:r>
              <a:r>
                <a:rPr lang="de-LI" sz="1100" err="1"/>
                <a:t>of</a:t>
              </a:r>
              <a:r>
                <a:rPr lang="de-LI" sz="1100"/>
                <a:t> Finance</a:t>
              </a:r>
              <a:endParaRPr lang="en-GB" sz="1100"/>
            </a:p>
          </p:txBody>
        </p:sp>
        <p:sp>
          <p:nvSpPr>
            <p:cNvPr id="36" name="TextBox 35">
              <a:extLst>
                <a:ext uri="{FF2B5EF4-FFF2-40B4-BE49-F238E27FC236}">
                  <a16:creationId xmlns:a16="http://schemas.microsoft.com/office/drawing/2014/main" id="{33C5F2CE-B078-898F-85B5-4826AE22023D}"/>
                </a:ext>
              </a:extLst>
            </p:cNvPr>
            <p:cNvSpPr txBox="1"/>
            <p:nvPr/>
          </p:nvSpPr>
          <p:spPr>
            <a:xfrm>
              <a:off x="6685484" y="3061887"/>
              <a:ext cx="2763316" cy="938719"/>
            </a:xfrm>
            <a:prstGeom prst="rect">
              <a:avLst/>
            </a:prstGeom>
            <a:noFill/>
          </p:spPr>
          <p:txBody>
            <a:bodyPr wrap="square" rtlCol="0">
              <a:spAutoFit/>
            </a:bodyPr>
            <a:lstStyle/>
            <a:p>
              <a:r>
                <a:rPr lang="en-GB" sz="1100"/>
                <a:t>-) Higher pension replacement rates tend </a:t>
              </a:r>
              <a:r>
                <a:rPr lang="en-GB" sz="1100">
                  <a:sym typeface="Wingdings" pitchFamily="2" charset="2"/>
                </a:rPr>
                <a:t> </a:t>
              </a:r>
              <a:r>
                <a:rPr lang="en-GB" sz="1100"/>
                <a:t>more bank-based financial systems</a:t>
              </a:r>
            </a:p>
            <a:p>
              <a:r>
                <a:rPr lang="en-GB" sz="1100"/>
                <a:t>-) households hold more deposits as a share of wealth in more PAYGO-oriented system</a:t>
              </a:r>
            </a:p>
            <a:p>
              <a:endParaRPr lang="en-GB" sz="1100"/>
            </a:p>
          </p:txBody>
        </p:sp>
        <p:sp>
          <p:nvSpPr>
            <p:cNvPr id="43" name="TextBox 42">
              <a:extLst>
                <a:ext uri="{FF2B5EF4-FFF2-40B4-BE49-F238E27FC236}">
                  <a16:creationId xmlns:a16="http://schemas.microsoft.com/office/drawing/2014/main" id="{28BF0C58-B3F0-C18C-40BD-9FDD365FB7BA}"/>
                </a:ext>
              </a:extLst>
            </p:cNvPr>
            <p:cNvSpPr txBox="1"/>
            <p:nvPr/>
          </p:nvSpPr>
          <p:spPr>
            <a:xfrm>
              <a:off x="6574648" y="4175588"/>
              <a:ext cx="2319971" cy="430887"/>
            </a:xfrm>
            <a:prstGeom prst="rect">
              <a:avLst/>
            </a:prstGeom>
            <a:noFill/>
          </p:spPr>
          <p:txBody>
            <a:bodyPr wrap="square" rtlCol="0">
              <a:spAutoFit/>
            </a:bodyPr>
            <a:lstStyle/>
            <a:p>
              <a:pPr algn="ctr"/>
              <a:r>
                <a:rPr lang="en-US" sz="1100" i="1"/>
                <a:t>Direct link between financial </a:t>
              </a:r>
              <a:r>
                <a:rPr lang="en-US" sz="1100" i="1" err="1"/>
                <a:t>systemstem</a:t>
              </a:r>
              <a:r>
                <a:rPr lang="en-US" sz="1100" i="1"/>
                <a:t> &amp; pension type</a:t>
              </a:r>
              <a:endParaRPr lang="en-GB" sz="1100" i="1"/>
            </a:p>
          </p:txBody>
        </p:sp>
      </p:grpSp>
      <p:sp>
        <p:nvSpPr>
          <p:cNvPr id="50" name="Rectangle 49">
            <a:extLst>
              <a:ext uri="{FF2B5EF4-FFF2-40B4-BE49-F238E27FC236}">
                <a16:creationId xmlns:a16="http://schemas.microsoft.com/office/drawing/2014/main" id="{9FC20F60-1A9E-AA91-8AF8-D2E4ECC6CAA1}"/>
              </a:ext>
            </a:extLst>
          </p:cNvPr>
          <p:cNvSpPr/>
          <p:nvPr/>
        </p:nvSpPr>
        <p:spPr>
          <a:xfrm rot="2422836">
            <a:off x="8199265" y="979331"/>
            <a:ext cx="712576" cy="18811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a:solidFill>
                  <a:sysClr val="windowText" lastClr="000000"/>
                </a:solidFill>
              </a:rPr>
              <a:t>Duplicate</a:t>
            </a:r>
            <a:endParaRPr lang="en-CH">
              <a:solidFill>
                <a:sysClr val="windowText" lastClr="000000"/>
              </a:solidFill>
            </a:endParaRPr>
          </a:p>
        </p:txBody>
      </p:sp>
    </p:spTree>
    <p:extLst>
      <p:ext uri="{BB962C8B-B14F-4D97-AF65-F5344CB8AC3E}">
        <p14:creationId xmlns:p14="http://schemas.microsoft.com/office/powerpoint/2010/main" val="965465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8ABCA-9CC6-3AF9-D83A-BB2C709DC4E8}"/>
              </a:ext>
            </a:extLst>
          </p:cNvPr>
          <p:cNvSpPr>
            <a:spLocks noGrp="1"/>
          </p:cNvSpPr>
          <p:nvPr>
            <p:ph type="title"/>
          </p:nvPr>
        </p:nvSpPr>
        <p:spPr/>
        <p:txBody>
          <a:bodyPr/>
          <a:lstStyle/>
          <a:p>
            <a:r>
              <a:rPr lang="en-GB"/>
              <a:t>Literature review paper</a:t>
            </a:r>
          </a:p>
        </p:txBody>
      </p:sp>
      <p:pic>
        <p:nvPicPr>
          <p:cNvPr id="6" name="Content Placeholder 5" descr="A white card with black text&#10;&#10;AI-generated content may be incorrect.">
            <a:extLst>
              <a:ext uri="{FF2B5EF4-FFF2-40B4-BE49-F238E27FC236}">
                <a16:creationId xmlns:a16="http://schemas.microsoft.com/office/drawing/2014/main" id="{2ADFC9E3-57BB-2901-B000-BFCEA2EEDCA3}"/>
              </a:ext>
            </a:extLst>
          </p:cNvPr>
          <p:cNvPicPr>
            <a:picLocks noGrp="1" noChangeAspect="1"/>
          </p:cNvPicPr>
          <p:nvPr>
            <p:ph sz="half" idx="1"/>
          </p:nvPr>
        </p:nvPicPr>
        <p:blipFill>
          <a:blip r:embed="rId2"/>
          <a:stretch>
            <a:fillRect/>
          </a:stretch>
        </p:blipFill>
        <p:spPr>
          <a:xfrm>
            <a:off x="432741" y="1276349"/>
            <a:ext cx="3974807" cy="3203576"/>
          </a:xfrm>
          <a:prstGeom prst="rect">
            <a:avLst/>
          </a:prstGeom>
        </p:spPr>
      </p:pic>
      <p:sp>
        <p:nvSpPr>
          <p:cNvPr id="4" name="Content Placeholder 3">
            <a:extLst>
              <a:ext uri="{FF2B5EF4-FFF2-40B4-BE49-F238E27FC236}">
                <a16:creationId xmlns:a16="http://schemas.microsoft.com/office/drawing/2014/main" id="{93A57364-994B-92E4-AF77-E7FFD86BC522}"/>
              </a:ext>
            </a:extLst>
          </p:cNvPr>
          <p:cNvSpPr>
            <a:spLocks noGrp="1"/>
          </p:cNvSpPr>
          <p:nvPr>
            <p:ph sz="half" idx="2"/>
          </p:nvPr>
        </p:nvSpPr>
        <p:spPr/>
        <p:txBody>
          <a:bodyPr/>
          <a:lstStyle/>
          <a:p>
            <a:endParaRPr lang="en-GB"/>
          </a:p>
        </p:txBody>
      </p:sp>
      <p:sp>
        <p:nvSpPr>
          <p:cNvPr id="5" name="Slide Number Placeholder 4">
            <a:extLst>
              <a:ext uri="{FF2B5EF4-FFF2-40B4-BE49-F238E27FC236}">
                <a16:creationId xmlns:a16="http://schemas.microsoft.com/office/drawing/2014/main" id="{AEF59AC8-67B2-8A2A-5334-C8D0FE2055C2}"/>
              </a:ext>
            </a:extLst>
          </p:cNvPr>
          <p:cNvSpPr>
            <a:spLocks noGrp="1"/>
          </p:cNvSpPr>
          <p:nvPr>
            <p:ph type="sldNum" sz="quarter" idx="12"/>
          </p:nvPr>
        </p:nvSpPr>
        <p:spPr/>
        <p:txBody>
          <a:bodyPr/>
          <a:lstStyle/>
          <a:p>
            <a:fld id="{7559FC98-AF75-4A00-A03C-DF9FEBF6BCB9}" type="slidenum">
              <a:rPr lang="en-GB" smtClean="0"/>
              <a:t>8</a:t>
            </a:fld>
            <a:endParaRPr lang="en-GB"/>
          </a:p>
        </p:txBody>
      </p:sp>
    </p:spTree>
    <p:extLst>
      <p:ext uri="{BB962C8B-B14F-4D97-AF65-F5344CB8AC3E}">
        <p14:creationId xmlns:p14="http://schemas.microsoft.com/office/powerpoint/2010/main" val="4027136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54D68-03A3-DEB3-9AD6-66FE21B4441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5F6CDF5-C518-259A-46D7-E122FCFC5B5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55F6CDF5-C518-259A-46D7-E122FCFC5B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8499DFC-DF66-B56A-EB2B-21F8EF20D04C}"/>
              </a:ext>
            </a:extLst>
          </p:cNvPr>
          <p:cNvSpPr>
            <a:spLocks noGrp="1"/>
          </p:cNvSpPr>
          <p:nvPr>
            <p:ph type="title"/>
          </p:nvPr>
        </p:nvSpPr>
        <p:spPr/>
        <p:txBody>
          <a:bodyPr vert="horz" rIns="0"/>
          <a:lstStyle/>
          <a:p>
            <a:r>
              <a:rPr lang="de-LI"/>
              <a:t>Datasets which may be used</a:t>
            </a:r>
          </a:p>
        </p:txBody>
      </p:sp>
      <p:sp>
        <p:nvSpPr>
          <p:cNvPr id="3" name="Slide Number Placeholder 2">
            <a:extLst>
              <a:ext uri="{FF2B5EF4-FFF2-40B4-BE49-F238E27FC236}">
                <a16:creationId xmlns:a16="http://schemas.microsoft.com/office/drawing/2014/main" id="{5DE65613-A407-13F3-DC75-AA474FEE50C1}"/>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9</a:t>
            </a:fld>
            <a:endParaRPr lang="en-GB"/>
          </a:p>
        </p:txBody>
      </p:sp>
      <p:sp>
        <p:nvSpPr>
          <p:cNvPr id="23" name="TextBox 22">
            <a:extLst>
              <a:ext uri="{FF2B5EF4-FFF2-40B4-BE49-F238E27FC236}">
                <a16:creationId xmlns:a16="http://schemas.microsoft.com/office/drawing/2014/main" id="{9EFCB93D-5E9E-F548-DBC1-64224FD9D5A3}"/>
              </a:ext>
            </a:extLst>
          </p:cNvPr>
          <p:cNvSpPr txBox="1"/>
          <p:nvPr/>
        </p:nvSpPr>
        <p:spPr>
          <a:xfrm>
            <a:off x="358775" y="1554749"/>
            <a:ext cx="854927" cy="246221"/>
          </a:xfrm>
          <a:prstGeom prst="rect">
            <a:avLst/>
          </a:prstGeom>
          <a:noFill/>
        </p:spPr>
        <p:txBody>
          <a:bodyPr wrap="square" rtlCol="0">
            <a:spAutoFit/>
          </a:bodyPr>
          <a:lstStyle/>
          <a:p>
            <a:r>
              <a:rPr lang="en-CH" sz="1000" b="1">
                <a:solidFill>
                  <a:schemeClr val="accent1"/>
                </a:solidFill>
              </a:rPr>
              <a:t>Sources</a:t>
            </a:r>
            <a:endParaRPr lang="en-GB" sz="1000">
              <a:solidFill>
                <a:schemeClr val="accent1"/>
              </a:solidFill>
            </a:endParaRPr>
          </a:p>
        </p:txBody>
      </p:sp>
      <p:grpSp>
        <p:nvGrpSpPr>
          <p:cNvPr id="34" name="Group 33">
            <a:extLst>
              <a:ext uri="{FF2B5EF4-FFF2-40B4-BE49-F238E27FC236}">
                <a16:creationId xmlns:a16="http://schemas.microsoft.com/office/drawing/2014/main" id="{380742A8-D434-DCFD-503E-E13C168BFDFC}"/>
              </a:ext>
            </a:extLst>
          </p:cNvPr>
          <p:cNvGrpSpPr/>
          <p:nvPr/>
        </p:nvGrpSpPr>
        <p:grpSpPr>
          <a:xfrm>
            <a:off x="3008443" y="1024372"/>
            <a:ext cx="1589029" cy="3447556"/>
            <a:chOff x="2977561" y="1024372"/>
            <a:chExt cx="1589029" cy="3447556"/>
          </a:xfrm>
        </p:grpSpPr>
        <p:sp>
          <p:nvSpPr>
            <p:cNvPr id="12" name="Rectangle 11">
              <a:extLst>
                <a:ext uri="{FF2B5EF4-FFF2-40B4-BE49-F238E27FC236}">
                  <a16:creationId xmlns:a16="http://schemas.microsoft.com/office/drawing/2014/main" id="{5F31B109-FB3B-D554-184E-4FF8C5D6961E}"/>
                </a:ext>
              </a:extLst>
            </p:cNvPr>
            <p:cNvSpPr/>
            <p:nvPr/>
          </p:nvSpPr>
          <p:spPr>
            <a:xfrm>
              <a:off x="2977561"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t>Demographic</a:t>
              </a:r>
              <a:br>
                <a:rPr lang="en-GB" sz="1000"/>
              </a:br>
              <a:r>
                <a:rPr lang="en-GB" sz="1000"/>
                <a:t>data</a:t>
              </a:r>
            </a:p>
          </p:txBody>
        </p:sp>
        <p:sp>
          <p:nvSpPr>
            <p:cNvPr id="13" name="Rectangle 12">
              <a:extLst>
                <a:ext uri="{FF2B5EF4-FFF2-40B4-BE49-F238E27FC236}">
                  <a16:creationId xmlns:a16="http://schemas.microsoft.com/office/drawing/2014/main" id="{EE4B9789-2D40-2AB8-938F-2CBAA2601CFC}"/>
                </a:ext>
              </a:extLst>
            </p:cNvPr>
            <p:cNvSpPr/>
            <p:nvPr/>
          </p:nvSpPr>
          <p:spPr>
            <a:xfrm>
              <a:off x="2977562" y="4199818"/>
              <a:ext cx="1589028" cy="27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i="1">
                  <a:solidFill>
                    <a:schemeClr val="tx1"/>
                  </a:solidFill>
                </a:rPr>
                <a:t>Key data on demographics across countries</a:t>
              </a:r>
            </a:p>
          </p:txBody>
        </p:sp>
        <p:grpSp>
          <p:nvGrpSpPr>
            <p:cNvPr id="14" name="Down arrow">
              <a:extLst>
                <a:ext uri="{FF2B5EF4-FFF2-40B4-BE49-F238E27FC236}">
                  <a16:creationId xmlns:a16="http://schemas.microsoft.com/office/drawing/2014/main" id="{363C0E34-8A6E-2CFD-5ECA-979AE3FE0620}"/>
                </a:ext>
              </a:extLst>
            </p:cNvPr>
            <p:cNvGrpSpPr>
              <a:grpSpLocks noChangeAspect="1"/>
            </p:cNvGrpSpPr>
            <p:nvPr/>
          </p:nvGrpSpPr>
          <p:grpSpPr>
            <a:xfrm rot="10800000" flipV="1">
              <a:off x="3618405" y="3850748"/>
              <a:ext cx="307340" cy="307340"/>
              <a:chOff x="1413494" y="4670360"/>
              <a:chExt cx="442162" cy="456033"/>
            </a:xfrm>
          </p:grpSpPr>
          <p:sp>
            <p:nvSpPr>
              <p:cNvPr id="15" name="Ellipse 69">
                <a:extLst>
                  <a:ext uri="{FF2B5EF4-FFF2-40B4-BE49-F238E27FC236}">
                    <a16:creationId xmlns:a16="http://schemas.microsoft.com/office/drawing/2014/main" id="{A2E293B0-D966-8EF6-A834-652E10746369}"/>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6" name="Flèche vers la droite 45">
                <a:extLst>
                  <a:ext uri="{FF2B5EF4-FFF2-40B4-BE49-F238E27FC236}">
                    <a16:creationId xmlns:a16="http://schemas.microsoft.com/office/drawing/2014/main" id="{0E8C19CA-553F-97B6-042B-2523B190A109}"/>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sp>
          <p:nvSpPr>
            <p:cNvPr id="24" name="TextBox 23">
              <a:extLst>
                <a:ext uri="{FF2B5EF4-FFF2-40B4-BE49-F238E27FC236}">
                  <a16:creationId xmlns:a16="http://schemas.microsoft.com/office/drawing/2014/main" id="{68B94954-CDDC-F111-B28B-3E478897B9EE}"/>
                </a:ext>
              </a:extLst>
            </p:cNvPr>
            <p:cNvSpPr txBox="1"/>
            <p:nvPr/>
          </p:nvSpPr>
          <p:spPr>
            <a:xfrm>
              <a:off x="2977561" y="1550479"/>
              <a:ext cx="1589029" cy="1938992"/>
            </a:xfrm>
            <a:prstGeom prst="rect">
              <a:avLst/>
            </a:prstGeom>
            <a:noFill/>
          </p:spPr>
          <p:txBody>
            <a:bodyPr wrap="square" rtlCol="0">
              <a:spAutoFit/>
            </a:bodyPr>
            <a:lstStyle/>
            <a:p>
              <a:pPr marL="171450" indent="-171450">
                <a:buFont typeface="Arial" panose="020B0604020202020204" pitchFamily="34" charset="0"/>
                <a:buChar char="•"/>
              </a:pPr>
              <a:r>
                <a:rPr lang="en-CH" sz="1000"/>
                <a:t>World Bank: </a:t>
              </a:r>
              <a:r>
                <a:rPr lang="en-US" sz="1000">
                  <a:hlinkClick r:id="rId5"/>
                </a:rPr>
                <a:t>https://data.worldbank.org/indicator/SP.POP.65UP.TO.ZS</a:t>
              </a:r>
              <a:endParaRPr lang="en-CH" sz="1000"/>
            </a:p>
            <a:p>
              <a:pPr marL="171450" indent="-171450">
                <a:buFont typeface="Arial" panose="020B0604020202020204" pitchFamily="34" charset="0"/>
                <a:buChar char="•"/>
              </a:pPr>
              <a:endParaRPr lang="en-CH" sz="1000"/>
            </a:p>
            <a:p>
              <a:pPr marL="171450" indent="-171450">
                <a:buFont typeface="Arial" panose="020B0604020202020204" pitchFamily="34" charset="0"/>
                <a:buChar char="•"/>
              </a:pPr>
              <a:r>
                <a:rPr lang="en-CH" sz="1000"/>
                <a:t>US Census Bureau: </a:t>
              </a:r>
              <a:r>
                <a:rPr lang="en-US" sz="1000">
                  <a:hlinkClick r:id="rId6"/>
                </a:rPr>
                <a:t>https://www.census.gov/data-tools/demo/idb/#/dashboard?dashboard_page=country&amp;COUNTRY_YR_ANIM=2026</a:t>
              </a:r>
              <a:endParaRPr lang="en-CH" sz="1000"/>
            </a:p>
          </p:txBody>
        </p:sp>
      </p:grpSp>
      <p:grpSp>
        <p:nvGrpSpPr>
          <p:cNvPr id="33" name="Group 32">
            <a:extLst>
              <a:ext uri="{FF2B5EF4-FFF2-40B4-BE49-F238E27FC236}">
                <a16:creationId xmlns:a16="http://schemas.microsoft.com/office/drawing/2014/main" id="{EE615086-B8CC-E2DE-0BFD-28F473B363DF}"/>
              </a:ext>
            </a:extLst>
          </p:cNvPr>
          <p:cNvGrpSpPr/>
          <p:nvPr/>
        </p:nvGrpSpPr>
        <p:grpSpPr>
          <a:xfrm>
            <a:off x="1213702" y="1024372"/>
            <a:ext cx="1589029" cy="3447556"/>
            <a:chOff x="1213702" y="1024372"/>
            <a:chExt cx="1589029" cy="3447556"/>
          </a:xfrm>
        </p:grpSpPr>
        <p:sp>
          <p:nvSpPr>
            <p:cNvPr id="6" name="Rectangle 5">
              <a:extLst>
                <a:ext uri="{FF2B5EF4-FFF2-40B4-BE49-F238E27FC236}">
                  <a16:creationId xmlns:a16="http://schemas.microsoft.com/office/drawing/2014/main" id="{B279825E-61A1-6BA8-7DFC-A4FE7DBA59D3}"/>
                </a:ext>
              </a:extLst>
            </p:cNvPr>
            <p:cNvSpPr/>
            <p:nvPr/>
          </p:nvSpPr>
          <p:spPr>
            <a:xfrm>
              <a:off x="1213702"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t>Provided CSV</a:t>
              </a:r>
              <a:br>
                <a:rPr lang="en-GB" sz="1000"/>
              </a:br>
              <a:r>
                <a:rPr lang="en-GB" sz="1000"/>
                <a:t>file</a:t>
              </a:r>
            </a:p>
          </p:txBody>
        </p:sp>
        <p:sp>
          <p:nvSpPr>
            <p:cNvPr id="7" name="Rectangle 6">
              <a:extLst>
                <a:ext uri="{FF2B5EF4-FFF2-40B4-BE49-F238E27FC236}">
                  <a16:creationId xmlns:a16="http://schemas.microsoft.com/office/drawing/2014/main" id="{7769133B-D0DA-8394-416F-1BFA93916376}"/>
                </a:ext>
              </a:extLst>
            </p:cNvPr>
            <p:cNvSpPr/>
            <p:nvPr/>
          </p:nvSpPr>
          <p:spPr>
            <a:xfrm>
              <a:off x="1213703" y="4199818"/>
              <a:ext cx="1589028" cy="27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i="1">
                  <a:solidFill>
                    <a:schemeClr val="tx1"/>
                  </a:solidFill>
                </a:rPr>
                <a:t>Core dataset with dep./indep. variables</a:t>
              </a:r>
              <a:endParaRPr lang="en-GB" sz="1000" i="1">
                <a:solidFill>
                  <a:schemeClr val="tx1"/>
                </a:solidFill>
              </a:endParaRPr>
            </a:p>
          </p:txBody>
        </p:sp>
        <p:grpSp>
          <p:nvGrpSpPr>
            <p:cNvPr id="8" name="Down arrow">
              <a:extLst>
                <a:ext uri="{FF2B5EF4-FFF2-40B4-BE49-F238E27FC236}">
                  <a16:creationId xmlns:a16="http://schemas.microsoft.com/office/drawing/2014/main" id="{14273005-5452-784A-5C80-A110917D67FA}"/>
                </a:ext>
              </a:extLst>
            </p:cNvPr>
            <p:cNvGrpSpPr>
              <a:grpSpLocks noChangeAspect="1"/>
            </p:cNvGrpSpPr>
            <p:nvPr/>
          </p:nvGrpSpPr>
          <p:grpSpPr>
            <a:xfrm rot="10800000" flipV="1">
              <a:off x="1854546" y="3850748"/>
              <a:ext cx="307340" cy="307340"/>
              <a:chOff x="1413494" y="4670360"/>
              <a:chExt cx="442162" cy="456033"/>
            </a:xfrm>
          </p:grpSpPr>
          <p:sp>
            <p:nvSpPr>
              <p:cNvPr id="9" name="Ellipse 69">
                <a:extLst>
                  <a:ext uri="{FF2B5EF4-FFF2-40B4-BE49-F238E27FC236}">
                    <a16:creationId xmlns:a16="http://schemas.microsoft.com/office/drawing/2014/main" id="{1B478053-7E7D-AB33-26AF-19D262C440FD}"/>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0" name="Flèche vers la droite 45">
                <a:extLst>
                  <a:ext uri="{FF2B5EF4-FFF2-40B4-BE49-F238E27FC236}">
                    <a16:creationId xmlns:a16="http://schemas.microsoft.com/office/drawing/2014/main" id="{E2AA74FC-A850-7EBC-6F93-123EFD05245F}"/>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sp>
          <p:nvSpPr>
            <p:cNvPr id="31" name="TextBox 30">
              <a:extLst>
                <a:ext uri="{FF2B5EF4-FFF2-40B4-BE49-F238E27FC236}">
                  <a16:creationId xmlns:a16="http://schemas.microsoft.com/office/drawing/2014/main" id="{8A7B97FD-5DE5-467D-2B61-27DD0CE402E1}"/>
                </a:ext>
              </a:extLst>
            </p:cNvPr>
            <p:cNvSpPr txBox="1"/>
            <p:nvPr/>
          </p:nvSpPr>
          <p:spPr>
            <a:xfrm>
              <a:off x="1213702" y="1550479"/>
              <a:ext cx="1589029" cy="1631216"/>
            </a:xfrm>
            <a:prstGeom prst="rect">
              <a:avLst/>
            </a:prstGeom>
            <a:noFill/>
          </p:spPr>
          <p:txBody>
            <a:bodyPr wrap="square" rtlCol="0">
              <a:spAutoFit/>
            </a:bodyPr>
            <a:lstStyle/>
            <a:p>
              <a:r>
                <a:rPr lang="en-CH" sz="1000" b="1"/>
                <a:t>Dependent Variable:</a:t>
              </a:r>
            </a:p>
            <a:p>
              <a:pPr marL="171450" indent="-171450">
                <a:buFont typeface="Arial" panose="020B0604020202020204" pitchFamily="34" charset="0"/>
                <a:buChar char="•"/>
              </a:pPr>
              <a:r>
                <a:rPr lang="en-CH" sz="1000"/>
                <a:t>Total Deposits</a:t>
              </a:r>
            </a:p>
            <a:p>
              <a:pPr marL="171450" indent="-171450">
                <a:buFont typeface="Arial" panose="020B0604020202020204" pitchFamily="34" charset="0"/>
                <a:buChar char="•"/>
              </a:pPr>
              <a:r>
                <a:rPr lang="en-CH" sz="1000"/>
                <a:t>Total Assets</a:t>
              </a:r>
            </a:p>
            <a:p>
              <a:endParaRPr lang="en-CH" sz="1000"/>
            </a:p>
            <a:p>
              <a:r>
                <a:rPr lang="en-CH" sz="1000" b="1"/>
                <a:t>Control Variable:</a:t>
              </a:r>
            </a:p>
            <a:p>
              <a:pPr marL="171450" indent="-171450">
                <a:buFont typeface="Arial" panose="020B0604020202020204" pitchFamily="34" charset="0"/>
                <a:buChar char="•"/>
              </a:pPr>
              <a:r>
                <a:rPr lang="en-CH" sz="1000"/>
                <a:t>Total Net Loans</a:t>
              </a:r>
            </a:p>
            <a:p>
              <a:pPr marL="171450" indent="-171450">
                <a:buFont typeface="Arial" panose="020B0604020202020204" pitchFamily="34" charset="0"/>
                <a:buChar char="•"/>
              </a:pPr>
              <a:r>
                <a:rPr lang="en-CH" sz="1000"/>
                <a:t>Total Equity</a:t>
              </a:r>
            </a:p>
            <a:p>
              <a:pPr marL="171450" indent="-171450">
                <a:buFont typeface="Arial" panose="020B0604020202020204" pitchFamily="34" charset="0"/>
                <a:buChar char="•"/>
              </a:pPr>
              <a:r>
                <a:rPr lang="en-CH" sz="1000"/>
                <a:t>Total Assets</a:t>
              </a:r>
            </a:p>
            <a:p>
              <a:pPr marL="171450" indent="-171450">
                <a:buFont typeface="Arial" panose="020B0604020202020204" pitchFamily="34" charset="0"/>
                <a:buChar char="•"/>
              </a:pPr>
              <a:r>
                <a:rPr lang="en-CH" sz="1000"/>
                <a:t>Net Income Before Taxes</a:t>
              </a:r>
            </a:p>
          </p:txBody>
        </p:sp>
      </p:grpSp>
      <p:grpSp>
        <p:nvGrpSpPr>
          <p:cNvPr id="35" name="Group 34">
            <a:extLst>
              <a:ext uri="{FF2B5EF4-FFF2-40B4-BE49-F238E27FC236}">
                <a16:creationId xmlns:a16="http://schemas.microsoft.com/office/drawing/2014/main" id="{67B44266-967F-B318-A944-A450275392EF}"/>
              </a:ext>
            </a:extLst>
          </p:cNvPr>
          <p:cNvGrpSpPr/>
          <p:nvPr/>
        </p:nvGrpSpPr>
        <p:grpSpPr>
          <a:xfrm>
            <a:off x="4803184" y="1024372"/>
            <a:ext cx="1589030" cy="3447556"/>
            <a:chOff x="4783993" y="1024372"/>
            <a:chExt cx="1589030" cy="3447556"/>
          </a:xfrm>
        </p:grpSpPr>
        <p:sp>
          <p:nvSpPr>
            <p:cNvPr id="18" name="Rectangle 17">
              <a:extLst>
                <a:ext uri="{FF2B5EF4-FFF2-40B4-BE49-F238E27FC236}">
                  <a16:creationId xmlns:a16="http://schemas.microsoft.com/office/drawing/2014/main" id="{F78BFA99-55B9-5176-99E5-9AD705746141}"/>
                </a:ext>
              </a:extLst>
            </p:cNvPr>
            <p:cNvSpPr/>
            <p:nvPr/>
          </p:nvSpPr>
          <p:spPr>
            <a:xfrm>
              <a:off x="4783994"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t>Market structure classification</a:t>
              </a:r>
            </a:p>
          </p:txBody>
        </p:sp>
        <p:sp>
          <p:nvSpPr>
            <p:cNvPr id="19" name="Rectangle 18">
              <a:extLst>
                <a:ext uri="{FF2B5EF4-FFF2-40B4-BE49-F238E27FC236}">
                  <a16:creationId xmlns:a16="http://schemas.microsoft.com/office/drawing/2014/main" id="{85B61307-8D76-CBA6-DD6C-510AEACA3C57}"/>
                </a:ext>
              </a:extLst>
            </p:cNvPr>
            <p:cNvSpPr/>
            <p:nvPr/>
          </p:nvSpPr>
          <p:spPr>
            <a:xfrm>
              <a:off x="4783993" y="4199818"/>
              <a:ext cx="1589028" cy="27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i="1">
                  <a:solidFill>
                    <a:schemeClr val="tx1"/>
                  </a:solidFill>
                </a:rPr>
                <a:t>Enables classification</a:t>
              </a:r>
              <a:r>
                <a:rPr lang="en-US" sz="1000" i="1">
                  <a:solidFill>
                    <a:schemeClr val="tx1"/>
                  </a:solidFill>
                </a:rPr>
                <a:t> of </a:t>
              </a:r>
              <a:r>
                <a:rPr lang="de-LI" sz="1000" i="1">
                  <a:solidFill>
                    <a:schemeClr val="tx1"/>
                  </a:solidFill>
                </a:rPr>
                <a:t>main explanatory variable</a:t>
              </a:r>
              <a:endParaRPr lang="en-US" sz="1000" i="1">
                <a:solidFill>
                  <a:schemeClr val="tx1"/>
                </a:solidFill>
              </a:endParaRPr>
            </a:p>
          </p:txBody>
        </p:sp>
        <p:sp>
          <p:nvSpPr>
            <p:cNvPr id="25" name="TextBox 24">
              <a:extLst>
                <a:ext uri="{FF2B5EF4-FFF2-40B4-BE49-F238E27FC236}">
                  <a16:creationId xmlns:a16="http://schemas.microsoft.com/office/drawing/2014/main" id="{31427D58-F21A-33C7-4722-11D76D25AB60}"/>
                </a:ext>
              </a:extLst>
            </p:cNvPr>
            <p:cNvSpPr txBox="1"/>
            <p:nvPr/>
          </p:nvSpPr>
          <p:spPr>
            <a:xfrm>
              <a:off x="4783994" y="1550479"/>
              <a:ext cx="1589028" cy="2554545"/>
            </a:xfrm>
            <a:prstGeom prst="rect">
              <a:avLst/>
            </a:prstGeom>
            <a:noFill/>
          </p:spPr>
          <p:txBody>
            <a:bodyPr wrap="square" rtlCol="0">
              <a:spAutoFit/>
            </a:bodyPr>
            <a:lstStyle/>
            <a:p>
              <a:endParaRPr lang="en-CH" sz="1000" b="1"/>
            </a:p>
            <a:p>
              <a:endParaRPr lang="en-CH" sz="1000" b="1"/>
            </a:p>
            <a:p>
              <a:r>
                <a:rPr lang="en-CH" sz="1000" b="1"/>
                <a:t>Stock market </a:t>
              </a:r>
              <a:r>
                <a:rPr lang="de-LI" sz="1000" b="1"/>
                <a:t>cap</a:t>
              </a:r>
              <a:r>
                <a:rPr lang="en-CH" sz="1000" b="1"/>
                <a:t>:</a:t>
              </a:r>
            </a:p>
            <a:p>
              <a:pPr marL="171450" indent="-171450">
                <a:buFont typeface="Arial" panose="020B0604020202020204" pitchFamily="34" charset="0"/>
                <a:buChar char="•"/>
              </a:pPr>
              <a:r>
                <a:rPr lang="en-US" sz="1000">
                  <a:hlinkClick r:id="rId7"/>
                </a:rPr>
                <a:t>https://data.worldbank.org/indicator/CM.MKT.LCAP.GD.ZS?utm_source=chatgpt.com</a:t>
              </a:r>
              <a:endParaRPr lang="en-CH" sz="1000"/>
            </a:p>
            <a:p>
              <a:endParaRPr lang="en-CH" sz="1000"/>
            </a:p>
            <a:p>
              <a:r>
                <a:rPr lang="en-CH" sz="1000" b="1"/>
                <a:t>Private credit</a:t>
              </a:r>
              <a:r>
                <a:rPr lang="de-LI" sz="1000" b="1"/>
                <a:t>:</a:t>
              </a:r>
              <a:endParaRPr lang="en-CH" sz="1000" b="1"/>
            </a:p>
            <a:p>
              <a:pPr marL="171450" indent="-171450">
                <a:buFont typeface="Arial" panose="020B0604020202020204" pitchFamily="34" charset="0"/>
                <a:buChar char="•"/>
              </a:pPr>
              <a:r>
                <a:rPr lang="en-US" sz="1000">
                  <a:hlinkClick r:id="rId8"/>
                </a:rPr>
                <a:t>https://data.worldbank.org/indicator/FD.AST.PRVT.GD.ZS?utm_source=chatgpt.com</a:t>
              </a:r>
              <a:endParaRPr lang="en-CH" sz="1000"/>
            </a:p>
            <a:p>
              <a:endParaRPr lang="en-CH" sz="1000"/>
            </a:p>
            <a:p>
              <a:endParaRPr lang="en-CH" sz="1000"/>
            </a:p>
            <a:p>
              <a:endParaRPr lang="en-CH" sz="1000"/>
            </a:p>
          </p:txBody>
        </p:sp>
        <p:pic>
          <p:nvPicPr>
            <p:cNvPr id="30" name="Picture 29">
              <a:extLst>
                <a:ext uri="{FF2B5EF4-FFF2-40B4-BE49-F238E27FC236}">
                  <a16:creationId xmlns:a16="http://schemas.microsoft.com/office/drawing/2014/main" id="{9911DB4A-7C02-B2E2-36A3-A644EC65976A}"/>
                </a:ext>
              </a:extLst>
            </p:cNvPr>
            <p:cNvPicPr>
              <a:picLocks noChangeAspect="1"/>
            </p:cNvPicPr>
            <p:nvPr/>
          </p:nvPicPr>
          <p:blipFill>
            <a:blip r:embed="rId9"/>
            <a:stretch>
              <a:fillRect/>
            </a:stretch>
          </p:blipFill>
          <p:spPr>
            <a:xfrm>
              <a:off x="4783993" y="1597823"/>
              <a:ext cx="1589029" cy="272111"/>
            </a:xfrm>
            <a:prstGeom prst="rect">
              <a:avLst/>
            </a:prstGeom>
          </p:spPr>
        </p:pic>
        <p:grpSp>
          <p:nvGrpSpPr>
            <p:cNvPr id="21" name="Down arrow">
              <a:extLst>
                <a:ext uri="{FF2B5EF4-FFF2-40B4-BE49-F238E27FC236}">
                  <a16:creationId xmlns:a16="http://schemas.microsoft.com/office/drawing/2014/main" id="{E8CDC19B-528A-C634-0B6B-4DE05A559259}"/>
                </a:ext>
              </a:extLst>
            </p:cNvPr>
            <p:cNvGrpSpPr>
              <a:grpSpLocks noChangeAspect="1"/>
            </p:cNvGrpSpPr>
            <p:nvPr/>
          </p:nvGrpSpPr>
          <p:grpSpPr>
            <a:xfrm rot="10800000" flipV="1">
              <a:off x="5424837" y="3850748"/>
              <a:ext cx="307340" cy="307340"/>
              <a:chOff x="1413494" y="4670360"/>
              <a:chExt cx="442162" cy="456033"/>
            </a:xfrm>
          </p:grpSpPr>
          <p:sp>
            <p:nvSpPr>
              <p:cNvPr id="22" name="Ellipse 69">
                <a:extLst>
                  <a:ext uri="{FF2B5EF4-FFF2-40B4-BE49-F238E27FC236}">
                    <a16:creationId xmlns:a16="http://schemas.microsoft.com/office/drawing/2014/main" id="{91BA9EA3-5092-E175-54BD-20D23F8C1D2F}"/>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9" name="Flèche vers la droite 45">
                <a:extLst>
                  <a:ext uri="{FF2B5EF4-FFF2-40B4-BE49-F238E27FC236}">
                    <a16:creationId xmlns:a16="http://schemas.microsoft.com/office/drawing/2014/main" id="{4222C9E6-372D-B54C-AF00-D36655C258EB}"/>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grpSp>
        <p:nvGrpSpPr>
          <p:cNvPr id="26" name="Down arrow">
            <a:extLst>
              <a:ext uri="{FF2B5EF4-FFF2-40B4-BE49-F238E27FC236}">
                <a16:creationId xmlns:a16="http://schemas.microsoft.com/office/drawing/2014/main" id="{8C3B7076-7D53-D7AA-E01B-7D4BA681D94A}"/>
              </a:ext>
            </a:extLst>
          </p:cNvPr>
          <p:cNvGrpSpPr>
            <a:grpSpLocks noChangeAspect="1"/>
          </p:cNvGrpSpPr>
          <p:nvPr/>
        </p:nvGrpSpPr>
        <p:grpSpPr>
          <a:xfrm rot="10800000" flipV="1">
            <a:off x="7238770" y="3850748"/>
            <a:ext cx="307340" cy="307340"/>
            <a:chOff x="1413494" y="4670360"/>
            <a:chExt cx="442162" cy="456033"/>
          </a:xfrm>
        </p:grpSpPr>
        <p:sp>
          <p:nvSpPr>
            <p:cNvPr id="27" name="Ellipse 69">
              <a:extLst>
                <a:ext uri="{FF2B5EF4-FFF2-40B4-BE49-F238E27FC236}">
                  <a16:creationId xmlns:a16="http://schemas.microsoft.com/office/drawing/2014/main" id="{0DD2DD3F-EB89-338A-E8DB-0693E71AD68A}"/>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8" name="Flèche vers la droite 45">
              <a:extLst>
                <a:ext uri="{FF2B5EF4-FFF2-40B4-BE49-F238E27FC236}">
                  <a16:creationId xmlns:a16="http://schemas.microsoft.com/office/drawing/2014/main" id="{E22E23AD-CC9B-C24A-EAD4-74BEB2A261D0}"/>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sp>
        <p:nvSpPr>
          <p:cNvPr id="5" name="Rectangle 4">
            <a:extLst>
              <a:ext uri="{FF2B5EF4-FFF2-40B4-BE49-F238E27FC236}">
                <a16:creationId xmlns:a16="http://schemas.microsoft.com/office/drawing/2014/main" id="{4EC794CE-C958-8AD1-9E86-792542D6D5F1}"/>
              </a:ext>
            </a:extLst>
          </p:cNvPr>
          <p:cNvSpPr/>
          <p:nvPr/>
        </p:nvSpPr>
        <p:spPr>
          <a:xfrm>
            <a:off x="6597925" y="1024372"/>
            <a:ext cx="1589029"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a:t>Pension system</a:t>
            </a:r>
            <a:br>
              <a:rPr lang="en-GB" sz="1000"/>
            </a:br>
            <a:r>
              <a:rPr lang="en-GB" sz="1000"/>
              <a:t>classification</a:t>
            </a:r>
          </a:p>
        </p:txBody>
      </p:sp>
      <p:pic>
        <p:nvPicPr>
          <p:cNvPr id="17" name="Picture 16">
            <a:extLst>
              <a:ext uri="{FF2B5EF4-FFF2-40B4-BE49-F238E27FC236}">
                <a16:creationId xmlns:a16="http://schemas.microsoft.com/office/drawing/2014/main" id="{924AA548-3DE6-3B34-2A80-A323C413826C}"/>
              </a:ext>
            </a:extLst>
          </p:cNvPr>
          <p:cNvPicPr>
            <a:picLocks noChangeAspect="1"/>
          </p:cNvPicPr>
          <p:nvPr/>
        </p:nvPicPr>
        <p:blipFill>
          <a:blip r:embed="rId10"/>
          <a:stretch>
            <a:fillRect/>
          </a:stretch>
        </p:blipFill>
        <p:spPr>
          <a:xfrm>
            <a:off x="6621695" y="1618175"/>
            <a:ext cx="1541487" cy="247373"/>
          </a:xfrm>
          <a:prstGeom prst="rect">
            <a:avLst/>
          </a:prstGeom>
        </p:spPr>
      </p:pic>
      <p:sp>
        <p:nvSpPr>
          <p:cNvPr id="20" name="TextBox 19">
            <a:extLst>
              <a:ext uri="{FF2B5EF4-FFF2-40B4-BE49-F238E27FC236}">
                <a16:creationId xmlns:a16="http://schemas.microsoft.com/office/drawing/2014/main" id="{EDD0529F-0A5D-5ECE-2927-1132ACB36597}"/>
              </a:ext>
            </a:extLst>
          </p:cNvPr>
          <p:cNvSpPr txBox="1"/>
          <p:nvPr/>
        </p:nvSpPr>
        <p:spPr>
          <a:xfrm>
            <a:off x="6604784" y="1550479"/>
            <a:ext cx="1589028" cy="2554545"/>
          </a:xfrm>
          <a:prstGeom prst="rect">
            <a:avLst/>
          </a:prstGeom>
          <a:noFill/>
        </p:spPr>
        <p:txBody>
          <a:bodyPr wrap="square" rtlCol="0">
            <a:spAutoFit/>
          </a:bodyPr>
          <a:lstStyle/>
          <a:p>
            <a:endParaRPr lang="en-CH" sz="1000" b="1"/>
          </a:p>
          <a:p>
            <a:endParaRPr lang="en-CH" sz="1000" b="1"/>
          </a:p>
          <a:p>
            <a:r>
              <a:rPr lang="en-CH" sz="1000" b="1"/>
              <a:t>Stock market </a:t>
            </a:r>
            <a:r>
              <a:rPr lang="de-LI" sz="1000" b="1"/>
              <a:t>cap</a:t>
            </a:r>
            <a:r>
              <a:rPr lang="en-CH" sz="1000" b="1"/>
              <a:t>:</a:t>
            </a:r>
          </a:p>
          <a:p>
            <a:pPr marL="171450" indent="-171450">
              <a:buFont typeface="Arial" panose="020B0604020202020204" pitchFamily="34" charset="0"/>
              <a:buChar char="•"/>
            </a:pPr>
            <a:r>
              <a:rPr lang="en-US" sz="1000">
                <a:hlinkClick r:id="rId7"/>
              </a:rPr>
              <a:t>https://data.worldbank.org/indicator/CM.MKT.LCAP.GD.ZS?utm_source=chatgpt.com</a:t>
            </a:r>
            <a:endParaRPr lang="en-CH" sz="1000"/>
          </a:p>
          <a:p>
            <a:endParaRPr lang="en-CH" sz="1000"/>
          </a:p>
          <a:p>
            <a:r>
              <a:rPr lang="de-LI" sz="1000" b="1"/>
              <a:t>Pension fund assets:</a:t>
            </a:r>
            <a:endParaRPr lang="en-CH" sz="1000" b="1"/>
          </a:p>
          <a:p>
            <a:pPr marL="171450" indent="-171450">
              <a:buFont typeface="Arial" panose="020B0604020202020204" pitchFamily="34" charset="0"/>
              <a:buChar char="•"/>
            </a:pPr>
            <a:r>
              <a:rPr lang="en-US" sz="1000">
                <a:hlinkClick r:id="rId11"/>
              </a:rPr>
              <a:t>https://databank.worldbank.org/source/global-financial-development/Series/GFDD.DI.13</a:t>
            </a:r>
            <a:endParaRPr lang="en-CH" sz="1000"/>
          </a:p>
          <a:p>
            <a:endParaRPr lang="en-CH" sz="1000"/>
          </a:p>
          <a:p>
            <a:endParaRPr lang="en-CH" sz="1000"/>
          </a:p>
        </p:txBody>
      </p:sp>
      <p:sp>
        <p:nvSpPr>
          <p:cNvPr id="32" name="Rectangle 31">
            <a:extLst>
              <a:ext uri="{FF2B5EF4-FFF2-40B4-BE49-F238E27FC236}">
                <a16:creationId xmlns:a16="http://schemas.microsoft.com/office/drawing/2014/main" id="{4BA36BB7-7AC2-3DF0-116B-83E59892BF7B}"/>
              </a:ext>
            </a:extLst>
          </p:cNvPr>
          <p:cNvSpPr/>
          <p:nvPr/>
        </p:nvSpPr>
        <p:spPr>
          <a:xfrm>
            <a:off x="6604784" y="4199818"/>
            <a:ext cx="1589028" cy="2721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000" i="1">
                <a:solidFill>
                  <a:schemeClr val="tx1"/>
                </a:solidFill>
              </a:rPr>
              <a:t>Calculation of additional control variable</a:t>
            </a:r>
            <a:endParaRPr lang="en-US" sz="1000" i="1">
              <a:solidFill>
                <a:schemeClr val="tx1"/>
              </a:solidFill>
            </a:endParaRPr>
          </a:p>
        </p:txBody>
      </p:sp>
      <p:sp>
        <p:nvSpPr>
          <p:cNvPr id="36" name="Rectangle 35">
            <a:extLst>
              <a:ext uri="{FF2B5EF4-FFF2-40B4-BE49-F238E27FC236}">
                <a16:creationId xmlns:a16="http://schemas.microsoft.com/office/drawing/2014/main" id="{9B91B548-A5B6-3261-6C96-E6CED26DAEDD}"/>
              </a:ext>
            </a:extLst>
          </p:cNvPr>
          <p:cNvSpPr/>
          <p:nvPr/>
        </p:nvSpPr>
        <p:spPr>
          <a:xfrm rot="2422836">
            <a:off x="7649995" y="1052221"/>
            <a:ext cx="862217" cy="1881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000">
                <a:solidFill>
                  <a:sysClr val="windowText" lastClr="000000"/>
                </a:solidFill>
              </a:rPr>
              <a:t>Pot. replace</a:t>
            </a:r>
            <a:endParaRPr lang="en-CH">
              <a:solidFill>
                <a:sysClr val="windowText" lastClr="000000"/>
              </a:solidFill>
            </a:endParaRPr>
          </a:p>
        </p:txBody>
      </p:sp>
    </p:spTree>
    <p:extLst>
      <p:ext uri="{BB962C8B-B14F-4D97-AF65-F5344CB8AC3E}">
        <p14:creationId xmlns:p14="http://schemas.microsoft.com/office/powerpoint/2010/main" val="4115001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6A9C0-73FB-1449-59EA-FD217D2E2CB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08EA462-2628-649C-4615-FCAEDC08F2D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808EA462-2628-649C-4615-FCAEDC08F2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99447B7-5979-54F2-10D0-E5E554FD9F46}"/>
              </a:ext>
            </a:extLst>
          </p:cNvPr>
          <p:cNvSpPr>
            <a:spLocks noGrp="1"/>
          </p:cNvSpPr>
          <p:nvPr>
            <p:ph type="title"/>
          </p:nvPr>
        </p:nvSpPr>
        <p:spPr/>
        <p:txBody>
          <a:bodyPr vert="horz" rIns="0"/>
          <a:lstStyle/>
          <a:p>
            <a:r>
              <a:rPr lang="de-LI"/>
              <a:t>Components of the refined regression model</a:t>
            </a:r>
          </a:p>
        </p:txBody>
      </p:sp>
      <p:sp>
        <p:nvSpPr>
          <p:cNvPr id="3" name="Slide Number Placeholder 2">
            <a:extLst>
              <a:ext uri="{FF2B5EF4-FFF2-40B4-BE49-F238E27FC236}">
                <a16:creationId xmlns:a16="http://schemas.microsoft.com/office/drawing/2014/main" id="{F9E23209-A97D-3DF0-4C49-C92C1F676525}"/>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10</a:t>
            </a:fld>
            <a:endParaRPr lang="en-GB"/>
          </a:p>
        </p:txBody>
      </p:sp>
      <p:pic>
        <p:nvPicPr>
          <p:cNvPr id="6" name="Picture 5">
            <a:extLst>
              <a:ext uri="{FF2B5EF4-FFF2-40B4-BE49-F238E27FC236}">
                <a16:creationId xmlns:a16="http://schemas.microsoft.com/office/drawing/2014/main" id="{6CBEA567-BDDE-43B0-6181-BEBCD0511234}"/>
              </a:ext>
            </a:extLst>
          </p:cNvPr>
          <p:cNvPicPr>
            <a:picLocks noChangeAspect="1"/>
          </p:cNvPicPr>
          <p:nvPr/>
        </p:nvPicPr>
        <p:blipFill>
          <a:blip r:embed="rId5"/>
          <a:stretch>
            <a:fillRect/>
          </a:stretch>
        </p:blipFill>
        <p:spPr>
          <a:xfrm>
            <a:off x="567651" y="1702293"/>
            <a:ext cx="4392216" cy="2308597"/>
          </a:xfrm>
          <a:prstGeom prst="rect">
            <a:avLst/>
          </a:prstGeom>
        </p:spPr>
      </p:pic>
      <p:sp>
        <p:nvSpPr>
          <p:cNvPr id="7" name="Rectangle 6">
            <a:extLst>
              <a:ext uri="{FF2B5EF4-FFF2-40B4-BE49-F238E27FC236}">
                <a16:creationId xmlns:a16="http://schemas.microsoft.com/office/drawing/2014/main" id="{9EF55D44-1C81-278C-5A30-D23BEDFF47A5}"/>
              </a:ext>
            </a:extLst>
          </p:cNvPr>
          <p:cNvSpPr/>
          <p:nvPr/>
        </p:nvSpPr>
        <p:spPr>
          <a:xfrm>
            <a:off x="2089580" y="1114427"/>
            <a:ext cx="2731802"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Regression</a:t>
            </a:r>
            <a:br>
              <a:rPr lang="de-LI" sz="1100"/>
            </a:br>
            <a:r>
              <a:rPr lang="de-LI" sz="1100"/>
              <a:t>component</a:t>
            </a:r>
            <a:endParaRPr lang="en-GB" sz="1100"/>
          </a:p>
        </p:txBody>
      </p:sp>
      <p:sp>
        <p:nvSpPr>
          <p:cNvPr id="8" name="Rectangle 7">
            <a:extLst>
              <a:ext uri="{FF2B5EF4-FFF2-40B4-BE49-F238E27FC236}">
                <a16:creationId xmlns:a16="http://schemas.microsoft.com/office/drawing/2014/main" id="{DA6A999B-1586-CF6C-C004-8816AAD212FB}"/>
              </a:ext>
            </a:extLst>
          </p:cNvPr>
          <p:cNvSpPr/>
          <p:nvPr/>
        </p:nvSpPr>
        <p:spPr>
          <a:xfrm>
            <a:off x="5645727" y="1114427"/>
            <a:ext cx="2925873"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Explanation</a:t>
            </a:r>
            <a:endParaRPr lang="en-GB" sz="1100"/>
          </a:p>
        </p:txBody>
      </p:sp>
      <p:grpSp>
        <p:nvGrpSpPr>
          <p:cNvPr id="38" name="Group 37">
            <a:extLst>
              <a:ext uri="{FF2B5EF4-FFF2-40B4-BE49-F238E27FC236}">
                <a16:creationId xmlns:a16="http://schemas.microsoft.com/office/drawing/2014/main" id="{10AE170E-717D-614C-65A1-385BA00AD859}"/>
              </a:ext>
            </a:extLst>
          </p:cNvPr>
          <p:cNvGrpSpPr/>
          <p:nvPr/>
        </p:nvGrpSpPr>
        <p:grpSpPr>
          <a:xfrm>
            <a:off x="5118100" y="1824637"/>
            <a:ext cx="230909" cy="2089518"/>
            <a:chOff x="5176289" y="1734582"/>
            <a:chExt cx="230909" cy="2089518"/>
          </a:xfrm>
        </p:grpSpPr>
        <p:grpSp>
          <p:nvGrpSpPr>
            <p:cNvPr id="9" name="Down arrow">
              <a:extLst>
                <a:ext uri="{FF2B5EF4-FFF2-40B4-BE49-F238E27FC236}">
                  <a16:creationId xmlns:a16="http://schemas.microsoft.com/office/drawing/2014/main" id="{1D28976E-97EA-B185-F054-9DC9EE42DFA3}"/>
                </a:ext>
              </a:extLst>
            </p:cNvPr>
            <p:cNvGrpSpPr>
              <a:grpSpLocks noChangeAspect="1"/>
            </p:cNvGrpSpPr>
            <p:nvPr/>
          </p:nvGrpSpPr>
          <p:grpSpPr>
            <a:xfrm rot="5400000" flipV="1">
              <a:off x="5176289" y="1734582"/>
              <a:ext cx="230909" cy="230909"/>
              <a:chOff x="1413494" y="4670360"/>
              <a:chExt cx="442162" cy="456033"/>
            </a:xfrm>
          </p:grpSpPr>
          <p:sp>
            <p:nvSpPr>
              <p:cNvPr id="10" name="Ellipse 69">
                <a:extLst>
                  <a:ext uri="{FF2B5EF4-FFF2-40B4-BE49-F238E27FC236}">
                    <a16:creationId xmlns:a16="http://schemas.microsoft.com/office/drawing/2014/main" id="{67348E3E-5941-6147-918A-F892E3AACBD6}"/>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1" name="Flèche vers la droite 45">
                <a:extLst>
                  <a:ext uri="{FF2B5EF4-FFF2-40B4-BE49-F238E27FC236}">
                    <a16:creationId xmlns:a16="http://schemas.microsoft.com/office/drawing/2014/main" id="{099D78C3-9B8A-5EE0-0C9D-332D984E1474}"/>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14" name="Down arrow">
              <a:extLst>
                <a:ext uri="{FF2B5EF4-FFF2-40B4-BE49-F238E27FC236}">
                  <a16:creationId xmlns:a16="http://schemas.microsoft.com/office/drawing/2014/main" id="{7FAE9D94-65E6-527F-A209-CF5629789E8A}"/>
                </a:ext>
              </a:extLst>
            </p:cNvPr>
            <p:cNvGrpSpPr>
              <a:grpSpLocks noChangeAspect="1"/>
            </p:cNvGrpSpPr>
            <p:nvPr/>
          </p:nvGrpSpPr>
          <p:grpSpPr>
            <a:xfrm rot="5400000" flipV="1">
              <a:off x="5176289" y="2044350"/>
              <a:ext cx="230909" cy="230909"/>
              <a:chOff x="1413494" y="4670360"/>
              <a:chExt cx="442162" cy="456033"/>
            </a:xfrm>
          </p:grpSpPr>
          <p:sp>
            <p:nvSpPr>
              <p:cNvPr id="16" name="Ellipse 69">
                <a:extLst>
                  <a:ext uri="{FF2B5EF4-FFF2-40B4-BE49-F238E27FC236}">
                    <a16:creationId xmlns:a16="http://schemas.microsoft.com/office/drawing/2014/main" id="{569F4DE8-7CDC-7812-A1DB-16B877806258}"/>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7" name="Flèche vers la droite 45">
                <a:extLst>
                  <a:ext uri="{FF2B5EF4-FFF2-40B4-BE49-F238E27FC236}">
                    <a16:creationId xmlns:a16="http://schemas.microsoft.com/office/drawing/2014/main" id="{C515732E-35D5-AA50-F241-B0342092AFD7}"/>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19" name="Down arrow">
              <a:extLst>
                <a:ext uri="{FF2B5EF4-FFF2-40B4-BE49-F238E27FC236}">
                  <a16:creationId xmlns:a16="http://schemas.microsoft.com/office/drawing/2014/main" id="{695D38C1-AE45-279B-B731-B3B042680C0B}"/>
                </a:ext>
              </a:extLst>
            </p:cNvPr>
            <p:cNvGrpSpPr>
              <a:grpSpLocks noChangeAspect="1"/>
            </p:cNvGrpSpPr>
            <p:nvPr/>
          </p:nvGrpSpPr>
          <p:grpSpPr>
            <a:xfrm rot="5400000" flipV="1">
              <a:off x="5176289" y="2354118"/>
              <a:ext cx="230909" cy="230909"/>
              <a:chOff x="1413494" y="4670360"/>
              <a:chExt cx="442162" cy="456033"/>
            </a:xfrm>
          </p:grpSpPr>
          <p:sp>
            <p:nvSpPr>
              <p:cNvPr id="21" name="Ellipse 69">
                <a:extLst>
                  <a:ext uri="{FF2B5EF4-FFF2-40B4-BE49-F238E27FC236}">
                    <a16:creationId xmlns:a16="http://schemas.microsoft.com/office/drawing/2014/main" id="{D1AE4E24-1BF4-1483-660F-C179110DB8F1}"/>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5" name="Flèche vers la droite 45">
                <a:extLst>
                  <a:ext uri="{FF2B5EF4-FFF2-40B4-BE49-F238E27FC236}">
                    <a16:creationId xmlns:a16="http://schemas.microsoft.com/office/drawing/2014/main" id="{CEE04C3A-9101-54C0-98CF-9BEF16A4744D}"/>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26" name="Down arrow">
              <a:extLst>
                <a:ext uri="{FF2B5EF4-FFF2-40B4-BE49-F238E27FC236}">
                  <a16:creationId xmlns:a16="http://schemas.microsoft.com/office/drawing/2014/main" id="{D36EC475-59ED-9586-9CC6-E27C1947F0CA}"/>
                </a:ext>
              </a:extLst>
            </p:cNvPr>
            <p:cNvGrpSpPr>
              <a:grpSpLocks noChangeAspect="1"/>
            </p:cNvGrpSpPr>
            <p:nvPr/>
          </p:nvGrpSpPr>
          <p:grpSpPr>
            <a:xfrm rot="5400000" flipV="1">
              <a:off x="5176289" y="2663886"/>
              <a:ext cx="230909" cy="230909"/>
              <a:chOff x="1413494" y="4670360"/>
              <a:chExt cx="442162" cy="456033"/>
            </a:xfrm>
          </p:grpSpPr>
          <p:sp>
            <p:nvSpPr>
              <p:cNvPr id="27" name="Ellipse 69">
                <a:extLst>
                  <a:ext uri="{FF2B5EF4-FFF2-40B4-BE49-F238E27FC236}">
                    <a16:creationId xmlns:a16="http://schemas.microsoft.com/office/drawing/2014/main" id="{E3A2DF12-0518-4F04-12F8-7AEB2E901DE2}"/>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8" name="Flèche vers la droite 45">
                <a:extLst>
                  <a:ext uri="{FF2B5EF4-FFF2-40B4-BE49-F238E27FC236}">
                    <a16:creationId xmlns:a16="http://schemas.microsoft.com/office/drawing/2014/main" id="{1EC459C7-02F0-94CE-E0CA-29BD26A29D55}"/>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29" name="Down arrow">
              <a:extLst>
                <a:ext uri="{FF2B5EF4-FFF2-40B4-BE49-F238E27FC236}">
                  <a16:creationId xmlns:a16="http://schemas.microsoft.com/office/drawing/2014/main" id="{45551C7B-EDA3-7E36-3E5E-E4CDA40C9291}"/>
                </a:ext>
              </a:extLst>
            </p:cNvPr>
            <p:cNvGrpSpPr>
              <a:grpSpLocks noChangeAspect="1"/>
            </p:cNvGrpSpPr>
            <p:nvPr/>
          </p:nvGrpSpPr>
          <p:grpSpPr>
            <a:xfrm rot="5400000" flipV="1">
              <a:off x="5176289" y="2973654"/>
              <a:ext cx="230909" cy="230909"/>
              <a:chOff x="1413494" y="4670360"/>
              <a:chExt cx="442162" cy="456033"/>
            </a:xfrm>
          </p:grpSpPr>
          <p:sp>
            <p:nvSpPr>
              <p:cNvPr id="30" name="Ellipse 69">
                <a:extLst>
                  <a:ext uri="{FF2B5EF4-FFF2-40B4-BE49-F238E27FC236}">
                    <a16:creationId xmlns:a16="http://schemas.microsoft.com/office/drawing/2014/main" id="{2531A2E3-BFA6-62E9-9938-96E3FD8AA1F4}"/>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1" name="Flèche vers la droite 45">
                <a:extLst>
                  <a:ext uri="{FF2B5EF4-FFF2-40B4-BE49-F238E27FC236}">
                    <a16:creationId xmlns:a16="http://schemas.microsoft.com/office/drawing/2014/main" id="{D3BE64AA-D4C0-C2E9-EECD-743C526D438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32" name="Down arrow">
              <a:extLst>
                <a:ext uri="{FF2B5EF4-FFF2-40B4-BE49-F238E27FC236}">
                  <a16:creationId xmlns:a16="http://schemas.microsoft.com/office/drawing/2014/main" id="{4A406823-57DA-ACB5-0C06-2FB9B1BCF7B7}"/>
                </a:ext>
              </a:extLst>
            </p:cNvPr>
            <p:cNvGrpSpPr>
              <a:grpSpLocks noChangeAspect="1"/>
            </p:cNvGrpSpPr>
            <p:nvPr/>
          </p:nvGrpSpPr>
          <p:grpSpPr>
            <a:xfrm rot="5400000" flipV="1">
              <a:off x="5176289" y="3283422"/>
              <a:ext cx="230909" cy="230909"/>
              <a:chOff x="1413494" y="4670360"/>
              <a:chExt cx="442162" cy="456033"/>
            </a:xfrm>
          </p:grpSpPr>
          <p:sp>
            <p:nvSpPr>
              <p:cNvPr id="33" name="Ellipse 69">
                <a:extLst>
                  <a:ext uri="{FF2B5EF4-FFF2-40B4-BE49-F238E27FC236}">
                    <a16:creationId xmlns:a16="http://schemas.microsoft.com/office/drawing/2014/main" id="{AC508DB7-DA91-6205-236E-E98913B3B4D5}"/>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4" name="Flèche vers la droite 45">
                <a:extLst>
                  <a:ext uri="{FF2B5EF4-FFF2-40B4-BE49-F238E27FC236}">
                    <a16:creationId xmlns:a16="http://schemas.microsoft.com/office/drawing/2014/main" id="{56C6BCAA-E488-12C4-6B16-B8242D54FCF1}"/>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35" name="Down arrow">
              <a:extLst>
                <a:ext uri="{FF2B5EF4-FFF2-40B4-BE49-F238E27FC236}">
                  <a16:creationId xmlns:a16="http://schemas.microsoft.com/office/drawing/2014/main" id="{7AC27E46-1FFB-E359-FD0F-FD92AA899A31}"/>
                </a:ext>
              </a:extLst>
            </p:cNvPr>
            <p:cNvGrpSpPr>
              <a:grpSpLocks noChangeAspect="1"/>
            </p:cNvGrpSpPr>
            <p:nvPr/>
          </p:nvGrpSpPr>
          <p:grpSpPr>
            <a:xfrm rot="5400000" flipV="1">
              <a:off x="5176289" y="3593191"/>
              <a:ext cx="230909" cy="230909"/>
              <a:chOff x="1413494" y="4670360"/>
              <a:chExt cx="442162" cy="456033"/>
            </a:xfrm>
          </p:grpSpPr>
          <p:sp>
            <p:nvSpPr>
              <p:cNvPr id="36" name="Ellipse 69">
                <a:extLst>
                  <a:ext uri="{FF2B5EF4-FFF2-40B4-BE49-F238E27FC236}">
                    <a16:creationId xmlns:a16="http://schemas.microsoft.com/office/drawing/2014/main" id="{106172E7-917B-EFC4-B48D-3390A00CABBD}"/>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7" name="Flèche vers la droite 45">
                <a:extLst>
                  <a:ext uri="{FF2B5EF4-FFF2-40B4-BE49-F238E27FC236}">
                    <a16:creationId xmlns:a16="http://schemas.microsoft.com/office/drawing/2014/main" id="{B8ADB581-1506-A98F-D65D-A990E8EF50C8}"/>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sp>
        <p:nvSpPr>
          <p:cNvPr id="40" name="TextBox 39">
            <a:extLst>
              <a:ext uri="{FF2B5EF4-FFF2-40B4-BE49-F238E27FC236}">
                <a16:creationId xmlns:a16="http://schemas.microsoft.com/office/drawing/2014/main" id="{11CF4A60-10FE-19A0-E06A-FAE4195DA194}"/>
              </a:ext>
            </a:extLst>
          </p:cNvPr>
          <p:cNvSpPr txBox="1"/>
          <p:nvPr/>
        </p:nvSpPr>
        <p:spPr>
          <a:xfrm>
            <a:off x="5645728" y="1816683"/>
            <a:ext cx="2925872" cy="246221"/>
          </a:xfrm>
          <a:prstGeom prst="rect">
            <a:avLst/>
          </a:prstGeom>
          <a:noFill/>
        </p:spPr>
        <p:txBody>
          <a:bodyPr wrap="square" rtlCol="0">
            <a:spAutoFit/>
          </a:bodyPr>
          <a:lstStyle/>
          <a:p>
            <a:r>
              <a:rPr lang="en-US" sz="1000"/>
              <a:t>Baseline aging effect</a:t>
            </a:r>
            <a:endParaRPr lang="en-CH" sz="1000"/>
          </a:p>
        </p:txBody>
      </p:sp>
      <p:sp>
        <p:nvSpPr>
          <p:cNvPr id="41" name="TextBox 40">
            <a:extLst>
              <a:ext uri="{FF2B5EF4-FFF2-40B4-BE49-F238E27FC236}">
                <a16:creationId xmlns:a16="http://schemas.microsoft.com/office/drawing/2014/main" id="{8D3CE628-785E-1D38-A835-10C3C77065D3}"/>
              </a:ext>
            </a:extLst>
          </p:cNvPr>
          <p:cNvSpPr txBox="1"/>
          <p:nvPr/>
        </p:nvSpPr>
        <p:spPr>
          <a:xfrm>
            <a:off x="5645728" y="2128390"/>
            <a:ext cx="2925872" cy="246221"/>
          </a:xfrm>
          <a:prstGeom prst="rect">
            <a:avLst/>
          </a:prstGeom>
          <a:noFill/>
        </p:spPr>
        <p:txBody>
          <a:bodyPr wrap="square" rtlCol="0">
            <a:spAutoFit/>
          </a:bodyPr>
          <a:lstStyle/>
          <a:p>
            <a:r>
              <a:rPr lang="en-US" sz="1000"/>
              <a:t>Financial system structure effect</a:t>
            </a:r>
            <a:endParaRPr lang="en-CH" sz="1000"/>
          </a:p>
        </p:txBody>
      </p:sp>
      <p:sp>
        <p:nvSpPr>
          <p:cNvPr id="42" name="TextBox 41">
            <a:extLst>
              <a:ext uri="{FF2B5EF4-FFF2-40B4-BE49-F238E27FC236}">
                <a16:creationId xmlns:a16="http://schemas.microsoft.com/office/drawing/2014/main" id="{35951038-0FA0-A661-9F9E-71E24DB768F8}"/>
              </a:ext>
            </a:extLst>
          </p:cNvPr>
          <p:cNvSpPr txBox="1"/>
          <p:nvPr/>
        </p:nvSpPr>
        <p:spPr>
          <a:xfrm>
            <a:off x="5645727" y="2440097"/>
            <a:ext cx="3034145" cy="246221"/>
          </a:xfrm>
          <a:prstGeom prst="rect">
            <a:avLst/>
          </a:prstGeom>
          <a:noFill/>
        </p:spPr>
        <p:txBody>
          <a:bodyPr wrap="square" rtlCol="0">
            <a:spAutoFit/>
          </a:bodyPr>
          <a:lstStyle/>
          <a:p>
            <a:r>
              <a:rPr lang="en-US" sz="1000"/>
              <a:t>Aging effect depending on structure (interaction term)</a:t>
            </a:r>
            <a:endParaRPr lang="en-CH" sz="1000"/>
          </a:p>
        </p:txBody>
      </p:sp>
      <p:sp>
        <p:nvSpPr>
          <p:cNvPr id="43" name="TextBox 42">
            <a:extLst>
              <a:ext uri="{FF2B5EF4-FFF2-40B4-BE49-F238E27FC236}">
                <a16:creationId xmlns:a16="http://schemas.microsoft.com/office/drawing/2014/main" id="{03DB0BA0-8461-4D67-68F5-D93B9F5F9F6F}"/>
              </a:ext>
            </a:extLst>
          </p:cNvPr>
          <p:cNvSpPr txBox="1"/>
          <p:nvPr/>
        </p:nvSpPr>
        <p:spPr>
          <a:xfrm>
            <a:off x="5645728" y="2751804"/>
            <a:ext cx="2925872" cy="246221"/>
          </a:xfrm>
          <a:prstGeom prst="rect">
            <a:avLst/>
          </a:prstGeom>
          <a:noFill/>
        </p:spPr>
        <p:txBody>
          <a:bodyPr wrap="square" rtlCol="0">
            <a:spAutoFit/>
          </a:bodyPr>
          <a:lstStyle/>
          <a:p>
            <a:r>
              <a:rPr lang="en-US" sz="1000"/>
              <a:t>Pension system control variable</a:t>
            </a:r>
            <a:endParaRPr lang="en-CH" sz="1000"/>
          </a:p>
        </p:txBody>
      </p:sp>
      <p:sp>
        <p:nvSpPr>
          <p:cNvPr id="44" name="TextBox 43">
            <a:extLst>
              <a:ext uri="{FF2B5EF4-FFF2-40B4-BE49-F238E27FC236}">
                <a16:creationId xmlns:a16="http://schemas.microsoft.com/office/drawing/2014/main" id="{9CFA967E-4659-78BE-1AD7-452A4AC9E8E1}"/>
              </a:ext>
            </a:extLst>
          </p:cNvPr>
          <p:cNvSpPr txBox="1"/>
          <p:nvPr/>
        </p:nvSpPr>
        <p:spPr>
          <a:xfrm>
            <a:off x="5645728" y="3063511"/>
            <a:ext cx="2925872" cy="246221"/>
          </a:xfrm>
          <a:prstGeom prst="rect">
            <a:avLst/>
          </a:prstGeom>
          <a:noFill/>
        </p:spPr>
        <p:txBody>
          <a:bodyPr wrap="square" rtlCol="0">
            <a:spAutoFit/>
          </a:bodyPr>
          <a:lstStyle/>
          <a:p>
            <a:r>
              <a:rPr lang="en-US" sz="1000"/>
              <a:t>Very old population effect</a:t>
            </a:r>
            <a:endParaRPr lang="en-CH" sz="1000"/>
          </a:p>
        </p:txBody>
      </p:sp>
      <p:sp>
        <p:nvSpPr>
          <p:cNvPr id="45" name="TextBox 44">
            <a:extLst>
              <a:ext uri="{FF2B5EF4-FFF2-40B4-BE49-F238E27FC236}">
                <a16:creationId xmlns:a16="http://schemas.microsoft.com/office/drawing/2014/main" id="{9735B96F-801B-3B3B-0CB9-FDB4BFE07698}"/>
              </a:ext>
            </a:extLst>
          </p:cNvPr>
          <p:cNvSpPr txBox="1"/>
          <p:nvPr/>
        </p:nvSpPr>
        <p:spPr>
          <a:xfrm>
            <a:off x="5645728" y="3375218"/>
            <a:ext cx="2925872" cy="246221"/>
          </a:xfrm>
          <a:prstGeom prst="rect">
            <a:avLst/>
          </a:prstGeom>
          <a:noFill/>
        </p:spPr>
        <p:txBody>
          <a:bodyPr wrap="square" rtlCol="0">
            <a:spAutoFit/>
          </a:bodyPr>
          <a:lstStyle/>
          <a:p>
            <a:r>
              <a:rPr lang="en-US" sz="1000"/>
              <a:t>Bank-level control variables (see next slides)</a:t>
            </a:r>
            <a:endParaRPr lang="en-CH" sz="1000"/>
          </a:p>
        </p:txBody>
      </p:sp>
      <p:sp>
        <p:nvSpPr>
          <p:cNvPr id="46" name="TextBox 45">
            <a:extLst>
              <a:ext uri="{FF2B5EF4-FFF2-40B4-BE49-F238E27FC236}">
                <a16:creationId xmlns:a16="http://schemas.microsoft.com/office/drawing/2014/main" id="{58A4C155-EDD2-38AA-396E-5A32B94BC59C}"/>
              </a:ext>
            </a:extLst>
          </p:cNvPr>
          <p:cNvSpPr txBox="1"/>
          <p:nvPr/>
        </p:nvSpPr>
        <p:spPr>
          <a:xfrm>
            <a:off x="5645728" y="3686925"/>
            <a:ext cx="2925872" cy="246221"/>
          </a:xfrm>
          <a:prstGeom prst="rect">
            <a:avLst/>
          </a:prstGeom>
          <a:noFill/>
        </p:spPr>
        <p:txBody>
          <a:bodyPr wrap="square" rtlCol="0">
            <a:spAutoFit/>
          </a:bodyPr>
          <a:lstStyle/>
          <a:p>
            <a:r>
              <a:rPr lang="de-LI" sz="1000"/>
              <a:t>Bank &amp; year fixed effects; error term</a:t>
            </a:r>
            <a:endParaRPr lang="en-CH" sz="1000"/>
          </a:p>
        </p:txBody>
      </p:sp>
      <p:sp>
        <p:nvSpPr>
          <p:cNvPr id="55" name="Rectangle 54">
            <a:extLst>
              <a:ext uri="{FF2B5EF4-FFF2-40B4-BE49-F238E27FC236}">
                <a16:creationId xmlns:a16="http://schemas.microsoft.com/office/drawing/2014/main" id="{9914BA2D-0144-084D-BBF2-3BF1C2F7FC0A}"/>
              </a:ext>
            </a:extLst>
          </p:cNvPr>
          <p:cNvSpPr/>
          <p:nvPr/>
        </p:nvSpPr>
        <p:spPr>
          <a:xfrm>
            <a:off x="2089580" y="2686318"/>
            <a:ext cx="2323093" cy="311707"/>
          </a:xfrm>
          <a:prstGeom prst="rect">
            <a:avLst/>
          </a:prstGeom>
          <a:noFill/>
          <a:ln>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TextBox 55">
            <a:extLst>
              <a:ext uri="{FF2B5EF4-FFF2-40B4-BE49-F238E27FC236}">
                <a16:creationId xmlns:a16="http://schemas.microsoft.com/office/drawing/2014/main" id="{A1C0254D-581A-2010-949C-990F6F3364B7}"/>
              </a:ext>
            </a:extLst>
          </p:cNvPr>
          <p:cNvSpPr txBox="1"/>
          <p:nvPr/>
        </p:nvSpPr>
        <p:spPr>
          <a:xfrm>
            <a:off x="609968" y="2630907"/>
            <a:ext cx="1587501" cy="707886"/>
          </a:xfrm>
          <a:prstGeom prst="rect">
            <a:avLst/>
          </a:prstGeom>
          <a:noFill/>
        </p:spPr>
        <p:txBody>
          <a:bodyPr wrap="square" rtlCol="0">
            <a:spAutoFit/>
          </a:bodyPr>
          <a:lstStyle/>
          <a:p>
            <a:r>
              <a:rPr lang="de-LI" sz="1000" i="1">
                <a:solidFill>
                  <a:srgbClr val="FF0000"/>
                </a:solidFill>
              </a:rPr>
              <a:t>Explanation on next slide why pension system should not be main explanatory variable</a:t>
            </a:r>
            <a:endParaRPr lang="en-CH" sz="1000" i="1">
              <a:solidFill>
                <a:srgbClr val="FF0000"/>
              </a:solidFill>
            </a:endParaRPr>
          </a:p>
        </p:txBody>
      </p:sp>
    </p:spTree>
    <p:extLst>
      <p:ext uri="{BB962C8B-B14F-4D97-AF65-F5344CB8AC3E}">
        <p14:creationId xmlns:p14="http://schemas.microsoft.com/office/powerpoint/2010/main" val="2357756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29F25-C793-D0B4-D534-14AB31EED0C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8AA9573-8466-7FA2-417E-35C6E5957B67}"/>
              </a:ext>
            </a:extLst>
          </p:cNvPr>
          <p:cNvGraphicFramePr>
            <a:graphicFrameLocks/>
          </p:cNvGraphicFramePr>
          <p:nvPr>
            <p:custDataLst>
              <p:tags r:id="rId1"/>
            </p:custDataLst>
            <p:extLst>
              <p:ext uri="{D42A27DB-BD31-4B8C-83A1-F6EECF244321}">
                <p14:modId xmlns:p14="http://schemas.microsoft.com/office/powerpoint/2010/main" val="41130086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68AA9573-8466-7FA2-417E-35C6E5957B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1E6F778-7DA4-6529-10C2-5418F1FBAEE9}"/>
              </a:ext>
            </a:extLst>
          </p:cNvPr>
          <p:cNvSpPr>
            <a:spLocks noGrp="1"/>
          </p:cNvSpPr>
          <p:nvPr>
            <p:ph type="title"/>
          </p:nvPr>
        </p:nvSpPr>
        <p:spPr/>
        <p:txBody>
          <a:bodyPr vert="horz" rIns="0"/>
          <a:lstStyle/>
          <a:p>
            <a:r>
              <a:rPr lang="en-US"/>
              <a:t>Financial system structure as the key explanatory mechanism</a:t>
            </a:r>
            <a:endParaRPr lang="de-LI"/>
          </a:p>
        </p:txBody>
      </p:sp>
      <p:sp>
        <p:nvSpPr>
          <p:cNvPr id="3" name="Slide Number Placeholder 2">
            <a:extLst>
              <a:ext uri="{FF2B5EF4-FFF2-40B4-BE49-F238E27FC236}">
                <a16:creationId xmlns:a16="http://schemas.microsoft.com/office/drawing/2014/main" id="{A5816561-3C2C-4F91-F655-A06FC91101D4}"/>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11</a:t>
            </a:fld>
            <a:endParaRPr lang="en-GB"/>
          </a:p>
        </p:txBody>
      </p:sp>
      <p:sp>
        <p:nvSpPr>
          <p:cNvPr id="5" name="Rectangle 4">
            <a:extLst>
              <a:ext uri="{FF2B5EF4-FFF2-40B4-BE49-F238E27FC236}">
                <a16:creationId xmlns:a16="http://schemas.microsoft.com/office/drawing/2014/main" id="{1C61DE8B-E794-D593-1C3C-8017124A6F30}"/>
              </a:ext>
            </a:extLst>
          </p:cNvPr>
          <p:cNvSpPr/>
          <p:nvPr/>
        </p:nvSpPr>
        <p:spPr>
          <a:xfrm>
            <a:off x="2089580" y="1114427"/>
            <a:ext cx="2731802"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Pension system</a:t>
            </a:r>
            <a:br>
              <a:rPr lang="de-LI" sz="1100"/>
            </a:br>
            <a:r>
              <a:rPr lang="de-LI" sz="1100"/>
              <a:t>structure</a:t>
            </a:r>
            <a:endParaRPr lang="en-GB" sz="1100"/>
          </a:p>
        </p:txBody>
      </p:sp>
      <p:sp>
        <p:nvSpPr>
          <p:cNvPr id="12" name="Rectangle 11">
            <a:extLst>
              <a:ext uri="{FF2B5EF4-FFF2-40B4-BE49-F238E27FC236}">
                <a16:creationId xmlns:a16="http://schemas.microsoft.com/office/drawing/2014/main" id="{0F9FBB00-0CEA-AE50-D542-0B29A733AA13}"/>
              </a:ext>
            </a:extLst>
          </p:cNvPr>
          <p:cNvSpPr/>
          <p:nvPr/>
        </p:nvSpPr>
        <p:spPr>
          <a:xfrm>
            <a:off x="5479472" y="1114427"/>
            <a:ext cx="2732400"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Financial system</a:t>
            </a:r>
            <a:br>
              <a:rPr lang="de-LI" sz="1100"/>
            </a:br>
            <a:r>
              <a:rPr lang="de-LI" sz="1100"/>
              <a:t>structure</a:t>
            </a:r>
            <a:endParaRPr lang="en-GB" sz="1100"/>
          </a:p>
        </p:txBody>
      </p:sp>
      <p:sp>
        <p:nvSpPr>
          <p:cNvPr id="13" name="TextBox 12">
            <a:extLst>
              <a:ext uri="{FF2B5EF4-FFF2-40B4-BE49-F238E27FC236}">
                <a16:creationId xmlns:a16="http://schemas.microsoft.com/office/drawing/2014/main" id="{DF5CEC9B-B187-542F-0D07-959456EA4BB3}"/>
              </a:ext>
            </a:extLst>
          </p:cNvPr>
          <p:cNvSpPr txBox="1"/>
          <p:nvPr/>
        </p:nvSpPr>
        <p:spPr>
          <a:xfrm>
            <a:off x="2089580" y="2504148"/>
            <a:ext cx="2731802" cy="246221"/>
          </a:xfrm>
          <a:prstGeom prst="rect">
            <a:avLst/>
          </a:prstGeom>
          <a:noFill/>
        </p:spPr>
        <p:txBody>
          <a:bodyPr wrap="square" rtlCol="0">
            <a:spAutoFit/>
          </a:bodyPr>
          <a:lstStyle/>
          <a:p>
            <a:pPr algn="ctr"/>
            <a:r>
              <a:rPr lang="en-US" sz="1000">
                <a:solidFill>
                  <a:schemeClr val="accent1"/>
                </a:solidFill>
              </a:rPr>
              <a:t>→</a:t>
            </a:r>
            <a:r>
              <a:rPr lang="en-US" sz="1000"/>
              <a:t> </a:t>
            </a:r>
            <a:r>
              <a:rPr lang="en-US" sz="1000" i="1">
                <a:solidFill>
                  <a:schemeClr val="accent1"/>
                </a:solidFill>
              </a:rPr>
              <a:t>Affects and determines wealth accumulation</a:t>
            </a:r>
            <a:endParaRPr lang="en-CH" sz="1000" i="1">
              <a:solidFill>
                <a:schemeClr val="accent1"/>
              </a:solidFill>
            </a:endParaRPr>
          </a:p>
        </p:txBody>
      </p:sp>
      <p:sp>
        <p:nvSpPr>
          <p:cNvPr id="15" name="TextBox 14">
            <a:extLst>
              <a:ext uri="{FF2B5EF4-FFF2-40B4-BE49-F238E27FC236}">
                <a16:creationId xmlns:a16="http://schemas.microsoft.com/office/drawing/2014/main" id="{817FB8BF-2C96-6735-7268-48CB9C333E5A}"/>
              </a:ext>
            </a:extLst>
          </p:cNvPr>
          <p:cNvSpPr txBox="1"/>
          <p:nvPr/>
        </p:nvSpPr>
        <p:spPr>
          <a:xfrm>
            <a:off x="5479472" y="2504148"/>
            <a:ext cx="2731802" cy="246221"/>
          </a:xfrm>
          <a:prstGeom prst="rect">
            <a:avLst/>
          </a:prstGeom>
          <a:noFill/>
        </p:spPr>
        <p:txBody>
          <a:bodyPr wrap="square" rtlCol="0">
            <a:spAutoFit/>
          </a:bodyPr>
          <a:lstStyle/>
          <a:p>
            <a:pPr algn="ctr"/>
            <a:r>
              <a:rPr lang="en-US" sz="1000">
                <a:solidFill>
                  <a:schemeClr val="accent1"/>
                </a:solidFill>
              </a:rPr>
              <a:t>→ </a:t>
            </a:r>
            <a:r>
              <a:rPr lang="en-US" sz="1000" i="1">
                <a:solidFill>
                  <a:schemeClr val="accent1"/>
                </a:solidFill>
              </a:rPr>
              <a:t>Determines if savings go to banks or markets</a:t>
            </a:r>
            <a:endParaRPr lang="en-CH" sz="1000" i="1">
              <a:solidFill>
                <a:schemeClr val="accent1"/>
              </a:solidFill>
            </a:endParaRPr>
          </a:p>
        </p:txBody>
      </p:sp>
      <p:sp>
        <p:nvSpPr>
          <p:cNvPr id="18" name="TextBox 17">
            <a:extLst>
              <a:ext uri="{FF2B5EF4-FFF2-40B4-BE49-F238E27FC236}">
                <a16:creationId xmlns:a16="http://schemas.microsoft.com/office/drawing/2014/main" id="{2A488F52-6303-D6B2-E497-3ABD07CA21D5}"/>
              </a:ext>
            </a:extLst>
          </p:cNvPr>
          <p:cNvSpPr txBox="1"/>
          <p:nvPr/>
        </p:nvSpPr>
        <p:spPr>
          <a:xfrm>
            <a:off x="2089580" y="2131749"/>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a:t>How much wealth needs to be accumulated for retirement?</a:t>
            </a:r>
            <a:endParaRPr lang="en-CH" sz="1000"/>
          </a:p>
        </p:txBody>
      </p:sp>
      <p:sp>
        <p:nvSpPr>
          <p:cNvPr id="20" name="TextBox 19">
            <a:extLst>
              <a:ext uri="{FF2B5EF4-FFF2-40B4-BE49-F238E27FC236}">
                <a16:creationId xmlns:a16="http://schemas.microsoft.com/office/drawing/2014/main" id="{D73BF4E3-EABF-B6E0-F48B-904D85B88C24}"/>
              </a:ext>
            </a:extLst>
          </p:cNvPr>
          <p:cNvSpPr txBox="1"/>
          <p:nvPr/>
        </p:nvSpPr>
        <p:spPr>
          <a:xfrm>
            <a:off x="5479472" y="2131749"/>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a:t>Once wealth is accumulated, where are these savings allocated?</a:t>
            </a:r>
            <a:endParaRPr lang="en-CH" sz="1000"/>
          </a:p>
        </p:txBody>
      </p:sp>
      <p:sp>
        <p:nvSpPr>
          <p:cNvPr id="22" name="TextBox 21">
            <a:extLst>
              <a:ext uri="{FF2B5EF4-FFF2-40B4-BE49-F238E27FC236}">
                <a16:creationId xmlns:a16="http://schemas.microsoft.com/office/drawing/2014/main" id="{4CE3B01C-E6AC-FCB0-5DBD-C7CDE63868A6}"/>
              </a:ext>
            </a:extLst>
          </p:cNvPr>
          <p:cNvSpPr txBox="1"/>
          <p:nvPr/>
        </p:nvSpPr>
        <p:spPr>
          <a:xfrm>
            <a:off x="705139" y="2131749"/>
            <a:ext cx="1116734" cy="246221"/>
          </a:xfrm>
          <a:prstGeom prst="rect">
            <a:avLst/>
          </a:prstGeom>
          <a:noFill/>
        </p:spPr>
        <p:txBody>
          <a:bodyPr wrap="square" rtlCol="0">
            <a:spAutoFit/>
          </a:bodyPr>
          <a:lstStyle/>
          <a:p>
            <a:r>
              <a:rPr lang="de-LI" sz="1000" b="1">
                <a:solidFill>
                  <a:schemeClr val="accent1"/>
                </a:solidFill>
              </a:rPr>
              <a:t>Key question</a:t>
            </a:r>
            <a:endParaRPr lang="en-GB" sz="1000">
              <a:solidFill>
                <a:schemeClr val="accent1"/>
              </a:solidFill>
            </a:endParaRPr>
          </a:p>
        </p:txBody>
      </p:sp>
      <p:sp>
        <p:nvSpPr>
          <p:cNvPr id="23" name="TextBox 22">
            <a:extLst>
              <a:ext uri="{FF2B5EF4-FFF2-40B4-BE49-F238E27FC236}">
                <a16:creationId xmlns:a16="http://schemas.microsoft.com/office/drawing/2014/main" id="{63CCBA66-BC93-B47E-D5CD-00C8E9486962}"/>
              </a:ext>
            </a:extLst>
          </p:cNvPr>
          <p:cNvSpPr txBox="1"/>
          <p:nvPr/>
        </p:nvSpPr>
        <p:spPr>
          <a:xfrm>
            <a:off x="2089580" y="2871112"/>
            <a:ext cx="2731802" cy="246221"/>
          </a:xfrm>
          <a:prstGeom prst="rect">
            <a:avLst/>
          </a:prstGeom>
          <a:noFill/>
        </p:spPr>
        <p:txBody>
          <a:bodyPr wrap="square" rtlCol="0">
            <a:spAutoFit/>
          </a:bodyPr>
          <a:lstStyle/>
          <a:p>
            <a:pPr marL="171450" indent="-171450">
              <a:buFont typeface="Arial" panose="020B0604020202020204" pitchFamily="34" charset="0"/>
              <a:buChar char="•"/>
            </a:pPr>
            <a:r>
              <a:rPr lang="en-US" sz="1000"/>
              <a:t>Determines retirement saving needs</a:t>
            </a:r>
            <a:endParaRPr lang="en-CH" sz="1000"/>
          </a:p>
        </p:txBody>
      </p:sp>
      <p:sp>
        <p:nvSpPr>
          <p:cNvPr id="24" name="TextBox 23">
            <a:extLst>
              <a:ext uri="{FF2B5EF4-FFF2-40B4-BE49-F238E27FC236}">
                <a16:creationId xmlns:a16="http://schemas.microsoft.com/office/drawing/2014/main" id="{4DC58C2A-0647-A7DD-CA71-853D3A4EC77C}"/>
              </a:ext>
            </a:extLst>
          </p:cNvPr>
          <p:cNvSpPr txBox="1"/>
          <p:nvPr/>
        </p:nvSpPr>
        <p:spPr>
          <a:xfrm>
            <a:off x="5479472" y="2871112"/>
            <a:ext cx="2731802" cy="246221"/>
          </a:xfrm>
          <a:prstGeom prst="rect">
            <a:avLst/>
          </a:prstGeom>
          <a:noFill/>
        </p:spPr>
        <p:txBody>
          <a:bodyPr wrap="square" rtlCol="0">
            <a:spAutoFit/>
          </a:bodyPr>
          <a:lstStyle/>
          <a:p>
            <a:pPr marL="171450" indent="-171450">
              <a:buFont typeface="Arial" panose="020B0604020202020204" pitchFamily="34" charset="0"/>
              <a:buChar char="•"/>
            </a:pPr>
            <a:r>
              <a:rPr lang="en-US" sz="1000"/>
              <a:t>Determines savings intermediation channel</a:t>
            </a:r>
          </a:p>
        </p:txBody>
      </p:sp>
      <p:sp>
        <p:nvSpPr>
          <p:cNvPr id="39" name="TextBox 38">
            <a:extLst>
              <a:ext uri="{FF2B5EF4-FFF2-40B4-BE49-F238E27FC236}">
                <a16:creationId xmlns:a16="http://schemas.microsoft.com/office/drawing/2014/main" id="{4E9F4A5B-C146-16AE-D848-35A582AC8A7C}"/>
              </a:ext>
            </a:extLst>
          </p:cNvPr>
          <p:cNvSpPr txBox="1"/>
          <p:nvPr/>
        </p:nvSpPr>
        <p:spPr>
          <a:xfrm>
            <a:off x="705139" y="2871112"/>
            <a:ext cx="1116734" cy="246221"/>
          </a:xfrm>
          <a:prstGeom prst="rect">
            <a:avLst/>
          </a:prstGeom>
          <a:noFill/>
        </p:spPr>
        <p:txBody>
          <a:bodyPr wrap="square" rtlCol="0">
            <a:spAutoFit/>
          </a:bodyPr>
          <a:lstStyle/>
          <a:p>
            <a:r>
              <a:rPr lang="de-LI" sz="1000" b="1">
                <a:solidFill>
                  <a:schemeClr val="accent1"/>
                </a:solidFill>
              </a:rPr>
              <a:t>Mechanism</a:t>
            </a:r>
            <a:endParaRPr lang="en-GB" sz="1000">
              <a:solidFill>
                <a:schemeClr val="accent1"/>
              </a:solidFill>
            </a:endParaRPr>
          </a:p>
        </p:txBody>
      </p:sp>
      <p:grpSp>
        <p:nvGrpSpPr>
          <p:cNvPr id="49" name="Pic">
            <a:extLst>
              <a:ext uri="{FF2B5EF4-FFF2-40B4-BE49-F238E27FC236}">
                <a16:creationId xmlns:a16="http://schemas.microsoft.com/office/drawing/2014/main" id="{6B8D4E1F-86C2-95A9-3443-AB78D2543295}"/>
              </a:ext>
            </a:extLst>
          </p:cNvPr>
          <p:cNvGrpSpPr/>
          <p:nvPr/>
        </p:nvGrpSpPr>
        <p:grpSpPr>
          <a:xfrm>
            <a:off x="6692000" y="1724346"/>
            <a:ext cx="307344" cy="307307"/>
            <a:chOff x="6640513" y="1751013"/>
            <a:chExt cx="254004" cy="253973"/>
          </a:xfrm>
          <a:solidFill>
            <a:srgbClr val="000000"/>
          </a:solidFill>
        </p:grpSpPr>
        <p:sp>
          <p:nvSpPr>
            <p:cNvPr id="50" name="Freeform: Shape 49">
              <a:extLst>
                <a:ext uri="{FF2B5EF4-FFF2-40B4-BE49-F238E27FC236}">
                  <a16:creationId xmlns:a16="http://schemas.microsoft.com/office/drawing/2014/main" id="{A9D80589-C88A-AC12-6AFA-9105327E7E1A}"/>
                </a:ext>
              </a:extLst>
            </p:cNvPr>
            <p:cNvSpPr/>
            <p:nvPr/>
          </p:nvSpPr>
          <p:spPr>
            <a:xfrm>
              <a:off x="6701823" y="1961189"/>
              <a:ext cx="17517" cy="8758"/>
            </a:xfrm>
            <a:custGeom>
              <a:avLst/>
              <a:gdLst>
                <a:gd name="connsiteX0" fmla="*/ 0 w 17517"/>
                <a:gd name="connsiteY0" fmla="*/ 0 h 8758"/>
                <a:gd name="connsiteX1" fmla="*/ 17517 w 17517"/>
                <a:gd name="connsiteY1" fmla="*/ 0 h 8758"/>
                <a:gd name="connsiteX2" fmla="*/ 17517 w 17517"/>
                <a:gd name="connsiteY2" fmla="*/ 8759 h 8758"/>
                <a:gd name="connsiteX3" fmla="*/ 0 w 17517"/>
                <a:gd name="connsiteY3" fmla="*/ 8759 h 8758"/>
              </a:gdLst>
              <a:ahLst/>
              <a:cxnLst>
                <a:cxn ang="0">
                  <a:pos x="connsiteX0" y="connsiteY0"/>
                </a:cxn>
                <a:cxn ang="0">
                  <a:pos x="connsiteX1" y="connsiteY1"/>
                </a:cxn>
                <a:cxn ang="0">
                  <a:pos x="connsiteX2" y="connsiteY2"/>
                </a:cxn>
                <a:cxn ang="0">
                  <a:pos x="connsiteX3" y="connsiteY3"/>
                </a:cxn>
              </a:cxnLst>
              <a:rect l="l" t="t" r="r" b="b"/>
              <a:pathLst>
                <a:path w="17517" h="8758">
                  <a:moveTo>
                    <a:pt x="0" y="0"/>
                  </a:moveTo>
                  <a:lnTo>
                    <a:pt x="17517" y="0"/>
                  </a:lnTo>
                  <a:lnTo>
                    <a:pt x="17517" y="8759"/>
                  </a:lnTo>
                  <a:lnTo>
                    <a:pt x="0" y="8759"/>
                  </a:lnTo>
                  <a:close/>
                </a:path>
              </a:pathLst>
            </a:custGeom>
            <a:solidFill>
              <a:srgbClr val="000000"/>
            </a:solidFill>
            <a:ln w="4270"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414FD147-1CF0-417F-6279-681E7C093EEE}"/>
                </a:ext>
              </a:extLst>
            </p:cNvPr>
            <p:cNvSpPr/>
            <p:nvPr/>
          </p:nvSpPr>
          <p:spPr>
            <a:xfrm>
              <a:off x="6815685" y="1961189"/>
              <a:ext cx="17517" cy="8758"/>
            </a:xfrm>
            <a:custGeom>
              <a:avLst/>
              <a:gdLst>
                <a:gd name="connsiteX0" fmla="*/ 0 w 17517"/>
                <a:gd name="connsiteY0" fmla="*/ 0 h 8758"/>
                <a:gd name="connsiteX1" fmla="*/ 17517 w 17517"/>
                <a:gd name="connsiteY1" fmla="*/ 0 h 8758"/>
                <a:gd name="connsiteX2" fmla="*/ 17517 w 17517"/>
                <a:gd name="connsiteY2" fmla="*/ 8759 h 8758"/>
                <a:gd name="connsiteX3" fmla="*/ 0 w 17517"/>
                <a:gd name="connsiteY3" fmla="*/ 8759 h 8758"/>
              </a:gdLst>
              <a:ahLst/>
              <a:cxnLst>
                <a:cxn ang="0">
                  <a:pos x="connsiteX0" y="connsiteY0"/>
                </a:cxn>
                <a:cxn ang="0">
                  <a:pos x="connsiteX1" y="connsiteY1"/>
                </a:cxn>
                <a:cxn ang="0">
                  <a:pos x="connsiteX2" y="connsiteY2"/>
                </a:cxn>
                <a:cxn ang="0">
                  <a:pos x="connsiteX3" y="connsiteY3"/>
                </a:cxn>
              </a:cxnLst>
              <a:rect l="l" t="t" r="r" b="b"/>
              <a:pathLst>
                <a:path w="17517" h="8758">
                  <a:moveTo>
                    <a:pt x="0" y="0"/>
                  </a:moveTo>
                  <a:lnTo>
                    <a:pt x="17517" y="0"/>
                  </a:lnTo>
                  <a:lnTo>
                    <a:pt x="17517" y="8759"/>
                  </a:lnTo>
                  <a:lnTo>
                    <a:pt x="0" y="8759"/>
                  </a:lnTo>
                  <a:close/>
                </a:path>
              </a:pathLst>
            </a:custGeom>
            <a:solidFill>
              <a:srgbClr val="000000"/>
            </a:solidFill>
            <a:ln w="4270"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73687116-7880-8E8C-AFD7-9D6575950EAE}"/>
                </a:ext>
              </a:extLst>
            </p:cNvPr>
            <p:cNvSpPr/>
            <p:nvPr/>
          </p:nvSpPr>
          <p:spPr>
            <a:xfrm>
              <a:off x="6675775" y="1864844"/>
              <a:ext cx="8758" cy="61310"/>
            </a:xfrm>
            <a:custGeom>
              <a:avLst/>
              <a:gdLst>
                <a:gd name="connsiteX0" fmla="*/ 0 w 8758"/>
                <a:gd name="connsiteY0" fmla="*/ 0 h 61310"/>
                <a:gd name="connsiteX1" fmla="*/ 8759 w 8758"/>
                <a:gd name="connsiteY1" fmla="*/ 0 h 61310"/>
                <a:gd name="connsiteX2" fmla="*/ 8759 w 8758"/>
                <a:gd name="connsiteY2" fmla="*/ 61310 h 61310"/>
                <a:gd name="connsiteX3" fmla="*/ 0 w 8758"/>
                <a:gd name="connsiteY3" fmla="*/ 61310 h 61310"/>
              </a:gdLst>
              <a:ahLst/>
              <a:cxnLst>
                <a:cxn ang="0">
                  <a:pos x="connsiteX0" y="connsiteY0"/>
                </a:cxn>
                <a:cxn ang="0">
                  <a:pos x="connsiteX1" y="connsiteY1"/>
                </a:cxn>
                <a:cxn ang="0">
                  <a:pos x="connsiteX2" y="connsiteY2"/>
                </a:cxn>
                <a:cxn ang="0">
                  <a:pos x="connsiteX3" y="connsiteY3"/>
                </a:cxn>
              </a:cxnLst>
              <a:rect l="l" t="t" r="r" b="b"/>
              <a:pathLst>
                <a:path w="8758" h="61310">
                  <a:moveTo>
                    <a:pt x="0" y="0"/>
                  </a:moveTo>
                  <a:lnTo>
                    <a:pt x="8759" y="0"/>
                  </a:lnTo>
                  <a:lnTo>
                    <a:pt x="8759" y="61310"/>
                  </a:lnTo>
                  <a:lnTo>
                    <a:pt x="0" y="61310"/>
                  </a:lnTo>
                  <a:close/>
                </a:path>
              </a:pathLst>
            </a:custGeom>
            <a:solidFill>
              <a:srgbClr val="000000"/>
            </a:solidFill>
            <a:ln w="4270"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3FFC762F-7272-06F7-0763-76710BB59085}"/>
                </a:ext>
              </a:extLst>
            </p:cNvPr>
            <p:cNvSpPr/>
            <p:nvPr/>
          </p:nvSpPr>
          <p:spPr>
            <a:xfrm>
              <a:off x="6658257" y="1864844"/>
              <a:ext cx="8758" cy="61310"/>
            </a:xfrm>
            <a:custGeom>
              <a:avLst/>
              <a:gdLst>
                <a:gd name="connsiteX0" fmla="*/ 0 w 8758"/>
                <a:gd name="connsiteY0" fmla="*/ 0 h 61310"/>
                <a:gd name="connsiteX1" fmla="*/ 8759 w 8758"/>
                <a:gd name="connsiteY1" fmla="*/ 0 h 61310"/>
                <a:gd name="connsiteX2" fmla="*/ 8759 w 8758"/>
                <a:gd name="connsiteY2" fmla="*/ 61310 h 61310"/>
                <a:gd name="connsiteX3" fmla="*/ 0 w 8758"/>
                <a:gd name="connsiteY3" fmla="*/ 61310 h 61310"/>
              </a:gdLst>
              <a:ahLst/>
              <a:cxnLst>
                <a:cxn ang="0">
                  <a:pos x="connsiteX0" y="connsiteY0"/>
                </a:cxn>
                <a:cxn ang="0">
                  <a:pos x="connsiteX1" y="connsiteY1"/>
                </a:cxn>
                <a:cxn ang="0">
                  <a:pos x="connsiteX2" y="connsiteY2"/>
                </a:cxn>
                <a:cxn ang="0">
                  <a:pos x="connsiteX3" y="connsiteY3"/>
                </a:cxn>
              </a:cxnLst>
              <a:rect l="l" t="t" r="r" b="b"/>
              <a:pathLst>
                <a:path w="8758" h="61310">
                  <a:moveTo>
                    <a:pt x="0" y="0"/>
                  </a:moveTo>
                  <a:lnTo>
                    <a:pt x="8759" y="0"/>
                  </a:lnTo>
                  <a:lnTo>
                    <a:pt x="8759" y="61310"/>
                  </a:lnTo>
                  <a:lnTo>
                    <a:pt x="0" y="61310"/>
                  </a:lnTo>
                  <a:close/>
                </a:path>
              </a:pathLst>
            </a:custGeom>
            <a:solidFill>
              <a:srgbClr val="000000"/>
            </a:solidFill>
            <a:ln w="4270"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6313AB01-29E5-0122-DBBC-99F8504C9D17}"/>
                </a:ext>
              </a:extLst>
            </p:cNvPr>
            <p:cNvSpPr/>
            <p:nvPr/>
          </p:nvSpPr>
          <p:spPr>
            <a:xfrm>
              <a:off x="6728094" y="1926154"/>
              <a:ext cx="78831" cy="78831"/>
            </a:xfrm>
            <a:custGeom>
              <a:avLst/>
              <a:gdLst>
                <a:gd name="connsiteX0" fmla="*/ 69570 w 78831"/>
                <a:gd name="connsiteY0" fmla="*/ 26928 h 78831"/>
                <a:gd name="connsiteX1" fmla="*/ 70599 w 78831"/>
                <a:gd name="connsiteY1" fmla="*/ 14855 h 78831"/>
                <a:gd name="connsiteX2" fmla="*/ 63977 w 78831"/>
                <a:gd name="connsiteY2" fmla="*/ 8233 h 78831"/>
                <a:gd name="connsiteX3" fmla="*/ 51908 w 78831"/>
                <a:gd name="connsiteY3" fmla="*/ 9262 h 78831"/>
                <a:gd name="connsiteX4" fmla="*/ 44100 w 78831"/>
                <a:gd name="connsiteY4" fmla="*/ 0 h 78831"/>
                <a:gd name="connsiteX5" fmla="*/ 34732 w 78831"/>
                <a:gd name="connsiteY5" fmla="*/ 0 h 78831"/>
                <a:gd name="connsiteX6" fmla="*/ 26924 w 78831"/>
                <a:gd name="connsiteY6" fmla="*/ 9262 h 78831"/>
                <a:gd name="connsiteX7" fmla="*/ 14855 w 78831"/>
                <a:gd name="connsiteY7" fmla="*/ 8233 h 78831"/>
                <a:gd name="connsiteX8" fmla="*/ 8233 w 78831"/>
                <a:gd name="connsiteY8" fmla="*/ 14855 h 78831"/>
                <a:gd name="connsiteX9" fmla="*/ 9262 w 78831"/>
                <a:gd name="connsiteY9" fmla="*/ 26928 h 78831"/>
                <a:gd name="connsiteX10" fmla="*/ 0 w 78831"/>
                <a:gd name="connsiteY10" fmla="*/ 34732 h 78831"/>
                <a:gd name="connsiteX11" fmla="*/ 0 w 78831"/>
                <a:gd name="connsiteY11" fmla="*/ 44100 h 78831"/>
                <a:gd name="connsiteX12" fmla="*/ 9262 w 78831"/>
                <a:gd name="connsiteY12" fmla="*/ 51904 h 78831"/>
                <a:gd name="connsiteX13" fmla="*/ 8233 w 78831"/>
                <a:gd name="connsiteY13" fmla="*/ 63977 h 78831"/>
                <a:gd name="connsiteX14" fmla="*/ 14855 w 78831"/>
                <a:gd name="connsiteY14" fmla="*/ 70599 h 78831"/>
                <a:gd name="connsiteX15" fmla="*/ 26924 w 78831"/>
                <a:gd name="connsiteY15" fmla="*/ 69570 h 78831"/>
                <a:gd name="connsiteX16" fmla="*/ 34732 w 78831"/>
                <a:gd name="connsiteY16" fmla="*/ 78832 h 78831"/>
                <a:gd name="connsiteX17" fmla="*/ 44100 w 78831"/>
                <a:gd name="connsiteY17" fmla="*/ 78832 h 78831"/>
                <a:gd name="connsiteX18" fmla="*/ 51908 w 78831"/>
                <a:gd name="connsiteY18" fmla="*/ 69570 h 78831"/>
                <a:gd name="connsiteX19" fmla="*/ 63977 w 78831"/>
                <a:gd name="connsiteY19" fmla="*/ 70599 h 78831"/>
                <a:gd name="connsiteX20" fmla="*/ 70599 w 78831"/>
                <a:gd name="connsiteY20" fmla="*/ 63977 h 78831"/>
                <a:gd name="connsiteX21" fmla="*/ 69570 w 78831"/>
                <a:gd name="connsiteY21" fmla="*/ 51904 h 78831"/>
                <a:gd name="connsiteX22" fmla="*/ 78832 w 78831"/>
                <a:gd name="connsiteY22" fmla="*/ 44100 h 78831"/>
                <a:gd name="connsiteX23" fmla="*/ 78832 w 78831"/>
                <a:gd name="connsiteY23" fmla="*/ 34732 h 78831"/>
                <a:gd name="connsiteX24" fmla="*/ 69570 w 78831"/>
                <a:gd name="connsiteY24" fmla="*/ 26928 h 78831"/>
                <a:gd name="connsiteX25" fmla="*/ 39418 w 78831"/>
                <a:gd name="connsiteY25" fmla="*/ 56931 h 78831"/>
                <a:gd name="connsiteX26" fmla="*/ 21901 w 78831"/>
                <a:gd name="connsiteY26" fmla="*/ 39414 h 78831"/>
                <a:gd name="connsiteX27" fmla="*/ 39418 w 78831"/>
                <a:gd name="connsiteY27" fmla="*/ 21897 h 78831"/>
                <a:gd name="connsiteX28" fmla="*/ 56935 w 78831"/>
                <a:gd name="connsiteY28" fmla="*/ 39414 h 78831"/>
                <a:gd name="connsiteX29" fmla="*/ 39418 w 78831"/>
                <a:gd name="connsiteY29" fmla="*/ 56931 h 78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8831" h="78831">
                  <a:moveTo>
                    <a:pt x="69570" y="26928"/>
                  </a:moveTo>
                  <a:cubicBezTo>
                    <a:pt x="67875" y="22834"/>
                    <a:pt x="68295" y="18424"/>
                    <a:pt x="70599" y="14855"/>
                  </a:cubicBezTo>
                  <a:lnTo>
                    <a:pt x="63977" y="8233"/>
                  </a:lnTo>
                  <a:cubicBezTo>
                    <a:pt x="60413" y="10537"/>
                    <a:pt x="56003" y="10953"/>
                    <a:pt x="51908" y="9262"/>
                  </a:cubicBezTo>
                  <a:cubicBezTo>
                    <a:pt x="47818" y="7567"/>
                    <a:pt x="44993" y="4147"/>
                    <a:pt x="44100" y="0"/>
                  </a:cubicBezTo>
                  <a:lnTo>
                    <a:pt x="34732" y="0"/>
                  </a:lnTo>
                  <a:cubicBezTo>
                    <a:pt x="33839" y="4147"/>
                    <a:pt x="31014" y="7572"/>
                    <a:pt x="26924" y="9262"/>
                  </a:cubicBezTo>
                  <a:cubicBezTo>
                    <a:pt x="22829" y="10957"/>
                    <a:pt x="18419" y="10532"/>
                    <a:pt x="14855" y="8233"/>
                  </a:cubicBezTo>
                  <a:lnTo>
                    <a:pt x="8233" y="14855"/>
                  </a:lnTo>
                  <a:cubicBezTo>
                    <a:pt x="10537" y="18419"/>
                    <a:pt x="10957" y="22834"/>
                    <a:pt x="9262" y="26928"/>
                  </a:cubicBezTo>
                  <a:cubicBezTo>
                    <a:pt x="7567" y="31019"/>
                    <a:pt x="4152" y="33839"/>
                    <a:pt x="0" y="34732"/>
                  </a:cubicBezTo>
                  <a:lnTo>
                    <a:pt x="0" y="44100"/>
                  </a:lnTo>
                  <a:cubicBezTo>
                    <a:pt x="4147" y="44993"/>
                    <a:pt x="7567" y="47818"/>
                    <a:pt x="9262" y="51904"/>
                  </a:cubicBezTo>
                  <a:cubicBezTo>
                    <a:pt x="10957" y="55998"/>
                    <a:pt x="10537" y="60408"/>
                    <a:pt x="8233" y="63977"/>
                  </a:cubicBezTo>
                  <a:lnTo>
                    <a:pt x="14855" y="70599"/>
                  </a:lnTo>
                  <a:cubicBezTo>
                    <a:pt x="18419" y="68295"/>
                    <a:pt x="22834" y="67879"/>
                    <a:pt x="26924" y="69570"/>
                  </a:cubicBezTo>
                  <a:cubicBezTo>
                    <a:pt x="31014" y="71265"/>
                    <a:pt x="33839" y="74685"/>
                    <a:pt x="34732" y="78832"/>
                  </a:cubicBezTo>
                  <a:lnTo>
                    <a:pt x="44100" y="78832"/>
                  </a:lnTo>
                  <a:cubicBezTo>
                    <a:pt x="44993" y="74685"/>
                    <a:pt x="47818" y="71260"/>
                    <a:pt x="51908" y="69570"/>
                  </a:cubicBezTo>
                  <a:cubicBezTo>
                    <a:pt x="56003" y="67879"/>
                    <a:pt x="60413" y="68295"/>
                    <a:pt x="63977" y="70599"/>
                  </a:cubicBezTo>
                  <a:lnTo>
                    <a:pt x="70599" y="63977"/>
                  </a:lnTo>
                  <a:cubicBezTo>
                    <a:pt x="68295" y="60413"/>
                    <a:pt x="67875" y="55998"/>
                    <a:pt x="69570" y="51904"/>
                  </a:cubicBezTo>
                  <a:cubicBezTo>
                    <a:pt x="71265" y="47813"/>
                    <a:pt x="74680" y="44993"/>
                    <a:pt x="78832" y="44100"/>
                  </a:cubicBezTo>
                  <a:lnTo>
                    <a:pt x="78832" y="34732"/>
                  </a:lnTo>
                  <a:cubicBezTo>
                    <a:pt x="74685" y="33839"/>
                    <a:pt x="71265" y="31014"/>
                    <a:pt x="69570" y="26928"/>
                  </a:cubicBezTo>
                  <a:close/>
                  <a:moveTo>
                    <a:pt x="39418" y="56931"/>
                  </a:moveTo>
                  <a:cubicBezTo>
                    <a:pt x="29744" y="56931"/>
                    <a:pt x="21901" y="49088"/>
                    <a:pt x="21901" y="39414"/>
                  </a:cubicBezTo>
                  <a:cubicBezTo>
                    <a:pt x="21901" y="29740"/>
                    <a:pt x="29744" y="21897"/>
                    <a:pt x="39418" y="21897"/>
                  </a:cubicBezTo>
                  <a:cubicBezTo>
                    <a:pt x="49092" y="21897"/>
                    <a:pt x="56935" y="29740"/>
                    <a:pt x="56935" y="39414"/>
                  </a:cubicBezTo>
                  <a:cubicBezTo>
                    <a:pt x="56935" y="49088"/>
                    <a:pt x="49092" y="56931"/>
                    <a:pt x="39418" y="56931"/>
                  </a:cubicBezTo>
                  <a:close/>
                </a:path>
              </a:pathLst>
            </a:custGeom>
            <a:solidFill>
              <a:srgbClr val="000000"/>
            </a:solidFill>
            <a:ln w="4270"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4C1B506F-2502-382B-B5A0-24048BD6970D}"/>
                </a:ext>
              </a:extLst>
            </p:cNvPr>
            <p:cNvSpPr/>
            <p:nvPr/>
          </p:nvSpPr>
          <p:spPr>
            <a:xfrm>
              <a:off x="6719340" y="1908637"/>
              <a:ext cx="96344" cy="30655"/>
            </a:xfrm>
            <a:custGeom>
              <a:avLst/>
              <a:gdLst>
                <a:gd name="connsiteX0" fmla="*/ 96345 w 96344"/>
                <a:gd name="connsiteY0" fmla="*/ 0 h 30655"/>
                <a:gd name="connsiteX1" fmla="*/ 0 w 96344"/>
                <a:gd name="connsiteY1" fmla="*/ 0 h 30655"/>
                <a:gd name="connsiteX2" fmla="*/ 0 w 96344"/>
                <a:gd name="connsiteY2" fmla="*/ 30655 h 30655"/>
                <a:gd name="connsiteX3" fmla="*/ 6319 w 96344"/>
                <a:gd name="connsiteY3" fmla="*/ 30655 h 30655"/>
                <a:gd name="connsiteX4" fmla="*/ 23403 w 96344"/>
                <a:gd name="connsiteY4" fmla="*/ 13576 h 30655"/>
                <a:gd name="connsiteX5" fmla="*/ 27563 w 96344"/>
                <a:gd name="connsiteY5" fmla="*/ 17745 h 30655"/>
                <a:gd name="connsiteX6" fmla="*/ 32328 w 96344"/>
                <a:gd name="connsiteY6" fmla="*/ 18691 h 30655"/>
                <a:gd name="connsiteX7" fmla="*/ 35034 w 96344"/>
                <a:gd name="connsiteY7" fmla="*/ 14640 h 30655"/>
                <a:gd name="connsiteX8" fmla="*/ 35034 w 96344"/>
                <a:gd name="connsiteY8" fmla="*/ 8759 h 30655"/>
                <a:gd name="connsiteX9" fmla="*/ 61310 w 96344"/>
                <a:gd name="connsiteY9" fmla="*/ 8759 h 30655"/>
                <a:gd name="connsiteX10" fmla="*/ 61310 w 96344"/>
                <a:gd name="connsiteY10" fmla="*/ 14640 h 30655"/>
                <a:gd name="connsiteX11" fmla="*/ 64017 w 96344"/>
                <a:gd name="connsiteY11" fmla="*/ 18691 h 30655"/>
                <a:gd name="connsiteX12" fmla="*/ 68786 w 96344"/>
                <a:gd name="connsiteY12" fmla="*/ 17741 h 30655"/>
                <a:gd name="connsiteX13" fmla="*/ 72942 w 96344"/>
                <a:gd name="connsiteY13" fmla="*/ 13576 h 30655"/>
                <a:gd name="connsiteX14" fmla="*/ 90025 w 96344"/>
                <a:gd name="connsiteY14" fmla="*/ 30655 h 30655"/>
                <a:gd name="connsiteX15" fmla="*/ 96345 w 96344"/>
                <a:gd name="connsiteY15" fmla="*/ 30655 h 30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344" h="30655">
                  <a:moveTo>
                    <a:pt x="96345" y="0"/>
                  </a:moveTo>
                  <a:lnTo>
                    <a:pt x="0" y="0"/>
                  </a:lnTo>
                  <a:lnTo>
                    <a:pt x="0" y="30655"/>
                  </a:lnTo>
                  <a:lnTo>
                    <a:pt x="6319" y="30655"/>
                  </a:lnTo>
                  <a:lnTo>
                    <a:pt x="23403" y="13576"/>
                  </a:lnTo>
                  <a:lnTo>
                    <a:pt x="27563" y="17745"/>
                  </a:lnTo>
                  <a:cubicBezTo>
                    <a:pt x="29477" y="19654"/>
                    <a:pt x="31693" y="18949"/>
                    <a:pt x="32328" y="18691"/>
                  </a:cubicBezTo>
                  <a:cubicBezTo>
                    <a:pt x="32963" y="18424"/>
                    <a:pt x="35034" y="17355"/>
                    <a:pt x="35034" y="14640"/>
                  </a:cubicBezTo>
                  <a:lnTo>
                    <a:pt x="35034" y="8759"/>
                  </a:lnTo>
                  <a:lnTo>
                    <a:pt x="61310" y="8759"/>
                  </a:lnTo>
                  <a:lnTo>
                    <a:pt x="61310" y="14640"/>
                  </a:lnTo>
                  <a:cubicBezTo>
                    <a:pt x="61310" y="17355"/>
                    <a:pt x="63382" y="18424"/>
                    <a:pt x="64017" y="18691"/>
                  </a:cubicBezTo>
                  <a:cubicBezTo>
                    <a:pt x="64656" y="18962"/>
                    <a:pt x="66872" y="19659"/>
                    <a:pt x="68786" y="17741"/>
                  </a:cubicBezTo>
                  <a:lnTo>
                    <a:pt x="72942" y="13576"/>
                  </a:lnTo>
                  <a:lnTo>
                    <a:pt x="90025" y="30655"/>
                  </a:lnTo>
                  <a:lnTo>
                    <a:pt x="96345" y="30655"/>
                  </a:lnTo>
                  <a:close/>
                </a:path>
              </a:pathLst>
            </a:custGeom>
            <a:solidFill>
              <a:srgbClr val="000000"/>
            </a:solidFill>
            <a:ln w="4270" cap="flat">
              <a:noFill/>
              <a:prstDash val="solid"/>
              <a:miter/>
            </a:ln>
          </p:spPr>
          <p:txBody>
            <a:bodyPr rtlCol="0" anchor="ctr"/>
            <a:lstStyle/>
            <a:p>
              <a:endParaRPr lang="en-GB"/>
            </a:p>
          </p:txBody>
        </p:sp>
        <p:sp>
          <p:nvSpPr>
            <p:cNvPr id="58" name="Freeform: Shape 57">
              <a:extLst>
                <a:ext uri="{FF2B5EF4-FFF2-40B4-BE49-F238E27FC236}">
                  <a16:creationId xmlns:a16="http://schemas.microsoft.com/office/drawing/2014/main" id="{F56CFE5D-7770-D4FB-0028-0C4AB10EC73B}"/>
                </a:ext>
              </a:extLst>
            </p:cNvPr>
            <p:cNvSpPr/>
            <p:nvPr/>
          </p:nvSpPr>
          <p:spPr>
            <a:xfrm>
              <a:off x="6640513" y="1934913"/>
              <a:ext cx="52556" cy="61310"/>
            </a:xfrm>
            <a:custGeom>
              <a:avLst/>
              <a:gdLst>
                <a:gd name="connsiteX0" fmla="*/ 0 w 52556"/>
                <a:gd name="connsiteY0" fmla="*/ 0 h 61310"/>
                <a:gd name="connsiteX1" fmla="*/ 0 w 52556"/>
                <a:gd name="connsiteY1" fmla="*/ 61310 h 61310"/>
                <a:gd name="connsiteX2" fmla="*/ 52556 w 52556"/>
                <a:gd name="connsiteY2" fmla="*/ 61310 h 61310"/>
                <a:gd name="connsiteX3" fmla="*/ 52552 w 52556"/>
                <a:gd name="connsiteY3" fmla="*/ 0 h 61310"/>
                <a:gd name="connsiteX4" fmla="*/ 43793 w 52556"/>
                <a:gd name="connsiteY4" fmla="*/ 52552 h 61310"/>
                <a:gd name="connsiteX5" fmla="*/ 8759 w 52556"/>
                <a:gd name="connsiteY5" fmla="*/ 52552 h 61310"/>
                <a:gd name="connsiteX6" fmla="*/ 8759 w 52556"/>
                <a:gd name="connsiteY6" fmla="*/ 43793 h 61310"/>
                <a:gd name="connsiteX7" fmla="*/ 43793 w 52556"/>
                <a:gd name="connsiteY7" fmla="*/ 43793 h 61310"/>
                <a:gd name="connsiteX8" fmla="*/ 43793 w 52556"/>
                <a:gd name="connsiteY8" fmla="*/ 35034 h 61310"/>
                <a:gd name="connsiteX9" fmla="*/ 8759 w 52556"/>
                <a:gd name="connsiteY9" fmla="*/ 35034 h 61310"/>
                <a:gd name="connsiteX10" fmla="*/ 8759 w 52556"/>
                <a:gd name="connsiteY10" fmla="*/ 26276 h 61310"/>
                <a:gd name="connsiteX11" fmla="*/ 43793 w 52556"/>
                <a:gd name="connsiteY11" fmla="*/ 26276 h 61310"/>
                <a:gd name="connsiteX12" fmla="*/ 43793 w 52556"/>
                <a:gd name="connsiteY12" fmla="*/ 17517 h 61310"/>
                <a:gd name="connsiteX13" fmla="*/ 8759 w 52556"/>
                <a:gd name="connsiteY13" fmla="*/ 17517 h 61310"/>
                <a:gd name="connsiteX14" fmla="*/ 8759 w 52556"/>
                <a:gd name="connsiteY14" fmla="*/ 8759 h 61310"/>
                <a:gd name="connsiteX15" fmla="*/ 43793 w 52556"/>
                <a:gd name="connsiteY15" fmla="*/ 8759 h 61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556" h="61310">
                  <a:moveTo>
                    <a:pt x="0" y="0"/>
                  </a:moveTo>
                  <a:lnTo>
                    <a:pt x="0" y="61310"/>
                  </a:lnTo>
                  <a:lnTo>
                    <a:pt x="52556" y="61310"/>
                  </a:lnTo>
                  <a:lnTo>
                    <a:pt x="52552" y="0"/>
                  </a:lnTo>
                  <a:close/>
                  <a:moveTo>
                    <a:pt x="43793" y="52552"/>
                  </a:moveTo>
                  <a:lnTo>
                    <a:pt x="8759" y="52552"/>
                  </a:lnTo>
                  <a:lnTo>
                    <a:pt x="8759" y="43793"/>
                  </a:lnTo>
                  <a:lnTo>
                    <a:pt x="43793" y="43793"/>
                  </a:lnTo>
                  <a:close/>
                  <a:moveTo>
                    <a:pt x="43793" y="35034"/>
                  </a:moveTo>
                  <a:lnTo>
                    <a:pt x="8759" y="35034"/>
                  </a:lnTo>
                  <a:lnTo>
                    <a:pt x="8759" y="26276"/>
                  </a:lnTo>
                  <a:lnTo>
                    <a:pt x="43793" y="26276"/>
                  </a:lnTo>
                  <a:close/>
                  <a:moveTo>
                    <a:pt x="43793" y="17517"/>
                  </a:moveTo>
                  <a:lnTo>
                    <a:pt x="8759" y="17517"/>
                  </a:lnTo>
                  <a:lnTo>
                    <a:pt x="8759" y="8759"/>
                  </a:lnTo>
                  <a:lnTo>
                    <a:pt x="43793" y="8759"/>
                  </a:lnTo>
                  <a:close/>
                </a:path>
              </a:pathLst>
            </a:custGeom>
            <a:solidFill>
              <a:srgbClr val="000000"/>
            </a:solidFill>
            <a:ln w="4270" cap="flat">
              <a:noFill/>
              <a:prstDash val="solid"/>
              <a:miter/>
            </a:ln>
          </p:spPr>
          <p:txBody>
            <a:bodyPr rtlCol="0" anchor="ctr"/>
            <a:lstStyle/>
            <a:p>
              <a:endParaRPr lang="en-GB"/>
            </a:p>
          </p:txBody>
        </p:sp>
        <p:sp>
          <p:nvSpPr>
            <p:cNvPr id="59" name="Freeform: Shape 58">
              <a:extLst>
                <a:ext uri="{FF2B5EF4-FFF2-40B4-BE49-F238E27FC236}">
                  <a16:creationId xmlns:a16="http://schemas.microsoft.com/office/drawing/2014/main" id="{1D807E5E-310C-B64A-5091-5E505D56E02A}"/>
                </a:ext>
              </a:extLst>
            </p:cNvPr>
            <p:cNvSpPr/>
            <p:nvPr/>
          </p:nvSpPr>
          <p:spPr>
            <a:xfrm>
              <a:off x="6649328" y="1847327"/>
              <a:ext cx="43963" cy="8758"/>
            </a:xfrm>
            <a:custGeom>
              <a:avLst/>
              <a:gdLst>
                <a:gd name="connsiteX0" fmla="*/ 118 w 43963"/>
                <a:gd name="connsiteY0" fmla="*/ 8759 h 8758"/>
                <a:gd name="connsiteX1" fmla="*/ 43964 w 43963"/>
                <a:gd name="connsiteY1" fmla="*/ 8759 h 8758"/>
                <a:gd name="connsiteX2" fmla="*/ 43964 w 43963"/>
                <a:gd name="connsiteY2" fmla="*/ 0 h 8758"/>
                <a:gd name="connsiteX3" fmla="*/ 0 w 43963"/>
                <a:gd name="connsiteY3" fmla="*/ 0 h 8758"/>
              </a:gdLst>
              <a:ahLst/>
              <a:cxnLst>
                <a:cxn ang="0">
                  <a:pos x="connsiteX0" y="connsiteY0"/>
                </a:cxn>
                <a:cxn ang="0">
                  <a:pos x="connsiteX1" y="connsiteY1"/>
                </a:cxn>
                <a:cxn ang="0">
                  <a:pos x="connsiteX2" y="connsiteY2"/>
                </a:cxn>
                <a:cxn ang="0">
                  <a:pos x="connsiteX3" y="connsiteY3"/>
                </a:cxn>
              </a:cxnLst>
              <a:rect l="l" t="t" r="r" b="b"/>
              <a:pathLst>
                <a:path w="43963" h="8758">
                  <a:moveTo>
                    <a:pt x="118" y="8759"/>
                  </a:moveTo>
                  <a:lnTo>
                    <a:pt x="43964" y="8759"/>
                  </a:lnTo>
                  <a:lnTo>
                    <a:pt x="43964" y="0"/>
                  </a:lnTo>
                  <a:lnTo>
                    <a:pt x="0" y="0"/>
                  </a:lnTo>
                  <a:close/>
                </a:path>
              </a:pathLst>
            </a:custGeom>
            <a:solidFill>
              <a:srgbClr val="000000"/>
            </a:solidFill>
            <a:ln w="4270" cap="flat">
              <a:noFill/>
              <a:prstDash val="solid"/>
              <a:miter/>
            </a:ln>
          </p:spPr>
          <p:txBody>
            <a:bodyPr rtlCol="0" anchor="ctr"/>
            <a:lstStyle/>
            <a:p>
              <a:endParaRPr lang="en-GB"/>
            </a:p>
          </p:txBody>
        </p:sp>
        <p:sp>
          <p:nvSpPr>
            <p:cNvPr id="60" name="Freeform: Shape 59">
              <a:extLst>
                <a:ext uri="{FF2B5EF4-FFF2-40B4-BE49-F238E27FC236}">
                  <a16:creationId xmlns:a16="http://schemas.microsoft.com/office/drawing/2014/main" id="{3077E563-6B19-7191-17F3-DA6F010EB357}"/>
                </a:ext>
              </a:extLst>
            </p:cNvPr>
            <p:cNvSpPr/>
            <p:nvPr/>
          </p:nvSpPr>
          <p:spPr>
            <a:xfrm>
              <a:off x="6841961" y="1847327"/>
              <a:ext cx="43963" cy="8758"/>
            </a:xfrm>
            <a:custGeom>
              <a:avLst/>
              <a:gdLst>
                <a:gd name="connsiteX0" fmla="*/ 43964 w 43963"/>
                <a:gd name="connsiteY0" fmla="*/ 0 h 8758"/>
                <a:gd name="connsiteX1" fmla="*/ 0 w 43963"/>
                <a:gd name="connsiteY1" fmla="*/ 0 h 8758"/>
                <a:gd name="connsiteX2" fmla="*/ 0 w 43963"/>
                <a:gd name="connsiteY2" fmla="*/ 8759 h 8758"/>
                <a:gd name="connsiteX3" fmla="*/ 43850 w 43963"/>
                <a:gd name="connsiteY3" fmla="*/ 8759 h 8758"/>
              </a:gdLst>
              <a:ahLst/>
              <a:cxnLst>
                <a:cxn ang="0">
                  <a:pos x="connsiteX0" y="connsiteY0"/>
                </a:cxn>
                <a:cxn ang="0">
                  <a:pos x="connsiteX1" y="connsiteY1"/>
                </a:cxn>
                <a:cxn ang="0">
                  <a:pos x="connsiteX2" y="connsiteY2"/>
                </a:cxn>
                <a:cxn ang="0">
                  <a:pos x="connsiteX3" y="connsiteY3"/>
                </a:cxn>
              </a:cxnLst>
              <a:rect l="l" t="t" r="r" b="b"/>
              <a:pathLst>
                <a:path w="43963" h="8758">
                  <a:moveTo>
                    <a:pt x="43964" y="0"/>
                  </a:moveTo>
                  <a:lnTo>
                    <a:pt x="0" y="0"/>
                  </a:lnTo>
                  <a:lnTo>
                    <a:pt x="0" y="8759"/>
                  </a:lnTo>
                  <a:lnTo>
                    <a:pt x="43850" y="8759"/>
                  </a:lnTo>
                  <a:close/>
                </a:path>
              </a:pathLst>
            </a:custGeom>
            <a:solidFill>
              <a:srgbClr val="000000"/>
            </a:solidFill>
            <a:ln w="4270" cap="flat">
              <a:noFill/>
              <a:prstDash val="solid"/>
              <a:miter/>
            </a:ln>
          </p:spPr>
          <p:txBody>
            <a:bodyPr rtlCol="0" anchor="ctr"/>
            <a:lstStyle/>
            <a:p>
              <a:endParaRPr lang="en-GB"/>
            </a:p>
          </p:txBody>
        </p:sp>
        <p:sp>
          <p:nvSpPr>
            <p:cNvPr id="61" name="Freeform: Shape 60">
              <a:extLst>
                <a:ext uri="{FF2B5EF4-FFF2-40B4-BE49-F238E27FC236}">
                  <a16:creationId xmlns:a16="http://schemas.microsoft.com/office/drawing/2014/main" id="{3561ABD3-9ADD-4F27-8A27-BA60C53C7D5E}"/>
                </a:ext>
              </a:extLst>
            </p:cNvPr>
            <p:cNvSpPr/>
            <p:nvPr/>
          </p:nvSpPr>
          <p:spPr>
            <a:xfrm>
              <a:off x="6640740" y="1751013"/>
              <a:ext cx="253776" cy="87559"/>
            </a:xfrm>
            <a:custGeom>
              <a:avLst/>
              <a:gdLst>
                <a:gd name="connsiteX0" fmla="*/ 4152 w 253776"/>
                <a:gd name="connsiteY0" fmla="*/ 87556 h 87559"/>
                <a:gd name="connsiteX1" fmla="*/ 7204 w 253776"/>
                <a:gd name="connsiteY1" fmla="*/ 87556 h 87559"/>
                <a:gd name="connsiteX2" fmla="*/ 126772 w 253776"/>
                <a:gd name="connsiteY2" fmla="*/ 7848 h 87559"/>
                <a:gd name="connsiteX3" fmla="*/ 246341 w 253776"/>
                <a:gd name="connsiteY3" fmla="*/ 87560 h 87559"/>
                <a:gd name="connsiteX4" fmla="*/ 249625 w 253776"/>
                <a:gd name="connsiteY4" fmla="*/ 87560 h 87559"/>
                <a:gd name="connsiteX5" fmla="*/ 253777 w 253776"/>
                <a:gd name="connsiteY5" fmla="*/ 83408 h 87559"/>
                <a:gd name="connsiteX6" fmla="*/ 251902 w 253776"/>
                <a:gd name="connsiteY6" fmla="*/ 79940 h 87559"/>
                <a:gd name="connsiteX7" fmla="*/ 132321 w 253776"/>
                <a:gd name="connsiteY7" fmla="*/ 1590 h 87559"/>
                <a:gd name="connsiteX8" fmla="*/ 121460 w 253776"/>
                <a:gd name="connsiteY8" fmla="*/ 1590 h 87559"/>
                <a:gd name="connsiteX9" fmla="*/ 1874 w 253776"/>
                <a:gd name="connsiteY9" fmla="*/ 79936 h 87559"/>
                <a:gd name="connsiteX10" fmla="*/ 0 w 253776"/>
                <a:gd name="connsiteY10" fmla="*/ 83404 h 87559"/>
                <a:gd name="connsiteX11" fmla="*/ 4152 w 253776"/>
                <a:gd name="connsiteY11" fmla="*/ 87556 h 8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776" h="87559">
                  <a:moveTo>
                    <a:pt x="4152" y="87556"/>
                  </a:moveTo>
                  <a:lnTo>
                    <a:pt x="7204" y="87556"/>
                  </a:lnTo>
                  <a:lnTo>
                    <a:pt x="126772" y="7848"/>
                  </a:lnTo>
                  <a:lnTo>
                    <a:pt x="246341" y="87560"/>
                  </a:lnTo>
                  <a:lnTo>
                    <a:pt x="249625" y="87560"/>
                  </a:lnTo>
                  <a:cubicBezTo>
                    <a:pt x="251911" y="87560"/>
                    <a:pt x="253777" y="85699"/>
                    <a:pt x="253777" y="83408"/>
                  </a:cubicBezTo>
                  <a:cubicBezTo>
                    <a:pt x="253777" y="82007"/>
                    <a:pt x="253076" y="80706"/>
                    <a:pt x="251902" y="79940"/>
                  </a:cubicBezTo>
                  <a:lnTo>
                    <a:pt x="132321" y="1590"/>
                  </a:lnTo>
                  <a:cubicBezTo>
                    <a:pt x="129085" y="-530"/>
                    <a:pt x="124692" y="-530"/>
                    <a:pt x="121460" y="1590"/>
                  </a:cubicBezTo>
                  <a:lnTo>
                    <a:pt x="1874" y="79936"/>
                  </a:lnTo>
                  <a:cubicBezTo>
                    <a:pt x="701" y="80706"/>
                    <a:pt x="0" y="82003"/>
                    <a:pt x="0" y="83404"/>
                  </a:cubicBezTo>
                  <a:cubicBezTo>
                    <a:pt x="0" y="85694"/>
                    <a:pt x="1866" y="87556"/>
                    <a:pt x="4152" y="87556"/>
                  </a:cubicBezTo>
                  <a:close/>
                </a:path>
              </a:pathLst>
            </a:custGeom>
            <a:solidFill>
              <a:srgbClr val="000000"/>
            </a:solidFill>
            <a:ln w="4270" cap="flat">
              <a:noFill/>
              <a:prstDash val="solid"/>
              <a:miter/>
            </a:ln>
          </p:spPr>
          <p:txBody>
            <a:bodyPr rtlCol="0" anchor="ctr"/>
            <a:lstStyle/>
            <a:p>
              <a:endParaRPr lang="en-GB"/>
            </a:p>
          </p:txBody>
        </p:sp>
        <p:sp>
          <p:nvSpPr>
            <p:cNvPr id="62" name="Freeform: Shape 61">
              <a:extLst>
                <a:ext uri="{FF2B5EF4-FFF2-40B4-BE49-F238E27FC236}">
                  <a16:creationId xmlns:a16="http://schemas.microsoft.com/office/drawing/2014/main" id="{C7EF4C00-5723-F9AE-1CE8-3F79A698AD00}"/>
                </a:ext>
              </a:extLst>
            </p:cNvPr>
            <p:cNvSpPr/>
            <p:nvPr/>
          </p:nvSpPr>
          <p:spPr>
            <a:xfrm>
              <a:off x="6850719" y="1864844"/>
              <a:ext cx="8758" cy="61310"/>
            </a:xfrm>
            <a:custGeom>
              <a:avLst/>
              <a:gdLst>
                <a:gd name="connsiteX0" fmla="*/ 0 w 8758"/>
                <a:gd name="connsiteY0" fmla="*/ 0 h 61310"/>
                <a:gd name="connsiteX1" fmla="*/ 8759 w 8758"/>
                <a:gd name="connsiteY1" fmla="*/ 0 h 61310"/>
                <a:gd name="connsiteX2" fmla="*/ 8759 w 8758"/>
                <a:gd name="connsiteY2" fmla="*/ 61310 h 61310"/>
                <a:gd name="connsiteX3" fmla="*/ 0 w 8758"/>
                <a:gd name="connsiteY3" fmla="*/ 61310 h 61310"/>
              </a:gdLst>
              <a:ahLst/>
              <a:cxnLst>
                <a:cxn ang="0">
                  <a:pos x="connsiteX0" y="connsiteY0"/>
                </a:cxn>
                <a:cxn ang="0">
                  <a:pos x="connsiteX1" y="connsiteY1"/>
                </a:cxn>
                <a:cxn ang="0">
                  <a:pos x="connsiteX2" y="connsiteY2"/>
                </a:cxn>
                <a:cxn ang="0">
                  <a:pos x="connsiteX3" y="connsiteY3"/>
                </a:cxn>
              </a:cxnLst>
              <a:rect l="l" t="t" r="r" b="b"/>
              <a:pathLst>
                <a:path w="8758" h="61310">
                  <a:moveTo>
                    <a:pt x="0" y="0"/>
                  </a:moveTo>
                  <a:lnTo>
                    <a:pt x="8759" y="0"/>
                  </a:lnTo>
                  <a:lnTo>
                    <a:pt x="8759" y="61310"/>
                  </a:lnTo>
                  <a:lnTo>
                    <a:pt x="0" y="61310"/>
                  </a:lnTo>
                  <a:close/>
                </a:path>
              </a:pathLst>
            </a:custGeom>
            <a:solidFill>
              <a:srgbClr val="000000"/>
            </a:solidFill>
            <a:ln w="4270" cap="flat">
              <a:noFill/>
              <a:prstDash val="solid"/>
              <a:miter/>
            </a:ln>
          </p:spPr>
          <p:txBody>
            <a:bodyPr rtlCol="0" anchor="ctr"/>
            <a:lstStyle/>
            <a:p>
              <a:endParaRPr lang="en-GB"/>
            </a:p>
          </p:txBody>
        </p:sp>
        <p:sp>
          <p:nvSpPr>
            <p:cNvPr id="63" name="Freeform: Shape 62">
              <a:extLst>
                <a:ext uri="{FF2B5EF4-FFF2-40B4-BE49-F238E27FC236}">
                  <a16:creationId xmlns:a16="http://schemas.microsoft.com/office/drawing/2014/main" id="{2FAE8213-EE19-9F0D-1295-DAFAF06A6661}"/>
                </a:ext>
              </a:extLst>
            </p:cNvPr>
            <p:cNvSpPr/>
            <p:nvPr/>
          </p:nvSpPr>
          <p:spPr>
            <a:xfrm>
              <a:off x="6868237" y="1864844"/>
              <a:ext cx="8758" cy="61310"/>
            </a:xfrm>
            <a:custGeom>
              <a:avLst/>
              <a:gdLst>
                <a:gd name="connsiteX0" fmla="*/ 0 w 8758"/>
                <a:gd name="connsiteY0" fmla="*/ 0 h 61310"/>
                <a:gd name="connsiteX1" fmla="*/ 8759 w 8758"/>
                <a:gd name="connsiteY1" fmla="*/ 0 h 61310"/>
                <a:gd name="connsiteX2" fmla="*/ 8759 w 8758"/>
                <a:gd name="connsiteY2" fmla="*/ 61310 h 61310"/>
                <a:gd name="connsiteX3" fmla="*/ 0 w 8758"/>
                <a:gd name="connsiteY3" fmla="*/ 61310 h 61310"/>
              </a:gdLst>
              <a:ahLst/>
              <a:cxnLst>
                <a:cxn ang="0">
                  <a:pos x="connsiteX0" y="connsiteY0"/>
                </a:cxn>
                <a:cxn ang="0">
                  <a:pos x="connsiteX1" y="connsiteY1"/>
                </a:cxn>
                <a:cxn ang="0">
                  <a:pos x="connsiteX2" y="connsiteY2"/>
                </a:cxn>
                <a:cxn ang="0">
                  <a:pos x="connsiteX3" y="connsiteY3"/>
                </a:cxn>
              </a:cxnLst>
              <a:rect l="l" t="t" r="r" b="b"/>
              <a:pathLst>
                <a:path w="8758" h="61310">
                  <a:moveTo>
                    <a:pt x="0" y="0"/>
                  </a:moveTo>
                  <a:lnTo>
                    <a:pt x="8759" y="0"/>
                  </a:lnTo>
                  <a:lnTo>
                    <a:pt x="8759" y="61310"/>
                  </a:lnTo>
                  <a:lnTo>
                    <a:pt x="0" y="61310"/>
                  </a:lnTo>
                  <a:close/>
                </a:path>
              </a:pathLst>
            </a:custGeom>
            <a:solidFill>
              <a:srgbClr val="000000"/>
            </a:solidFill>
            <a:ln w="4270"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FE213124-F78D-DA73-10B1-E7979AC9AC50}"/>
                </a:ext>
              </a:extLst>
            </p:cNvPr>
            <p:cNvSpPr/>
            <p:nvPr/>
          </p:nvSpPr>
          <p:spPr>
            <a:xfrm>
              <a:off x="6663736" y="1769384"/>
              <a:ext cx="207553" cy="69184"/>
            </a:xfrm>
            <a:custGeom>
              <a:avLst/>
              <a:gdLst>
                <a:gd name="connsiteX0" fmla="*/ 160708 w 207553"/>
                <a:gd name="connsiteY0" fmla="*/ 69184 h 69184"/>
                <a:gd name="connsiteX1" fmla="*/ 207553 w 207553"/>
                <a:gd name="connsiteY1" fmla="*/ 69184 h 69184"/>
                <a:gd name="connsiteX2" fmla="*/ 103777 w 207553"/>
                <a:gd name="connsiteY2" fmla="*/ 0 h 69184"/>
                <a:gd name="connsiteX3" fmla="*/ 0 w 207553"/>
                <a:gd name="connsiteY3" fmla="*/ 69184 h 69184"/>
                <a:gd name="connsiteX4" fmla="*/ 46845 w 207553"/>
                <a:gd name="connsiteY4" fmla="*/ 69184 h 69184"/>
                <a:gd name="connsiteX5" fmla="*/ 55604 w 207553"/>
                <a:gd name="connsiteY5" fmla="*/ 60426 h 69184"/>
                <a:gd name="connsiteX6" fmla="*/ 151949 w 207553"/>
                <a:gd name="connsiteY6" fmla="*/ 60426 h 69184"/>
                <a:gd name="connsiteX7" fmla="*/ 160708 w 207553"/>
                <a:gd name="connsiteY7" fmla="*/ 69184 h 69184"/>
                <a:gd name="connsiteX8" fmla="*/ 103777 w 207553"/>
                <a:gd name="connsiteY8" fmla="*/ 38529 h 69184"/>
                <a:gd name="connsiteX9" fmla="*/ 95018 w 207553"/>
                <a:gd name="connsiteY9" fmla="*/ 29771 h 69184"/>
                <a:gd name="connsiteX10" fmla="*/ 103777 w 207553"/>
                <a:gd name="connsiteY10" fmla="*/ 21012 h 69184"/>
                <a:gd name="connsiteX11" fmla="*/ 112535 w 207553"/>
                <a:gd name="connsiteY11" fmla="*/ 29771 h 69184"/>
                <a:gd name="connsiteX12" fmla="*/ 103777 w 207553"/>
                <a:gd name="connsiteY12" fmla="*/ 38529 h 69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553" h="69184">
                  <a:moveTo>
                    <a:pt x="160708" y="69184"/>
                  </a:moveTo>
                  <a:lnTo>
                    <a:pt x="207553" y="69184"/>
                  </a:lnTo>
                  <a:lnTo>
                    <a:pt x="103777" y="0"/>
                  </a:lnTo>
                  <a:lnTo>
                    <a:pt x="0" y="69184"/>
                  </a:lnTo>
                  <a:lnTo>
                    <a:pt x="46845" y="69184"/>
                  </a:lnTo>
                  <a:cubicBezTo>
                    <a:pt x="46845" y="64354"/>
                    <a:pt x="50774" y="60426"/>
                    <a:pt x="55604" y="60426"/>
                  </a:cubicBezTo>
                  <a:lnTo>
                    <a:pt x="151949" y="60426"/>
                  </a:lnTo>
                  <a:cubicBezTo>
                    <a:pt x="156779" y="60426"/>
                    <a:pt x="160708" y="64354"/>
                    <a:pt x="160708" y="69184"/>
                  </a:cubicBezTo>
                  <a:close/>
                  <a:moveTo>
                    <a:pt x="103777" y="38529"/>
                  </a:moveTo>
                  <a:cubicBezTo>
                    <a:pt x="98937" y="38529"/>
                    <a:pt x="95018" y="34610"/>
                    <a:pt x="95018" y="29771"/>
                  </a:cubicBezTo>
                  <a:cubicBezTo>
                    <a:pt x="95018" y="24931"/>
                    <a:pt x="98937" y="21012"/>
                    <a:pt x="103777" y="21012"/>
                  </a:cubicBezTo>
                  <a:cubicBezTo>
                    <a:pt x="108616" y="21012"/>
                    <a:pt x="112535" y="24931"/>
                    <a:pt x="112535" y="29771"/>
                  </a:cubicBezTo>
                  <a:cubicBezTo>
                    <a:pt x="112535" y="34610"/>
                    <a:pt x="108616" y="38529"/>
                    <a:pt x="103777" y="38529"/>
                  </a:cubicBezTo>
                  <a:close/>
                </a:path>
              </a:pathLst>
            </a:custGeom>
            <a:solidFill>
              <a:srgbClr val="000000"/>
            </a:solidFill>
            <a:ln w="4270" cap="flat">
              <a:noFill/>
              <a:prstDash val="solid"/>
              <a:miter/>
            </a:ln>
          </p:spPr>
          <p:txBody>
            <a:bodyPr rtlCol="0" anchor="ctr"/>
            <a:lstStyle/>
            <a:p>
              <a:endParaRPr lang="en-GB"/>
            </a:p>
          </p:txBody>
        </p:sp>
        <p:sp>
          <p:nvSpPr>
            <p:cNvPr id="65" name="Freeform: Shape 64">
              <a:extLst>
                <a:ext uri="{FF2B5EF4-FFF2-40B4-BE49-F238E27FC236}">
                  <a16:creationId xmlns:a16="http://schemas.microsoft.com/office/drawing/2014/main" id="{2FAE567E-17FB-8CB9-212F-3A05CD0E6166}"/>
                </a:ext>
              </a:extLst>
            </p:cNvPr>
            <p:cNvSpPr/>
            <p:nvPr/>
          </p:nvSpPr>
          <p:spPr>
            <a:xfrm>
              <a:off x="6719340" y="1873603"/>
              <a:ext cx="96344" cy="26275"/>
            </a:xfrm>
            <a:custGeom>
              <a:avLst/>
              <a:gdLst>
                <a:gd name="connsiteX0" fmla="*/ 0 w 96344"/>
                <a:gd name="connsiteY0" fmla="*/ 26276 h 26275"/>
                <a:gd name="connsiteX1" fmla="*/ 96345 w 96344"/>
                <a:gd name="connsiteY1" fmla="*/ 26276 h 26275"/>
                <a:gd name="connsiteX2" fmla="*/ 96345 w 96344"/>
                <a:gd name="connsiteY2" fmla="*/ 0 h 26275"/>
                <a:gd name="connsiteX3" fmla="*/ 0 w 96344"/>
                <a:gd name="connsiteY3" fmla="*/ 0 h 26275"/>
                <a:gd name="connsiteX4" fmla="*/ 78828 w 96344"/>
                <a:gd name="connsiteY4" fmla="*/ 8759 h 26275"/>
                <a:gd name="connsiteX5" fmla="*/ 87586 w 96344"/>
                <a:gd name="connsiteY5" fmla="*/ 8759 h 26275"/>
                <a:gd name="connsiteX6" fmla="*/ 87586 w 96344"/>
                <a:gd name="connsiteY6" fmla="*/ 17517 h 26275"/>
                <a:gd name="connsiteX7" fmla="*/ 78828 w 96344"/>
                <a:gd name="connsiteY7" fmla="*/ 17517 h 26275"/>
                <a:gd name="connsiteX8" fmla="*/ 61310 w 96344"/>
                <a:gd name="connsiteY8" fmla="*/ 8759 h 26275"/>
                <a:gd name="connsiteX9" fmla="*/ 70069 w 96344"/>
                <a:gd name="connsiteY9" fmla="*/ 8759 h 26275"/>
                <a:gd name="connsiteX10" fmla="*/ 70069 w 96344"/>
                <a:gd name="connsiteY10" fmla="*/ 17517 h 26275"/>
                <a:gd name="connsiteX11" fmla="*/ 61310 w 96344"/>
                <a:gd name="connsiteY11" fmla="*/ 17517 h 26275"/>
                <a:gd name="connsiteX12" fmla="*/ 43793 w 96344"/>
                <a:gd name="connsiteY12" fmla="*/ 8759 h 26275"/>
                <a:gd name="connsiteX13" fmla="*/ 52552 w 96344"/>
                <a:gd name="connsiteY13" fmla="*/ 8759 h 26275"/>
                <a:gd name="connsiteX14" fmla="*/ 52552 w 96344"/>
                <a:gd name="connsiteY14" fmla="*/ 17517 h 26275"/>
                <a:gd name="connsiteX15" fmla="*/ 43793 w 96344"/>
                <a:gd name="connsiteY15" fmla="*/ 17517 h 2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344" h="26275">
                  <a:moveTo>
                    <a:pt x="0" y="26276"/>
                  </a:moveTo>
                  <a:lnTo>
                    <a:pt x="96345" y="26276"/>
                  </a:lnTo>
                  <a:lnTo>
                    <a:pt x="96345" y="0"/>
                  </a:lnTo>
                  <a:lnTo>
                    <a:pt x="0" y="0"/>
                  </a:lnTo>
                  <a:close/>
                  <a:moveTo>
                    <a:pt x="78828" y="8759"/>
                  </a:moveTo>
                  <a:lnTo>
                    <a:pt x="87586" y="8759"/>
                  </a:lnTo>
                  <a:lnTo>
                    <a:pt x="87586" y="17517"/>
                  </a:lnTo>
                  <a:lnTo>
                    <a:pt x="78828" y="17517"/>
                  </a:lnTo>
                  <a:close/>
                  <a:moveTo>
                    <a:pt x="61310" y="8759"/>
                  </a:moveTo>
                  <a:lnTo>
                    <a:pt x="70069" y="8759"/>
                  </a:lnTo>
                  <a:lnTo>
                    <a:pt x="70069" y="17517"/>
                  </a:lnTo>
                  <a:lnTo>
                    <a:pt x="61310" y="17517"/>
                  </a:lnTo>
                  <a:close/>
                  <a:moveTo>
                    <a:pt x="43793" y="8759"/>
                  </a:moveTo>
                  <a:lnTo>
                    <a:pt x="52552" y="8759"/>
                  </a:lnTo>
                  <a:lnTo>
                    <a:pt x="52552" y="17517"/>
                  </a:lnTo>
                  <a:lnTo>
                    <a:pt x="43793" y="17517"/>
                  </a:lnTo>
                  <a:close/>
                </a:path>
              </a:pathLst>
            </a:custGeom>
            <a:solidFill>
              <a:srgbClr val="000000"/>
            </a:solidFill>
            <a:ln w="4270" cap="flat">
              <a:noFill/>
              <a:prstDash val="solid"/>
              <a:miter/>
            </a:ln>
          </p:spPr>
          <p:txBody>
            <a:bodyPr rtlCol="0" anchor="ctr"/>
            <a:lstStyle/>
            <a:p>
              <a:endParaRPr lang="en-GB"/>
            </a:p>
          </p:txBody>
        </p:sp>
        <p:sp>
          <p:nvSpPr>
            <p:cNvPr id="66" name="Freeform: Shape 65">
              <a:extLst>
                <a:ext uri="{FF2B5EF4-FFF2-40B4-BE49-F238E27FC236}">
                  <a16:creationId xmlns:a16="http://schemas.microsoft.com/office/drawing/2014/main" id="{77164C42-8B38-66CF-D59D-09DBE8D1B2AA}"/>
                </a:ext>
              </a:extLst>
            </p:cNvPr>
            <p:cNvSpPr/>
            <p:nvPr/>
          </p:nvSpPr>
          <p:spPr>
            <a:xfrm>
              <a:off x="6841961" y="1934913"/>
              <a:ext cx="52556" cy="61310"/>
            </a:xfrm>
            <a:custGeom>
              <a:avLst/>
              <a:gdLst>
                <a:gd name="connsiteX0" fmla="*/ 52552 w 52556"/>
                <a:gd name="connsiteY0" fmla="*/ 0 h 61310"/>
                <a:gd name="connsiteX1" fmla="*/ 0 w 52556"/>
                <a:gd name="connsiteY1" fmla="*/ 0 h 61310"/>
                <a:gd name="connsiteX2" fmla="*/ 0 w 52556"/>
                <a:gd name="connsiteY2" fmla="*/ 61310 h 61310"/>
                <a:gd name="connsiteX3" fmla="*/ 52556 w 52556"/>
                <a:gd name="connsiteY3" fmla="*/ 61310 h 61310"/>
                <a:gd name="connsiteX4" fmla="*/ 43793 w 52556"/>
                <a:gd name="connsiteY4" fmla="*/ 52552 h 61310"/>
                <a:gd name="connsiteX5" fmla="*/ 8759 w 52556"/>
                <a:gd name="connsiteY5" fmla="*/ 52552 h 61310"/>
                <a:gd name="connsiteX6" fmla="*/ 8759 w 52556"/>
                <a:gd name="connsiteY6" fmla="*/ 43793 h 61310"/>
                <a:gd name="connsiteX7" fmla="*/ 43793 w 52556"/>
                <a:gd name="connsiteY7" fmla="*/ 43793 h 61310"/>
                <a:gd name="connsiteX8" fmla="*/ 43793 w 52556"/>
                <a:gd name="connsiteY8" fmla="*/ 35034 h 61310"/>
                <a:gd name="connsiteX9" fmla="*/ 8759 w 52556"/>
                <a:gd name="connsiteY9" fmla="*/ 35034 h 61310"/>
                <a:gd name="connsiteX10" fmla="*/ 8759 w 52556"/>
                <a:gd name="connsiteY10" fmla="*/ 26276 h 61310"/>
                <a:gd name="connsiteX11" fmla="*/ 43793 w 52556"/>
                <a:gd name="connsiteY11" fmla="*/ 26276 h 61310"/>
                <a:gd name="connsiteX12" fmla="*/ 43793 w 52556"/>
                <a:gd name="connsiteY12" fmla="*/ 17517 h 61310"/>
                <a:gd name="connsiteX13" fmla="*/ 8759 w 52556"/>
                <a:gd name="connsiteY13" fmla="*/ 17517 h 61310"/>
                <a:gd name="connsiteX14" fmla="*/ 8759 w 52556"/>
                <a:gd name="connsiteY14" fmla="*/ 8759 h 61310"/>
                <a:gd name="connsiteX15" fmla="*/ 43793 w 52556"/>
                <a:gd name="connsiteY15" fmla="*/ 8759 h 61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556" h="61310">
                  <a:moveTo>
                    <a:pt x="52552" y="0"/>
                  </a:moveTo>
                  <a:lnTo>
                    <a:pt x="0" y="0"/>
                  </a:lnTo>
                  <a:lnTo>
                    <a:pt x="0" y="61310"/>
                  </a:lnTo>
                  <a:lnTo>
                    <a:pt x="52556" y="61310"/>
                  </a:lnTo>
                  <a:close/>
                  <a:moveTo>
                    <a:pt x="43793" y="52552"/>
                  </a:moveTo>
                  <a:lnTo>
                    <a:pt x="8759" y="52552"/>
                  </a:lnTo>
                  <a:lnTo>
                    <a:pt x="8759" y="43793"/>
                  </a:lnTo>
                  <a:lnTo>
                    <a:pt x="43793" y="43793"/>
                  </a:lnTo>
                  <a:close/>
                  <a:moveTo>
                    <a:pt x="43793" y="35034"/>
                  </a:moveTo>
                  <a:lnTo>
                    <a:pt x="8759" y="35034"/>
                  </a:lnTo>
                  <a:lnTo>
                    <a:pt x="8759" y="26276"/>
                  </a:lnTo>
                  <a:lnTo>
                    <a:pt x="43793" y="26276"/>
                  </a:lnTo>
                  <a:close/>
                  <a:moveTo>
                    <a:pt x="43793" y="17517"/>
                  </a:moveTo>
                  <a:lnTo>
                    <a:pt x="8759" y="17517"/>
                  </a:lnTo>
                  <a:lnTo>
                    <a:pt x="8759" y="8759"/>
                  </a:lnTo>
                  <a:lnTo>
                    <a:pt x="43793" y="8759"/>
                  </a:lnTo>
                  <a:close/>
                </a:path>
              </a:pathLst>
            </a:custGeom>
            <a:solidFill>
              <a:srgbClr val="000000"/>
            </a:solidFill>
            <a:ln w="4270" cap="flat">
              <a:noFill/>
              <a:prstDash val="solid"/>
              <a:miter/>
            </a:ln>
          </p:spPr>
          <p:txBody>
            <a:bodyPr rtlCol="0" anchor="ctr"/>
            <a:lstStyle/>
            <a:p>
              <a:endParaRPr lang="en-GB"/>
            </a:p>
          </p:txBody>
        </p:sp>
        <p:sp>
          <p:nvSpPr>
            <p:cNvPr id="67" name="Freeform: Shape 66">
              <a:extLst>
                <a:ext uri="{FF2B5EF4-FFF2-40B4-BE49-F238E27FC236}">
                  <a16:creationId xmlns:a16="http://schemas.microsoft.com/office/drawing/2014/main" id="{FA415D79-D586-B483-F514-74150D71AC3E}"/>
                </a:ext>
              </a:extLst>
            </p:cNvPr>
            <p:cNvSpPr/>
            <p:nvPr/>
          </p:nvSpPr>
          <p:spPr>
            <a:xfrm>
              <a:off x="6719340" y="1838568"/>
              <a:ext cx="96344" cy="26275"/>
            </a:xfrm>
            <a:custGeom>
              <a:avLst/>
              <a:gdLst>
                <a:gd name="connsiteX0" fmla="*/ 96345 w 96344"/>
                <a:gd name="connsiteY0" fmla="*/ 0 h 26275"/>
                <a:gd name="connsiteX1" fmla="*/ 0 w 96344"/>
                <a:gd name="connsiteY1" fmla="*/ 0 h 26275"/>
                <a:gd name="connsiteX2" fmla="*/ 0 w 96344"/>
                <a:gd name="connsiteY2" fmla="*/ 26276 h 26275"/>
                <a:gd name="connsiteX3" fmla="*/ 96345 w 96344"/>
                <a:gd name="connsiteY3" fmla="*/ 26276 h 26275"/>
                <a:gd name="connsiteX4" fmla="*/ 52552 w 96344"/>
                <a:gd name="connsiteY4" fmla="*/ 17517 h 26275"/>
                <a:gd name="connsiteX5" fmla="*/ 43793 w 96344"/>
                <a:gd name="connsiteY5" fmla="*/ 17517 h 26275"/>
                <a:gd name="connsiteX6" fmla="*/ 43793 w 96344"/>
                <a:gd name="connsiteY6" fmla="*/ 8759 h 26275"/>
                <a:gd name="connsiteX7" fmla="*/ 52552 w 96344"/>
                <a:gd name="connsiteY7" fmla="*/ 8759 h 26275"/>
                <a:gd name="connsiteX8" fmla="*/ 70069 w 96344"/>
                <a:gd name="connsiteY8" fmla="*/ 17517 h 26275"/>
                <a:gd name="connsiteX9" fmla="*/ 61310 w 96344"/>
                <a:gd name="connsiteY9" fmla="*/ 17517 h 26275"/>
                <a:gd name="connsiteX10" fmla="*/ 61310 w 96344"/>
                <a:gd name="connsiteY10" fmla="*/ 8759 h 26275"/>
                <a:gd name="connsiteX11" fmla="*/ 70069 w 96344"/>
                <a:gd name="connsiteY11" fmla="*/ 8759 h 26275"/>
                <a:gd name="connsiteX12" fmla="*/ 87586 w 96344"/>
                <a:gd name="connsiteY12" fmla="*/ 17517 h 26275"/>
                <a:gd name="connsiteX13" fmla="*/ 78828 w 96344"/>
                <a:gd name="connsiteY13" fmla="*/ 17517 h 26275"/>
                <a:gd name="connsiteX14" fmla="*/ 78828 w 96344"/>
                <a:gd name="connsiteY14" fmla="*/ 8759 h 26275"/>
                <a:gd name="connsiteX15" fmla="*/ 87586 w 96344"/>
                <a:gd name="connsiteY15" fmla="*/ 8759 h 2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6344" h="26275">
                  <a:moveTo>
                    <a:pt x="96345" y="0"/>
                  </a:moveTo>
                  <a:lnTo>
                    <a:pt x="0" y="0"/>
                  </a:lnTo>
                  <a:lnTo>
                    <a:pt x="0" y="26276"/>
                  </a:lnTo>
                  <a:lnTo>
                    <a:pt x="96345" y="26276"/>
                  </a:lnTo>
                  <a:close/>
                  <a:moveTo>
                    <a:pt x="52552" y="17517"/>
                  </a:moveTo>
                  <a:lnTo>
                    <a:pt x="43793" y="17517"/>
                  </a:lnTo>
                  <a:lnTo>
                    <a:pt x="43793" y="8759"/>
                  </a:lnTo>
                  <a:lnTo>
                    <a:pt x="52552" y="8759"/>
                  </a:lnTo>
                  <a:close/>
                  <a:moveTo>
                    <a:pt x="70069" y="17517"/>
                  </a:moveTo>
                  <a:lnTo>
                    <a:pt x="61310" y="17517"/>
                  </a:lnTo>
                  <a:lnTo>
                    <a:pt x="61310" y="8759"/>
                  </a:lnTo>
                  <a:lnTo>
                    <a:pt x="70069" y="8759"/>
                  </a:lnTo>
                  <a:close/>
                  <a:moveTo>
                    <a:pt x="87586" y="17517"/>
                  </a:moveTo>
                  <a:lnTo>
                    <a:pt x="78828" y="17517"/>
                  </a:lnTo>
                  <a:lnTo>
                    <a:pt x="78828" y="8759"/>
                  </a:lnTo>
                  <a:lnTo>
                    <a:pt x="87586" y="8759"/>
                  </a:lnTo>
                  <a:close/>
                </a:path>
              </a:pathLst>
            </a:custGeom>
            <a:solidFill>
              <a:srgbClr val="000000"/>
            </a:solidFill>
            <a:ln w="4270" cap="flat">
              <a:noFill/>
              <a:prstDash val="solid"/>
              <a:miter/>
            </a:ln>
          </p:spPr>
          <p:txBody>
            <a:bodyPr rtlCol="0" anchor="ctr"/>
            <a:lstStyle/>
            <a:p>
              <a:endParaRPr lang="en-GB"/>
            </a:p>
          </p:txBody>
        </p:sp>
      </p:grpSp>
      <p:sp>
        <p:nvSpPr>
          <p:cNvPr id="70" name="Pic">
            <a:extLst>
              <a:ext uri="{FF2B5EF4-FFF2-40B4-BE49-F238E27FC236}">
                <a16:creationId xmlns:a16="http://schemas.microsoft.com/office/drawing/2014/main" id="{B3015C56-7FE1-2227-43AD-EE2D0BB81CD2}"/>
              </a:ext>
            </a:extLst>
          </p:cNvPr>
          <p:cNvSpPr/>
          <p:nvPr/>
        </p:nvSpPr>
        <p:spPr>
          <a:xfrm>
            <a:off x="3313086" y="1730932"/>
            <a:ext cx="284790" cy="294135"/>
          </a:xfrm>
          <a:custGeom>
            <a:avLst/>
            <a:gdLst>
              <a:gd name="connsiteX0" fmla="*/ 93951 w 235364"/>
              <a:gd name="connsiteY0" fmla="*/ 4961 h 243086"/>
              <a:gd name="connsiteX1" fmla="*/ 112809 w 235364"/>
              <a:gd name="connsiteY1" fmla="*/ 23816 h 243086"/>
              <a:gd name="connsiteX2" fmla="*/ 93951 w 235364"/>
              <a:gd name="connsiteY2" fmla="*/ 42678 h 243086"/>
              <a:gd name="connsiteX3" fmla="*/ 75089 w 235364"/>
              <a:gd name="connsiteY3" fmla="*/ 23816 h 243086"/>
              <a:gd name="connsiteX4" fmla="*/ 93951 w 235364"/>
              <a:gd name="connsiteY4" fmla="*/ 4961 h 243086"/>
              <a:gd name="connsiteX5" fmla="*/ 93951 w 235364"/>
              <a:gd name="connsiteY5" fmla="*/ 47640 h 243086"/>
              <a:gd name="connsiteX6" fmla="*/ 117768 w 235364"/>
              <a:gd name="connsiteY6" fmla="*/ 23816 h 243086"/>
              <a:gd name="connsiteX7" fmla="*/ 93951 w 235364"/>
              <a:gd name="connsiteY7" fmla="*/ 0 h 243086"/>
              <a:gd name="connsiteX8" fmla="*/ 70130 w 235364"/>
              <a:gd name="connsiteY8" fmla="*/ 23816 h 243086"/>
              <a:gd name="connsiteX9" fmla="*/ 93951 w 235364"/>
              <a:gd name="connsiteY9" fmla="*/ 47640 h 243086"/>
              <a:gd name="connsiteX10" fmla="*/ 196266 w 235364"/>
              <a:gd name="connsiteY10" fmla="*/ 163017 h 243086"/>
              <a:gd name="connsiteX11" fmla="*/ 193786 w 235364"/>
              <a:gd name="connsiteY11" fmla="*/ 160535 h 243086"/>
              <a:gd name="connsiteX12" fmla="*/ 193786 w 235364"/>
              <a:gd name="connsiteY12" fmla="*/ 158571 h 243086"/>
              <a:gd name="connsiteX13" fmla="*/ 183289 w 235364"/>
              <a:gd name="connsiteY13" fmla="*/ 156087 h 243086"/>
              <a:gd name="connsiteX14" fmla="*/ 181950 w 235364"/>
              <a:gd name="connsiteY14" fmla="*/ 152842 h 243086"/>
              <a:gd name="connsiteX15" fmla="*/ 185193 w 235364"/>
              <a:gd name="connsiteY15" fmla="*/ 151501 h 243086"/>
              <a:gd name="connsiteX16" fmla="*/ 202086 w 235364"/>
              <a:gd name="connsiteY16" fmla="*/ 152711 h 243086"/>
              <a:gd name="connsiteX17" fmla="*/ 205798 w 235364"/>
              <a:gd name="connsiteY17" fmla="*/ 149135 h 243086"/>
              <a:gd name="connsiteX18" fmla="*/ 202065 w 235364"/>
              <a:gd name="connsiteY18" fmla="*/ 145592 h 243086"/>
              <a:gd name="connsiteX19" fmla="*/ 188839 w 235364"/>
              <a:gd name="connsiteY19" fmla="*/ 143227 h 243086"/>
              <a:gd name="connsiteX20" fmla="*/ 193787 w 235364"/>
              <a:gd name="connsiteY20" fmla="*/ 125662 h 243086"/>
              <a:gd name="connsiteX21" fmla="*/ 193787 w 235364"/>
              <a:gd name="connsiteY21" fmla="*/ 123662 h 243086"/>
              <a:gd name="connsiteX22" fmla="*/ 198746 w 235364"/>
              <a:gd name="connsiteY22" fmla="*/ 123662 h 243086"/>
              <a:gd name="connsiteX23" fmla="*/ 198746 w 235364"/>
              <a:gd name="connsiteY23" fmla="*/ 125636 h 243086"/>
              <a:gd name="connsiteX24" fmla="*/ 209215 w 235364"/>
              <a:gd name="connsiteY24" fmla="*/ 128127 h 243086"/>
              <a:gd name="connsiteX25" fmla="*/ 210505 w 235364"/>
              <a:gd name="connsiteY25" fmla="*/ 131390 h 243086"/>
              <a:gd name="connsiteX26" fmla="*/ 207239 w 235364"/>
              <a:gd name="connsiteY26" fmla="*/ 132680 h 243086"/>
              <a:gd name="connsiteX27" fmla="*/ 190647 w 235364"/>
              <a:gd name="connsiteY27" fmla="*/ 131479 h 243086"/>
              <a:gd name="connsiteX28" fmla="*/ 196362 w 235364"/>
              <a:gd name="connsiteY28" fmla="*/ 139620 h 243086"/>
              <a:gd name="connsiteX29" fmla="*/ 210764 w 235364"/>
              <a:gd name="connsiteY29" fmla="*/ 148985 h 243086"/>
              <a:gd name="connsiteX30" fmla="*/ 210764 w 235364"/>
              <a:gd name="connsiteY30" fmla="*/ 149350 h 243086"/>
              <a:gd name="connsiteX31" fmla="*/ 198746 w 235364"/>
              <a:gd name="connsiteY31" fmla="*/ 158552 h 243086"/>
              <a:gd name="connsiteX32" fmla="*/ 198746 w 235364"/>
              <a:gd name="connsiteY32" fmla="*/ 160535 h 243086"/>
              <a:gd name="connsiteX33" fmla="*/ 196266 w 235364"/>
              <a:gd name="connsiteY33" fmla="*/ 163017 h 243086"/>
              <a:gd name="connsiteX34" fmla="*/ 222371 w 235364"/>
              <a:gd name="connsiteY34" fmla="*/ 217087 h 243086"/>
              <a:gd name="connsiteX35" fmla="*/ 166601 w 235364"/>
              <a:gd name="connsiteY35" fmla="*/ 217087 h 243086"/>
              <a:gd name="connsiteX36" fmla="*/ 158562 w 235364"/>
              <a:gd name="connsiteY36" fmla="*/ 209043 h 243086"/>
              <a:gd name="connsiteX37" fmla="*/ 166601 w 235364"/>
              <a:gd name="connsiteY37" fmla="*/ 201003 h 243086"/>
              <a:gd name="connsiteX38" fmla="*/ 222371 w 235364"/>
              <a:gd name="connsiteY38" fmla="*/ 201003 h 243086"/>
              <a:gd name="connsiteX39" fmla="*/ 230402 w 235364"/>
              <a:gd name="connsiteY39" fmla="*/ 209043 h 243086"/>
              <a:gd name="connsiteX40" fmla="*/ 222371 w 235364"/>
              <a:gd name="connsiteY40" fmla="*/ 217087 h 243086"/>
              <a:gd name="connsiteX41" fmla="*/ 230402 w 235364"/>
              <a:gd name="connsiteY41" fmla="*/ 230082 h 243086"/>
              <a:gd name="connsiteX42" fmla="*/ 222371 w 235364"/>
              <a:gd name="connsiteY42" fmla="*/ 238126 h 243086"/>
              <a:gd name="connsiteX43" fmla="*/ 166601 w 235364"/>
              <a:gd name="connsiteY43" fmla="*/ 238126 h 243086"/>
              <a:gd name="connsiteX44" fmla="*/ 158562 w 235364"/>
              <a:gd name="connsiteY44" fmla="*/ 230082 h 243086"/>
              <a:gd name="connsiteX45" fmla="*/ 166601 w 235364"/>
              <a:gd name="connsiteY45" fmla="*/ 222046 h 243086"/>
              <a:gd name="connsiteX46" fmla="*/ 222371 w 235364"/>
              <a:gd name="connsiteY46" fmla="*/ 222046 h 243086"/>
              <a:gd name="connsiteX47" fmla="*/ 230402 w 235364"/>
              <a:gd name="connsiteY47" fmla="*/ 230082 h 243086"/>
              <a:gd name="connsiteX48" fmla="*/ 145569 w 235364"/>
              <a:gd name="connsiteY48" fmla="*/ 238126 h 243086"/>
              <a:gd name="connsiteX49" fmla="*/ 89799 w 235364"/>
              <a:gd name="connsiteY49" fmla="*/ 238126 h 243086"/>
              <a:gd name="connsiteX50" fmla="*/ 81763 w 235364"/>
              <a:gd name="connsiteY50" fmla="*/ 230082 h 243086"/>
              <a:gd name="connsiteX51" fmla="*/ 89799 w 235364"/>
              <a:gd name="connsiteY51" fmla="*/ 222046 h 243086"/>
              <a:gd name="connsiteX52" fmla="*/ 145569 w 235364"/>
              <a:gd name="connsiteY52" fmla="*/ 222046 h 243086"/>
              <a:gd name="connsiteX53" fmla="*/ 153603 w 235364"/>
              <a:gd name="connsiteY53" fmla="*/ 230082 h 243086"/>
              <a:gd name="connsiteX54" fmla="*/ 145569 w 235364"/>
              <a:gd name="connsiteY54" fmla="*/ 238126 h 243086"/>
              <a:gd name="connsiteX55" fmla="*/ 68770 w 235364"/>
              <a:gd name="connsiteY55" fmla="*/ 238126 h 243086"/>
              <a:gd name="connsiteX56" fmla="*/ 12998 w 235364"/>
              <a:gd name="connsiteY56" fmla="*/ 238126 h 243086"/>
              <a:gd name="connsiteX57" fmla="*/ 4961 w 235364"/>
              <a:gd name="connsiteY57" fmla="*/ 230082 h 243086"/>
              <a:gd name="connsiteX58" fmla="*/ 12998 w 235364"/>
              <a:gd name="connsiteY58" fmla="*/ 222046 h 243086"/>
              <a:gd name="connsiteX59" fmla="*/ 68770 w 235364"/>
              <a:gd name="connsiteY59" fmla="*/ 222046 h 243086"/>
              <a:gd name="connsiteX60" fmla="*/ 76801 w 235364"/>
              <a:gd name="connsiteY60" fmla="*/ 230082 h 243086"/>
              <a:gd name="connsiteX61" fmla="*/ 68770 w 235364"/>
              <a:gd name="connsiteY61" fmla="*/ 238126 h 243086"/>
              <a:gd name="connsiteX62" fmla="*/ 31722 w 235364"/>
              <a:gd name="connsiteY62" fmla="*/ 213249 h 243086"/>
              <a:gd name="connsiteX63" fmla="*/ 31722 w 235364"/>
              <a:gd name="connsiteY63" fmla="*/ 148025 h 243086"/>
              <a:gd name="connsiteX64" fmla="*/ 37276 w 235364"/>
              <a:gd name="connsiteY64" fmla="*/ 118685 h 243086"/>
              <a:gd name="connsiteX65" fmla="*/ 64527 w 235364"/>
              <a:gd name="connsiteY65" fmla="*/ 72206 h 243086"/>
              <a:gd name="connsiteX66" fmla="*/ 80310 w 235364"/>
              <a:gd name="connsiteY66" fmla="*/ 61793 h 243086"/>
              <a:gd name="connsiteX67" fmla="*/ 140496 w 235364"/>
              <a:gd name="connsiteY67" fmla="*/ 61793 h 243086"/>
              <a:gd name="connsiteX68" fmla="*/ 148273 w 235364"/>
              <a:gd name="connsiteY68" fmla="*/ 69568 h 243086"/>
              <a:gd name="connsiteX69" fmla="*/ 148273 w 235364"/>
              <a:gd name="connsiteY69" fmla="*/ 95948 h 243086"/>
              <a:gd name="connsiteX70" fmla="*/ 144781 w 235364"/>
              <a:gd name="connsiteY70" fmla="*/ 99442 h 243086"/>
              <a:gd name="connsiteX71" fmla="*/ 136213 w 235364"/>
              <a:gd name="connsiteY71" fmla="*/ 99442 h 243086"/>
              <a:gd name="connsiteX72" fmla="*/ 132721 w 235364"/>
              <a:gd name="connsiteY72" fmla="*/ 95948 h 243086"/>
              <a:gd name="connsiteX73" fmla="*/ 132707 w 235364"/>
              <a:gd name="connsiteY73" fmla="*/ 84693 h 243086"/>
              <a:gd name="connsiteX74" fmla="*/ 124566 w 235364"/>
              <a:gd name="connsiteY74" fmla="*/ 77352 h 243086"/>
              <a:gd name="connsiteX75" fmla="*/ 108214 w 235364"/>
              <a:gd name="connsiteY75" fmla="*/ 77371 h 243086"/>
              <a:gd name="connsiteX76" fmla="*/ 98948 w 235364"/>
              <a:gd name="connsiteY76" fmla="*/ 82673 h 243086"/>
              <a:gd name="connsiteX77" fmla="*/ 73424 w 235364"/>
              <a:gd name="connsiteY77" fmla="*/ 126256 h 243086"/>
              <a:gd name="connsiteX78" fmla="*/ 75567 w 235364"/>
              <a:gd name="connsiteY78" fmla="*/ 129991 h 243086"/>
              <a:gd name="connsiteX79" fmla="*/ 101572 w 235364"/>
              <a:gd name="connsiteY79" fmla="*/ 129991 h 243086"/>
              <a:gd name="connsiteX80" fmla="*/ 109349 w 235364"/>
              <a:gd name="connsiteY80" fmla="*/ 137766 h 243086"/>
              <a:gd name="connsiteX81" fmla="*/ 109349 w 235364"/>
              <a:gd name="connsiteY81" fmla="*/ 192211 h 243086"/>
              <a:gd name="connsiteX82" fmla="*/ 105515 w 235364"/>
              <a:gd name="connsiteY82" fmla="*/ 196041 h 243086"/>
              <a:gd name="connsiteX83" fmla="*/ 97628 w 235364"/>
              <a:gd name="connsiteY83" fmla="*/ 196041 h 243086"/>
              <a:gd name="connsiteX84" fmla="*/ 93793 w 235364"/>
              <a:gd name="connsiteY84" fmla="*/ 192211 h 243086"/>
              <a:gd name="connsiteX85" fmla="*/ 93793 w 235364"/>
              <a:gd name="connsiteY85" fmla="*/ 157405 h 243086"/>
              <a:gd name="connsiteX86" fmla="*/ 81560 w 235364"/>
              <a:gd name="connsiteY86" fmla="*/ 145543 h 243086"/>
              <a:gd name="connsiteX87" fmla="*/ 57909 w 235364"/>
              <a:gd name="connsiteY87" fmla="*/ 145543 h 243086"/>
              <a:gd name="connsiteX88" fmla="*/ 57806 w 235364"/>
              <a:gd name="connsiteY88" fmla="*/ 145547 h 243086"/>
              <a:gd name="connsiteX89" fmla="*/ 47279 w 235364"/>
              <a:gd name="connsiteY89" fmla="*/ 156835 h 243086"/>
              <a:gd name="connsiteX90" fmla="*/ 47279 w 235364"/>
              <a:gd name="connsiteY90" fmla="*/ 213249 h 243086"/>
              <a:gd name="connsiteX91" fmla="*/ 43444 w 235364"/>
              <a:gd name="connsiteY91" fmla="*/ 217086 h 243086"/>
              <a:gd name="connsiteX92" fmla="*/ 35558 w 235364"/>
              <a:gd name="connsiteY92" fmla="*/ 217086 h 243086"/>
              <a:gd name="connsiteX93" fmla="*/ 31722 w 235364"/>
              <a:gd name="connsiteY93" fmla="*/ 213249 h 243086"/>
              <a:gd name="connsiteX94" fmla="*/ 148280 w 235364"/>
              <a:gd name="connsiteY94" fmla="*/ 112613 h 243086"/>
              <a:gd name="connsiteX95" fmla="*/ 146397 w 235364"/>
              <a:gd name="connsiteY95" fmla="*/ 107567 h 243086"/>
              <a:gd name="connsiteX96" fmla="*/ 132716 w 235364"/>
              <a:gd name="connsiteY96" fmla="*/ 112613 h 243086"/>
              <a:gd name="connsiteX97" fmla="*/ 138303 w 235364"/>
              <a:gd name="connsiteY97" fmla="*/ 196041 h 243086"/>
              <a:gd name="connsiteX98" fmla="*/ 142693 w 235364"/>
              <a:gd name="connsiteY98" fmla="*/ 196041 h 243086"/>
              <a:gd name="connsiteX99" fmla="*/ 101572 w 235364"/>
              <a:gd name="connsiteY99" fmla="*/ 125030 h 243086"/>
              <a:gd name="connsiteX100" fmla="*/ 114311 w 235364"/>
              <a:gd name="connsiteY100" fmla="*/ 137766 h 243086"/>
              <a:gd name="connsiteX101" fmla="*/ 114311 w 235364"/>
              <a:gd name="connsiteY101" fmla="*/ 192211 h 243086"/>
              <a:gd name="connsiteX102" fmla="*/ 113417 w 235364"/>
              <a:gd name="connsiteY102" fmla="*/ 196041 h 243086"/>
              <a:gd name="connsiteX103" fmla="*/ 133332 w 235364"/>
              <a:gd name="connsiteY103" fmla="*/ 196041 h 243086"/>
              <a:gd name="connsiteX104" fmla="*/ 127763 w 235364"/>
              <a:gd name="connsiteY104" fmla="*/ 112946 h 243086"/>
              <a:gd name="connsiteX105" fmla="*/ 131951 w 235364"/>
              <a:gd name="connsiteY105" fmla="*/ 103238 h 243086"/>
              <a:gd name="connsiteX106" fmla="*/ 127761 w 235364"/>
              <a:gd name="connsiteY106" fmla="*/ 95948 h 243086"/>
              <a:gd name="connsiteX107" fmla="*/ 127761 w 235364"/>
              <a:gd name="connsiteY107" fmla="*/ 85066 h 243086"/>
              <a:gd name="connsiteX108" fmla="*/ 124402 w 235364"/>
              <a:gd name="connsiteY108" fmla="*/ 82306 h 243086"/>
              <a:gd name="connsiteX109" fmla="*/ 108714 w 235364"/>
              <a:gd name="connsiteY109" fmla="*/ 82306 h 243086"/>
              <a:gd name="connsiteX110" fmla="*/ 102915 w 235364"/>
              <a:gd name="connsiteY110" fmla="*/ 85652 h 243086"/>
              <a:gd name="connsiteX111" fmla="*/ 79891 w 235364"/>
              <a:gd name="connsiteY111" fmla="*/ 125030 h 243086"/>
              <a:gd name="connsiteX112" fmla="*/ 79281 w 235364"/>
              <a:gd name="connsiteY112" fmla="*/ 222459 h 243086"/>
              <a:gd name="connsiteX113" fmla="*/ 82178 w 235364"/>
              <a:gd name="connsiteY113" fmla="*/ 219566 h 243086"/>
              <a:gd name="connsiteX114" fmla="*/ 76801 w 235364"/>
              <a:gd name="connsiteY114" fmla="*/ 209043 h 243086"/>
              <a:gd name="connsiteX115" fmla="*/ 89725 w 235364"/>
              <a:gd name="connsiteY115" fmla="*/ 196046 h 243086"/>
              <a:gd name="connsiteX116" fmla="*/ 88831 w 235364"/>
              <a:gd name="connsiteY116" fmla="*/ 192211 h 243086"/>
              <a:gd name="connsiteX117" fmla="*/ 88831 w 235364"/>
              <a:gd name="connsiteY117" fmla="*/ 157361 h 243086"/>
              <a:gd name="connsiteX118" fmla="*/ 87427 w 235364"/>
              <a:gd name="connsiteY118" fmla="*/ 152103 h 243086"/>
              <a:gd name="connsiteX119" fmla="*/ 81583 w 235364"/>
              <a:gd name="connsiteY119" fmla="*/ 150505 h 243086"/>
              <a:gd name="connsiteX120" fmla="*/ 57969 w 235364"/>
              <a:gd name="connsiteY120" fmla="*/ 150505 h 243086"/>
              <a:gd name="connsiteX121" fmla="*/ 52235 w 235364"/>
              <a:gd name="connsiteY121" fmla="*/ 156868 h 243086"/>
              <a:gd name="connsiteX122" fmla="*/ 52240 w 235364"/>
              <a:gd name="connsiteY122" fmla="*/ 213249 h 243086"/>
              <a:gd name="connsiteX123" fmla="*/ 51346 w 235364"/>
              <a:gd name="connsiteY123" fmla="*/ 217087 h 243086"/>
              <a:gd name="connsiteX124" fmla="*/ 68769 w 235364"/>
              <a:gd name="connsiteY124" fmla="*/ 217087 h 243086"/>
              <a:gd name="connsiteX125" fmla="*/ 79281 w 235364"/>
              <a:gd name="connsiteY125" fmla="*/ 222459 h 243086"/>
              <a:gd name="connsiteX126" fmla="*/ 158980 w 235364"/>
              <a:gd name="connsiteY126" fmla="*/ 219567 h 243086"/>
              <a:gd name="connsiteX127" fmla="*/ 156083 w 235364"/>
              <a:gd name="connsiteY127" fmla="*/ 216669 h 243086"/>
              <a:gd name="connsiteX128" fmla="*/ 153190 w 235364"/>
              <a:gd name="connsiteY128" fmla="*/ 219567 h 243086"/>
              <a:gd name="connsiteX129" fmla="*/ 156083 w 235364"/>
              <a:gd name="connsiteY129" fmla="*/ 222459 h 243086"/>
              <a:gd name="connsiteX130" fmla="*/ 158980 w 235364"/>
              <a:gd name="connsiteY130" fmla="*/ 219567 h 243086"/>
              <a:gd name="connsiteX131" fmla="*/ 153603 w 235364"/>
              <a:gd name="connsiteY131" fmla="*/ 209043 h 243086"/>
              <a:gd name="connsiteX132" fmla="*/ 145569 w 235364"/>
              <a:gd name="connsiteY132" fmla="*/ 201003 h 243086"/>
              <a:gd name="connsiteX133" fmla="*/ 89799 w 235364"/>
              <a:gd name="connsiteY133" fmla="*/ 201003 h 243086"/>
              <a:gd name="connsiteX134" fmla="*/ 81763 w 235364"/>
              <a:gd name="connsiteY134" fmla="*/ 209043 h 243086"/>
              <a:gd name="connsiteX135" fmla="*/ 89799 w 235364"/>
              <a:gd name="connsiteY135" fmla="*/ 217087 h 243086"/>
              <a:gd name="connsiteX136" fmla="*/ 145569 w 235364"/>
              <a:gd name="connsiteY136" fmla="*/ 217087 h 243086"/>
              <a:gd name="connsiteX137" fmla="*/ 153603 w 235364"/>
              <a:gd name="connsiteY137" fmla="*/ 209043 h 243086"/>
              <a:gd name="connsiteX138" fmla="*/ 158562 w 235364"/>
              <a:gd name="connsiteY138" fmla="*/ 188005 h 243086"/>
              <a:gd name="connsiteX139" fmla="*/ 166601 w 235364"/>
              <a:gd name="connsiteY139" fmla="*/ 179962 h 243086"/>
              <a:gd name="connsiteX140" fmla="*/ 222371 w 235364"/>
              <a:gd name="connsiteY140" fmla="*/ 179962 h 243086"/>
              <a:gd name="connsiteX141" fmla="*/ 230402 w 235364"/>
              <a:gd name="connsiteY141" fmla="*/ 188005 h 243086"/>
              <a:gd name="connsiteX142" fmla="*/ 222371 w 235364"/>
              <a:gd name="connsiteY142" fmla="*/ 196041 h 243086"/>
              <a:gd name="connsiteX143" fmla="*/ 166601 w 235364"/>
              <a:gd name="connsiteY143" fmla="*/ 196041 h 243086"/>
              <a:gd name="connsiteX144" fmla="*/ 158562 w 235364"/>
              <a:gd name="connsiteY144" fmla="*/ 188005 h 243086"/>
              <a:gd name="connsiteX145" fmla="*/ 175406 w 235364"/>
              <a:gd name="connsiteY145" fmla="*/ 166911 h 243086"/>
              <a:gd name="connsiteX146" fmla="*/ 196666 w 235364"/>
              <a:gd name="connsiteY146" fmla="*/ 175003 h 243086"/>
              <a:gd name="connsiteX147" fmla="*/ 214050 w 235364"/>
              <a:gd name="connsiteY147" fmla="*/ 168126 h 243086"/>
              <a:gd name="connsiteX148" fmla="*/ 225253 w 235364"/>
              <a:gd name="connsiteY148" fmla="*/ 143302 h 243086"/>
              <a:gd name="connsiteX149" fmla="*/ 215708 w 235364"/>
              <a:gd name="connsiteY149" fmla="*/ 120574 h 243086"/>
              <a:gd name="connsiteX150" fmla="*/ 207110 w 235364"/>
              <a:gd name="connsiteY150" fmla="*/ 104404 h 243086"/>
              <a:gd name="connsiteX151" fmla="*/ 185047 w 235364"/>
              <a:gd name="connsiteY151" fmla="*/ 104404 h 243086"/>
              <a:gd name="connsiteX152" fmla="*/ 175921 w 235364"/>
              <a:gd name="connsiteY152" fmla="*/ 120551 h 243086"/>
              <a:gd name="connsiteX153" fmla="*/ 168240 w 235364"/>
              <a:gd name="connsiteY153" fmla="*/ 133733 h 243086"/>
              <a:gd name="connsiteX154" fmla="*/ 175406 w 235364"/>
              <a:gd name="connsiteY154" fmla="*/ 166911 h 243086"/>
              <a:gd name="connsiteX155" fmla="*/ 186473 w 235364"/>
              <a:gd name="connsiteY155" fmla="*/ 93666 h 243086"/>
              <a:gd name="connsiteX156" fmla="*/ 204068 w 235364"/>
              <a:gd name="connsiteY156" fmla="*/ 93666 h 243086"/>
              <a:gd name="connsiteX157" fmla="*/ 205195 w 235364"/>
              <a:gd name="connsiteY157" fmla="*/ 99442 h 243086"/>
              <a:gd name="connsiteX158" fmla="*/ 186498 w 235364"/>
              <a:gd name="connsiteY158" fmla="*/ 99442 h 243086"/>
              <a:gd name="connsiteX159" fmla="*/ 186473 w 235364"/>
              <a:gd name="connsiteY159" fmla="*/ 93666 h 243086"/>
              <a:gd name="connsiteX160" fmla="*/ 175976 w 235364"/>
              <a:gd name="connsiteY160" fmla="*/ 68837 h 243086"/>
              <a:gd name="connsiteX161" fmla="*/ 185213 w 235364"/>
              <a:gd name="connsiteY161" fmla="*/ 74543 h 243086"/>
              <a:gd name="connsiteX162" fmla="*/ 207920 w 235364"/>
              <a:gd name="connsiteY162" fmla="*/ 68501 h 243086"/>
              <a:gd name="connsiteX163" fmla="*/ 214363 w 235364"/>
              <a:gd name="connsiteY163" fmla="*/ 65256 h 243086"/>
              <a:gd name="connsiteX164" fmla="*/ 206688 w 235364"/>
              <a:gd name="connsiteY164" fmla="*/ 77881 h 243086"/>
              <a:gd name="connsiteX165" fmla="*/ 204129 w 235364"/>
              <a:gd name="connsiteY165" fmla="*/ 88707 h 243086"/>
              <a:gd name="connsiteX166" fmla="*/ 185407 w 235364"/>
              <a:gd name="connsiteY166" fmla="*/ 88707 h 243086"/>
              <a:gd name="connsiteX167" fmla="*/ 183720 w 235364"/>
              <a:gd name="connsiteY167" fmla="*/ 83414 h 243086"/>
              <a:gd name="connsiteX168" fmla="*/ 235364 w 235364"/>
              <a:gd name="connsiteY168" fmla="*/ 209043 h 243086"/>
              <a:gd name="connsiteX169" fmla="*/ 229992 w 235364"/>
              <a:gd name="connsiteY169" fmla="*/ 198521 h 243086"/>
              <a:gd name="connsiteX170" fmla="*/ 235364 w 235364"/>
              <a:gd name="connsiteY170" fmla="*/ 188005 h 243086"/>
              <a:gd name="connsiteX171" fmla="*/ 222371 w 235364"/>
              <a:gd name="connsiteY171" fmla="*/ 175003 h 243086"/>
              <a:gd name="connsiteX172" fmla="*/ 212687 w 235364"/>
              <a:gd name="connsiteY172" fmla="*/ 175003 h 243086"/>
              <a:gd name="connsiteX173" fmla="*/ 217110 w 235364"/>
              <a:gd name="connsiteY173" fmla="*/ 172031 h 243086"/>
              <a:gd name="connsiteX174" fmla="*/ 230203 w 235364"/>
              <a:gd name="connsiteY174" fmla="*/ 142980 h 243086"/>
              <a:gd name="connsiteX175" fmla="*/ 215683 w 235364"/>
              <a:gd name="connsiteY175" fmla="*/ 110395 h 243086"/>
              <a:gd name="connsiteX176" fmla="*/ 211292 w 235364"/>
              <a:gd name="connsiteY176" fmla="*/ 79753 h 243086"/>
              <a:gd name="connsiteX177" fmla="*/ 220975 w 235364"/>
              <a:gd name="connsiteY177" fmla="*/ 63958 h 243086"/>
              <a:gd name="connsiteX178" fmla="*/ 219090 w 235364"/>
              <a:gd name="connsiteY178" fmla="*/ 60193 h 243086"/>
              <a:gd name="connsiteX179" fmla="*/ 204446 w 235364"/>
              <a:gd name="connsiteY179" fmla="*/ 64954 h 243086"/>
              <a:gd name="connsiteX180" fmla="*/ 204282 w 235364"/>
              <a:gd name="connsiteY180" fmla="*/ 65122 h 243086"/>
              <a:gd name="connsiteX181" fmla="*/ 186764 w 235364"/>
              <a:gd name="connsiteY181" fmla="*/ 69831 h 243086"/>
              <a:gd name="connsiteX182" fmla="*/ 182736 w 235364"/>
              <a:gd name="connsiteY182" fmla="*/ 67300 h 243086"/>
              <a:gd name="connsiteX183" fmla="*/ 170291 w 235364"/>
              <a:gd name="connsiteY183" fmla="*/ 62339 h 243086"/>
              <a:gd name="connsiteX184" fmla="*/ 168786 w 235364"/>
              <a:gd name="connsiteY184" fmla="*/ 65887 h 243086"/>
              <a:gd name="connsiteX185" fmla="*/ 179239 w 235364"/>
              <a:gd name="connsiteY185" fmla="*/ 85561 h 243086"/>
              <a:gd name="connsiteX186" fmla="*/ 176705 w 235364"/>
              <a:gd name="connsiteY186" fmla="*/ 109821 h 243086"/>
              <a:gd name="connsiteX187" fmla="*/ 163696 w 235364"/>
              <a:gd name="connsiteY187" fmla="*/ 131743 h 243086"/>
              <a:gd name="connsiteX188" fmla="*/ 163593 w 235364"/>
              <a:gd name="connsiteY188" fmla="*/ 131995 h 243086"/>
              <a:gd name="connsiteX189" fmla="*/ 172131 w 235364"/>
              <a:gd name="connsiteY189" fmla="*/ 170636 h 243086"/>
              <a:gd name="connsiteX190" fmla="*/ 178471 w 235364"/>
              <a:gd name="connsiteY190" fmla="*/ 175003 h 243086"/>
              <a:gd name="connsiteX191" fmla="*/ 166600 w 235364"/>
              <a:gd name="connsiteY191" fmla="*/ 175003 h 243086"/>
              <a:gd name="connsiteX192" fmla="*/ 153602 w 235364"/>
              <a:gd name="connsiteY192" fmla="*/ 188005 h 243086"/>
              <a:gd name="connsiteX193" fmla="*/ 158979 w 235364"/>
              <a:gd name="connsiteY193" fmla="*/ 198520 h 243086"/>
              <a:gd name="connsiteX194" fmla="*/ 156082 w 235364"/>
              <a:gd name="connsiteY194" fmla="*/ 201420 h 243086"/>
              <a:gd name="connsiteX195" fmla="*/ 147654 w 235364"/>
              <a:gd name="connsiteY195" fmla="*/ 196209 h 243086"/>
              <a:gd name="connsiteX196" fmla="*/ 153229 w 235364"/>
              <a:gd name="connsiteY196" fmla="*/ 112946 h 243086"/>
              <a:gd name="connsiteX197" fmla="*/ 149042 w 235364"/>
              <a:gd name="connsiteY197" fmla="*/ 103237 h 243086"/>
              <a:gd name="connsiteX198" fmla="*/ 153234 w 235364"/>
              <a:gd name="connsiteY198" fmla="*/ 95948 h 243086"/>
              <a:gd name="connsiteX199" fmla="*/ 153234 w 235364"/>
              <a:gd name="connsiteY199" fmla="*/ 69568 h 243086"/>
              <a:gd name="connsiteX200" fmla="*/ 140495 w 235364"/>
              <a:gd name="connsiteY200" fmla="*/ 56833 h 243086"/>
              <a:gd name="connsiteX201" fmla="*/ 79852 w 235364"/>
              <a:gd name="connsiteY201" fmla="*/ 56852 h 243086"/>
              <a:gd name="connsiteX202" fmla="*/ 60370 w 235364"/>
              <a:gd name="connsiteY202" fmla="*/ 69502 h 243086"/>
              <a:gd name="connsiteX203" fmla="*/ 32802 w 235364"/>
              <a:gd name="connsiteY203" fmla="*/ 116531 h 243086"/>
              <a:gd name="connsiteX204" fmla="*/ 26761 w 235364"/>
              <a:gd name="connsiteY204" fmla="*/ 148025 h 243086"/>
              <a:gd name="connsiteX205" fmla="*/ 26761 w 235364"/>
              <a:gd name="connsiteY205" fmla="*/ 213249 h 243086"/>
              <a:gd name="connsiteX206" fmla="*/ 27654 w 235364"/>
              <a:gd name="connsiteY206" fmla="*/ 217087 h 243086"/>
              <a:gd name="connsiteX207" fmla="*/ 12998 w 235364"/>
              <a:gd name="connsiteY207" fmla="*/ 217087 h 243086"/>
              <a:gd name="connsiteX208" fmla="*/ 0 w 235364"/>
              <a:gd name="connsiteY208" fmla="*/ 230082 h 243086"/>
              <a:gd name="connsiteX209" fmla="*/ 12998 w 235364"/>
              <a:gd name="connsiteY209" fmla="*/ 243087 h 243086"/>
              <a:gd name="connsiteX210" fmla="*/ 68770 w 235364"/>
              <a:gd name="connsiteY210" fmla="*/ 243087 h 243086"/>
              <a:gd name="connsiteX211" fmla="*/ 79281 w 235364"/>
              <a:gd name="connsiteY211" fmla="*/ 237715 h 243086"/>
              <a:gd name="connsiteX212" fmla="*/ 89799 w 235364"/>
              <a:gd name="connsiteY212" fmla="*/ 243087 h 243086"/>
              <a:gd name="connsiteX213" fmla="*/ 145569 w 235364"/>
              <a:gd name="connsiteY213" fmla="*/ 243087 h 243086"/>
              <a:gd name="connsiteX214" fmla="*/ 156083 w 235364"/>
              <a:gd name="connsiteY214" fmla="*/ 237715 h 243086"/>
              <a:gd name="connsiteX215" fmla="*/ 166601 w 235364"/>
              <a:gd name="connsiteY215" fmla="*/ 243087 h 243086"/>
              <a:gd name="connsiteX216" fmla="*/ 222371 w 235364"/>
              <a:gd name="connsiteY216" fmla="*/ 243087 h 243086"/>
              <a:gd name="connsiteX217" fmla="*/ 235364 w 235364"/>
              <a:gd name="connsiteY217" fmla="*/ 230082 h 243086"/>
              <a:gd name="connsiteX218" fmla="*/ 229992 w 235364"/>
              <a:gd name="connsiteY218" fmla="*/ 219567 h 243086"/>
              <a:gd name="connsiteX219" fmla="*/ 235364 w 235364"/>
              <a:gd name="connsiteY219" fmla="*/ 209043 h 24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235364" h="243086">
                <a:moveTo>
                  <a:pt x="93951" y="4961"/>
                </a:moveTo>
                <a:cubicBezTo>
                  <a:pt x="104350" y="4961"/>
                  <a:pt x="112809" y="13420"/>
                  <a:pt x="112809" y="23816"/>
                </a:cubicBezTo>
                <a:cubicBezTo>
                  <a:pt x="112809" y="34220"/>
                  <a:pt x="104350" y="42678"/>
                  <a:pt x="93951" y="42678"/>
                </a:cubicBezTo>
                <a:cubicBezTo>
                  <a:pt x="83552" y="42678"/>
                  <a:pt x="75089" y="34220"/>
                  <a:pt x="75089" y="23816"/>
                </a:cubicBezTo>
                <a:cubicBezTo>
                  <a:pt x="75089" y="13420"/>
                  <a:pt x="83552" y="4961"/>
                  <a:pt x="93951" y="4961"/>
                </a:cubicBezTo>
                <a:close/>
                <a:moveTo>
                  <a:pt x="93951" y="47640"/>
                </a:moveTo>
                <a:cubicBezTo>
                  <a:pt x="107082" y="47640"/>
                  <a:pt x="117768" y="36955"/>
                  <a:pt x="117768" y="23816"/>
                </a:cubicBezTo>
                <a:cubicBezTo>
                  <a:pt x="117768" y="10686"/>
                  <a:pt x="107082" y="0"/>
                  <a:pt x="93951" y="0"/>
                </a:cubicBezTo>
                <a:cubicBezTo>
                  <a:pt x="80816" y="0"/>
                  <a:pt x="70130" y="10686"/>
                  <a:pt x="70130" y="23816"/>
                </a:cubicBezTo>
                <a:cubicBezTo>
                  <a:pt x="70130" y="36955"/>
                  <a:pt x="80816" y="47640"/>
                  <a:pt x="93951" y="47640"/>
                </a:cubicBezTo>
                <a:close/>
                <a:moveTo>
                  <a:pt x="196266" y="163017"/>
                </a:moveTo>
                <a:cubicBezTo>
                  <a:pt x="194891" y="163017"/>
                  <a:pt x="193786" y="161905"/>
                  <a:pt x="193786" y="160535"/>
                </a:cubicBezTo>
                <a:lnTo>
                  <a:pt x="193786" y="158571"/>
                </a:lnTo>
                <a:cubicBezTo>
                  <a:pt x="190115" y="158285"/>
                  <a:pt x="186597" y="157461"/>
                  <a:pt x="183289" y="156087"/>
                </a:cubicBezTo>
                <a:cubicBezTo>
                  <a:pt x="182023" y="155560"/>
                  <a:pt x="181423" y="154111"/>
                  <a:pt x="181950" y="152842"/>
                </a:cubicBezTo>
                <a:cubicBezTo>
                  <a:pt x="182475" y="151575"/>
                  <a:pt x="183928" y="150976"/>
                  <a:pt x="185193" y="151501"/>
                </a:cubicBezTo>
                <a:cubicBezTo>
                  <a:pt x="189990" y="153492"/>
                  <a:pt x="197026" y="154689"/>
                  <a:pt x="202086" y="152711"/>
                </a:cubicBezTo>
                <a:cubicBezTo>
                  <a:pt x="205082" y="151521"/>
                  <a:pt x="205674" y="150133"/>
                  <a:pt x="205798" y="149135"/>
                </a:cubicBezTo>
                <a:cubicBezTo>
                  <a:pt x="205723" y="148447"/>
                  <a:pt x="205319" y="146929"/>
                  <a:pt x="202065" y="145592"/>
                </a:cubicBezTo>
                <a:cubicBezTo>
                  <a:pt x="197385" y="143751"/>
                  <a:pt x="194551" y="145458"/>
                  <a:pt x="188839" y="143227"/>
                </a:cubicBezTo>
                <a:cubicBezTo>
                  <a:pt x="178006" y="138995"/>
                  <a:pt x="180149" y="127215"/>
                  <a:pt x="193787" y="125662"/>
                </a:cubicBezTo>
                <a:lnTo>
                  <a:pt x="193787" y="123662"/>
                </a:lnTo>
                <a:cubicBezTo>
                  <a:pt x="193787" y="120393"/>
                  <a:pt x="198746" y="120396"/>
                  <a:pt x="198746" y="123662"/>
                </a:cubicBezTo>
                <a:lnTo>
                  <a:pt x="198746" y="125636"/>
                </a:lnTo>
                <a:cubicBezTo>
                  <a:pt x="202612" y="125944"/>
                  <a:pt x="206059" y="126755"/>
                  <a:pt x="209215" y="128127"/>
                </a:cubicBezTo>
                <a:cubicBezTo>
                  <a:pt x="210475" y="128670"/>
                  <a:pt x="211051" y="130135"/>
                  <a:pt x="210505" y="131390"/>
                </a:cubicBezTo>
                <a:cubicBezTo>
                  <a:pt x="209959" y="132650"/>
                  <a:pt x="208494" y="133226"/>
                  <a:pt x="207239" y="132680"/>
                </a:cubicBezTo>
                <a:cubicBezTo>
                  <a:pt x="202751" y="130729"/>
                  <a:pt x="195686" y="129529"/>
                  <a:pt x="190647" y="131479"/>
                </a:cubicBezTo>
                <a:cubicBezTo>
                  <a:pt x="182829" y="134503"/>
                  <a:pt x="188555" y="139602"/>
                  <a:pt x="196362" y="139620"/>
                </a:cubicBezTo>
                <a:cubicBezTo>
                  <a:pt x="202933" y="139635"/>
                  <a:pt x="210355" y="142636"/>
                  <a:pt x="210764" y="148985"/>
                </a:cubicBezTo>
                <a:cubicBezTo>
                  <a:pt x="210771" y="149104"/>
                  <a:pt x="210771" y="149228"/>
                  <a:pt x="210764" y="149350"/>
                </a:cubicBezTo>
                <a:cubicBezTo>
                  <a:pt x="210397" y="154628"/>
                  <a:pt x="205059" y="157877"/>
                  <a:pt x="198746" y="158552"/>
                </a:cubicBezTo>
                <a:lnTo>
                  <a:pt x="198746" y="160535"/>
                </a:lnTo>
                <a:cubicBezTo>
                  <a:pt x="198745" y="161905"/>
                  <a:pt x="197635" y="163017"/>
                  <a:pt x="196266" y="163017"/>
                </a:cubicBezTo>
                <a:close/>
                <a:moveTo>
                  <a:pt x="222371" y="217087"/>
                </a:moveTo>
                <a:lnTo>
                  <a:pt x="166601" y="217087"/>
                </a:lnTo>
                <a:cubicBezTo>
                  <a:pt x="162169" y="217087"/>
                  <a:pt x="158562" y="213478"/>
                  <a:pt x="158562" y="209043"/>
                </a:cubicBezTo>
                <a:cubicBezTo>
                  <a:pt x="158562" y="204609"/>
                  <a:pt x="162169" y="201003"/>
                  <a:pt x="166601" y="201003"/>
                </a:cubicBezTo>
                <a:lnTo>
                  <a:pt x="222371" y="201003"/>
                </a:lnTo>
                <a:cubicBezTo>
                  <a:pt x="226800" y="201003"/>
                  <a:pt x="230402" y="204609"/>
                  <a:pt x="230402" y="209043"/>
                </a:cubicBezTo>
                <a:cubicBezTo>
                  <a:pt x="230402" y="213478"/>
                  <a:pt x="226800" y="217087"/>
                  <a:pt x="222371" y="217087"/>
                </a:cubicBezTo>
                <a:close/>
                <a:moveTo>
                  <a:pt x="230402" y="230082"/>
                </a:moveTo>
                <a:cubicBezTo>
                  <a:pt x="230402" y="234519"/>
                  <a:pt x="226800" y="238126"/>
                  <a:pt x="222371" y="238126"/>
                </a:cubicBezTo>
                <a:lnTo>
                  <a:pt x="166601" y="238126"/>
                </a:lnTo>
                <a:cubicBezTo>
                  <a:pt x="162169" y="238126"/>
                  <a:pt x="158562" y="234519"/>
                  <a:pt x="158562" y="230082"/>
                </a:cubicBezTo>
                <a:cubicBezTo>
                  <a:pt x="158562" y="225652"/>
                  <a:pt x="162169" y="222046"/>
                  <a:pt x="166601" y="222046"/>
                </a:cubicBezTo>
                <a:lnTo>
                  <a:pt x="222371" y="222046"/>
                </a:lnTo>
                <a:cubicBezTo>
                  <a:pt x="226800" y="222046"/>
                  <a:pt x="230402" y="225652"/>
                  <a:pt x="230402" y="230082"/>
                </a:cubicBezTo>
                <a:close/>
                <a:moveTo>
                  <a:pt x="145569" y="238126"/>
                </a:moveTo>
                <a:lnTo>
                  <a:pt x="89799" y="238126"/>
                </a:lnTo>
                <a:cubicBezTo>
                  <a:pt x="85370" y="238126"/>
                  <a:pt x="81763" y="234519"/>
                  <a:pt x="81763" y="230082"/>
                </a:cubicBezTo>
                <a:cubicBezTo>
                  <a:pt x="81763" y="225652"/>
                  <a:pt x="85370" y="222046"/>
                  <a:pt x="89799" y="222046"/>
                </a:cubicBezTo>
                <a:lnTo>
                  <a:pt x="145569" y="222046"/>
                </a:lnTo>
                <a:cubicBezTo>
                  <a:pt x="149999" y="222046"/>
                  <a:pt x="153603" y="225652"/>
                  <a:pt x="153603" y="230082"/>
                </a:cubicBezTo>
                <a:cubicBezTo>
                  <a:pt x="153603" y="234519"/>
                  <a:pt x="149999" y="238126"/>
                  <a:pt x="145569" y="238126"/>
                </a:cubicBezTo>
                <a:close/>
                <a:moveTo>
                  <a:pt x="68770" y="238126"/>
                </a:moveTo>
                <a:lnTo>
                  <a:pt x="12998" y="238126"/>
                </a:lnTo>
                <a:cubicBezTo>
                  <a:pt x="8568" y="238126"/>
                  <a:pt x="4961" y="234519"/>
                  <a:pt x="4961" y="230082"/>
                </a:cubicBezTo>
                <a:cubicBezTo>
                  <a:pt x="4961" y="225652"/>
                  <a:pt x="8568" y="222046"/>
                  <a:pt x="12998" y="222046"/>
                </a:cubicBezTo>
                <a:lnTo>
                  <a:pt x="68770" y="222046"/>
                </a:lnTo>
                <a:cubicBezTo>
                  <a:pt x="73200" y="222046"/>
                  <a:pt x="76801" y="225652"/>
                  <a:pt x="76801" y="230082"/>
                </a:cubicBezTo>
                <a:cubicBezTo>
                  <a:pt x="76801" y="234519"/>
                  <a:pt x="73200" y="238126"/>
                  <a:pt x="68770" y="238126"/>
                </a:cubicBezTo>
                <a:close/>
                <a:moveTo>
                  <a:pt x="31722" y="213249"/>
                </a:moveTo>
                <a:lnTo>
                  <a:pt x="31722" y="148025"/>
                </a:lnTo>
                <a:cubicBezTo>
                  <a:pt x="31722" y="136833"/>
                  <a:pt x="33586" y="126961"/>
                  <a:pt x="37276" y="118685"/>
                </a:cubicBezTo>
                <a:lnTo>
                  <a:pt x="64527" y="72206"/>
                </a:lnTo>
                <a:cubicBezTo>
                  <a:pt x="68761" y="65945"/>
                  <a:pt x="73781" y="62633"/>
                  <a:pt x="80310" y="61793"/>
                </a:cubicBezTo>
                <a:lnTo>
                  <a:pt x="140496" y="61793"/>
                </a:lnTo>
                <a:cubicBezTo>
                  <a:pt x="144785" y="61793"/>
                  <a:pt x="148273" y="65280"/>
                  <a:pt x="148273" y="69568"/>
                </a:cubicBezTo>
                <a:lnTo>
                  <a:pt x="148273" y="95948"/>
                </a:lnTo>
                <a:cubicBezTo>
                  <a:pt x="148273" y="97875"/>
                  <a:pt x="146705" y="99442"/>
                  <a:pt x="144781" y="99442"/>
                </a:cubicBezTo>
                <a:lnTo>
                  <a:pt x="136213" y="99442"/>
                </a:lnTo>
                <a:cubicBezTo>
                  <a:pt x="134289" y="99442"/>
                  <a:pt x="132721" y="97875"/>
                  <a:pt x="132721" y="95948"/>
                </a:cubicBezTo>
                <a:lnTo>
                  <a:pt x="132707" y="84693"/>
                </a:lnTo>
                <a:cubicBezTo>
                  <a:pt x="132275" y="80233"/>
                  <a:pt x="129304" y="77555"/>
                  <a:pt x="124566" y="77352"/>
                </a:cubicBezTo>
                <a:lnTo>
                  <a:pt x="108214" y="77371"/>
                </a:lnTo>
                <a:cubicBezTo>
                  <a:pt x="104510" y="77863"/>
                  <a:pt x="101389" y="79647"/>
                  <a:pt x="98948" y="82673"/>
                </a:cubicBezTo>
                <a:lnTo>
                  <a:pt x="73424" y="126256"/>
                </a:lnTo>
                <a:cubicBezTo>
                  <a:pt x="72458" y="127909"/>
                  <a:pt x="73651" y="129991"/>
                  <a:pt x="75567" y="129991"/>
                </a:cubicBezTo>
                <a:lnTo>
                  <a:pt x="101572" y="129991"/>
                </a:lnTo>
                <a:cubicBezTo>
                  <a:pt x="105857" y="129991"/>
                  <a:pt x="109349" y="133479"/>
                  <a:pt x="109349" y="137766"/>
                </a:cubicBezTo>
                <a:lnTo>
                  <a:pt x="109349" y="192211"/>
                </a:lnTo>
                <a:cubicBezTo>
                  <a:pt x="109349" y="194324"/>
                  <a:pt x="107628" y="196041"/>
                  <a:pt x="105515" y="196041"/>
                </a:cubicBezTo>
                <a:lnTo>
                  <a:pt x="97628" y="196041"/>
                </a:lnTo>
                <a:cubicBezTo>
                  <a:pt x="95514" y="196041"/>
                  <a:pt x="93793" y="194324"/>
                  <a:pt x="93793" y="192211"/>
                </a:cubicBezTo>
                <a:lnTo>
                  <a:pt x="93793" y="157405"/>
                </a:lnTo>
                <a:cubicBezTo>
                  <a:pt x="93930" y="149335"/>
                  <a:pt x="89695" y="145461"/>
                  <a:pt x="81560" y="145543"/>
                </a:cubicBezTo>
                <a:lnTo>
                  <a:pt x="57909" y="145543"/>
                </a:lnTo>
                <a:cubicBezTo>
                  <a:pt x="57876" y="145543"/>
                  <a:pt x="57842" y="145543"/>
                  <a:pt x="57806" y="145547"/>
                </a:cubicBezTo>
                <a:cubicBezTo>
                  <a:pt x="51109" y="145832"/>
                  <a:pt x="47372" y="149830"/>
                  <a:pt x="47279" y="156835"/>
                </a:cubicBezTo>
                <a:lnTo>
                  <a:pt x="47279" y="213249"/>
                </a:lnTo>
                <a:cubicBezTo>
                  <a:pt x="47279" y="215365"/>
                  <a:pt x="45557" y="217086"/>
                  <a:pt x="43444" y="217086"/>
                </a:cubicBezTo>
                <a:lnTo>
                  <a:pt x="35558" y="217086"/>
                </a:lnTo>
                <a:cubicBezTo>
                  <a:pt x="33444" y="217087"/>
                  <a:pt x="31722" y="215365"/>
                  <a:pt x="31722" y="213249"/>
                </a:cubicBezTo>
                <a:close/>
                <a:moveTo>
                  <a:pt x="148280" y="112613"/>
                </a:moveTo>
                <a:cubicBezTo>
                  <a:pt x="148403" y="110789"/>
                  <a:pt x="147734" y="108997"/>
                  <a:pt x="146397" y="107567"/>
                </a:cubicBezTo>
                <a:cubicBezTo>
                  <a:pt x="141293" y="102117"/>
                  <a:pt x="132279" y="106124"/>
                  <a:pt x="132716" y="112613"/>
                </a:cubicBezTo>
                <a:lnTo>
                  <a:pt x="138303" y="196041"/>
                </a:lnTo>
                <a:lnTo>
                  <a:pt x="142693" y="196041"/>
                </a:lnTo>
                <a:close/>
                <a:moveTo>
                  <a:pt x="101572" y="125030"/>
                </a:moveTo>
                <a:cubicBezTo>
                  <a:pt x="108596" y="125030"/>
                  <a:pt x="114311" y="130745"/>
                  <a:pt x="114311" y="137766"/>
                </a:cubicBezTo>
                <a:lnTo>
                  <a:pt x="114311" y="192211"/>
                </a:lnTo>
                <a:cubicBezTo>
                  <a:pt x="114311" y="193585"/>
                  <a:pt x="113984" y="194880"/>
                  <a:pt x="113417" y="196041"/>
                </a:cubicBezTo>
                <a:lnTo>
                  <a:pt x="133332" y="196041"/>
                </a:lnTo>
                <a:lnTo>
                  <a:pt x="127763" y="112946"/>
                </a:lnTo>
                <a:cubicBezTo>
                  <a:pt x="127520" y="109289"/>
                  <a:pt x="129124" y="105697"/>
                  <a:pt x="131951" y="103238"/>
                </a:cubicBezTo>
                <a:cubicBezTo>
                  <a:pt x="129448" y="101768"/>
                  <a:pt x="127761" y="99055"/>
                  <a:pt x="127761" y="95948"/>
                </a:cubicBezTo>
                <a:lnTo>
                  <a:pt x="127761" y="85066"/>
                </a:lnTo>
                <a:cubicBezTo>
                  <a:pt x="127576" y="83452"/>
                  <a:pt x="126926" y="82432"/>
                  <a:pt x="124402" y="82306"/>
                </a:cubicBezTo>
                <a:lnTo>
                  <a:pt x="108714" y="82306"/>
                </a:lnTo>
                <a:cubicBezTo>
                  <a:pt x="106403" y="82654"/>
                  <a:pt x="104504" y="83746"/>
                  <a:pt x="102915" y="85652"/>
                </a:cubicBezTo>
                <a:lnTo>
                  <a:pt x="79891" y="125030"/>
                </a:lnTo>
                <a:close/>
                <a:moveTo>
                  <a:pt x="79281" y="222459"/>
                </a:moveTo>
                <a:cubicBezTo>
                  <a:pt x="80091" y="221346"/>
                  <a:pt x="81068" y="220369"/>
                  <a:pt x="82178" y="219566"/>
                </a:cubicBezTo>
                <a:cubicBezTo>
                  <a:pt x="78924" y="217198"/>
                  <a:pt x="76801" y="213366"/>
                  <a:pt x="76801" y="209043"/>
                </a:cubicBezTo>
                <a:cubicBezTo>
                  <a:pt x="76801" y="201901"/>
                  <a:pt x="82591" y="196086"/>
                  <a:pt x="89725" y="196046"/>
                </a:cubicBezTo>
                <a:cubicBezTo>
                  <a:pt x="89157" y="194884"/>
                  <a:pt x="88831" y="193585"/>
                  <a:pt x="88831" y="192211"/>
                </a:cubicBezTo>
                <a:lnTo>
                  <a:pt x="88831" y="157361"/>
                </a:lnTo>
                <a:cubicBezTo>
                  <a:pt x="88831" y="154892"/>
                  <a:pt x="88606" y="153300"/>
                  <a:pt x="87427" y="152103"/>
                </a:cubicBezTo>
                <a:cubicBezTo>
                  <a:pt x="86250" y="150909"/>
                  <a:pt x="84388" y="150505"/>
                  <a:pt x="81583" y="150505"/>
                </a:cubicBezTo>
                <a:lnTo>
                  <a:pt x="57969" y="150505"/>
                </a:lnTo>
                <a:cubicBezTo>
                  <a:pt x="53955" y="150694"/>
                  <a:pt x="52294" y="152539"/>
                  <a:pt x="52235" y="156868"/>
                </a:cubicBezTo>
                <a:lnTo>
                  <a:pt x="52240" y="213249"/>
                </a:lnTo>
                <a:cubicBezTo>
                  <a:pt x="52240" y="214623"/>
                  <a:pt x="51911" y="215925"/>
                  <a:pt x="51346" y="217087"/>
                </a:cubicBezTo>
                <a:lnTo>
                  <a:pt x="68769" y="217087"/>
                </a:lnTo>
                <a:cubicBezTo>
                  <a:pt x="73086" y="217087"/>
                  <a:pt x="76920" y="219205"/>
                  <a:pt x="79281" y="222459"/>
                </a:cubicBezTo>
                <a:close/>
                <a:moveTo>
                  <a:pt x="158980" y="219567"/>
                </a:moveTo>
                <a:cubicBezTo>
                  <a:pt x="157869" y="218757"/>
                  <a:pt x="156890" y="217780"/>
                  <a:pt x="156083" y="216669"/>
                </a:cubicBezTo>
                <a:cubicBezTo>
                  <a:pt x="155278" y="217780"/>
                  <a:pt x="154300" y="218757"/>
                  <a:pt x="153190" y="219567"/>
                </a:cubicBezTo>
                <a:cubicBezTo>
                  <a:pt x="154300" y="220369"/>
                  <a:pt x="155278" y="221347"/>
                  <a:pt x="156083" y="222459"/>
                </a:cubicBezTo>
                <a:cubicBezTo>
                  <a:pt x="156890" y="221346"/>
                  <a:pt x="157869" y="220369"/>
                  <a:pt x="158980" y="219567"/>
                </a:cubicBezTo>
                <a:close/>
                <a:moveTo>
                  <a:pt x="153603" y="209043"/>
                </a:moveTo>
                <a:cubicBezTo>
                  <a:pt x="153603" y="204609"/>
                  <a:pt x="149999" y="201003"/>
                  <a:pt x="145569" y="201003"/>
                </a:cubicBezTo>
                <a:lnTo>
                  <a:pt x="89799" y="201003"/>
                </a:lnTo>
                <a:cubicBezTo>
                  <a:pt x="85370" y="201003"/>
                  <a:pt x="81763" y="204609"/>
                  <a:pt x="81763" y="209043"/>
                </a:cubicBezTo>
                <a:cubicBezTo>
                  <a:pt x="81763" y="213478"/>
                  <a:pt x="85370" y="217087"/>
                  <a:pt x="89799" y="217087"/>
                </a:cubicBezTo>
                <a:lnTo>
                  <a:pt x="145569" y="217087"/>
                </a:lnTo>
                <a:cubicBezTo>
                  <a:pt x="149999" y="217087"/>
                  <a:pt x="153603" y="213478"/>
                  <a:pt x="153603" y="209043"/>
                </a:cubicBezTo>
                <a:close/>
                <a:moveTo>
                  <a:pt x="158562" y="188005"/>
                </a:moveTo>
                <a:cubicBezTo>
                  <a:pt x="158562" y="183571"/>
                  <a:pt x="162169" y="179962"/>
                  <a:pt x="166601" y="179962"/>
                </a:cubicBezTo>
                <a:lnTo>
                  <a:pt x="222371" y="179962"/>
                </a:lnTo>
                <a:cubicBezTo>
                  <a:pt x="226800" y="179962"/>
                  <a:pt x="230402" y="183571"/>
                  <a:pt x="230402" y="188005"/>
                </a:cubicBezTo>
                <a:cubicBezTo>
                  <a:pt x="230402" y="192435"/>
                  <a:pt x="226800" y="196041"/>
                  <a:pt x="222371" y="196041"/>
                </a:cubicBezTo>
                <a:lnTo>
                  <a:pt x="166601" y="196041"/>
                </a:lnTo>
                <a:cubicBezTo>
                  <a:pt x="162169" y="196041"/>
                  <a:pt x="158562" y="192435"/>
                  <a:pt x="158562" y="188005"/>
                </a:cubicBezTo>
                <a:close/>
                <a:moveTo>
                  <a:pt x="175406" y="166911"/>
                </a:moveTo>
                <a:cubicBezTo>
                  <a:pt x="182677" y="172637"/>
                  <a:pt x="189205" y="175155"/>
                  <a:pt x="196666" y="175003"/>
                </a:cubicBezTo>
                <a:cubicBezTo>
                  <a:pt x="202477" y="174765"/>
                  <a:pt x="208246" y="172477"/>
                  <a:pt x="214050" y="168126"/>
                </a:cubicBezTo>
                <a:cubicBezTo>
                  <a:pt x="222207" y="161618"/>
                  <a:pt x="225871" y="153495"/>
                  <a:pt x="225253" y="143302"/>
                </a:cubicBezTo>
                <a:cubicBezTo>
                  <a:pt x="224766" y="136257"/>
                  <a:pt x="220163" y="128286"/>
                  <a:pt x="215708" y="120574"/>
                </a:cubicBezTo>
                <a:cubicBezTo>
                  <a:pt x="212857" y="115638"/>
                  <a:pt x="209331" y="109310"/>
                  <a:pt x="207110" y="104404"/>
                </a:cubicBezTo>
                <a:lnTo>
                  <a:pt x="185047" y="104404"/>
                </a:lnTo>
                <a:cubicBezTo>
                  <a:pt x="183047" y="109231"/>
                  <a:pt x="179010" y="115762"/>
                  <a:pt x="175921" y="120551"/>
                </a:cubicBezTo>
                <a:cubicBezTo>
                  <a:pt x="173255" y="124682"/>
                  <a:pt x="170502" y="128956"/>
                  <a:pt x="168240" y="133733"/>
                </a:cubicBezTo>
                <a:cubicBezTo>
                  <a:pt x="163594" y="147388"/>
                  <a:pt x="165933" y="158249"/>
                  <a:pt x="175406" y="166911"/>
                </a:cubicBezTo>
                <a:close/>
                <a:moveTo>
                  <a:pt x="186473" y="93666"/>
                </a:moveTo>
                <a:lnTo>
                  <a:pt x="204068" y="93666"/>
                </a:lnTo>
                <a:cubicBezTo>
                  <a:pt x="204227" y="95661"/>
                  <a:pt x="204614" y="97553"/>
                  <a:pt x="205195" y="99442"/>
                </a:cubicBezTo>
                <a:lnTo>
                  <a:pt x="186498" y="99442"/>
                </a:lnTo>
                <a:cubicBezTo>
                  <a:pt x="186771" y="97646"/>
                  <a:pt x="186771" y="95789"/>
                  <a:pt x="186473" y="93666"/>
                </a:cubicBezTo>
                <a:close/>
                <a:moveTo>
                  <a:pt x="175976" y="68837"/>
                </a:moveTo>
                <a:cubicBezTo>
                  <a:pt x="178548" y="70368"/>
                  <a:pt x="183588" y="74058"/>
                  <a:pt x="185213" y="74543"/>
                </a:cubicBezTo>
                <a:cubicBezTo>
                  <a:pt x="194315" y="77216"/>
                  <a:pt x="201950" y="75182"/>
                  <a:pt x="207920" y="68501"/>
                </a:cubicBezTo>
                <a:cubicBezTo>
                  <a:pt x="209819" y="66744"/>
                  <a:pt x="211923" y="65674"/>
                  <a:pt x="214363" y="65256"/>
                </a:cubicBezTo>
                <a:lnTo>
                  <a:pt x="206688" y="77881"/>
                </a:lnTo>
                <a:cubicBezTo>
                  <a:pt x="205256" y="82054"/>
                  <a:pt x="204442" y="85560"/>
                  <a:pt x="204129" y="88707"/>
                </a:cubicBezTo>
                <a:lnTo>
                  <a:pt x="185407" y="88707"/>
                </a:lnTo>
                <a:lnTo>
                  <a:pt x="183720" y="83414"/>
                </a:lnTo>
                <a:close/>
                <a:moveTo>
                  <a:pt x="235364" y="209043"/>
                </a:moveTo>
                <a:cubicBezTo>
                  <a:pt x="235364" y="204724"/>
                  <a:pt x="233243" y="200889"/>
                  <a:pt x="229992" y="198521"/>
                </a:cubicBezTo>
                <a:cubicBezTo>
                  <a:pt x="233243" y="196160"/>
                  <a:pt x="235364" y="192325"/>
                  <a:pt x="235364" y="188005"/>
                </a:cubicBezTo>
                <a:cubicBezTo>
                  <a:pt x="235364" y="180837"/>
                  <a:pt x="229534" y="175003"/>
                  <a:pt x="222371" y="175003"/>
                </a:cubicBezTo>
                <a:lnTo>
                  <a:pt x="212687" y="175003"/>
                </a:lnTo>
                <a:lnTo>
                  <a:pt x="217110" y="172031"/>
                </a:lnTo>
                <a:cubicBezTo>
                  <a:pt x="226518" y="164539"/>
                  <a:pt x="230917" y="154772"/>
                  <a:pt x="230203" y="142980"/>
                </a:cubicBezTo>
                <a:cubicBezTo>
                  <a:pt x="229512" y="132319"/>
                  <a:pt x="221059" y="120573"/>
                  <a:pt x="215683" y="110395"/>
                </a:cubicBezTo>
                <a:cubicBezTo>
                  <a:pt x="209333" y="98361"/>
                  <a:pt x="206683" y="93336"/>
                  <a:pt x="211292" y="79753"/>
                </a:cubicBezTo>
                <a:lnTo>
                  <a:pt x="220975" y="63958"/>
                </a:lnTo>
                <a:cubicBezTo>
                  <a:pt x="221933" y="62392"/>
                  <a:pt x="220916" y="60363"/>
                  <a:pt x="219090" y="60193"/>
                </a:cubicBezTo>
                <a:cubicBezTo>
                  <a:pt x="213233" y="59647"/>
                  <a:pt x="208444" y="61203"/>
                  <a:pt x="204446" y="64954"/>
                </a:cubicBezTo>
                <a:cubicBezTo>
                  <a:pt x="204387" y="65008"/>
                  <a:pt x="204336" y="65064"/>
                  <a:pt x="204282" y="65122"/>
                </a:cubicBezTo>
                <a:cubicBezTo>
                  <a:pt x="199664" y="70347"/>
                  <a:pt x="193930" y="71884"/>
                  <a:pt x="186764" y="69831"/>
                </a:cubicBezTo>
                <a:cubicBezTo>
                  <a:pt x="185807" y="69379"/>
                  <a:pt x="184315" y="68371"/>
                  <a:pt x="182736" y="67300"/>
                </a:cubicBezTo>
                <a:cubicBezTo>
                  <a:pt x="178380" y="64354"/>
                  <a:pt x="173881" y="61303"/>
                  <a:pt x="170291" y="62339"/>
                </a:cubicBezTo>
                <a:cubicBezTo>
                  <a:pt x="168782" y="62770"/>
                  <a:pt x="168056" y="64501"/>
                  <a:pt x="168786" y="65887"/>
                </a:cubicBezTo>
                <a:lnTo>
                  <a:pt x="179239" y="85561"/>
                </a:lnTo>
                <a:cubicBezTo>
                  <a:pt x="183281" y="97506"/>
                  <a:pt x="182423" y="99592"/>
                  <a:pt x="176705" y="109821"/>
                </a:cubicBezTo>
                <a:cubicBezTo>
                  <a:pt x="172492" y="117363"/>
                  <a:pt x="167722" y="123199"/>
                  <a:pt x="163696" y="131743"/>
                </a:cubicBezTo>
                <a:cubicBezTo>
                  <a:pt x="163656" y="131827"/>
                  <a:pt x="163621" y="131911"/>
                  <a:pt x="163593" y="131995"/>
                </a:cubicBezTo>
                <a:cubicBezTo>
                  <a:pt x="158235" y="147598"/>
                  <a:pt x="161106" y="160601"/>
                  <a:pt x="172131" y="170636"/>
                </a:cubicBezTo>
                <a:cubicBezTo>
                  <a:pt x="173267" y="171720"/>
                  <a:pt x="177181" y="174254"/>
                  <a:pt x="178471" y="175003"/>
                </a:cubicBezTo>
                <a:lnTo>
                  <a:pt x="166600" y="175003"/>
                </a:lnTo>
                <a:cubicBezTo>
                  <a:pt x="159434" y="175003"/>
                  <a:pt x="153602" y="180837"/>
                  <a:pt x="153602" y="188005"/>
                </a:cubicBezTo>
                <a:cubicBezTo>
                  <a:pt x="153602" y="192325"/>
                  <a:pt x="155725" y="196160"/>
                  <a:pt x="158979" y="198520"/>
                </a:cubicBezTo>
                <a:cubicBezTo>
                  <a:pt x="157869" y="199330"/>
                  <a:pt x="156889" y="200307"/>
                  <a:pt x="156082" y="201420"/>
                </a:cubicBezTo>
                <a:cubicBezTo>
                  <a:pt x="154106" y="198700"/>
                  <a:pt x="151106" y="196771"/>
                  <a:pt x="147654" y="196209"/>
                </a:cubicBezTo>
                <a:lnTo>
                  <a:pt x="153229" y="112946"/>
                </a:lnTo>
                <a:cubicBezTo>
                  <a:pt x="153476" y="109237"/>
                  <a:pt x="151881" y="105741"/>
                  <a:pt x="149042" y="103237"/>
                </a:cubicBezTo>
                <a:cubicBezTo>
                  <a:pt x="151542" y="101768"/>
                  <a:pt x="153234" y="99055"/>
                  <a:pt x="153234" y="95948"/>
                </a:cubicBezTo>
                <a:lnTo>
                  <a:pt x="153234" y="69568"/>
                </a:lnTo>
                <a:cubicBezTo>
                  <a:pt x="153234" y="62548"/>
                  <a:pt x="147519" y="56833"/>
                  <a:pt x="140495" y="56833"/>
                </a:cubicBezTo>
                <a:lnTo>
                  <a:pt x="79852" y="56852"/>
                </a:lnTo>
                <a:cubicBezTo>
                  <a:pt x="71809" y="57834"/>
                  <a:pt x="65436" y="61973"/>
                  <a:pt x="60370" y="69502"/>
                </a:cubicBezTo>
                <a:lnTo>
                  <a:pt x="32802" y="116531"/>
                </a:lnTo>
                <a:cubicBezTo>
                  <a:pt x="28795" y="125477"/>
                  <a:pt x="26761" y="136073"/>
                  <a:pt x="26761" y="148025"/>
                </a:cubicBezTo>
                <a:lnTo>
                  <a:pt x="26761" y="213249"/>
                </a:lnTo>
                <a:cubicBezTo>
                  <a:pt x="26761" y="214623"/>
                  <a:pt x="27088" y="215925"/>
                  <a:pt x="27654" y="217087"/>
                </a:cubicBezTo>
                <a:lnTo>
                  <a:pt x="12998" y="217087"/>
                </a:lnTo>
                <a:cubicBezTo>
                  <a:pt x="5829" y="217087"/>
                  <a:pt x="0" y="222914"/>
                  <a:pt x="0" y="230082"/>
                </a:cubicBezTo>
                <a:cubicBezTo>
                  <a:pt x="0" y="237250"/>
                  <a:pt x="5829" y="243087"/>
                  <a:pt x="12998" y="243087"/>
                </a:cubicBezTo>
                <a:lnTo>
                  <a:pt x="68770" y="243087"/>
                </a:lnTo>
                <a:cubicBezTo>
                  <a:pt x="73086" y="243087"/>
                  <a:pt x="76920" y="240962"/>
                  <a:pt x="79281" y="237715"/>
                </a:cubicBezTo>
                <a:cubicBezTo>
                  <a:pt x="81649" y="240962"/>
                  <a:pt x="85479" y="243087"/>
                  <a:pt x="89799" y="243087"/>
                </a:cubicBezTo>
                <a:lnTo>
                  <a:pt x="145569" y="243087"/>
                </a:lnTo>
                <a:cubicBezTo>
                  <a:pt x="149887" y="243087"/>
                  <a:pt x="153720" y="240962"/>
                  <a:pt x="156083" y="237715"/>
                </a:cubicBezTo>
                <a:cubicBezTo>
                  <a:pt x="158448" y="240962"/>
                  <a:pt x="162279" y="243087"/>
                  <a:pt x="166601" y="243087"/>
                </a:cubicBezTo>
                <a:lnTo>
                  <a:pt x="222371" y="243087"/>
                </a:lnTo>
                <a:cubicBezTo>
                  <a:pt x="229535" y="243087"/>
                  <a:pt x="235364" y="237250"/>
                  <a:pt x="235364" y="230082"/>
                </a:cubicBezTo>
                <a:cubicBezTo>
                  <a:pt x="235364" y="225762"/>
                  <a:pt x="233244" y="221927"/>
                  <a:pt x="229992" y="219567"/>
                </a:cubicBezTo>
                <a:cubicBezTo>
                  <a:pt x="233243" y="217199"/>
                  <a:pt x="235364" y="213366"/>
                  <a:pt x="235364" y="209043"/>
                </a:cubicBezTo>
                <a:close/>
              </a:path>
            </a:pathLst>
          </a:custGeom>
          <a:solidFill>
            <a:srgbClr val="000000"/>
          </a:solidFill>
          <a:ln w="484" cap="flat">
            <a:noFill/>
            <a:prstDash val="solid"/>
            <a:miter/>
          </a:ln>
        </p:spPr>
        <p:txBody>
          <a:bodyPr rtlCol="0" anchor="ctr"/>
          <a:lstStyle/>
          <a:p>
            <a:endParaRPr lang="en-GB"/>
          </a:p>
        </p:txBody>
      </p:sp>
      <p:sp>
        <p:nvSpPr>
          <p:cNvPr id="71" name="TextBox 70">
            <a:extLst>
              <a:ext uri="{FF2B5EF4-FFF2-40B4-BE49-F238E27FC236}">
                <a16:creationId xmlns:a16="http://schemas.microsoft.com/office/drawing/2014/main" id="{815CD932-D653-0845-285C-D7B18419018C}"/>
              </a:ext>
            </a:extLst>
          </p:cNvPr>
          <p:cNvSpPr txBox="1"/>
          <p:nvPr/>
        </p:nvSpPr>
        <p:spPr>
          <a:xfrm>
            <a:off x="2089580" y="3235598"/>
            <a:ext cx="2731802" cy="246221"/>
          </a:xfrm>
          <a:prstGeom prst="rect">
            <a:avLst/>
          </a:prstGeom>
          <a:noFill/>
        </p:spPr>
        <p:txBody>
          <a:bodyPr wrap="square" rtlCol="0">
            <a:spAutoFit/>
          </a:bodyPr>
          <a:lstStyle/>
          <a:p>
            <a:pPr algn="ctr"/>
            <a:r>
              <a:rPr lang="en-US" sz="1000"/>
              <a:t>Indirect</a:t>
            </a:r>
            <a:endParaRPr lang="en-CH" sz="1000"/>
          </a:p>
        </p:txBody>
      </p:sp>
      <p:sp>
        <p:nvSpPr>
          <p:cNvPr id="72" name="TextBox 71">
            <a:extLst>
              <a:ext uri="{FF2B5EF4-FFF2-40B4-BE49-F238E27FC236}">
                <a16:creationId xmlns:a16="http://schemas.microsoft.com/office/drawing/2014/main" id="{2B534748-4B09-F85F-F5A2-372E1836FFCD}"/>
              </a:ext>
            </a:extLst>
          </p:cNvPr>
          <p:cNvSpPr txBox="1"/>
          <p:nvPr/>
        </p:nvSpPr>
        <p:spPr>
          <a:xfrm>
            <a:off x="5479472" y="3235598"/>
            <a:ext cx="2731802" cy="246221"/>
          </a:xfrm>
          <a:prstGeom prst="rect">
            <a:avLst/>
          </a:prstGeom>
          <a:noFill/>
        </p:spPr>
        <p:txBody>
          <a:bodyPr wrap="square" rtlCol="0">
            <a:spAutoFit/>
          </a:bodyPr>
          <a:lstStyle/>
          <a:p>
            <a:pPr algn="ctr"/>
            <a:r>
              <a:rPr lang="en-US" sz="1000"/>
              <a:t>Direct</a:t>
            </a:r>
          </a:p>
        </p:txBody>
      </p:sp>
      <p:sp>
        <p:nvSpPr>
          <p:cNvPr id="73" name="TextBox 72">
            <a:extLst>
              <a:ext uri="{FF2B5EF4-FFF2-40B4-BE49-F238E27FC236}">
                <a16:creationId xmlns:a16="http://schemas.microsoft.com/office/drawing/2014/main" id="{01CCB745-493C-E7A4-745C-9BDFC54A9388}"/>
              </a:ext>
            </a:extLst>
          </p:cNvPr>
          <p:cNvSpPr txBox="1"/>
          <p:nvPr/>
        </p:nvSpPr>
        <p:spPr>
          <a:xfrm>
            <a:off x="705139" y="3235598"/>
            <a:ext cx="1116734" cy="400110"/>
          </a:xfrm>
          <a:prstGeom prst="rect">
            <a:avLst/>
          </a:prstGeom>
          <a:noFill/>
        </p:spPr>
        <p:txBody>
          <a:bodyPr wrap="square" rtlCol="0">
            <a:spAutoFit/>
          </a:bodyPr>
          <a:lstStyle/>
          <a:p>
            <a:r>
              <a:rPr lang="de-LI" sz="1000" b="1">
                <a:solidFill>
                  <a:schemeClr val="accent1"/>
                </a:solidFill>
              </a:rPr>
              <a:t>Link to bank deposits</a:t>
            </a:r>
            <a:endParaRPr lang="en-GB" sz="1000">
              <a:solidFill>
                <a:schemeClr val="accent1"/>
              </a:solidFill>
            </a:endParaRPr>
          </a:p>
        </p:txBody>
      </p:sp>
      <p:sp>
        <p:nvSpPr>
          <p:cNvPr id="74" name="TextBox 73">
            <a:extLst>
              <a:ext uri="{FF2B5EF4-FFF2-40B4-BE49-F238E27FC236}">
                <a16:creationId xmlns:a16="http://schemas.microsoft.com/office/drawing/2014/main" id="{EA3D59E0-B5FB-424F-D7BC-C5BF3CB65C38}"/>
              </a:ext>
            </a:extLst>
          </p:cNvPr>
          <p:cNvSpPr txBox="1"/>
          <p:nvPr/>
        </p:nvSpPr>
        <p:spPr>
          <a:xfrm>
            <a:off x="2089580" y="3656550"/>
            <a:ext cx="2731802" cy="861774"/>
          </a:xfrm>
          <a:prstGeom prst="rect">
            <a:avLst/>
          </a:prstGeom>
          <a:noFill/>
        </p:spPr>
        <p:txBody>
          <a:bodyPr wrap="square" rtlCol="0">
            <a:spAutoFit/>
          </a:bodyPr>
          <a:lstStyle/>
          <a:p>
            <a:pPr marL="171450" indent="-171450">
              <a:buFont typeface="Arial" panose="020B0604020202020204" pitchFamily="34" charset="0"/>
              <a:buChar char="•"/>
            </a:pPr>
            <a:r>
              <a:rPr lang="en-US" sz="1000"/>
              <a:t>Does not determine asset allocation</a:t>
            </a:r>
          </a:p>
          <a:p>
            <a:pPr marL="171450" indent="-171450">
              <a:buFont typeface="Arial" panose="020B0604020202020204" pitchFamily="34" charset="0"/>
              <a:buChar char="•"/>
            </a:pPr>
            <a:r>
              <a:rPr lang="en-US" sz="1000"/>
              <a:t>Only indirectly affects bank deposit levels</a:t>
            </a:r>
          </a:p>
          <a:p>
            <a:pPr marL="171450" indent="-171450">
              <a:buFont typeface="Arial" panose="020B0604020202020204" pitchFamily="34" charset="0"/>
              <a:buChar char="•"/>
            </a:pPr>
            <a:r>
              <a:rPr lang="en-US" sz="1000"/>
              <a:t>Even if we know the levels of wealth accumulation depending on system, we still need to know where this wealth is allocated</a:t>
            </a:r>
          </a:p>
        </p:txBody>
      </p:sp>
      <p:sp>
        <p:nvSpPr>
          <p:cNvPr id="75" name="TextBox 74">
            <a:extLst>
              <a:ext uri="{FF2B5EF4-FFF2-40B4-BE49-F238E27FC236}">
                <a16:creationId xmlns:a16="http://schemas.microsoft.com/office/drawing/2014/main" id="{5E715615-5EA5-2E7C-E4A4-3FABAC6D7434}"/>
              </a:ext>
            </a:extLst>
          </p:cNvPr>
          <p:cNvSpPr txBox="1"/>
          <p:nvPr/>
        </p:nvSpPr>
        <p:spPr>
          <a:xfrm>
            <a:off x="5479472" y="3656550"/>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a:t>Different measures exist</a:t>
            </a:r>
          </a:p>
          <a:p>
            <a:pPr marL="171450" indent="-171450">
              <a:buFont typeface="Arial" panose="020B0604020202020204" pitchFamily="34" charset="0"/>
              <a:buChar char="•"/>
            </a:pPr>
            <a:r>
              <a:rPr lang="en-US" sz="1000"/>
              <a:t>Evolvement of systems over time?</a:t>
            </a:r>
          </a:p>
        </p:txBody>
      </p:sp>
      <p:sp>
        <p:nvSpPr>
          <p:cNvPr id="76" name="TextBox 75">
            <a:extLst>
              <a:ext uri="{FF2B5EF4-FFF2-40B4-BE49-F238E27FC236}">
                <a16:creationId xmlns:a16="http://schemas.microsoft.com/office/drawing/2014/main" id="{6E5CF293-BD86-B00F-D92E-995BB1CE210D}"/>
              </a:ext>
            </a:extLst>
          </p:cNvPr>
          <p:cNvSpPr txBox="1"/>
          <p:nvPr/>
        </p:nvSpPr>
        <p:spPr>
          <a:xfrm>
            <a:off x="705139" y="3656550"/>
            <a:ext cx="1116734" cy="246221"/>
          </a:xfrm>
          <a:prstGeom prst="rect">
            <a:avLst/>
          </a:prstGeom>
          <a:noFill/>
        </p:spPr>
        <p:txBody>
          <a:bodyPr wrap="square" rtlCol="0">
            <a:spAutoFit/>
          </a:bodyPr>
          <a:lstStyle/>
          <a:p>
            <a:r>
              <a:rPr lang="de-LI" sz="1000" b="1">
                <a:solidFill>
                  <a:schemeClr val="accent1"/>
                </a:solidFill>
              </a:rPr>
              <a:t>Limitations</a:t>
            </a:r>
            <a:endParaRPr lang="en-GB" sz="1000">
              <a:solidFill>
                <a:schemeClr val="accent1"/>
              </a:solidFill>
            </a:endParaRPr>
          </a:p>
        </p:txBody>
      </p:sp>
      <p:cxnSp>
        <p:nvCxnSpPr>
          <p:cNvPr id="78" name="Connector: Elbow 77">
            <a:extLst>
              <a:ext uri="{FF2B5EF4-FFF2-40B4-BE49-F238E27FC236}">
                <a16:creationId xmlns:a16="http://schemas.microsoft.com/office/drawing/2014/main" id="{9BB7CF89-AF61-7447-4AD2-4EB0FA088BF2}"/>
              </a:ext>
            </a:extLst>
          </p:cNvPr>
          <p:cNvCxnSpPr>
            <a:stCxn id="74" idx="3"/>
            <a:endCxn id="20" idx="1"/>
          </p:cNvCxnSpPr>
          <p:nvPr/>
        </p:nvCxnSpPr>
        <p:spPr>
          <a:xfrm flipV="1">
            <a:off x="4821382" y="2331804"/>
            <a:ext cx="658090" cy="175563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931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8C8FC-6F5D-4367-6264-94D5C08607A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5E406B8-D396-256F-43B0-FA69C75F11E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D5E406B8-D396-256F-43B0-FA69C75F11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7AEA564-E0E6-15D0-6CEF-1182AB3F7063}"/>
              </a:ext>
            </a:extLst>
          </p:cNvPr>
          <p:cNvSpPr>
            <a:spLocks noGrp="1"/>
          </p:cNvSpPr>
          <p:nvPr>
            <p:ph type="title"/>
          </p:nvPr>
        </p:nvSpPr>
        <p:spPr/>
        <p:txBody>
          <a:bodyPr vert="horz" rIns="0"/>
          <a:lstStyle/>
          <a:p>
            <a:r>
              <a:rPr lang="de-LI"/>
              <a:t>Additional considerations</a:t>
            </a:r>
          </a:p>
        </p:txBody>
      </p:sp>
      <p:sp>
        <p:nvSpPr>
          <p:cNvPr id="3" name="Slide Number Placeholder 2">
            <a:extLst>
              <a:ext uri="{FF2B5EF4-FFF2-40B4-BE49-F238E27FC236}">
                <a16:creationId xmlns:a16="http://schemas.microsoft.com/office/drawing/2014/main" id="{4F0708A7-DA66-1C4B-A89E-5C72D56A49BA}"/>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12</a:t>
            </a:fld>
            <a:endParaRPr lang="en-GB"/>
          </a:p>
        </p:txBody>
      </p:sp>
      <p:sp>
        <p:nvSpPr>
          <p:cNvPr id="5" name="Rectangle 4">
            <a:extLst>
              <a:ext uri="{FF2B5EF4-FFF2-40B4-BE49-F238E27FC236}">
                <a16:creationId xmlns:a16="http://schemas.microsoft.com/office/drawing/2014/main" id="{335E5CA3-760E-6933-E312-D068B1C6E597}"/>
              </a:ext>
            </a:extLst>
          </p:cNvPr>
          <p:cNvSpPr/>
          <p:nvPr/>
        </p:nvSpPr>
        <p:spPr>
          <a:xfrm>
            <a:off x="1611006" y="1120899"/>
            <a:ext cx="2749296"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Suitable controls from dataset</a:t>
            </a:r>
          </a:p>
        </p:txBody>
      </p:sp>
      <p:sp>
        <p:nvSpPr>
          <p:cNvPr id="6" name="Rectangle 5">
            <a:extLst>
              <a:ext uri="{FF2B5EF4-FFF2-40B4-BE49-F238E27FC236}">
                <a16:creationId xmlns:a16="http://schemas.microsoft.com/office/drawing/2014/main" id="{81283D0E-EC67-FD63-BC0C-CEB9EE11FF6D}"/>
              </a:ext>
            </a:extLst>
          </p:cNvPr>
          <p:cNvSpPr/>
          <p:nvPr/>
        </p:nvSpPr>
        <p:spPr>
          <a:xfrm>
            <a:off x="4672183" y="1120899"/>
            <a:ext cx="2749296"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Pot. omitted variables</a:t>
            </a:r>
          </a:p>
        </p:txBody>
      </p:sp>
      <p:sp>
        <p:nvSpPr>
          <p:cNvPr id="7" name="Rectangle 6">
            <a:extLst>
              <a:ext uri="{FF2B5EF4-FFF2-40B4-BE49-F238E27FC236}">
                <a16:creationId xmlns:a16="http://schemas.microsoft.com/office/drawing/2014/main" id="{F178EC82-DD18-3E9E-AB1E-21BCFE760AFF}"/>
              </a:ext>
            </a:extLst>
          </p:cNvPr>
          <p:cNvSpPr/>
          <p:nvPr/>
        </p:nvSpPr>
        <p:spPr>
          <a:xfrm>
            <a:off x="1611006" y="1702790"/>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a:solidFill>
                  <a:schemeClr val="tx1"/>
                </a:solidFill>
              </a:rPr>
              <a:t>Bank size</a:t>
            </a:r>
            <a:br>
              <a:rPr lang="de-LI" sz="1100">
                <a:solidFill>
                  <a:schemeClr val="tx1"/>
                </a:solidFill>
              </a:rPr>
            </a:br>
            <a:r>
              <a:rPr lang="en-US" sz="1100">
                <a:solidFill>
                  <a:schemeClr val="tx1"/>
                </a:solidFill>
              </a:rPr>
              <a:t>(Large banks rely more on wholesale funding)</a:t>
            </a:r>
            <a:endParaRPr lang="en-GB" sz="1100">
              <a:solidFill>
                <a:schemeClr val="tx1"/>
              </a:solidFill>
            </a:endParaRPr>
          </a:p>
        </p:txBody>
      </p:sp>
      <p:sp>
        <p:nvSpPr>
          <p:cNvPr id="8" name="Rectangle 7">
            <a:extLst>
              <a:ext uri="{FF2B5EF4-FFF2-40B4-BE49-F238E27FC236}">
                <a16:creationId xmlns:a16="http://schemas.microsoft.com/office/drawing/2014/main" id="{E24A26E8-F876-D4A9-641F-3DBE9995A0D2}"/>
              </a:ext>
            </a:extLst>
          </p:cNvPr>
          <p:cNvSpPr/>
          <p:nvPr/>
        </p:nvSpPr>
        <p:spPr>
          <a:xfrm>
            <a:off x="1611006" y="2428921"/>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a:solidFill>
                  <a:schemeClr val="tx1"/>
                </a:solidFill>
              </a:rPr>
              <a:t>Loan ratio</a:t>
            </a:r>
            <a:br>
              <a:rPr lang="de-LI" sz="1100">
                <a:solidFill>
                  <a:schemeClr val="tx1"/>
                </a:solidFill>
              </a:rPr>
            </a:br>
            <a:r>
              <a:rPr lang="de-LI" sz="1100">
                <a:solidFill>
                  <a:schemeClr val="tx1"/>
                </a:solidFill>
              </a:rPr>
              <a:t>(</a:t>
            </a:r>
            <a:r>
              <a:rPr lang="en-US" sz="1100">
                <a:solidFill>
                  <a:schemeClr val="tx1"/>
                </a:solidFill>
              </a:rPr>
              <a:t>Banks with more loans need stable funding, which usually comes from deposits)</a:t>
            </a:r>
            <a:endParaRPr lang="en-GB" sz="1100">
              <a:solidFill>
                <a:schemeClr val="tx1"/>
              </a:solidFill>
            </a:endParaRPr>
          </a:p>
        </p:txBody>
      </p:sp>
      <p:sp>
        <p:nvSpPr>
          <p:cNvPr id="11" name="Rectangle 10">
            <a:extLst>
              <a:ext uri="{FF2B5EF4-FFF2-40B4-BE49-F238E27FC236}">
                <a16:creationId xmlns:a16="http://schemas.microsoft.com/office/drawing/2014/main" id="{20968CF4-4515-D1DD-5C78-EFF078CCC940}"/>
              </a:ext>
            </a:extLst>
          </p:cNvPr>
          <p:cNvSpPr/>
          <p:nvPr/>
        </p:nvSpPr>
        <p:spPr>
          <a:xfrm>
            <a:off x="4672183" y="1704133"/>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a:solidFill>
                  <a:schemeClr val="tx1"/>
                </a:solidFill>
              </a:rPr>
              <a:t>GDP development</a:t>
            </a:r>
            <a:br>
              <a:rPr lang="de-LI" sz="1100">
                <a:solidFill>
                  <a:schemeClr val="tx1"/>
                </a:solidFill>
              </a:rPr>
            </a:br>
            <a:r>
              <a:rPr lang="en-US" sz="1100">
                <a:solidFill>
                  <a:schemeClr val="tx1"/>
                </a:solidFill>
              </a:rPr>
              <a:t>If not controlled, the aging effect may actually capture economic development</a:t>
            </a:r>
            <a:endParaRPr lang="en-GB" sz="1100">
              <a:solidFill>
                <a:schemeClr val="tx1"/>
              </a:solidFill>
            </a:endParaRPr>
          </a:p>
        </p:txBody>
      </p:sp>
      <p:sp>
        <p:nvSpPr>
          <p:cNvPr id="17" name="Rectangle 16">
            <a:extLst>
              <a:ext uri="{FF2B5EF4-FFF2-40B4-BE49-F238E27FC236}">
                <a16:creationId xmlns:a16="http://schemas.microsoft.com/office/drawing/2014/main" id="{73370C09-E372-26AF-2348-49AF3AFD8010}"/>
              </a:ext>
            </a:extLst>
          </p:cNvPr>
          <p:cNvSpPr/>
          <p:nvPr/>
        </p:nvSpPr>
        <p:spPr>
          <a:xfrm>
            <a:off x="5938831" y="1019830"/>
            <a:ext cx="216000" cy="215989"/>
          </a:xfrm>
          <a:prstGeom prst="rect">
            <a:avLst/>
          </a:prstGeom>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t>2</a:t>
            </a:r>
            <a:endParaRPr lang="en-GB"/>
          </a:p>
        </p:txBody>
      </p:sp>
      <p:sp>
        <p:nvSpPr>
          <p:cNvPr id="19" name="Rectangle 18">
            <a:extLst>
              <a:ext uri="{FF2B5EF4-FFF2-40B4-BE49-F238E27FC236}">
                <a16:creationId xmlns:a16="http://schemas.microsoft.com/office/drawing/2014/main" id="{AF9D11BE-057D-9084-3DC6-9B8B7A203D38}"/>
              </a:ext>
            </a:extLst>
          </p:cNvPr>
          <p:cNvSpPr/>
          <p:nvPr/>
        </p:nvSpPr>
        <p:spPr>
          <a:xfrm>
            <a:off x="2877654" y="1019830"/>
            <a:ext cx="216000" cy="215989"/>
          </a:xfrm>
          <a:prstGeom prst="rect">
            <a:avLst/>
          </a:prstGeom>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t>1</a:t>
            </a:r>
            <a:endParaRPr lang="en-GB"/>
          </a:p>
        </p:txBody>
      </p:sp>
      <p:sp>
        <p:nvSpPr>
          <p:cNvPr id="27" name="Rectangle 26">
            <a:extLst>
              <a:ext uri="{FF2B5EF4-FFF2-40B4-BE49-F238E27FC236}">
                <a16:creationId xmlns:a16="http://schemas.microsoft.com/office/drawing/2014/main" id="{BC1FE6AC-CCB9-A794-9957-2BD4027AB7FC}"/>
              </a:ext>
            </a:extLst>
          </p:cNvPr>
          <p:cNvSpPr/>
          <p:nvPr/>
        </p:nvSpPr>
        <p:spPr>
          <a:xfrm>
            <a:off x="1611006" y="3155052"/>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a:solidFill>
                  <a:schemeClr val="tx1"/>
                </a:solidFill>
              </a:rPr>
              <a:t>Equity ratio</a:t>
            </a:r>
            <a:br>
              <a:rPr lang="de-LI" sz="1100">
                <a:solidFill>
                  <a:schemeClr val="tx1"/>
                </a:solidFill>
              </a:rPr>
            </a:br>
            <a:r>
              <a:rPr lang="de-LI" sz="1100">
                <a:solidFill>
                  <a:schemeClr val="tx1"/>
                </a:solidFill>
              </a:rPr>
              <a:t>(</a:t>
            </a:r>
            <a:r>
              <a:rPr lang="en-US" sz="1100">
                <a:solidFill>
                  <a:schemeClr val="tx1"/>
                </a:solidFill>
              </a:rPr>
              <a:t>Higher equity = less risk; hence less stable deposit funding needed)</a:t>
            </a:r>
            <a:endParaRPr lang="en-GB" sz="1100">
              <a:solidFill>
                <a:schemeClr val="tx1"/>
              </a:solidFill>
            </a:endParaRPr>
          </a:p>
        </p:txBody>
      </p:sp>
      <p:sp>
        <p:nvSpPr>
          <p:cNvPr id="28" name="Rectangle 27">
            <a:extLst>
              <a:ext uri="{FF2B5EF4-FFF2-40B4-BE49-F238E27FC236}">
                <a16:creationId xmlns:a16="http://schemas.microsoft.com/office/drawing/2014/main" id="{87530EA2-3E9C-04DC-059A-28594629465C}"/>
              </a:ext>
            </a:extLst>
          </p:cNvPr>
          <p:cNvSpPr/>
          <p:nvPr/>
        </p:nvSpPr>
        <p:spPr>
          <a:xfrm>
            <a:off x="1611006" y="3881182"/>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a:solidFill>
                  <a:schemeClr val="tx1"/>
                </a:solidFill>
              </a:rPr>
              <a:t>Profitability</a:t>
            </a:r>
            <a:br>
              <a:rPr lang="de-LI" sz="1100" b="1">
                <a:solidFill>
                  <a:schemeClr val="tx1"/>
                </a:solidFill>
              </a:rPr>
            </a:br>
            <a:r>
              <a:rPr lang="de-LI" sz="1100">
                <a:solidFill>
                  <a:schemeClr val="tx1"/>
                </a:solidFill>
              </a:rPr>
              <a:t>(</a:t>
            </a:r>
            <a:r>
              <a:rPr lang="en-US" sz="1100">
                <a:solidFill>
                  <a:schemeClr val="tx1"/>
                </a:solidFill>
              </a:rPr>
              <a:t>Profitable banks attract deposits due to stronger reputation)</a:t>
            </a:r>
            <a:endParaRPr lang="en-GB" sz="1100">
              <a:solidFill>
                <a:schemeClr val="tx1"/>
              </a:solidFill>
            </a:endParaRPr>
          </a:p>
        </p:txBody>
      </p:sp>
      <p:sp>
        <p:nvSpPr>
          <p:cNvPr id="29" name="Rectangle 28">
            <a:extLst>
              <a:ext uri="{FF2B5EF4-FFF2-40B4-BE49-F238E27FC236}">
                <a16:creationId xmlns:a16="http://schemas.microsoft.com/office/drawing/2014/main" id="{2BEFAE57-51E3-1372-E91C-1BB647F43DAE}"/>
              </a:ext>
            </a:extLst>
          </p:cNvPr>
          <p:cNvSpPr/>
          <p:nvPr/>
        </p:nvSpPr>
        <p:spPr>
          <a:xfrm>
            <a:off x="4672183" y="2428921"/>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a:solidFill>
                  <a:schemeClr val="tx1"/>
                </a:solidFill>
              </a:rPr>
              <a:t>Interest rate environment</a:t>
            </a:r>
            <a:br>
              <a:rPr lang="de-LI" sz="1100">
                <a:solidFill>
                  <a:schemeClr val="tx1"/>
                </a:solidFill>
              </a:rPr>
            </a:br>
            <a:r>
              <a:rPr lang="en-US" sz="1100">
                <a:solidFill>
                  <a:schemeClr val="tx1"/>
                </a:solidFill>
              </a:rPr>
              <a:t>Strongly affect deposit attractiveness</a:t>
            </a:r>
            <a:endParaRPr lang="en-GB" sz="1100">
              <a:solidFill>
                <a:schemeClr val="tx1"/>
              </a:solidFill>
            </a:endParaRPr>
          </a:p>
        </p:txBody>
      </p:sp>
      <p:sp>
        <p:nvSpPr>
          <p:cNvPr id="30" name="Rectangle 29">
            <a:extLst>
              <a:ext uri="{FF2B5EF4-FFF2-40B4-BE49-F238E27FC236}">
                <a16:creationId xmlns:a16="http://schemas.microsoft.com/office/drawing/2014/main" id="{65AE6E98-78B2-561D-ED83-03CA9903F5FA}"/>
              </a:ext>
            </a:extLst>
          </p:cNvPr>
          <p:cNvSpPr/>
          <p:nvPr/>
        </p:nvSpPr>
        <p:spPr>
          <a:xfrm>
            <a:off x="4672183" y="3155052"/>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a:solidFill>
                  <a:schemeClr val="tx1"/>
                </a:solidFill>
              </a:rPr>
              <a:t>Financial regulation</a:t>
            </a:r>
            <a:br>
              <a:rPr lang="de-LI" sz="1100">
                <a:solidFill>
                  <a:schemeClr val="tx1"/>
                </a:solidFill>
              </a:rPr>
            </a:br>
            <a:r>
              <a:rPr lang="en-US" sz="1100">
                <a:solidFill>
                  <a:schemeClr val="tx1"/>
                </a:solidFill>
              </a:rPr>
              <a:t>-&gt; Partly absorbed by bank fixed effects</a:t>
            </a:r>
            <a:endParaRPr lang="en-GB" sz="1100">
              <a:solidFill>
                <a:schemeClr val="tx1"/>
              </a:solidFill>
            </a:endParaRPr>
          </a:p>
        </p:txBody>
      </p:sp>
      <p:sp>
        <p:nvSpPr>
          <p:cNvPr id="31" name="Rectangle 30">
            <a:extLst>
              <a:ext uri="{FF2B5EF4-FFF2-40B4-BE49-F238E27FC236}">
                <a16:creationId xmlns:a16="http://schemas.microsoft.com/office/drawing/2014/main" id="{2664DCF6-DDFA-4B16-A5A2-BABADD91AB3A}"/>
              </a:ext>
            </a:extLst>
          </p:cNvPr>
          <p:cNvSpPr/>
          <p:nvPr/>
        </p:nvSpPr>
        <p:spPr>
          <a:xfrm>
            <a:off x="4672183" y="3881182"/>
            <a:ext cx="2749296" cy="63974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b="1">
                <a:solidFill>
                  <a:schemeClr val="tx1"/>
                </a:solidFill>
              </a:rPr>
              <a:t>Banking structure</a:t>
            </a:r>
            <a:br>
              <a:rPr lang="de-LI" sz="1100">
                <a:solidFill>
                  <a:schemeClr val="tx1"/>
                </a:solidFill>
              </a:rPr>
            </a:br>
            <a:r>
              <a:rPr lang="en-US" sz="1100">
                <a:solidFill>
                  <a:schemeClr val="tx1"/>
                </a:solidFill>
              </a:rPr>
              <a:t>-&gt; Partly absorbed by bank fixed effects</a:t>
            </a:r>
            <a:endParaRPr lang="en-GB" sz="1100">
              <a:solidFill>
                <a:schemeClr val="tx1"/>
              </a:solidFill>
            </a:endParaRPr>
          </a:p>
        </p:txBody>
      </p:sp>
      <p:sp>
        <p:nvSpPr>
          <p:cNvPr id="32" name="Right Brace 31">
            <a:extLst>
              <a:ext uri="{FF2B5EF4-FFF2-40B4-BE49-F238E27FC236}">
                <a16:creationId xmlns:a16="http://schemas.microsoft.com/office/drawing/2014/main" id="{63B20DD0-2649-8773-035C-FD398105BE3C}"/>
              </a:ext>
            </a:extLst>
          </p:cNvPr>
          <p:cNvSpPr/>
          <p:nvPr/>
        </p:nvSpPr>
        <p:spPr>
          <a:xfrm>
            <a:off x="7560527" y="1702790"/>
            <a:ext cx="172833" cy="136587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3" name="TextBox 32">
            <a:extLst>
              <a:ext uri="{FF2B5EF4-FFF2-40B4-BE49-F238E27FC236}">
                <a16:creationId xmlns:a16="http://schemas.microsoft.com/office/drawing/2014/main" id="{81CAEBD5-AF31-06C3-DC11-CA79A2851277}"/>
              </a:ext>
            </a:extLst>
          </p:cNvPr>
          <p:cNvSpPr txBox="1"/>
          <p:nvPr/>
        </p:nvSpPr>
        <p:spPr>
          <a:xfrm>
            <a:off x="7753464" y="2002415"/>
            <a:ext cx="1196898" cy="769441"/>
          </a:xfrm>
          <a:prstGeom prst="rect">
            <a:avLst/>
          </a:prstGeom>
          <a:noFill/>
        </p:spPr>
        <p:txBody>
          <a:bodyPr wrap="square" rtlCol="0">
            <a:spAutoFit/>
          </a:bodyPr>
          <a:lstStyle/>
          <a:p>
            <a:r>
              <a:rPr lang="en-US" sz="1100"/>
              <a:t>Potentially to be controlled for to resolve omitted variable bias</a:t>
            </a:r>
          </a:p>
        </p:txBody>
      </p:sp>
    </p:spTree>
    <p:extLst>
      <p:ext uri="{BB962C8B-B14F-4D97-AF65-F5344CB8AC3E}">
        <p14:creationId xmlns:p14="http://schemas.microsoft.com/office/powerpoint/2010/main" val="3334248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20BD3-C8D0-34E5-DE6D-83B571948DB0}"/>
              </a:ext>
            </a:extLst>
          </p:cNvPr>
          <p:cNvSpPr>
            <a:spLocks noGrp="1"/>
          </p:cNvSpPr>
          <p:nvPr>
            <p:ph type="title"/>
          </p:nvPr>
        </p:nvSpPr>
        <p:spPr/>
        <p:txBody>
          <a:bodyPr/>
          <a:lstStyle/>
          <a:p>
            <a:r>
              <a:rPr lang="en-GB"/>
              <a:t>Controlling for pension systems: pension replacement rate</a:t>
            </a:r>
            <a:endParaRPr lang="en-CH"/>
          </a:p>
        </p:txBody>
      </p:sp>
      <p:sp>
        <p:nvSpPr>
          <p:cNvPr id="3" name="Slide Number Placeholder 2">
            <a:extLst>
              <a:ext uri="{FF2B5EF4-FFF2-40B4-BE49-F238E27FC236}">
                <a16:creationId xmlns:a16="http://schemas.microsoft.com/office/drawing/2014/main" id="{D932C022-E2D5-C1D8-F8BA-DA420E7AFBC2}"/>
              </a:ext>
            </a:extLst>
          </p:cNvPr>
          <p:cNvSpPr>
            <a:spLocks noGrp="1"/>
          </p:cNvSpPr>
          <p:nvPr>
            <p:ph type="sldNum" sz="quarter" idx="12"/>
          </p:nvPr>
        </p:nvSpPr>
        <p:spPr/>
        <p:txBody>
          <a:bodyPr/>
          <a:lstStyle/>
          <a:p>
            <a:fld id="{7559FC98-AF75-4A00-A03C-DF9FEBF6BCB9}" type="slidenum">
              <a:rPr lang="en-GB" smtClean="0"/>
              <a:t>13</a:t>
            </a:fld>
            <a:endParaRPr lang="en-GB"/>
          </a:p>
        </p:txBody>
      </p:sp>
      <p:sp>
        <p:nvSpPr>
          <p:cNvPr id="47" name="TextBox 46">
            <a:extLst>
              <a:ext uri="{FF2B5EF4-FFF2-40B4-BE49-F238E27FC236}">
                <a16:creationId xmlns:a16="http://schemas.microsoft.com/office/drawing/2014/main" id="{A3EF6124-B510-008F-4BC4-26518A1FFC9B}"/>
              </a:ext>
            </a:extLst>
          </p:cNvPr>
          <p:cNvSpPr txBox="1"/>
          <p:nvPr/>
        </p:nvSpPr>
        <p:spPr>
          <a:xfrm>
            <a:off x="691375" y="1033562"/>
            <a:ext cx="1735874" cy="307777"/>
          </a:xfrm>
          <a:prstGeom prst="rect">
            <a:avLst/>
          </a:prstGeom>
          <a:noFill/>
        </p:spPr>
        <p:txBody>
          <a:bodyPr wrap="square" rtlCol="0">
            <a:spAutoFit/>
          </a:bodyPr>
          <a:lstStyle/>
          <a:p>
            <a:r>
              <a:rPr lang="en-GB" sz="1400" b="1">
                <a:solidFill>
                  <a:schemeClr val="accent1"/>
                </a:solidFill>
              </a:rPr>
              <a:t>Definition</a:t>
            </a:r>
            <a:endParaRPr lang="en-GB" sz="1400">
              <a:solidFill>
                <a:schemeClr val="accent1"/>
              </a:solidFill>
            </a:endParaRPr>
          </a:p>
        </p:txBody>
      </p:sp>
      <p:sp>
        <p:nvSpPr>
          <p:cNvPr id="48" name="TextBox 47">
            <a:extLst>
              <a:ext uri="{FF2B5EF4-FFF2-40B4-BE49-F238E27FC236}">
                <a16:creationId xmlns:a16="http://schemas.microsoft.com/office/drawing/2014/main" id="{AC7B6512-7D8E-00A2-621D-2C495A80B439}"/>
              </a:ext>
            </a:extLst>
          </p:cNvPr>
          <p:cNvSpPr txBox="1"/>
          <p:nvPr/>
        </p:nvSpPr>
        <p:spPr>
          <a:xfrm>
            <a:off x="691375" y="1571233"/>
            <a:ext cx="1735874" cy="307777"/>
          </a:xfrm>
          <a:prstGeom prst="rect">
            <a:avLst/>
          </a:prstGeom>
          <a:noFill/>
        </p:spPr>
        <p:txBody>
          <a:bodyPr wrap="square" rtlCol="0">
            <a:spAutoFit/>
          </a:bodyPr>
          <a:lstStyle/>
          <a:p>
            <a:r>
              <a:rPr lang="en-GB" sz="1400" b="1">
                <a:solidFill>
                  <a:schemeClr val="accent1"/>
                </a:solidFill>
              </a:rPr>
              <a:t>Formula</a:t>
            </a:r>
            <a:endParaRPr lang="en-GB" sz="1400">
              <a:solidFill>
                <a:schemeClr val="accent1"/>
              </a:solidFill>
            </a:endParaRPr>
          </a:p>
        </p:txBody>
      </p:sp>
      <p:sp>
        <p:nvSpPr>
          <p:cNvPr id="49" name="TextBox 48">
            <a:extLst>
              <a:ext uri="{FF2B5EF4-FFF2-40B4-BE49-F238E27FC236}">
                <a16:creationId xmlns:a16="http://schemas.microsoft.com/office/drawing/2014/main" id="{663CEC84-FCE6-58D6-EF1A-9BDF984842FC}"/>
              </a:ext>
            </a:extLst>
          </p:cNvPr>
          <p:cNvSpPr txBox="1"/>
          <p:nvPr/>
        </p:nvSpPr>
        <p:spPr>
          <a:xfrm>
            <a:off x="2154233" y="1063401"/>
            <a:ext cx="6298391" cy="400110"/>
          </a:xfrm>
          <a:prstGeom prst="rect">
            <a:avLst/>
          </a:prstGeom>
          <a:noFill/>
        </p:spPr>
        <p:txBody>
          <a:bodyPr wrap="square" rtlCol="0">
            <a:spAutoFit/>
          </a:bodyPr>
          <a:lstStyle/>
          <a:p>
            <a:r>
              <a:rPr lang="en-US" sz="1000" i="1"/>
              <a:t>The aggregate replacement ratio is gross median individual pension income of the population aged 65–74 relative to gross median individual earnings from work of the population aged 55–64, excluding other social benefits</a:t>
            </a:r>
          </a:p>
        </p:txBody>
      </p:sp>
      <p:pic>
        <p:nvPicPr>
          <p:cNvPr id="51" name="Picture 50">
            <a:extLst>
              <a:ext uri="{FF2B5EF4-FFF2-40B4-BE49-F238E27FC236}">
                <a16:creationId xmlns:a16="http://schemas.microsoft.com/office/drawing/2014/main" id="{136A5478-462D-080A-8A1D-7CE6635A2E45}"/>
              </a:ext>
            </a:extLst>
          </p:cNvPr>
          <p:cNvPicPr>
            <a:picLocks noChangeAspect="1"/>
          </p:cNvPicPr>
          <p:nvPr/>
        </p:nvPicPr>
        <p:blipFill>
          <a:blip r:embed="rId2"/>
          <a:stretch>
            <a:fillRect/>
          </a:stretch>
        </p:blipFill>
        <p:spPr>
          <a:xfrm>
            <a:off x="2154233" y="1533685"/>
            <a:ext cx="2724151" cy="487479"/>
          </a:xfrm>
          <a:prstGeom prst="rect">
            <a:avLst/>
          </a:prstGeom>
        </p:spPr>
      </p:pic>
      <p:sp>
        <p:nvSpPr>
          <p:cNvPr id="52" name="TextBox 51">
            <a:extLst>
              <a:ext uri="{FF2B5EF4-FFF2-40B4-BE49-F238E27FC236}">
                <a16:creationId xmlns:a16="http://schemas.microsoft.com/office/drawing/2014/main" id="{398F97FF-6052-4854-5DD3-EC8819341F08}"/>
              </a:ext>
            </a:extLst>
          </p:cNvPr>
          <p:cNvSpPr txBox="1"/>
          <p:nvPr/>
        </p:nvSpPr>
        <p:spPr>
          <a:xfrm>
            <a:off x="691375" y="2291670"/>
            <a:ext cx="1735874" cy="307777"/>
          </a:xfrm>
          <a:prstGeom prst="rect">
            <a:avLst/>
          </a:prstGeom>
          <a:noFill/>
        </p:spPr>
        <p:txBody>
          <a:bodyPr wrap="square" rtlCol="0">
            <a:spAutoFit/>
          </a:bodyPr>
          <a:lstStyle/>
          <a:p>
            <a:r>
              <a:rPr lang="en-GB" sz="1400" b="1">
                <a:solidFill>
                  <a:schemeClr val="accent1"/>
                </a:solidFill>
              </a:rPr>
              <a:t>Datasets</a:t>
            </a:r>
            <a:endParaRPr lang="en-GB" sz="1400">
              <a:solidFill>
                <a:schemeClr val="accent1"/>
              </a:solidFill>
            </a:endParaRPr>
          </a:p>
        </p:txBody>
      </p:sp>
      <p:sp>
        <p:nvSpPr>
          <p:cNvPr id="53" name="TextBox 52">
            <a:extLst>
              <a:ext uri="{FF2B5EF4-FFF2-40B4-BE49-F238E27FC236}">
                <a16:creationId xmlns:a16="http://schemas.microsoft.com/office/drawing/2014/main" id="{1D4CA743-ABEB-A9F8-ABCE-AE1217683CFC}"/>
              </a:ext>
            </a:extLst>
          </p:cNvPr>
          <p:cNvSpPr txBox="1"/>
          <p:nvPr/>
        </p:nvSpPr>
        <p:spPr>
          <a:xfrm>
            <a:off x="2154233" y="2338020"/>
            <a:ext cx="6298391" cy="255454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000"/>
              <a:t>European Union: 2010-2025</a:t>
            </a:r>
          </a:p>
          <a:p>
            <a:pPr marL="514350" lvl="1" indent="-171450">
              <a:buFont typeface="Arial" panose="020B0604020202020204" pitchFamily="34" charset="0"/>
              <a:buChar char="•"/>
            </a:pPr>
            <a:r>
              <a:rPr lang="en-US" sz="1000">
                <a:hlinkClick r:id="rId3"/>
              </a:rPr>
              <a:t>https://ec.europa.eu/eurostat/databrowser/view/tespm100__custom_20473233/default/table</a:t>
            </a:r>
            <a:endParaRPr lang="en-US" sz="1000"/>
          </a:p>
          <a:p>
            <a:pPr marL="514350" lvl="1" indent="-171450">
              <a:buFont typeface="Arial" panose="020B0604020202020204" pitchFamily="34" charset="0"/>
              <a:buChar char="•"/>
            </a:pPr>
            <a:r>
              <a:rPr lang="en-US" sz="1000">
                <a:ea typeface="+mn-lt"/>
                <a:cs typeface="+mn-lt"/>
              </a:rPr>
              <a:t>https://ec.europa.eu/eurostat/databrowser/view/tespn070/default/table?lang=en</a:t>
            </a:r>
            <a:endParaRPr lang="en-US" sz="1000"/>
          </a:p>
          <a:p>
            <a:pPr marL="171450" indent="-171450">
              <a:buFont typeface="Arial" panose="020B0604020202020204" pitchFamily="34" charset="0"/>
              <a:buChar char="•"/>
            </a:pPr>
            <a:r>
              <a:rPr lang="en-US" sz="1000" strike="sngStrike"/>
              <a:t>OECD 2013</a:t>
            </a:r>
          </a:p>
          <a:p>
            <a:pPr marL="514350" lvl="1" indent="-171450">
              <a:buFont typeface="Arial" panose="020B0604020202020204" pitchFamily="34" charset="0"/>
              <a:buChar char="•"/>
            </a:pPr>
            <a:r>
              <a:rPr lang="en-US" sz="1000" strike="sngStrike">
                <a:hlinkClick r:id="rId4"/>
              </a:rPr>
              <a:t>https://www.oecd.org/content/dam/oecd/en/publications/reports/2013/11/pensions-at-a-glance-2013_g1g3404e/pension_glance-2013-en.pdf</a:t>
            </a:r>
            <a:endParaRPr lang="en-US" sz="1000" strike="sngStrike"/>
          </a:p>
          <a:p>
            <a:pPr marL="171450" indent="-171450">
              <a:buFont typeface="Arial" panose="020B0604020202020204" pitchFamily="34" charset="0"/>
              <a:buChar char="•"/>
            </a:pPr>
            <a:r>
              <a:rPr lang="en-US" sz="1000" strike="sngStrike"/>
              <a:t>OECD 2012</a:t>
            </a:r>
          </a:p>
          <a:p>
            <a:pPr marL="514350" lvl="1" indent="-171450">
              <a:buFont typeface="Arial" panose="020B0604020202020204" pitchFamily="34" charset="0"/>
              <a:buChar char="•"/>
            </a:pPr>
            <a:r>
              <a:rPr lang="en-US" sz="1000" strike="sngStrike">
                <a:hlinkClick r:id="rId5"/>
              </a:rPr>
              <a:t>https://www.oecd.org/content/dam/oecd/en/publications/reports/2012/06/oecd-pensions-outlook-2012_g1g1aeb6/9789264169401-en.pdf</a:t>
            </a:r>
            <a:endParaRPr lang="en-US" sz="1000" strike="sngStrike"/>
          </a:p>
          <a:p>
            <a:pPr marL="171450" indent="-171450">
              <a:buFont typeface="Arial" panose="020B0604020202020204" pitchFamily="34" charset="0"/>
              <a:buChar char="•"/>
            </a:pPr>
            <a:r>
              <a:rPr lang="en-US" sz="1000" strike="sngStrike"/>
              <a:t>OECD 2011</a:t>
            </a:r>
          </a:p>
          <a:p>
            <a:pPr marL="514350" lvl="1" indent="-171450">
              <a:buFont typeface="Arial" panose="020B0604020202020204" pitchFamily="34" charset="0"/>
              <a:buChar char="•"/>
            </a:pPr>
            <a:r>
              <a:rPr lang="en-US" sz="1000" strike="sngStrike">
                <a:hlinkClick r:id="rId6"/>
              </a:rPr>
              <a:t>https://www.oecd.org/content/dam/oecd/en/publications/reports/2011/03/pensions-at-a-glance-2011_g1g12126/pension_glance-2011-en.pdf</a:t>
            </a:r>
            <a:endParaRPr lang="en-US" sz="1000" strike="sngStrike"/>
          </a:p>
          <a:p>
            <a:pPr marL="171450" indent="-171450">
              <a:buFont typeface="Arial" panose="020B0604020202020204" pitchFamily="34" charset="0"/>
              <a:buChar char="•"/>
            </a:pPr>
            <a:r>
              <a:rPr lang="en-US" sz="1000" strike="sngStrike"/>
              <a:t>OECD 2009</a:t>
            </a:r>
          </a:p>
          <a:p>
            <a:pPr marL="514350" lvl="1" indent="-171450">
              <a:buFont typeface="Arial" panose="020B0604020202020204" pitchFamily="34" charset="0"/>
              <a:buChar char="•"/>
            </a:pPr>
            <a:r>
              <a:rPr lang="en-US" sz="1000" strike="sngStrike">
                <a:hlinkClick r:id="rId7"/>
              </a:rPr>
              <a:t>https://www.oecd.org/content/dam/oecd/en/publications/reports/2009/09/pensions-at-a-glance-2009_g1ghab79/pension_glance-2009-en.pdf</a:t>
            </a:r>
            <a:endParaRPr lang="en-US" sz="1000" strike="sngStrike"/>
          </a:p>
          <a:p>
            <a:pPr marL="514350" lvl="1" indent="-171450">
              <a:buFont typeface="Arial" panose="020B0604020202020204" pitchFamily="34" charset="0"/>
              <a:buChar char="•"/>
            </a:pPr>
            <a:endParaRPr lang="en-US" sz="1000"/>
          </a:p>
        </p:txBody>
      </p:sp>
      <p:sp>
        <p:nvSpPr>
          <p:cNvPr id="4" name="Rectangle 3">
            <a:extLst>
              <a:ext uri="{FF2B5EF4-FFF2-40B4-BE49-F238E27FC236}">
                <a16:creationId xmlns:a16="http://schemas.microsoft.com/office/drawing/2014/main" id="{C9B7AF2E-33E6-2097-E14A-AE95B62C195C}"/>
              </a:ext>
            </a:extLst>
          </p:cNvPr>
          <p:cNvSpPr/>
          <p:nvPr/>
        </p:nvSpPr>
        <p:spPr>
          <a:xfrm>
            <a:off x="8062298" y="363"/>
            <a:ext cx="1082842" cy="5775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OLD</a:t>
            </a:r>
          </a:p>
        </p:txBody>
      </p:sp>
    </p:spTree>
    <p:extLst>
      <p:ext uri="{BB962C8B-B14F-4D97-AF65-F5344CB8AC3E}">
        <p14:creationId xmlns:p14="http://schemas.microsoft.com/office/powerpoint/2010/main" val="786396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0FA97-43E8-D0E6-6B86-E05207ECCC8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6297291-5381-F8AD-AE00-C9300F7E694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F6297291-5381-F8AD-AE00-C9300F7E69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D9042D6-9398-C706-0F36-2ABFF829C9A1}"/>
              </a:ext>
            </a:extLst>
          </p:cNvPr>
          <p:cNvSpPr>
            <a:spLocks noGrp="1"/>
          </p:cNvSpPr>
          <p:nvPr>
            <p:ph type="title"/>
          </p:nvPr>
        </p:nvSpPr>
        <p:spPr/>
        <p:txBody>
          <a:bodyPr vert="horz" rIns="0"/>
          <a:lstStyle/>
          <a:p>
            <a:r>
              <a:rPr lang="en-US"/>
              <a:t>Separating “where” and “how much”</a:t>
            </a:r>
            <a:endParaRPr lang="de-LI"/>
          </a:p>
        </p:txBody>
      </p:sp>
      <p:sp>
        <p:nvSpPr>
          <p:cNvPr id="3" name="Slide Number Placeholder 2">
            <a:extLst>
              <a:ext uri="{FF2B5EF4-FFF2-40B4-BE49-F238E27FC236}">
                <a16:creationId xmlns:a16="http://schemas.microsoft.com/office/drawing/2014/main" id="{CDDBF973-AC88-473C-9F10-AA539EAB0B8C}"/>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14</a:t>
            </a:fld>
            <a:endParaRPr lang="en-GB"/>
          </a:p>
        </p:txBody>
      </p:sp>
      <p:sp>
        <p:nvSpPr>
          <p:cNvPr id="5" name="Rectangle 4">
            <a:extLst>
              <a:ext uri="{FF2B5EF4-FFF2-40B4-BE49-F238E27FC236}">
                <a16:creationId xmlns:a16="http://schemas.microsoft.com/office/drawing/2014/main" id="{E66935E1-D07A-FE6D-7927-554743B2B105}"/>
              </a:ext>
            </a:extLst>
          </p:cNvPr>
          <p:cNvSpPr/>
          <p:nvPr/>
        </p:nvSpPr>
        <p:spPr>
          <a:xfrm>
            <a:off x="2215437" y="837739"/>
            <a:ext cx="5904770" cy="24622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Pension </a:t>
            </a:r>
            <a:r>
              <a:rPr lang="de-LI" sz="1100" err="1"/>
              <a:t>system</a:t>
            </a:r>
            <a:endParaRPr lang="en-GB" sz="1100"/>
          </a:p>
        </p:txBody>
      </p:sp>
      <p:sp>
        <p:nvSpPr>
          <p:cNvPr id="74" name="TextBox 73">
            <a:extLst>
              <a:ext uri="{FF2B5EF4-FFF2-40B4-BE49-F238E27FC236}">
                <a16:creationId xmlns:a16="http://schemas.microsoft.com/office/drawing/2014/main" id="{2FB761E4-775B-B8B3-470D-12FD14DCBCDB}"/>
              </a:ext>
            </a:extLst>
          </p:cNvPr>
          <p:cNvSpPr txBox="1"/>
          <p:nvPr/>
        </p:nvSpPr>
        <p:spPr>
          <a:xfrm>
            <a:off x="2089580" y="3499535"/>
            <a:ext cx="2731802" cy="1015663"/>
          </a:xfrm>
          <a:prstGeom prst="rect">
            <a:avLst/>
          </a:prstGeom>
          <a:noFill/>
        </p:spPr>
        <p:txBody>
          <a:bodyPr wrap="square" rtlCol="0">
            <a:spAutoFit/>
          </a:bodyPr>
          <a:lstStyle/>
          <a:p>
            <a:pPr marL="171450" indent="-171450">
              <a:buFont typeface="Arial" panose="020B0604020202020204" pitchFamily="34" charset="0"/>
              <a:buChar char="•"/>
            </a:pPr>
            <a:r>
              <a:rPr lang="en-US" sz="1000"/>
              <a:t>Proxies the observable stock of funded retirement wealth in the economy</a:t>
            </a:r>
          </a:p>
          <a:p>
            <a:pPr marL="171450" indent="-171450">
              <a:buFont typeface="Arial" panose="020B0604020202020204" pitchFamily="34" charset="0"/>
              <a:buChar char="•"/>
            </a:pPr>
            <a:r>
              <a:rPr lang="en-US" sz="1000"/>
              <a:t>Reflects the outcome of asset allocation, not just retirement saving incentives</a:t>
            </a:r>
          </a:p>
          <a:p>
            <a:pPr marL="171450" indent="-171450">
              <a:buFont typeface="Arial" panose="020B0604020202020204" pitchFamily="34" charset="0"/>
              <a:buChar char="•"/>
            </a:pPr>
            <a:r>
              <a:rPr lang="en-US" sz="1000"/>
              <a:t>Multicollinearity threat (can move with broader financial development)</a:t>
            </a:r>
          </a:p>
        </p:txBody>
      </p:sp>
      <p:sp>
        <p:nvSpPr>
          <p:cNvPr id="76" name="TextBox 75">
            <a:extLst>
              <a:ext uri="{FF2B5EF4-FFF2-40B4-BE49-F238E27FC236}">
                <a16:creationId xmlns:a16="http://schemas.microsoft.com/office/drawing/2014/main" id="{53FEC240-5835-F262-0E25-2E73969C5DCE}"/>
              </a:ext>
            </a:extLst>
          </p:cNvPr>
          <p:cNvSpPr txBox="1"/>
          <p:nvPr/>
        </p:nvSpPr>
        <p:spPr>
          <a:xfrm>
            <a:off x="705139" y="3499535"/>
            <a:ext cx="1116734" cy="246221"/>
          </a:xfrm>
          <a:prstGeom prst="rect">
            <a:avLst/>
          </a:prstGeom>
          <a:noFill/>
        </p:spPr>
        <p:txBody>
          <a:bodyPr wrap="square" rtlCol="0">
            <a:spAutoFit/>
          </a:bodyPr>
          <a:lstStyle/>
          <a:p>
            <a:r>
              <a:rPr lang="de-LI" sz="1000" b="1">
                <a:solidFill>
                  <a:schemeClr val="accent1"/>
                </a:solidFill>
              </a:rPr>
              <a:t>Limitations</a:t>
            </a:r>
            <a:endParaRPr lang="en-GB" sz="1000">
              <a:solidFill>
                <a:schemeClr val="accent1"/>
              </a:solidFill>
            </a:endParaRPr>
          </a:p>
        </p:txBody>
      </p:sp>
      <p:sp>
        <p:nvSpPr>
          <p:cNvPr id="6" name="Rectangle 5">
            <a:extLst>
              <a:ext uri="{FF2B5EF4-FFF2-40B4-BE49-F238E27FC236}">
                <a16:creationId xmlns:a16="http://schemas.microsoft.com/office/drawing/2014/main" id="{90D29BF8-8C46-3AC8-9002-A8596C74870A}"/>
              </a:ext>
            </a:extLst>
          </p:cNvPr>
          <p:cNvSpPr/>
          <p:nvPr/>
        </p:nvSpPr>
        <p:spPr>
          <a:xfrm>
            <a:off x="2215437" y="3184332"/>
            <a:ext cx="2731802" cy="246222"/>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Pension Assets / GDP</a:t>
            </a:r>
          </a:p>
        </p:txBody>
      </p:sp>
      <p:sp>
        <p:nvSpPr>
          <p:cNvPr id="7" name="Rectangle 6">
            <a:extLst>
              <a:ext uri="{FF2B5EF4-FFF2-40B4-BE49-F238E27FC236}">
                <a16:creationId xmlns:a16="http://schemas.microsoft.com/office/drawing/2014/main" id="{FB2557F0-08B0-12DD-5342-41E021A0E623}"/>
              </a:ext>
            </a:extLst>
          </p:cNvPr>
          <p:cNvSpPr/>
          <p:nvPr/>
        </p:nvSpPr>
        <p:spPr>
          <a:xfrm>
            <a:off x="5388405" y="3184332"/>
            <a:ext cx="2731802" cy="246222"/>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err="1"/>
              <a:t>Replacement</a:t>
            </a:r>
            <a:r>
              <a:rPr lang="de-LI" sz="1100"/>
              <a:t> Ratio</a:t>
            </a:r>
            <a:endParaRPr lang="en-GB" sz="1100"/>
          </a:p>
        </p:txBody>
      </p:sp>
      <p:grpSp>
        <p:nvGrpSpPr>
          <p:cNvPr id="19" name="Group 18">
            <a:extLst>
              <a:ext uri="{FF2B5EF4-FFF2-40B4-BE49-F238E27FC236}">
                <a16:creationId xmlns:a16="http://schemas.microsoft.com/office/drawing/2014/main" id="{34C1EAE1-8F7C-0771-889E-E6EF861AA814}"/>
              </a:ext>
            </a:extLst>
          </p:cNvPr>
          <p:cNvGrpSpPr/>
          <p:nvPr/>
        </p:nvGrpSpPr>
        <p:grpSpPr>
          <a:xfrm>
            <a:off x="705139" y="1281357"/>
            <a:ext cx="7426371" cy="1503959"/>
            <a:chOff x="705139" y="2131749"/>
            <a:chExt cx="7426371" cy="1503959"/>
          </a:xfrm>
        </p:grpSpPr>
        <p:sp>
          <p:nvSpPr>
            <p:cNvPr id="13" name="TextBox 12">
              <a:extLst>
                <a:ext uri="{FF2B5EF4-FFF2-40B4-BE49-F238E27FC236}">
                  <a16:creationId xmlns:a16="http://schemas.microsoft.com/office/drawing/2014/main" id="{813B5EDC-D37C-4037-7083-09D01317C9E3}"/>
                </a:ext>
              </a:extLst>
            </p:cNvPr>
            <p:cNvSpPr txBox="1"/>
            <p:nvPr/>
          </p:nvSpPr>
          <p:spPr>
            <a:xfrm>
              <a:off x="2089580" y="2504148"/>
              <a:ext cx="2731802" cy="246221"/>
            </a:xfrm>
            <a:prstGeom prst="rect">
              <a:avLst/>
            </a:prstGeom>
            <a:noFill/>
          </p:spPr>
          <p:txBody>
            <a:bodyPr wrap="square" rtlCol="0">
              <a:spAutoFit/>
            </a:bodyPr>
            <a:lstStyle/>
            <a:p>
              <a:pPr algn="ctr"/>
              <a:r>
                <a:rPr lang="en-US" sz="1000">
                  <a:solidFill>
                    <a:schemeClr val="accent1"/>
                  </a:solidFill>
                </a:rPr>
                <a:t>→</a:t>
              </a:r>
              <a:r>
                <a:rPr lang="en-US" sz="1000"/>
                <a:t> </a:t>
              </a:r>
              <a:r>
                <a:rPr lang="en-US" sz="1000" i="1">
                  <a:solidFill>
                    <a:schemeClr val="accent1"/>
                  </a:solidFill>
                </a:rPr>
                <a:t>Affects and determines wealth accumulation</a:t>
              </a:r>
              <a:endParaRPr lang="en-CH" sz="1000" i="1">
                <a:solidFill>
                  <a:schemeClr val="accent1"/>
                </a:solidFill>
              </a:endParaRPr>
            </a:p>
          </p:txBody>
        </p:sp>
        <p:sp>
          <p:nvSpPr>
            <p:cNvPr id="18" name="TextBox 17">
              <a:extLst>
                <a:ext uri="{FF2B5EF4-FFF2-40B4-BE49-F238E27FC236}">
                  <a16:creationId xmlns:a16="http://schemas.microsoft.com/office/drawing/2014/main" id="{B75E4123-F65F-4023-46D9-8ABDEDF1C9BB}"/>
                </a:ext>
              </a:extLst>
            </p:cNvPr>
            <p:cNvSpPr txBox="1"/>
            <p:nvPr/>
          </p:nvSpPr>
          <p:spPr>
            <a:xfrm>
              <a:off x="2089580" y="2131749"/>
              <a:ext cx="2731802" cy="400110"/>
            </a:xfrm>
            <a:prstGeom prst="rect">
              <a:avLst/>
            </a:prstGeom>
            <a:noFill/>
          </p:spPr>
          <p:txBody>
            <a:bodyPr wrap="square" rtlCol="0">
              <a:spAutoFit/>
            </a:bodyPr>
            <a:lstStyle/>
            <a:p>
              <a:pPr marL="171450" indent="-171450">
                <a:buFont typeface="Arial" panose="020B0604020202020204" pitchFamily="34" charset="0"/>
                <a:buChar char="•"/>
              </a:pPr>
              <a:r>
                <a:rPr lang="en-US" sz="1000"/>
                <a:t>How much wealth needs to be accumulated for retirement?</a:t>
              </a:r>
              <a:endParaRPr lang="en-CH" sz="1000"/>
            </a:p>
          </p:txBody>
        </p:sp>
        <p:sp>
          <p:nvSpPr>
            <p:cNvPr id="22" name="TextBox 21">
              <a:extLst>
                <a:ext uri="{FF2B5EF4-FFF2-40B4-BE49-F238E27FC236}">
                  <a16:creationId xmlns:a16="http://schemas.microsoft.com/office/drawing/2014/main" id="{F6E479E5-EDA7-408A-9842-F695218A04DA}"/>
                </a:ext>
              </a:extLst>
            </p:cNvPr>
            <p:cNvSpPr txBox="1"/>
            <p:nvPr/>
          </p:nvSpPr>
          <p:spPr>
            <a:xfrm>
              <a:off x="705139" y="2131749"/>
              <a:ext cx="1116734" cy="246221"/>
            </a:xfrm>
            <a:prstGeom prst="rect">
              <a:avLst/>
            </a:prstGeom>
            <a:noFill/>
          </p:spPr>
          <p:txBody>
            <a:bodyPr wrap="square" rtlCol="0">
              <a:spAutoFit/>
            </a:bodyPr>
            <a:lstStyle/>
            <a:p>
              <a:r>
                <a:rPr lang="de-LI" sz="1000" b="1">
                  <a:solidFill>
                    <a:schemeClr val="accent1"/>
                  </a:solidFill>
                </a:rPr>
                <a:t>Key question</a:t>
              </a:r>
              <a:endParaRPr lang="en-GB" sz="1000">
                <a:solidFill>
                  <a:schemeClr val="accent1"/>
                </a:solidFill>
              </a:endParaRPr>
            </a:p>
          </p:txBody>
        </p:sp>
        <p:sp>
          <p:nvSpPr>
            <p:cNvPr id="23" name="TextBox 22">
              <a:extLst>
                <a:ext uri="{FF2B5EF4-FFF2-40B4-BE49-F238E27FC236}">
                  <a16:creationId xmlns:a16="http://schemas.microsoft.com/office/drawing/2014/main" id="{317DE886-3F67-1122-43BE-B034E5094012}"/>
                </a:ext>
              </a:extLst>
            </p:cNvPr>
            <p:cNvSpPr txBox="1"/>
            <p:nvPr/>
          </p:nvSpPr>
          <p:spPr>
            <a:xfrm>
              <a:off x="2089580" y="2871112"/>
              <a:ext cx="2731802" cy="246221"/>
            </a:xfrm>
            <a:prstGeom prst="rect">
              <a:avLst/>
            </a:prstGeom>
            <a:noFill/>
          </p:spPr>
          <p:txBody>
            <a:bodyPr wrap="square" rtlCol="0">
              <a:spAutoFit/>
            </a:bodyPr>
            <a:lstStyle/>
            <a:p>
              <a:pPr marL="171450" indent="-171450">
                <a:buFont typeface="Arial" panose="020B0604020202020204" pitchFamily="34" charset="0"/>
                <a:buChar char="•"/>
              </a:pPr>
              <a:r>
                <a:rPr lang="en-US" sz="1000"/>
                <a:t>Determines retirement saving needs</a:t>
              </a:r>
              <a:endParaRPr lang="en-CH" sz="1000"/>
            </a:p>
          </p:txBody>
        </p:sp>
        <p:sp>
          <p:nvSpPr>
            <p:cNvPr id="39" name="TextBox 38">
              <a:extLst>
                <a:ext uri="{FF2B5EF4-FFF2-40B4-BE49-F238E27FC236}">
                  <a16:creationId xmlns:a16="http://schemas.microsoft.com/office/drawing/2014/main" id="{3E9CE8A4-7BE1-82FF-F536-16C871342393}"/>
                </a:ext>
              </a:extLst>
            </p:cNvPr>
            <p:cNvSpPr txBox="1"/>
            <p:nvPr/>
          </p:nvSpPr>
          <p:spPr>
            <a:xfrm>
              <a:off x="705139" y="2871112"/>
              <a:ext cx="1116734" cy="246221"/>
            </a:xfrm>
            <a:prstGeom prst="rect">
              <a:avLst/>
            </a:prstGeom>
            <a:noFill/>
          </p:spPr>
          <p:txBody>
            <a:bodyPr wrap="square" rtlCol="0">
              <a:spAutoFit/>
            </a:bodyPr>
            <a:lstStyle/>
            <a:p>
              <a:r>
                <a:rPr lang="de-LI" sz="1000" b="1">
                  <a:solidFill>
                    <a:schemeClr val="accent1"/>
                  </a:solidFill>
                </a:rPr>
                <a:t>Mechanism</a:t>
              </a:r>
              <a:endParaRPr lang="en-GB" sz="1000">
                <a:solidFill>
                  <a:schemeClr val="accent1"/>
                </a:solidFill>
              </a:endParaRPr>
            </a:p>
          </p:txBody>
        </p:sp>
        <p:sp>
          <p:nvSpPr>
            <p:cNvPr id="71" name="TextBox 70">
              <a:extLst>
                <a:ext uri="{FF2B5EF4-FFF2-40B4-BE49-F238E27FC236}">
                  <a16:creationId xmlns:a16="http://schemas.microsoft.com/office/drawing/2014/main" id="{C0CE3368-498B-61B2-E592-29215A9C5280}"/>
                </a:ext>
              </a:extLst>
            </p:cNvPr>
            <p:cNvSpPr txBox="1"/>
            <p:nvPr/>
          </p:nvSpPr>
          <p:spPr>
            <a:xfrm>
              <a:off x="2089580" y="3235598"/>
              <a:ext cx="2731802" cy="246221"/>
            </a:xfrm>
            <a:prstGeom prst="rect">
              <a:avLst/>
            </a:prstGeom>
            <a:noFill/>
          </p:spPr>
          <p:txBody>
            <a:bodyPr wrap="square" rtlCol="0">
              <a:spAutoFit/>
            </a:bodyPr>
            <a:lstStyle/>
            <a:p>
              <a:pPr algn="ctr"/>
              <a:r>
                <a:rPr lang="en-US" sz="1000">
                  <a:solidFill>
                    <a:srgbClr val="C00000"/>
                  </a:solidFill>
                </a:rPr>
                <a:t>Indirect</a:t>
              </a:r>
              <a:endParaRPr lang="en-CH" sz="1000">
                <a:solidFill>
                  <a:srgbClr val="C00000"/>
                </a:solidFill>
              </a:endParaRPr>
            </a:p>
          </p:txBody>
        </p:sp>
        <p:sp>
          <p:nvSpPr>
            <p:cNvPr id="73" name="TextBox 72">
              <a:extLst>
                <a:ext uri="{FF2B5EF4-FFF2-40B4-BE49-F238E27FC236}">
                  <a16:creationId xmlns:a16="http://schemas.microsoft.com/office/drawing/2014/main" id="{025F380D-A8C2-3CA6-D52A-B38778C7B388}"/>
                </a:ext>
              </a:extLst>
            </p:cNvPr>
            <p:cNvSpPr txBox="1"/>
            <p:nvPr/>
          </p:nvSpPr>
          <p:spPr>
            <a:xfrm>
              <a:off x="705139" y="3235598"/>
              <a:ext cx="1116734" cy="400110"/>
            </a:xfrm>
            <a:prstGeom prst="rect">
              <a:avLst/>
            </a:prstGeom>
            <a:noFill/>
          </p:spPr>
          <p:txBody>
            <a:bodyPr wrap="square" rtlCol="0">
              <a:spAutoFit/>
            </a:bodyPr>
            <a:lstStyle/>
            <a:p>
              <a:r>
                <a:rPr lang="de-LI" sz="1000" b="1">
                  <a:solidFill>
                    <a:schemeClr val="accent1"/>
                  </a:solidFill>
                </a:rPr>
                <a:t>Link to bank deposits</a:t>
              </a:r>
              <a:endParaRPr lang="en-GB" sz="1000">
                <a:solidFill>
                  <a:schemeClr val="accent1"/>
                </a:solidFill>
              </a:endParaRPr>
            </a:p>
          </p:txBody>
        </p:sp>
        <p:sp>
          <p:nvSpPr>
            <p:cNvPr id="10" name="TextBox 9">
              <a:extLst>
                <a:ext uri="{FF2B5EF4-FFF2-40B4-BE49-F238E27FC236}">
                  <a16:creationId xmlns:a16="http://schemas.microsoft.com/office/drawing/2014/main" id="{9ED76238-0E57-5B23-50A4-CF174C1A3090}"/>
                </a:ext>
              </a:extLst>
            </p:cNvPr>
            <p:cNvSpPr txBox="1"/>
            <p:nvPr/>
          </p:nvSpPr>
          <p:spPr>
            <a:xfrm>
              <a:off x="5399708" y="2504148"/>
              <a:ext cx="2731802" cy="246221"/>
            </a:xfrm>
            <a:prstGeom prst="rect">
              <a:avLst/>
            </a:prstGeom>
            <a:noFill/>
          </p:spPr>
          <p:txBody>
            <a:bodyPr wrap="square" rtlCol="0">
              <a:spAutoFit/>
            </a:bodyPr>
            <a:lstStyle/>
            <a:p>
              <a:pPr algn="ctr"/>
              <a:r>
                <a:rPr lang="en-US" sz="1000">
                  <a:solidFill>
                    <a:schemeClr val="accent1"/>
                  </a:solidFill>
                </a:rPr>
                <a:t>→</a:t>
              </a:r>
              <a:r>
                <a:rPr lang="en-US" sz="1000"/>
                <a:t> </a:t>
              </a:r>
              <a:r>
                <a:rPr lang="en-US" sz="1000" i="1">
                  <a:solidFill>
                    <a:schemeClr val="accent1"/>
                  </a:solidFill>
                </a:rPr>
                <a:t>Affects and determines wealth accumulation</a:t>
              </a:r>
              <a:endParaRPr lang="en-CH" sz="1000" i="1">
                <a:solidFill>
                  <a:schemeClr val="accent1"/>
                </a:solidFill>
              </a:endParaRPr>
            </a:p>
          </p:txBody>
        </p:sp>
        <p:sp>
          <p:nvSpPr>
            <p:cNvPr id="11" name="TextBox 10">
              <a:extLst>
                <a:ext uri="{FF2B5EF4-FFF2-40B4-BE49-F238E27FC236}">
                  <a16:creationId xmlns:a16="http://schemas.microsoft.com/office/drawing/2014/main" id="{E9C71D20-4949-C68F-D9A4-0B0384E15DD1}"/>
                </a:ext>
              </a:extLst>
            </p:cNvPr>
            <p:cNvSpPr txBox="1"/>
            <p:nvPr/>
          </p:nvSpPr>
          <p:spPr>
            <a:xfrm>
              <a:off x="5399708" y="2131749"/>
              <a:ext cx="2731802" cy="400110"/>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000"/>
                <a:t>How much wealth needs to be accumulated for retirement given public “generosity”?</a:t>
              </a:r>
              <a:endParaRPr lang="en-CH" sz="1000"/>
            </a:p>
          </p:txBody>
        </p:sp>
        <p:sp>
          <p:nvSpPr>
            <p:cNvPr id="14" name="TextBox 13">
              <a:extLst>
                <a:ext uri="{FF2B5EF4-FFF2-40B4-BE49-F238E27FC236}">
                  <a16:creationId xmlns:a16="http://schemas.microsoft.com/office/drawing/2014/main" id="{5CBABD65-2247-98DB-27EF-93B45D1652C3}"/>
                </a:ext>
              </a:extLst>
            </p:cNvPr>
            <p:cNvSpPr txBox="1"/>
            <p:nvPr/>
          </p:nvSpPr>
          <p:spPr>
            <a:xfrm>
              <a:off x="5399708" y="2871112"/>
              <a:ext cx="2731802" cy="246221"/>
            </a:xfrm>
            <a:prstGeom prst="rect">
              <a:avLst/>
            </a:prstGeom>
            <a:noFill/>
          </p:spPr>
          <p:txBody>
            <a:bodyPr wrap="square" rtlCol="0">
              <a:spAutoFit/>
            </a:bodyPr>
            <a:lstStyle/>
            <a:p>
              <a:pPr marL="171450" indent="-171450">
                <a:buFont typeface="Arial" panose="020B0604020202020204" pitchFamily="34" charset="0"/>
                <a:buChar char="•"/>
              </a:pPr>
              <a:r>
                <a:rPr lang="en-US" sz="1000"/>
                <a:t>Determines retirement saving needs</a:t>
              </a:r>
              <a:endParaRPr lang="en-CH" sz="1000"/>
            </a:p>
          </p:txBody>
        </p:sp>
        <p:sp>
          <p:nvSpPr>
            <p:cNvPr id="16" name="TextBox 15">
              <a:extLst>
                <a:ext uri="{FF2B5EF4-FFF2-40B4-BE49-F238E27FC236}">
                  <a16:creationId xmlns:a16="http://schemas.microsoft.com/office/drawing/2014/main" id="{9127603D-FAB5-4B1B-C008-49EBE8A0E555}"/>
                </a:ext>
              </a:extLst>
            </p:cNvPr>
            <p:cNvSpPr txBox="1"/>
            <p:nvPr/>
          </p:nvSpPr>
          <p:spPr>
            <a:xfrm>
              <a:off x="5399708" y="3235598"/>
              <a:ext cx="2731802" cy="246221"/>
            </a:xfrm>
            <a:prstGeom prst="rect">
              <a:avLst/>
            </a:prstGeom>
            <a:noFill/>
          </p:spPr>
          <p:txBody>
            <a:bodyPr wrap="square" rtlCol="0">
              <a:spAutoFit/>
            </a:bodyPr>
            <a:lstStyle/>
            <a:p>
              <a:pPr algn="ctr"/>
              <a:r>
                <a:rPr lang="en-US" sz="1000">
                  <a:solidFill>
                    <a:srgbClr val="C00000"/>
                  </a:solidFill>
                </a:rPr>
                <a:t>Indirect</a:t>
              </a:r>
              <a:endParaRPr lang="en-CH" sz="1000">
                <a:solidFill>
                  <a:srgbClr val="C00000"/>
                </a:solidFill>
              </a:endParaRPr>
            </a:p>
          </p:txBody>
        </p:sp>
      </p:grpSp>
      <p:sp>
        <p:nvSpPr>
          <p:cNvPr id="17" name="TextBox 16">
            <a:extLst>
              <a:ext uri="{FF2B5EF4-FFF2-40B4-BE49-F238E27FC236}">
                <a16:creationId xmlns:a16="http://schemas.microsoft.com/office/drawing/2014/main" id="{CF29ABF1-B3B2-2ECF-ABF7-740864517C7D}"/>
              </a:ext>
            </a:extLst>
          </p:cNvPr>
          <p:cNvSpPr txBox="1"/>
          <p:nvPr/>
        </p:nvSpPr>
        <p:spPr>
          <a:xfrm>
            <a:off x="5399708" y="3499535"/>
            <a:ext cx="2731802" cy="1169551"/>
          </a:xfrm>
          <a:prstGeom prst="rect">
            <a:avLst/>
          </a:prstGeom>
          <a:noFill/>
        </p:spPr>
        <p:txBody>
          <a:bodyPr wrap="square" rtlCol="0">
            <a:spAutoFit/>
          </a:bodyPr>
          <a:lstStyle/>
          <a:p>
            <a:pPr marL="171450" indent="-171450">
              <a:buFont typeface="Arial" panose="020B0604020202020204" pitchFamily="34" charset="0"/>
              <a:buChar char="•"/>
            </a:pPr>
            <a:r>
              <a:rPr lang="en-US" sz="1000"/>
              <a:t>Proxies how much households need to save privately for retirement.</a:t>
            </a:r>
          </a:p>
          <a:p>
            <a:pPr marL="171450" indent="-171450">
              <a:buFont typeface="Arial" panose="020B0604020202020204" pitchFamily="34" charset="0"/>
              <a:buChar char="•"/>
            </a:pPr>
            <a:r>
              <a:rPr lang="en-US" sz="1000"/>
              <a:t>Is closer to the underlying saving incentive</a:t>
            </a:r>
          </a:p>
          <a:p>
            <a:pPr marL="171450" indent="-171450">
              <a:buFont typeface="Arial" panose="020B0604020202020204" pitchFamily="34" charset="0"/>
              <a:buChar char="•"/>
            </a:pPr>
            <a:r>
              <a:rPr lang="en-US" sz="1000"/>
              <a:t>Helps separate how much households need to save from where those savings are held</a:t>
            </a:r>
          </a:p>
          <a:p>
            <a:pPr marL="171450" indent="-171450">
              <a:buFont typeface="Arial" panose="020B0604020202020204" pitchFamily="34" charset="0"/>
              <a:buChar char="•"/>
            </a:pPr>
            <a:r>
              <a:rPr lang="en-US" sz="1000"/>
              <a:t>Depending on focus might be harder to get (clean data for EU 2014-2025)</a:t>
            </a:r>
          </a:p>
        </p:txBody>
      </p:sp>
      <p:cxnSp>
        <p:nvCxnSpPr>
          <p:cNvPr id="25" name="Straight Connector 24">
            <a:extLst>
              <a:ext uri="{FF2B5EF4-FFF2-40B4-BE49-F238E27FC236}">
                <a16:creationId xmlns:a16="http://schemas.microsoft.com/office/drawing/2014/main" id="{8F0D0CF0-F4A5-AA33-45E2-4D4FC5DCF33B}"/>
              </a:ext>
            </a:extLst>
          </p:cNvPr>
          <p:cNvCxnSpPr/>
          <p:nvPr/>
        </p:nvCxnSpPr>
        <p:spPr>
          <a:xfrm>
            <a:off x="2215437" y="2980944"/>
            <a:ext cx="577641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8" name="Down Arrow 27">
            <a:extLst>
              <a:ext uri="{FF2B5EF4-FFF2-40B4-BE49-F238E27FC236}">
                <a16:creationId xmlns:a16="http://schemas.microsoft.com/office/drawing/2014/main" id="{2EE27215-7C8F-D35D-FE4B-0EA3E0E4EF85}"/>
              </a:ext>
            </a:extLst>
          </p:cNvPr>
          <p:cNvSpPr/>
          <p:nvPr/>
        </p:nvSpPr>
        <p:spPr>
          <a:xfrm>
            <a:off x="3990108" y="2780048"/>
            <a:ext cx="2305491" cy="317984"/>
          </a:xfrm>
          <a:prstGeom prst="down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7" name="TextBox 26">
            <a:extLst>
              <a:ext uri="{FF2B5EF4-FFF2-40B4-BE49-F238E27FC236}">
                <a16:creationId xmlns:a16="http://schemas.microsoft.com/office/drawing/2014/main" id="{E0F41BC7-07B5-FE05-3042-6A13DD562F2D}"/>
              </a:ext>
            </a:extLst>
          </p:cNvPr>
          <p:cNvSpPr txBox="1"/>
          <p:nvPr/>
        </p:nvSpPr>
        <p:spPr>
          <a:xfrm>
            <a:off x="4793819" y="2844670"/>
            <a:ext cx="698068" cy="153888"/>
          </a:xfrm>
          <a:prstGeom prst="rect">
            <a:avLst/>
          </a:prstGeom>
          <a:solidFill>
            <a:schemeClr val="bg1"/>
          </a:solidFill>
        </p:spPr>
        <p:txBody>
          <a:bodyPr wrap="square" lIns="0" tIns="0" rIns="0" bIns="0" rtlCol="0">
            <a:spAutoFit/>
          </a:bodyPr>
          <a:lstStyle/>
          <a:p>
            <a:pPr algn="ctr"/>
            <a:r>
              <a:rPr lang="en-US" sz="1000"/>
              <a:t>Measures</a:t>
            </a:r>
          </a:p>
        </p:txBody>
      </p:sp>
      <p:sp>
        <p:nvSpPr>
          <p:cNvPr id="29" name="Rectangle 28">
            <a:extLst>
              <a:ext uri="{FF2B5EF4-FFF2-40B4-BE49-F238E27FC236}">
                <a16:creationId xmlns:a16="http://schemas.microsoft.com/office/drawing/2014/main" id="{C2CCB592-2C81-FF46-3072-AD2E36714683}"/>
              </a:ext>
            </a:extLst>
          </p:cNvPr>
          <p:cNvSpPr/>
          <p:nvPr/>
        </p:nvSpPr>
        <p:spPr>
          <a:xfrm>
            <a:off x="8131510" y="0"/>
            <a:ext cx="1012490" cy="37623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Discussion</a:t>
            </a:r>
          </a:p>
        </p:txBody>
      </p:sp>
    </p:spTree>
    <p:extLst>
      <p:ext uri="{BB962C8B-B14F-4D97-AF65-F5344CB8AC3E}">
        <p14:creationId xmlns:p14="http://schemas.microsoft.com/office/powerpoint/2010/main" val="2701324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AF26C-A33F-C6DE-77CB-6E089C6A8917}"/>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E19EF81-DFA9-A9D9-826A-DF7446E49A5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4" name="think-cell data - do not delete" hidden="1">
                        <a:extLst>
                          <a:ext uri="{FF2B5EF4-FFF2-40B4-BE49-F238E27FC236}">
                            <a16:creationId xmlns:a16="http://schemas.microsoft.com/office/drawing/2014/main" id="{5E19EF81-DFA9-A9D9-826A-DF7446E49A5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100DB42-26ED-F9BD-F103-06DEE30A360E}"/>
              </a:ext>
            </a:extLst>
          </p:cNvPr>
          <p:cNvSpPr>
            <a:spLocks noGrp="1"/>
          </p:cNvSpPr>
          <p:nvPr>
            <p:ph type="title"/>
          </p:nvPr>
        </p:nvSpPr>
        <p:spPr/>
        <p:txBody>
          <a:bodyPr vert="horz" rIns="0"/>
          <a:lstStyle/>
          <a:p>
            <a:r>
              <a:rPr lang="de-LI" err="1"/>
              <a:t>Revised</a:t>
            </a:r>
            <a:r>
              <a:rPr lang="de-LI"/>
              <a:t>: </a:t>
            </a:r>
            <a:r>
              <a:rPr lang="de-LI" err="1"/>
              <a:t>components</a:t>
            </a:r>
            <a:r>
              <a:rPr lang="de-LI"/>
              <a:t> </a:t>
            </a:r>
            <a:r>
              <a:rPr lang="de-LI" err="1"/>
              <a:t>of</a:t>
            </a:r>
            <a:r>
              <a:rPr lang="de-LI"/>
              <a:t> </a:t>
            </a:r>
            <a:r>
              <a:rPr lang="de-LI" err="1"/>
              <a:t>the</a:t>
            </a:r>
            <a:r>
              <a:rPr lang="de-LI"/>
              <a:t> </a:t>
            </a:r>
            <a:r>
              <a:rPr lang="de-LI" err="1"/>
              <a:t>refined</a:t>
            </a:r>
            <a:r>
              <a:rPr lang="de-LI"/>
              <a:t> </a:t>
            </a:r>
            <a:r>
              <a:rPr lang="de-LI" err="1"/>
              <a:t>regression</a:t>
            </a:r>
            <a:r>
              <a:rPr lang="de-LI"/>
              <a:t> </a:t>
            </a:r>
            <a:r>
              <a:rPr lang="de-LI" err="1"/>
              <a:t>model</a:t>
            </a:r>
            <a:endParaRPr lang="de-LI"/>
          </a:p>
        </p:txBody>
      </p:sp>
      <p:sp>
        <p:nvSpPr>
          <p:cNvPr id="3" name="Slide Number Placeholder 2">
            <a:extLst>
              <a:ext uri="{FF2B5EF4-FFF2-40B4-BE49-F238E27FC236}">
                <a16:creationId xmlns:a16="http://schemas.microsoft.com/office/drawing/2014/main" id="{FA4F7EB7-5D78-9607-AC05-32C0866067B8}"/>
              </a:ext>
            </a:extLst>
          </p:cNvPr>
          <p:cNvSpPr>
            <a:spLocks noGrp="1"/>
          </p:cNvSpPr>
          <p:nvPr>
            <p:ph type="sldNum" sz="quarter" idx="12"/>
          </p:nvPr>
        </p:nvSpPr>
        <p:spPr>
          <a:xfrm>
            <a:off x="8571600" y="4767263"/>
            <a:ext cx="216000" cy="273844"/>
          </a:xfrm>
        </p:spPr>
        <p:txBody>
          <a:bodyPr/>
          <a:lstStyle/>
          <a:p>
            <a:fld id="{7559FC98-AF75-4A00-A03C-DF9FEBF6BCB9}" type="slidenum">
              <a:rPr lang="en-GB" smtClean="0"/>
              <a:t>15</a:t>
            </a:fld>
            <a:endParaRPr lang="en-GB"/>
          </a:p>
        </p:txBody>
      </p:sp>
      <p:pic>
        <p:nvPicPr>
          <p:cNvPr id="6" name="Picture 5">
            <a:extLst>
              <a:ext uri="{FF2B5EF4-FFF2-40B4-BE49-F238E27FC236}">
                <a16:creationId xmlns:a16="http://schemas.microsoft.com/office/drawing/2014/main" id="{93CBF024-3885-BC23-2412-9C5191FA87C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38804" y="1848520"/>
            <a:ext cx="4831438" cy="2274760"/>
          </a:xfrm>
          <a:prstGeom prst="rect">
            <a:avLst/>
          </a:prstGeom>
        </p:spPr>
      </p:pic>
      <p:sp>
        <p:nvSpPr>
          <p:cNvPr id="7" name="Rectangle 6">
            <a:extLst>
              <a:ext uri="{FF2B5EF4-FFF2-40B4-BE49-F238E27FC236}">
                <a16:creationId xmlns:a16="http://schemas.microsoft.com/office/drawing/2014/main" id="{B1330F6C-1E82-FE48-3597-2A62B5A4374B}"/>
              </a:ext>
            </a:extLst>
          </p:cNvPr>
          <p:cNvSpPr/>
          <p:nvPr/>
        </p:nvSpPr>
        <p:spPr>
          <a:xfrm>
            <a:off x="2089580" y="1114427"/>
            <a:ext cx="2731802"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Regression</a:t>
            </a:r>
            <a:br>
              <a:rPr lang="de-LI" sz="1100"/>
            </a:br>
            <a:r>
              <a:rPr lang="de-LI" sz="1100"/>
              <a:t>component</a:t>
            </a:r>
            <a:endParaRPr lang="en-GB" sz="1100"/>
          </a:p>
        </p:txBody>
      </p:sp>
      <p:sp>
        <p:nvSpPr>
          <p:cNvPr id="8" name="Rectangle 7">
            <a:extLst>
              <a:ext uri="{FF2B5EF4-FFF2-40B4-BE49-F238E27FC236}">
                <a16:creationId xmlns:a16="http://schemas.microsoft.com/office/drawing/2014/main" id="{90459473-210E-08D2-D380-D851CAFB1FB4}"/>
              </a:ext>
            </a:extLst>
          </p:cNvPr>
          <p:cNvSpPr/>
          <p:nvPr/>
        </p:nvSpPr>
        <p:spPr>
          <a:xfrm>
            <a:off x="5645727" y="1114427"/>
            <a:ext cx="2925873" cy="471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LI" sz="1100"/>
              <a:t>Explanation</a:t>
            </a:r>
            <a:endParaRPr lang="en-GB" sz="1100"/>
          </a:p>
        </p:txBody>
      </p:sp>
      <p:grpSp>
        <p:nvGrpSpPr>
          <p:cNvPr id="38" name="Group 37">
            <a:extLst>
              <a:ext uri="{FF2B5EF4-FFF2-40B4-BE49-F238E27FC236}">
                <a16:creationId xmlns:a16="http://schemas.microsoft.com/office/drawing/2014/main" id="{7747A665-F714-FBE5-6E92-0DA51E935C19}"/>
              </a:ext>
            </a:extLst>
          </p:cNvPr>
          <p:cNvGrpSpPr/>
          <p:nvPr/>
        </p:nvGrpSpPr>
        <p:grpSpPr>
          <a:xfrm>
            <a:off x="5118100" y="1824637"/>
            <a:ext cx="230909" cy="2089518"/>
            <a:chOff x="5176289" y="1734582"/>
            <a:chExt cx="230909" cy="2089518"/>
          </a:xfrm>
        </p:grpSpPr>
        <p:grpSp>
          <p:nvGrpSpPr>
            <p:cNvPr id="9" name="Down arrow">
              <a:extLst>
                <a:ext uri="{FF2B5EF4-FFF2-40B4-BE49-F238E27FC236}">
                  <a16:creationId xmlns:a16="http://schemas.microsoft.com/office/drawing/2014/main" id="{3DDEE280-5785-A133-43A2-E869CEAA10B2}"/>
                </a:ext>
              </a:extLst>
            </p:cNvPr>
            <p:cNvGrpSpPr>
              <a:grpSpLocks noChangeAspect="1"/>
            </p:cNvGrpSpPr>
            <p:nvPr/>
          </p:nvGrpSpPr>
          <p:grpSpPr>
            <a:xfrm rot="5400000" flipV="1">
              <a:off x="5176289" y="1734582"/>
              <a:ext cx="230909" cy="230909"/>
              <a:chOff x="1413494" y="4670360"/>
              <a:chExt cx="442162" cy="456033"/>
            </a:xfrm>
          </p:grpSpPr>
          <p:sp>
            <p:nvSpPr>
              <p:cNvPr id="10" name="Ellipse 69">
                <a:extLst>
                  <a:ext uri="{FF2B5EF4-FFF2-40B4-BE49-F238E27FC236}">
                    <a16:creationId xmlns:a16="http://schemas.microsoft.com/office/drawing/2014/main" id="{619FE211-DD81-B9AD-522A-77756B0545E0}"/>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1" name="Flèche vers la droite 45">
                <a:extLst>
                  <a:ext uri="{FF2B5EF4-FFF2-40B4-BE49-F238E27FC236}">
                    <a16:creationId xmlns:a16="http://schemas.microsoft.com/office/drawing/2014/main" id="{DABC72C8-1EC0-CA38-3254-DA97178B3089}"/>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14" name="Down arrow">
              <a:extLst>
                <a:ext uri="{FF2B5EF4-FFF2-40B4-BE49-F238E27FC236}">
                  <a16:creationId xmlns:a16="http://schemas.microsoft.com/office/drawing/2014/main" id="{81E5D20C-85CE-C7A2-250B-23C1FDE3498D}"/>
                </a:ext>
              </a:extLst>
            </p:cNvPr>
            <p:cNvGrpSpPr>
              <a:grpSpLocks noChangeAspect="1"/>
            </p:cNvGrpSpPr>
            <p:nvPr/>
          </p:nvGrpSpPr>
          <p:grpSpPr>
            <a:xfrm rot="5400000" flipV="1">
              <a:off x="5176289" y="2044350"/>
              <a:ext cx="230909" cy="230909"/>
              <a:chOff x="1413494" y="4670360"/>
              <a:chExt cx="442162" cy="456033"/>
            </a:xfrm>
          </p:grpSpPr>
          <p:sp>
            <p:nvSpPr>
              <p:cNvPr id="16" name="Ellipse 69">
                <a:extLst>
                  <a:ext uri="{FF2B5EF4-FFF2-40B4-BE49-F238E27FC236}">
                    <a16:creationId xmlns:a16="http://schemas.microsoft.com/office/drawing/2014/main" id="{6DB59B85-203F-E07F-DB4C-516DF11CEDFE}"/>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17" name="Flèche vers la droite 45">
                <a:extLst>
                  <a:ext uri="{FF2B5EF4-FFF2-40B4-BE49-F238E27FC236}">
                    <a16:creationId xmlns:a16="http://schemas.microsoft.com/office/drawing/2014/main" id="{31E58972-2ACA-CF61-20DA-0431E08EFF9C}"/>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19" name="Down arrow">
              <a:extLst>
                <a:ext uri="{FF2B5EF4-FFF2-40B4-BE49-F238E27FC236}">
                  <a16:creationId xmlns:a16="http://schemas.microsoft.com/office/drawing/2014/main" id="{72C28A31-E3DD-8E0B-9CDD-67C43565999B}"/>
                </a:ext>
              </a:extLst>
            </p:cNvPr>
            <p:cNvGrpSpPr>
              <a:grpSpLocks noChangeAspect="1"/>
            </p:cNvGrpSpPr>
            <p:nvPr/>
          </p:nvGrpSpPr>
          <p:grpSpPr>
            <a:xfrm rot="5400000" flipV="1">
              <a:off x="5176289" y="2354118"/>
              <a:ext cx="230909" cy="230909"/>
              <a:chOff x="1413494" y="4670360"/>
              <a:chExt cx="442162" cy="456033"/>
            </a:xfrm>
          </p:grpSpPr>
          <p:sp>
            <p:nvSpPr>
              <p:cNvPr id="21" name="Ellipse 69">
                <a:extLst>
                  <a:ext uri="{FF2B5EF4-FFF2-40B4-BE49-F238E27FC236}">
                    <a16:creationId xmlns:a16="http://schemas.microsoft.com/office/drawing/2014/main" id="{E0D1608E-A61D-4BEF-A5B8-35A7D272BC7C}"/>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5" name="Flèche vers la droite 45">
                <a:extLst>
                  <a:ext uri="{FF2B5EF4-FFF2-40B4-BE49-F238E27FC236}">
                    <a16:creationId xmlns:a16="http://schemas.microsoft.com/office/drawing/2014/main" id="{E99E5B27-48E3-02B0-FCF8-9FB528B26BDB}"/>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26" name="Down arrow">
              <a:extLst>
                <a:ext uri="{FF2B5EF4-FFF2-40B4-BE49-F238E27FC236}">
                  <a16:creationId xmlns:a16="http://schemas.microsoft.com/office/drawing/2014/main" id="{4BB7DB84-DC01-6C63-0D3F-9296776DF6A6}"/>
                </a:ext>
              </a:extLst>
            </p:cNvPr>
            <p:cNvGrpSpPr>
              <a:grpSpLocks noChangeAspect="1"/>
            </p:cNvGrpSpPr>
            <p:nvPr/>
          </p:nvGrpSpPr>
          <p:grpSpPr>
            <a:xfrm rot="5400000" flipV="1">
              <a:off x="5176289" y="2663886"/>
              <a:ext cx="230909" cy="230909"/>
              <a:chOff x="1413494" y="4670360"/>
              <a:chExt cx="442162" cy="456033"/>
            </a:xfrm>
          </p:grpSpPr>
          <p:sp>
            <p:nvSpPr>
              <p:cNvPr id="27" name="Ellipse 69">
                <a:extLst>
                  <a:ext uri="{FF2B5EF4-FFF2-40B4-BE49-F238E27FC236}">
                    <a16:creationId xmlns:a16="http://schemas.microsoft.com/office/drawing/2014/main" id="{147EE60F-FB88-6A25-960E-88AF42294376}"/>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28" name="Flèche vers la droite 45">
                <a:extLst>
                  <a:ext uri="{FF2B5EF4-FFF2-40B4-BE49-F238E27FC236}">
                    <a16:creationId xmlns:a16="http://schemas.microsoft.com/office/drawing/2014/main" id="{30A70F63-9C43-9942-C10F-5C4A7E9D4419}"/>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29" name="Down arrow">
              <a:extLst>
                <a:ext uri="{FF2B5EF4-FFF2-40B4-BE49-F238E27FC236}">
                  <a16:creationId xmlns:a16="http://schemas.microsoft.com/office/drawing/2014/main" id="{6E6C1E09-1A81-58C8-2647-97AC4FDDF9B8}"/>
                </a:ext>
              </a:extLst>
            </p:cNvPr>
            <p:cNvGrpSpPr>
              <a:grpSpLocks noChangeAspect="1"/>
            </p:cNvGrpSpPr>
            <p:nvPr/>
          </p:nvGrpSpPr>
          <p:grpSpPr>
            <a:xfrm rot="5400000" flipV="1">
              <a:off x="5176289" y="2973654"/>
              <a:ext cx="230909" cy="230909"/>
              <a:chOff x="1413494" y="4670360"/>
              <a:chExt cx="442162" cy="456033"/>
            </a:xfrm>
          </p:grpSpPr>
          <p:sp>
            <p:nvSpPr>
              <p:cNvPr id="30" name="Ellipse 69">
                <a:extLst>
                  <a:ext uri="{FF2B5EF4-FFF2-40B4-BE49-F238E27FC236}">
                    <a16:creationId xmlns:a16="http://schemas.microsoft.com/office/drawing/2014/main" id="{84723FF5-D464-497F-4F8D-4B910E02A7D6}"/>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1" name="Flèche vers la droite 45">
                <a:extLst>
                  <a:ext uri="{FF2B5EF4-FFF2-40B4-BE49-F238E27FC236}">
                    <a16:creationId xmlns:a16="http://schemas.microsoft.com/office/drawing/2014/main" id="{1471886D-E16B-8C16-FEAC-305CC9C0421E}"/>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32" name="Down arrow">
              <a:extLst>
                <a:ext uri="{FF2B5EF4-FFF2-40B4-BE49-F238E27FC236}">
                  <a16:creationId xmlns:a16="http://schemas.microsoft.com/office/drawing/2014/main" id="{9647DA70-2ED1-5D3A-A2FC-0F042A787157}"/>
                </a:ext>
              </a:extLst>
            </p:cNvPr>
            <p:cNvGrpSpPr>
              <a:grpSpLocks noChangeAspect="1"/>
            </p:cNvGrpSpPr>
            <p:nvPr/>
          </p:nvGrpSpPr>
          <p:grpSpPr>
            <a:xfrm rot="5400000" flipV="1">
              <a:off x="5176289" y="3283422"/>
              <a:ext cx="230909" cy="230909"/>
              <a:chOff x="1413494" y="4670360"/>
              <a:chExt cx="442162" cy="456033"/>
            </a:xfrm>
          </p:grpSpPr>
          <p:sp>
            <p:nvSpPr>
              <p:cNvPr id="33" name="Ellipse 69">
                <a:extLst>
                  <a:ext uri="{FF2B5EF4-FFF2-40B4-BE49-F238E27FC236}">
                    <a16:creationId xmlns:a16="http://schemas.microsoft.com/office/drawing/2014/main" id="{422373E2-FCF4-88F8-7685-EDD0BCF79D59}"/>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4" name="Flèche vers la droite 45">
                <a:extLst>
                  <a:ext uri="{FF2B5EF4-FFF2-40B4-BE49-F238E27FC236}">
                    <a16:creationId xmlns:a16="http://schemas.microsoft.com/office/drawing/2014/main" id="{DB7F82CA-0950-D186-EC3C-4E8B31C1FADF}"/>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nvGrpSpPr>
            <p:cNvPr id="35" name="Down arrow">
              <a:extLst>
                <a:ext uri="{FF2B5EF4-FFF2-40B4-BE49-F238E27FC236}">
                  <a16:creationId xmlns:a16="http://schemas.microsoft.com/office/drawing/2014/main" id="{4A793800-AB78-38DA-647C-9C4B4B9F0DBB}"/>
                </a:ext>
              </a:extLst>
            </p:cNvPr>
            <p:cNvGrpSpPr>
              <a:grpSpLocks noChangeAspect="1"/>
            </p:cNvGrpSpPr>
            <p:nvPr/>
          </p:nvGrpSpPr>
          <p:grpSpPr>
            <a:xfrm rot="5400000" flipV="1">
              <a:off x="5176289" y="3593191"/>
              <a:ext cx="230909" cy="230909"/>
              <a:chOff x="1413494" y="4670360"/>
              <a:chExt cx="442162" cy="456033"/>
            </a:xfrm>
          </p:grpSpPr>
          <p:sp>
            <p:nvSpPr>
              <p:cNvPr id="36" name="Ellipse 69">
                <a:extLst>
                  <a:ext uri="{FF2B5EF4-FFF2-40B4-BE49-F238E27FC236}">
                    <a16:creationId xmlns:a16="http://schemas.microsoft.com/office/drawing/2014/main" id="{96F65A51-D9EB-4CB0-1938-6B0744D13163}"/>
                  </a:ext>
                </a:extLst>
              </p:cNvPr>
              <p:cNvSpPr/>
              <p:nvPr/>
            </p:nvSpPr>
            <p:spPr bwMode="auto">
              <a:xfrm>
                <a:off x="1413494" y="4670360"/>
                <a:ext cx="442162" cy="456033"/>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37" name="Flèche vers la droite 45">
                <a:extLst>
                  <a:ext uri="{FF2B5EF4-FFF2-40B4-BE49-F238E27FC236}">
                    <a16:creationId xmlns:a16="http://schemas.microsoft.com/office/drawing/2014/main" id="{7F16D62C-B900-0022-CE35-0BBED5E300EC}"/>
                  </a:ext>
                </a:extLst>
              </p:cNvPr>
              <p:cNvSpPr/>
              <p:nvPr/>
            </p:nvSpPr>
            <p:spPr bwMode="auto">
              <a:xfrm rot="5400000">
                <a:off x="1520568" y="4787836"/>
                <a:ext cx="228016" cy="221081"/>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grpSp>
      <p:sp>
        <p:nvSpPr>
          <p:cNvPr id="40" name="TextBox 39">
            <a:extLst>
              <a:ext uri="{FF2B5EF4-FFF2-40B4-BE49-F238E27FC236}">
                <a16:creationId xmlns:a16="http://schemas.microsoft.com/office/drawing/2014/main" id="{437679D4-96A9-80EC-7F6C-B5ADFBAB025F}"/>
              </a:ext>
            </a:extLst>
          </p:cNvPr>
          <p:cNvSpPr txBox="1"/>
          <p:nvPr/>
        </p:nvSpPr>
        <p:spPr>
          <a:xfrm>
            <a:off x="5645728" y="1816683"/>
            <a:ext cx="2925872" cy="246221"/>
          </a:xfrm>
          <a:prstGeom prst="rect">
            <a:avLst/>
          </a:prstGeom>
          <a:noFill/>
        </p:spPr>
        <p:txBody>
          <a:bodyPr wrap="square" rtlCol="0">
            <a:spAutoFit/>
          </a:bodyPr>
          <a:lstStyle/>
          <a:p>
            <a:r>
              <a:rPr lang="en-US" sz="1000"/>
              <a:t>Baseline aging effect</a:t>
            </a:r>
            <a:endParaRPr lang="en-CH" sz="1000"/>
          </a:p>
        </p:txBody>
      </p:sp>
      <p:sp>
        <p:nvSpPr>
          <p:cNvPr id="41" name="TextBox 40">
            <a:extLst>
              <a:ext uri="{FF2B5EF4-FFF2-40B4-BE49-F238E27FC236}">
                <a16:creationId xmlns:a16="http://schemas.microsoft.com/office/drawing/2014/main" id="{D32D996C-AC9E-8FCB-1463-DAE611985E6C}"/>
              </a:ext>
            </a:extLst>
          </p:cNvPr>
          <p:cNvSpPr txBox="1"/>
          <p:nvPr/>
        </p:nvSpPr>
        <p:spPr>
          <a:xfrm>
            <a:off x="5645728" y="2128390"/>
            <a:ext cx="2925872" cy="246221"/>
          </a:xfrm>
          <a:prstGeom prst="rect">
            <a:avLst/>
          </a:prstGeom>
          <a:noFill/>
        </p:spPr>
        <p:txBody>
          <a:bodyPr wrap="square" rtlCol="0">
            <a:spAutoFit/>
          </a:bodyPr>
          <a:lstStyle/>
          <a:p>
            <a:r>
              <a:rPr lang="en-US" sz="1000"/>
              <a:t>Financial system structure effect</a:t>
            </a:r>
            <a:endParaRPr lang="en-CH" sz="1000"/>
          </a:p>
        </p:txBody>
      </p:sp>
      <p:sp>
        <p:nvSpPr>
          <p:cNvPr id="42" name="TextBox 41">
            <a:extLst>
              <a:ext uri="{FF2B5EF4-FFF2-40B4-BE49-F238E27FC236}">
                <a16:creationId xmlns:a16="http://schemas.microsoft.com/office/drawing/2014/main" id="{B9CE49EF-82C5-5982-5E24-E9EAA63640AF}"/>
              </a:ext>
            </a:extLst>
          </p:cNvPr>
          <p:cNvSpPr txBox="1"/>
          <p:nvPr/>
        </p:nvSpPr>
        <p:spPr>
          <a:xfrm>
            <a:off x="5645727" y="2440097"/>
            <a:ext cx="3034145" cy="246221"/>
          </a:xfrm>
          <a:prstGeom prst="rect">
            <a:avLst/>
          </a:prstGeom>
          <a:noFill/>
        </p:spPr>
        <p:txBody>
          <a:bodyPr wrap="square" rtlCol="0">
            <a:spAutoFit/>
          </a:bodyPr>
          <a:lstStyle/>
          <a:p>
            <a:r>
              <a:rPr lang="en-US" sz="1000"/>
              <a:t>Aging effect depending on structure (interaction term)</a:t>
            </a:r>
            <a:endParaRPr lang="en-CH" sz="1000"/>
          </a:p>
        </p:txBody>
      </p:sp>
      <p:sp>
        <p:nvSpPr>
          <p:cNvPr id="43" name="TextBox 42">
            <a:extLst>
              <a:ext uri="{FF2B5EF4-FFF2-40B4-BE49-F238E27FC236}">
                <a16:creationId xmlns:a16="http://schemas.microsoft.com/office/drawing/2014/main" id="{5572F924-7C99-CF76-8ADD-B7B2DFB64718}"/>
              </a:ext>
            </a:extLst>
          </p:cNvPr>
          <p:cNvSpPr txBox="1"/>
          <p:nvPr/>
        </p:nvSpPr>
        <p:spPr>
          <a:xfrm>
            <a:off x="5645728" y="2751804"/>
            <a:ext cx="2925872" cy="246221"/>
          </a:xfrm>
          <a:prstGeom prst="rect">
            <a:avLst/>
          </a:prstGeom>
          <a:noFill/>
        </p:spPr>
        <p:txBody>
          <a:bodyPr wrap="square" rtlCol="0">
            <a:spAutoFit/>
          </a:bodyPr>
          <a:lstStyle/>
          <a:p>
            <a:r>
              <a:rPr lang="en-US" sz="1000"/>
              <a:t>Pension system control variable</a:t>
            </a:r>
            <a:endParaRPr lang="en-CH" sz="1000"/>
          </a:p>
        </p:txBody>
      </p:sp>
      <p:sp>
        <p:nvSpPr>
          <p:cNvPr id="44" name="TextBox 43">
            <a:extLst>
              <a:ext uri="{FF2B5EF4-FFF2-40B4-BE49-F238E27FC236}">
                <a16:creationId xmlns:a16="http://schemas.microsoft.com/office/drawing/2014/main" id="{024C854D-1B0C-DEBD-5AF5-48D4783D1FE5}"/>
              </a:ext>
            </a:extLst>
          </p:cNvPr>
          <p:cNvSpPr txBox="1"/>
          <p:nvPr/>
        </p:nvSpPr>
        <p:spPr>
          <a:xfrm>
            <a:off x="5645728" y="3063511"/>
            <a:ext cx="2925872" cy="246221"/>
          </a:xfrm>
          <a:prstGeom prst="rect">
            <a:avLst/>
          </a:prstGeom>
          <a:noFill/>
        </p:spPr>
        <p:txBody>
          <a:bodyPr wrap="square" rtlCol="0">
            <a:spAutoFit/>
          </a:bodyPr>
          <a:lstStyle/>
          <a:p>
            <a:r>
              <a:rPr lang="en-US" sz="1000"/>
              <a:t>Very old population effect</a:t>
            </a:r>
            <a:endParaRPr lang="en-CH" sz="1000"/>
          </a:p>
        </p:txBody>
      </p:sp>
      <p:sp>
        <p:nvSpPr>
          <p:cNvPr id="45" name="TextBox 44">
            <a:extLst>
              <a:ext uri="{FF2B5EF4-FFF2-40B4-BE49-F238E27FC236}">
                <a16:creationId xmlns:a16="http://schemas.microsoft.com/office/drawing/2014/main" id="{44B37FB0-544D-4DB2-C525-5CEACBD11E6E}"/>
              </a:ext>
            </a:extLst>
          </p:cNvPr>
          <p:cNvSpPr txBox="1"/>
          <p:nvPr/>
        </p:nvSpPr>
        <p:spPr>
          <a:xfrm>
            <a:off x="5645728" y="3375218"/>
            <a:ext cx="2925872" cy="246221"/>
          </a:xfrm>
          <a:prstGeom prst="rect">
            <a:avLst/>
          </a:prstGeom>
          <a:noFill/>
        </p:spPr>
        <p:txBody>
          <a:bodyPr wrap="square" lIns="91440" tIns="45720" rIns="91440" bIns="45720" rtlCol="0" anchor="t">
            <a:spAutoFit/>
          </a:bodyPr>
          <a:lstStyle/>
          <a:p>
            <a:r>
              <a:rPr lang="en-US" sz="1000"/>
              <a:t>Bank-level control variables </a:t>
            </a:r>
            <a:r>
              <a:rPr lang="en-US" sz="1000">
                <a:solidFill>
                  <a:srgbClr val="00B0F0"/>
                </a:solidFill>
              </a:rPr>
              <a:t>+ Macro controls</a:t>
            </a:r>
            <a:endParaRPr lang="en-CH" sz="1000">
              <a:solidFill>
                <a:srgbClr val="00B0F0"/>
              </a:solidFill>
            </a:endParaRPr>
          </a:p>
        </p:txBody>
      </p:sp>
      <p:sp>
        <p:nvSpPr>
          <p:cNvPr id="46" name="TextBox 45">
            <a:extLst>
              <a:ext uri="{FF2B5EF4-FFF2-40B4-BE49-F238E27FC236}">
                <a16:creationId xmlns:a16="http://schemas.microsoft.com/office/drawing/2014/main" id="{C90EBFEE-2DE6-0ABF-B4D9-95E0F6202D0A}"/>
              </a:ext>
            </a:extLst>
          </p:cNvPr>
          <p:cNvSpPr txBox="1"/>
          <p:nvPr/>
        </p:nvSpPr>
        <p:spPr>
          <a:xfrm>
            <a:off x="5645728" y="3686925"/>
            <a:ext cx="2925872" cy="246221"/>
          </a:xfrm>
          <a:prstGeom prst="rect">
            <a:avLst/>
          </a:prstGeom>
          <a:noFill/>
        </p:spPr>
        <p:txBody>
          <a:bodyPr wrap="square" rtlCol="0">
            <a:spAutoFit/>
          </a:bodyPr>
          <a:lstStyle/>
          <a:p>
            <a:r>
              <a:rPr lang="de-LI" sz="1000"/>
              <a:t>Bank &amp; year fixed effects; error term</a:t>
            </a:r>
            <a:endParaRPr lang="en-CH" sz="1000"/>
          </a:p>
        </p:txBody>
      </p:sp>
      <p:sp>
        <p:nvSpPr>
          <p:cNvPr id="55" name="Rectangle 54">
            <a:extLst>
              <a:ext uri="{FF2B5EF4-FFF2-40B4-BE49-F238E27FC236}">
                <a16:creationId xmlns:a16="http://schemas.microsoft.com/office/drawing/2014/main" id="{DB0FDF66-71AE-5658-F557-0FD15614A1F2}"/>
              </a:ext>
            </a:extLst>
          </p:cNvPr>
          <p:cNvSpPr/>
          <p:nvPr/>
        </p:nvSpPr>
        <p:spPr>
          <a:xfrm>
            <a:off x="2043400" y="2734326"/>
            <a:ext cx="2323093" cy="311707"/>
          </a:xfrm>
          <a:prstGeom prst="rect">
            <a:avLst/>
          </a:prstGeom>
          <a:noFill/>
          <a:ln>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0B0F0"/>
              </a:solidFill>
            </a:endParaRPr>
          </a:p>
        </p:txBody>
      </p:sp>
      <p:sp>
        <p:nvSpPr>
          <p:cNvPr id="56" name="TextBox 55">
            <a:extLst>
              <a:ext uri="{FF2B5EF4-FFF2-40B4-BE49-F238E27FC236}">
                <a16:creationId xmlns:a16="http://schemas.microsoft.com/office/drawing/2014/main" id="{7D53EA14-1DA8-1F51-CF44-338A37C4BBAF}"/>
              </a:ext>
            </a:extLst>
          </p:cNvPr>
          <p:cNvSpPr txBox="1"/>
          <p:nvPr/>
        </p:nvSpPr>
        <p:spPr>
          <a:xfrm>
            <a:off x="979420" y="2778688"/>
            <a:ext cx="1587501" cy="246221"/>
          </a:xfrm>
          <a:prstGeom prst="rect">
            <a:avLst/>
          </a:prstGeom>
          <a:noFill/>
        </p:spPr>
        <p:txBody>
          <a:bodyPr wrap="square" rtlCol="0">
            <a:spAutoFit/>
          </a:bodyPr>
          <a:lstStyle/>
          <a:p>
            <a:r>
              <a:rPr lang="de-LI" sz="1000" i="1" err="1">
                <a:solidFill>
                  <a:srgbClr val="00B0F0"/>
                </a:solidFill>
              </a:rPr>
              <a:t>Revised</a:t>
            </a:r>
            <a:r>
              <a:rPr lang="de-LI" sz="1000" i="1">
                <a:solidFill>
                  <a:srgbClr val="00B0F0"/>
                </a:solidFill>
              </a:rPr>
              <a:t> variable</a:t>
            </a:r>
            <a:endParaRPr lang="en-CH" sz="1000" i="1">
              <a:solidFill>
                <a:srgbClr val="00B0F0"/>
              </a:solidFill>
            </a:endParaRPr>
          </a:p>
        </p:txBody>
      </p:sp>
      <p:sp>
        <p:nvSpPr>
          <p:cNvPr id="5" name="Rectangle 4">
            <a:extLst>
              <a:ext uri="{FF2B5EF4-FFF2-40B4-BE49-F238E27FC236}">
                <a16:creationId xmlns:a16="http://schemas.microsoft.com/office/drawing/2014/main" id="{CD0B7AAB-56E9-7D6F-AA70-BEC79F3CA496}"/>
              </a:ext>
            </a:extLst>
          </p:cNvPr>
          <p:cNvSpPr/>
          <p:nvPr/>
        </p:nvSpPr>
        <p:spPr>
          <a:xfrm>
            <a:off x="8131510" y="0"/>
            <a:ext cx="1012490" cy="376238"/>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Discussion</a:t>
            </a:r>
          </a:p>
        </p:txBody>
      </p:sp>
      <p:sp>
        <p:nvSpPr>
          <p:cNvPr id="13" name="Rectangle 12">
            <a:extLst>
              <a:ext uri="{FF2B5EF4-FFF2-40B4-BE49-F238E27FC236}">
                <a16:creationId xmlns:a16="http://schemas.microsoft.com/office/drawing/2014/main" id="{EDE20CD1-12B4-8759-D4A8-D4E70C6AA7FD}"/>
              </a:ext>
            </a:extLst>
          </p:cNvPr>
          <p:cNvSpPr/>
          <p:nvPr/>
        </p:nvSpPr>
        <p:spPr>
          <a:xfrm>
            <a:off x="2045805" y="4057135"/>
            <a:ext cx="3061652" cy="84476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CH" sz="1200">
                <a:solidFill>
                  <a:sysClr val="windowText" lastClr="000000"/>
                </a:solidFill>
              </a:rPr>
              <a:t>Pension system controls: </a:t>
            </a:r>
            <a:endParaRPr lang="en-US" sz="1200">
              <a:solidFill>
                <a:sysClr val="windowText" lastClr="000000"/>
              </a:solidFill>
            </a:endParaRPr>
          </a:p>
          <a:p>
            <a:r>
              <a:rPr lang="en-CH" sz="1200">
                <a:solidFill>
                  <a:sysClr val="windowText" lastClr="000000"/>
                </a:solidFill>
              </a:rPr>
              <a:t>-) Reclassification ratio</a:t>
            </a:r>
          </a:p>
          <a:p>
            <a:r>
              <a:rPr lang="en-CH" sz="1200">
                <a:solidFill>
                  <a:sysClr val="windowText" lastClr="000000"/>
                </a:solidFill>
              </a:rPr>
              <a:t>-) </a:t>
            </a:r>
            <a:r>
              <a:rPr lang="en-US" sz="1200">
                <a:solidFill>
                  <a:sysClr val="windowText" lastClr="000000"/>
                </a:solidFill>
                <a:latin typeface="Gill Sans Nova"/>
                <a:ea typeface="Calibri"/>
                <a:cs typeface="Calibri"/>
              </a:rPr>
              <a:t>pension categories</a:t>
            </a:r>
          </a:p>
          <a:p>
            <a:r>
              <a:rPr lang="en-US" sz="1200">
                <a:solidFill>
                  <a:sysClr val="windowText" lastClr="000000"/>
                </a:solidFill>
                <a:latin typeface="Gill Sans Nova"/>
                <a:ea typeface="Calibri"/>
                <a:cs typeface="Calibri"/>
              </a:rPr>
              <a:t>-) death gap</a:t>
            </a:r>
          </a:p>
        </p:txBody>
      </p:sp>
    </p:spTree>
    <p:extLst>
      <p:ext uri="{BB962C8B-B14F-4D97-AF65-F5344CB8AC3E}">
        <p14:creationId xmlns:p14="http://schemas.microsoft.com/office/powerpoint/2010/main" val="3180419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3840480"/>
            <a:ext cx="9144000" cy="1303020"/>
          </a:xfrm>
          <a:prstGeom prst="rect">
            <a:avLst/>
          </a:prstGeom>
          <a:solidFill>
            <a:srgbClr val="2C5F2D"/>
          </a:solidFill>
          <a:ln/>
        </p:spPr>
        <p:txBody>
          <a:bodyPr/>
          <a:lstStyle/>
          <a:p>
            <a:endParaRPr lang="en-GB"/>
          </a:p>
        </p:txBody>
      </p:sp>
      <p:sp>
        <p:nvSpPr>
          <p:cNvPr id="3" name="Text 1"/>
          <p:cNvSpPr/>
          <p:nvPr/>
        </p:nvSpPr>
        <p:spPr>
          <a:xfrm>
            <a:off x="731520" y="731520"/>
            <a:ext cx="7680960" cy="2560320"/>
          </a:xfrm>
          <a:prstGeom prst="rect">
            <a:avLst/>
          </a:prstGeom>
          <a:noFill/>
          <a:ln/>
        </p:spPr>
        <p:txBody>
          <a:bodyPr wrap="square" rtlCol="0" anchor="ctr"/>
          <a:lstStyle/>
          <a:p>
            <a:pPr marL="0" indent="0">
              <a:lnSpc>
                <a:spcPct val="120000"/>
              </a:lnSpc>
              <a:buNone/>
            </a:pPr>
            <a:r>
              <a:rPr lang="en-US" sz="3600" b="1">
                <a:solidFill>
                  <a:srgbClr val="FFFFFF"/>
                </a:solidFill>
                <a:latin typeface="Georgia" pitchFamily="34" charset="0"/>
                <a:ea typeface="Georgia" pitchFamily="34" charset="-122"/>
                <a:cs typeface="Georgia" pitchFamily="34" charset="-120"/>
              </a:rPr>
              <a:t>Defining Europe</a:t>
            </a:r>
            <a:endParaRPr lang="en-US" sz="3600"/>
          </a:p>
          <a:p>
            <a:pPr marL="0" indent="0">
              <a:lnSpc>
                <a:spcPct val="120000"/>
              </a:lnSpc>
              <a:buNone/>
            </a:pPr>
            <a:r>
              <a:rPr lang="en-US" sz="3600" b="1">
                <a:solidFill>
                  <a:srgbClr val="FFFFFF"/>
                </a:solidFill>
                <a:latin typeface="Georgia" pitchFamily="34" charset="0"/>
                <a:ea typeface="Georgia" pitchFamily="34" charset="-122"/>
                <a:cs typeface="Georgia" pitchFamily="34" charset="-120"/>
              </a:rPr>
              <a:t>for the Research Dataset</a:t>
            </a:r>
            <a:endParaRPr lang="en-US" sz="3600"/>
          </a:p>
        </p:txBody>
      </p:sp>
      <p:sp>
        <p:nvSpPr>
          <p:cNvPr id="4" name="Shape 2"/>
          <p:cNvSpPr/>
          <p:nvPr/>
        </p:nvSpPr>
        <p:spPr>
          <a:xfrm>
            <a:off x="731520" y="3383280"/>
            <a:ext cx="2743200" cy="0"/>
          </a:xfrm>
          <a:prstGeom prst="line">
            <a:avLst/>
          </a:prstGeom>
          <a:noFill/>
          <a:ln w="38100">
            <a:solidFill>
              <a:srgbClr val="97BC62"/>
            </a:solidFill>
            <a:prstDash val="solid"/>
          </a:ln>
        </p:spPr>
        <p:txBody>
          <a:bodyPr/>
          <a:lstStyle/>
          <a:p>
            <a:endParaRPr lang="en-GB"/>
          </a:p>
        </p:txBody>
      </p:sp>
      <p:sp>
        <p:nvSpPr>
          <p:cNvPr id="5" name="Text 3"/>
          <p:cNvSpPr/>
          <p:nvPr/>
        </p:nvSpPr>
        <p:spPr>
          <a:xfrm>
            <a:off x="731520" y="4023360"/>
            <a:ext cx="5486400" cy="365760"/>
          </a:xfrm>
          <a:prstGeom prst="rect">
            <a:avLst/>
          </a:prstGeom>
          <a:noFill/>
          <a:ln/>
        </p:spPr>
        <p:txBody>
          <a:bodyPr wrap="square" rtlCol="0" anchor="ctr"/>
          <a:lstStyle/>
          <a:p>
            <a:pPr marL="0" indent="0">
              <a:buNone/>
            </a:pPr>
            <a:r>
              <a:rPr lang="en-US" sz="1400" i="1">
                <a:solidFill>
                  <a:srgbClr val="FFFFFF"/>
                </a:solidFill>
                <a:latin typeface="Arial" pitchFamily="34" charset="0"/>
                <a:ea typeface="Arial" pitchFamily="34" charset="-122"/>
                <a:cs typeface="Arial" pitchFamily="34" charset="-120"/>
              </a:rPr>
              <a:t>Research Seminar Financial Institutions | Spring 2026</a:t>
            </a:r>
            <a:endParaRPr lang="en-US" sz="1400"/>
          </a:p>
        </p:txBody>
      </p:sp>
      <p:sp>
        <p:nvSpPr>
          <p:cNvPr id="6" name="Text 4"/>
          <p:cNvSpPr/>
          <p:nvPr/>
        </p:nvSpPr>
        <p:spPr>
          <a:xfrm>
            <a:off x="731520" y="4434840"/>
            <a:ext cx="5486400" cy="320040"/>
          </a:xfrm>
          <a:prstGeom prst="rect">
            <a:avLst/>
          </a:prstGeom>
          <a:noFill/>
          <a:ln/>
        </p:spPr>
        <p:txBody>
          <a:bodyPr wrap="square" rtlCol="0" anchor="ctr"/>
          <a:lstStyle/>
          <a:p>
            <a:pPr marL="0" indent="0">
              <a:buNone/>
            </a:pPr>
            <a:r>
              <a:rPr lang="en-US" sz="1200">
                <a:solidFill>
                  <a:srgbClr val="CCCCCC"/>
                </a:solidFill>
                <a:latin typeface="Arial" pitchFamily="34" charset="0"/>
                <a:ea typeface="Arial" pitchFamily="34" charset="-122"/>
                <a:cs typeface="Arial" pitchFamily="34" charset="-120"/>
              </a:rPr>
              <a:t>Prof. Dr. Emilia Garcia-Appendini | University of St.Gallen</a:t>
            </a:r>
            <a:endParaRPr 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C5F2D"/>
          </a:solidFill>
          <a:ln/>
        </p:spPr>
        <p:txBody>
          <a:bodyPr/>
          <a:lstStyle/>
          <a:p>
            <a:endParaRPr lang="en-GB"/>
          </a:p>
        </p:txBody>
      </p:sp>
      <p:sp>
        <p:nvSpPr>
          <p:cNvPr id="3" name="Text 1"/>
          <p:cNvSpPr/>
          <p:nvPr/>
        </p:nvSpPr>
        <p:spPr>
          <a:xfrm>
            <a:off x="457200" y="73152"/>
            <a:ext cx="8229600" cy="411480"/>
          </a:xfrm>
          <a:prstGeom prst="rect">
            <a:avLst/>
          </a:prstGeom>
          <a:noFill/>
          <a:ln/>
        </p:spPr>
        <p:txBody>
          <a:bodyPr wrap="square" rtlCol="0" anchor="ctr"/>
          <a:lstStyle/>
          <a:p>
            <a:pPr marL="0" indent="0">
              <a:buNone/>
            </a:pPr>
            <a:r>
              <a:rPr lang="en-US" sz="2000" b="1">
                <a:solidFill>
                  <a:srgbClr val="FFFFFF"/>
                </a:solidFill>
                <a:latin typeface="Georgia" pitchFamily="34" charset="0"/>
                <a:ea typeface="Georgia" pitchFamily="34" charset="-122"/>
                <a:cs typeface="Georgia" pitchFamily="34" charset="-120"/>
              </a:rPr>
              <a:t>Research Context</a:t>
            </a:r>
            <a:endParaRPr lang="en-US" sz="2000"/>
          </a:p>
        </p:txBody>
      </p:sp>
      <p:sp>
        <p:nvSpPr>
          <p:cNvPr id="4" name="Shape 2"/>
          <p:cNvSpPr/>
          <p:nvPr/>
        </p:nvSpPr>
        <p:spPr>
          <a:xfrm>
            <a:off x="457200" y="914400"/>
            <a:ext cx="8229600" cy="822960"/>
          </a:xfrm>
          <a:prstGeom prst="rect">
            <a:avLst/>
          </a:prstGeom>
          <a:solidFill>
            <a:srgbClr val="E8F5E9"/>
          </a:solidFill>
          <a:ln/>
          <a:effectLst>
            <a:outerShdw blurRad="50800" dist="25400" dir="8100000" algn="bl" rotWithShape="0">
              <a:srgbClr val="000000">
                <a:alpha val="12000"/>
              </a:srgbClr>
            </a:outerShdw>
          </a:effectLst>
        </p:spPr>
        <p:txBody>
          <a:bodyPr/>
          <a:lstStyle/>
          <a:p>
            <a:endParaRPr lang="en-GB"/>
          </a:p>
        </p:txBody>
      </p:sp>
      <p:sp>
        <p:nvSpPr>
          <p:cNvPr id="5" name="Shape 3"/>
          <p:cNvSpPr/>
          <p:nvPr/>
        </p:nvSpPr>
        <p:spPr>
          <a:xfrm>
            <a:off x="457200" y="914400"/>
            <a:ext cx="64008" cy="822960"/>
          </a:xfrm>
          <a:prstGeom prst="rect">
            <a:avLst/>
          </a:prstGeom>
          <a:solidFill>
            <a:srgbClr val="2C5F2D"/>
          </a:solidFill>
          <a:ln/>
        </p:spPr>
        <p:txBody>
          <a:bodyPr/>
          <a:lstStyle/>
          <a:p>
            <a:endParaRPr lang="en-GB"/>
          </a:p>
        </p:txBody>
      </p:sp>
      <p:sp>
        <p:nvSpPr>
          <p:cNvPr id="6" name="Text 4"/>
          <p:cNvSpPr/>
          <p:nvPr/>
        </p:nvSpPr>
        <p:spPr>
          <a:xfrm>
            <a:off x="731520" y="960120"/>
            <a:ext cx="7772400" cy="731520"/>
          </a:xfrm>
          <a:prstGeom prst="rect">
            <a:avLst/>
          </a:prstGeom>
          <a:noFill/>
          <a:ln/>
        </p:spPr>
        <p:txBody>
          <a:bodyPr wrap="square" rtlCol="0" anchor="ctr"/>
          <a:lstStyle/>
          <a:p>
            <a:pPr marL="0" indent="0">
              <a:buNone/>
            </a:pPr>
            <a:r>
              <a:rPr lang="en-US" sz="1300" b="1">
                <a:solidFill>
                  <a:srgbClr val="2C5F2D"/>
                </a:solidFill>
                <a:latin typeface="Arial" pitchFamily="34" charset="0"/>
                <a:ea typeface="Arial" pitchFamily="34" charset="-122"/>
                <a:cs typeface="Arial" pitchFamily="34" charset="-120"/>
              </a:rPr>
              <a:t>RQ: </a:t>
            </a:r>
            <a:r>
              <a:rPr lang="en-US" sz="1300">
                <a:solidFill>
                  <a:srgbClr val="333333"/>
                </a:solidFill>
                <a:latin typeface="Arial" pitchFamily="34" charset="0"/>
                <a:ea typeface="Arial" pitchFamily="34" charset="-122"/>
                <a:cs typeface="Arial" pitchFamily="34" charset="-120"/>
              </a:rPr>
              <a:t>Does a higher share of retired people lead to lower retail deposit funding of savings banks, independently of pension system?</a:t>
            </a:r>
            <a:endParaRPr lang="en-US" sz="1300"/>
          </a:p>
        </p:txBody>
      </p:sp>
      <p:sp>
        <p:nvSpPr>
          <p:cNvPr id="7" name="Shape 5"/>
          <p:cNvSpPr/>
          <p:nvPr/>
        </p:nvSpPr>
        <p:spPr>
          <a:xfrm>
            <a:off x="457200" y="2011680"/>
            <a:ext cx="3886200" cy="1188720"/>
          </a:xfrm>
          <a:prstGeom prst="rect">
            <a:avLst/>
          </a:prstGeom>
          <a:solidFill>
            <a:srgbClr val="F5F5F0"/>
          </a:solidFill>
          <a:ln/>
          <a:effectLst>
            <a:outerShdw blurRad="50800" dist="25400" dir="8100000" algn="bl" rotWithShape="0">
              <a:srgbClr val="000000">
                <a:alpha val="12000"/>
              </a:srgbClr>
            </a:outerShdw>
          </a:effectLst>
        </p:spPr>
        <p:txBody>
          <a:bodyPr/>
          <a:lstStyle/>
          <a:p>
            <a:endParaRPr lang="en-GB"/>
          </a:p>
        </p:txBody>
      </p:sp>
      <p:sp>
        <p:nvSpPr>
          <p:cNvPr id="8" name="Shape 6"/>
          <p:cNvSpPr/>
          <p:nvPr/>
        </p:nvSpPr>
        <p:spPr>
          <a:xfrm>
            <a:off x="457200" y="2011680"/>
            <a:ext cx="64008" cy="1188720"/>
          </a:xfrm>
          <a:prstGeom prst="rect">
            <a:avLst/>
          </a:prstGeom>
          <a:solidFill>
            <a:srgbClr val="97BC62"/>
          </a:solidFill>
          <a:ln/>
        </p:spPr>
        <p:txBody>
          <a:bodyPr/>
          <a:lstStyle/>
          <a:p>
            <a:endParaRPr lang="en-GB"/>
          </a:p>
        </p:txBody>
      </p:sp>
      <p:sp>
        <p:nvSpPr>
          <p:cNvPr id="9" name="Text 7"/>
          <p:cNvSpPr/>
          <p:nvPr/>
        </p:nvSpPr>
        <p:spPr>
          <a:xfrm>
            <a:off x="731520" y="2103120"/>
            <a:ext cx="3474720" cy="1005840"/>
          </a:xfrm>
          <a:prstGeom prst="rect">
            <a:avLst/>
          </a:prstGeom>
          <a:noFill/>
          <a:ln/>
        </p:spPr>
        <p:txBody>
          <a:bodyPr wrap="square" rtlCol="0" anchor="ctr"/>
          <a:lstStyle/>
          <a:p>
            <a:pPr marL="0" indent="0">
              <a:buNone/>
            </a:pPr>
            <a:r>
              <a:rPr lang="en-US" sz="1400" b="1">
                <a:solidFill>
                  <a:srgbClr val="2C5F2D"/>
                </a:solidFill>
                <a:latin typeface="Arial" pitchFamily="34" charset="0"/>
                <a:ea typeface="Arial" pitchFamily="34" charset="-122"/>
                <a:cs typeface="Arial" pitchFamily="34" charset="-120"/>
              </a:rPr>
              <a:t>H1</a:t>
            </a:r>
            <a:endParaRPr lang="en-US" sz="1400"/>
          </a:p>
          <a:p>
            <a:pPr marL="0" indent="0">
              <a:buNone/>
            </a:pPr>
            <a:r>
              <a:rPr lang="en-US" sz="1100">
                <a:solidFill>
                  <a:srgbClr val="333333"/>
                </a:solidFill>
                <a:latin typeface="Arial" pitchFamily="34" charset="0"/>
                <a:ea typeface="Arial" pitchFamily="34" charset="-122"/>
                <a:cs typeface="Arial" pitchFamily="34" charset="-120"/>
              </a:rPr>
              <a:t>Higher share of retired people</a:t>
            </a:r>
            <a:endParaRPr lang="en-US" sz="1400"/>
          </a:p>
          <a:p>
            <a:pPr marL="0" indent="0">
              <a:buNone/>
            </a:pPr>
            <a:r>
              <a:rPr lang="en-US" sz="1100">
                <a:solidFill>
                  <a:srgbClr val="333333"/>
                </a:solidFill>
                <a:latin typeface="Arial" pitchFamily="34" charset="0"/>
                <a:ea typeface="Arial" pitchFamily="34" charset="-122"/>
                <a:cs typeface="Arial" pitchFamily="34" charset="-120"/>
              </a:rPr>
              <a:t>→ Lower retail deposit funding</a:t>
            </a:r>
            <a:endParaRPr lang="en-US" sz="1400"/>
          </a:p>
        </p:txBody>
      </p:sp>
      <p:sp>
        <p:nvSpPr>
          <p:cNvPr id="10" name="Shape 8"/>
          <p:cNvSpPr/>
          <p:nvPr/>
        </p:nvSpPr>
        <p:spPr>
          <a:xfrm>
            <a:off x="4800600" y="2011680"/>
            <a:ext cx="3886200" cy="1188720"/>
          </a:xfrm>
          <a:prstGeom prst="rect">
            <a:avLst/>
          </a:prstGeom>
          <a:solidFill>
            <a:srgbClr val="F5F5F0"/>
          </a:solidFill>
          <a:ln/>
          <a:effectLst>
            <a:outerShdw blurRad="50800" dist="25400" dir="8100000" algn="bl" rotWithShape="0">
              <a:srgbClr val="000000">
                <a:alpha val="12000"/>
              </a:srgbClr>
            </a:outerShdw>
          </a:effectLst>
        </p:spPr>
        <p:txBody>
          <a:bodyPr/>
          <a:lstStyle/>
          <a:p>
            <a:endParaRPr lang="en-GB"/>
          </a:p>
        </p:txBody>
      </p:sp>
      <p:sp>
        <p:nvSpPr>
          <p:cNvPr id="11" name="Shape 9"/>
          <p:cNvSpPr/>
          <p:nvPr/>
        </p:nvSpPr>
        <p:spPr>
          <a:xfrm>
            <a:off x="4800600" y="2011680"/>
            <a:ext cx="64008" cy="1188720"/>
          </a:xfrm>
          <a:prstGeom prst="rect">
            <a:avLst/>
          </a:prstGeom>
          <a:solidFill>
            <a:srgbClr val="97BC62"/>
          </a:solidFill>
          <a:ln/>
        </p:spPr>
        <p:txBody>
          <a:bodyPr/>
          <a:lstStyle/>
          <a:p>
            <a:endParaRPr lang="en-GB"/>
          </a:p>
        </p:txBody>
      </p:sp>
      <p:sp>
        <p:nvSpPr>
          <p:cNvPr id="12" name="Text 10"/>
          <p:cNvSpPr/>
          <p:nvPr/>
        </p:nvSpPr>
        <p:spPr>
          <a:xfrm>
            <a:off x="5074920" y="2103120"/>
            <a:ext cx="3474720" cy="1005840"/>
          </a:xfrm>
          <a:prstGeom prst="rect">
            <a:avLst/>
          </a:prstGeom>
          <a:noFill/>
          <a:ln/>
        </p:spPr>
        <p:txBody>
          <a:bodyPr wrap="square" rtlCol="0" anchor="ctr"/>
          <a:lstStyle/>
          <a:p>
            <a:pPr marL="0" indent="0">
              <a:buNone/>
            </a:pPr>
            <a:r>
              <a:rPr lang="en-US" sz="1400" b="1">
                <a:solidFill>
                  <a:srgbClr val="2C5F2D"/>
                </a:solidFill>
                <a:latin typeface="Arial" pitchFamily="34" charset="0"/>
                <a:ea typeface="Arial" pitchFamily="34" charset="-122"/>
                <a:cs typeface="Arial" pitchFamily="34" charset="-120"/>
              </a:rPr>
              <a:t>H2</a:t>
            </a:r>
            <a:endParaRPr lang="en-US" sz="1400"/>
          </a:p>
          <a:p>
            <a:pPr marL="0" indent="0">
              <a:buNone/>
            </a:pPr>
            <a:r>
              <a:rPr lang="en-US" sz="1100">
                <a:solidFill>
                  <a:srgbClr val="333333"/>
                </a:solidFill>
                <a:latin typeface="Arial" pitchFamily="34" charset="0"/>
                <a:ea typeface="Arial" pitchFamily="34" charset="-122"/>
                <a:cs typeface="Arial" pitchFamily="34" charset="-120"/>
              </a:rPr>
              <a:t>Wider "Death Gap" (Life exp. – Retirement age)</a:t>
            </a:r>
            <a:endParaRPr lang="en-US" sz="1400"/>
          </a:p>
          <a:p>
            <a:pPr marL="0" indent="0">
              <a:buNone/>
            </a:pPr>
            <a:r>
              <a:rPr lang="en-US" sz="1100">
                <a:solidFill>
                  <a:srgbClr val="333333"/>
                </a:solidFill>
                <a:latin typeface="Arial" pitchFamily="34" charset="0"/>
                <a:ea typeface="Arial" pitchFamily="34" charset="-122"/>
                <a:cs typeface="Arial" pitchFamily="34" charset="-120"/>
              </a:rPr>
              <a:t>→ Higher deposits</a:t>
            </a:r>
            <a:endParaRPr lang="en-US" sz="1400"/>
          </a:p>
        </p:txBody>
      </p:sp>
      <p:sp>
        <p:nvSpPr>
          <p:cNvPr id="13" name="Text 11"/>
          <p:cNvSpPr/>
          <p:nvPr/>
        </p:nvSpPr>
        <p:spPr>
          <a:xfrm>
            <a:off x="457200" y="3474720"/>
            <a:ext cx="8229600" cy="731520"/>
          </a:xfrm>
          <a:prstGeom prst="rect">
            <a:avLst/>
          </a:prstGeom>
          <a:noFill/>
          <a:ln/>
        </p:spPr>
        <p:txBody>
          <a:bodyPr wrap="square" rtlCol="0" anchor="ctr"/>
          <a:lstStyle/>
          <a:p>
            <a:pPr marL="0" indent="0">
              <a:buNone/>
            </a:pPr>
            <a:r>
              <a:rPr lang="en-US" sz="1200" b="1">
                <a:solidFill>
                  <a:srgbClr val="2C5F2D"/>
                </a:solidFill>
                <a:latin typeface="Arial" pitchFamily="34" charset="0"/>
                <a:ea typeface="Arial" pitchFamily="34" charset="-122"/>
                <a:cs typeface="Arial" pitchFamily="34" charset="-120"/>
              </a:rPr>
              <a:t>Task: </a:t>
            </a:r>
            <a:r>
              <a:rPr lang="en-US" sz="1200">
                <a:solidFill>
                  <a:srgbClr val="333333"/>
                </a:solidFill>
                <a:latin typeface="Arial" pitchFamily="34" charset="0"/>
                <a:ea typeface="Arial" pitchFamily="34" charset="-122"/>
                <a:cs typeface="Arial" pitchFamily="34" charset="-120"/>
              </a:rPr>
              <a:t>Define which countries in the S&amp;P SNL dataset count as "European" – Switzerland must be included given its globally significant banking sector and unique multipillar pension system.</a:t>
            </a:r>
            <a:endParaRPr lang="en-US" sz="1200"/>
          </a:p>
        </p:txBody>
      </p:sp>
      <p:sp>
        <p:nvSpPr>
          <p:cNvPr id="14" name="Shape 12"/>
          <p:cNvSpPr/>
          <p:nvPr/>
        </p:nvSpPr>
        <p:spPr>
          <a:xfrm>
            <a:off x="457200" y="4297680"/>
            <a:ext cx="8229600" cy="594360"/>
          </a:xfrm>
          <a:prstGeom prst="rect">
            <a:avLst/>
          </a:prstGeom>
          <a:solidFill>
            <a:srgbClr val="F0F0F0"/>
          </a:solidFill>
          <a:ln/>
        </p:spPr>
        <p:txBody>
          <a:bodyPr/>
          <a:lstStyle/>
          <a:p>
            <a:endParaRPr lang="en-GB"/>
          </a:p>
        </p:txBody>
      </p:sp>
      <p:sp>
        <p:nvSpPr>
          <p:cNvPr id="15" name="Text 13"/>
          <p:cNvSpPr/>
          <p:nvPr/>
        </p:nvSpPr>
        <p:spPr>
          <a:xfrm>
            <a:off x="640080" y="4343400"/>
            <a:ext cx="7863840" cy="502920"/>
          </a:xfrm>
          <a:prstGeom prst="rect">
            <a:avLst/>
          </a:prstGeom>
          <a:noFill/>
          <a:ln/>
        </p:spPr>
        <p:txBody>
          <a:bodyPr wrap="square" rtlCol="0" anchor="ctr"/>
          <a:lstStyle/>
          <a:p>
            <a:pPr marL="0" indent="0">
              <a:buNone/>
            </a:pPr>
            <a:r>
              <a:rPr lang="en-US" sz="1000" i="1">
                <a:solidFill>
                  <a:srgbClr val="666666"/>
                </a:solidFill>
                <a:latin typeface="Arial" pitchFamily="34" charset="0"/>
                <a:ea typeface="Arial" pitchFamily="34" charset="-122"/>
                <a:cs typeface="Arial" pitchFamily="34" charset="-120"/>
              </a:rPr>
              <a:t>Dataset: S&amp;P SNL Financial Institutions &amp; Bank Data | 199 countries | FY2010–FY2025 | ~27,000 banks globally</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C5F2D"/>
          </a:solidFill>
          <a:ln/>
        </p:spPr>
        <p:txBody>
          <a:bodyPr/>
          <a:lstStyle/>
          <a:p>
            <a:endParaRPr lang="en-GB"/>
          </a:p>
        </p:txBody>
      </p:sp>
      <p:sp>
        <p:nvSpPr>
          <p:cNvPr id="3" name="Text 1"/>
          <p:cNvSpPr/>
          <p:nvPr/>
        </p:nvSpPr>
        <p:spPr>
          <a:xfrm>
            <a:off x="457200" y="73152"/>
            <a:ext cx="8229600" cy="411480"/>
          </a:xfrm>
          <a:prstGeom prst="rect">
            <a:avLst/>
          </a:prstGeom>
          <a:noFill/>
          <a:ln/>
        </p:spPr>
        <p:txBody>
          <a:bodyPr wrap="square" rtlCol="0" anchor="ctr"/>
          <a:lstStyle/>
          <a:p>
            <a:pPr marL="0" indent="0">
              <a:buNone/>
            </a:pPr>
            <a:r>
              <a:rPr lang="en-US" sz="2000" b="1">
                <a:solidFill>
                  <a:srgbClr val="FFFFFF"/>
                </a:solidFill>
                <a:latin typeface="Georgia" pitchFamily="34" charset="0"/>
                <a:ea typeface="Georgia" pitchFamily="34" charset="-122"/>
                <a:cs typeface="Georgia" pitchFamily="34" charset="-120"/>
              </a:rPr>
              <a:t>Candidate Definitions of Europe</a:t>
            </a:r>
            <a:endParaRPr lang="en-US" sz="2000"/>
          </a:p>
        </p:txBody>
      </p:sp>
      <p:sp>
        <p:nvSpPr>
          <p:cNvPr id="4" name="Shape 2"/>
          <p:cNvSpPr/>
          <p:nvPr/>
        </p:nvSpPr>
        <p:spPr>
          <a:xfrm>
            <a:off x="457200" y="822960"/>
            <a:ext cx="8229600" cy="9144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GB"/>
          </a:p>
        </p:txBody>
      </p:sp>
      <p:sp>
        <p:nvSpPr>
          <p:cNvPr id="5" name="Shape 3"/>
          <p:cNvSpPr/>
          <p:nvPr/>
        </p:nvSpPr>
        <p:spPr>
          <a:xfrm>
            <a:off x="457200" y="822960"/>
            <a:ext cx="73152" cy="914400"/>
          </a:xfrm>
          <a:prstGeom prst="rect">
            <a:avLst/>
          </a:prstGeom>
          <a:solidFill>
            <a:srgbClr val="2C5F2D"/>
          </a:solidFill>
          <a:ln/>
        </p:spPr>
        <p:txBody>
          <a:bodyPr/>
          <a:lstStyle/>
          <a:p>
            <a:endParaRPr lang="en-GB"/>
          </a:p>
        </p:txBody>
      </p:sp>
      <p:sp>
        <p:nvSpPr>
          <p:cNvPr id="6" name="Shape 4"/>
          <p:cNvSpPr/>
          <p:nvPr/>
        </p:nvSpPr>
        <p:spPr>
          <a:xfrm>
            <a:off x="731520" y="960120"/>
            <a:ext cx="1371600" cy="320040"/>
          </a:xfrm>
          <a:prstGeom prst="rect">
            <a:avLst/>
          </a:prstGeom>
          <a:solidFill>
            <a:srgbClr val="2C5F2D"/>
          </a:solidFill>
          <a:ln/>
        </p:spPr>
        <p:txBody>
          <a:bodyPr/>
          <a:lstStyle/>
          <a:p>
            <a:endParaRPr lang="en-GB"/>
          </a:p>
        </p:txBody>
      </p:sp>
      <p:sp>
        <p:nvSpPr>
          <p:cNvPr id="7" name="Text 5"/>
          <p:cNvSpPr/>
          <p:nvPr/>
        </p:nvSpPr>
        <p:spPr>
          <a:xfrm>
            <a:off x="731520" y="960120"/>
            <a:ext cx="1371600" cy="320040"/>
          </a:xfrm>
          <a:prstGeom prst="rect">
            <a:avLst/>
          </a:prstGeom>
          <a:noFill/>
          <a:ln/>
        </p:spPr>
        <p:txBody>
          <a:bodyPr wrap="square" rtlCol="0" anchor="ctr"/>
          <a:lstStyle/>
          <a:p>
            <a:pPr marL="0" indent="0" algn="ctr">
              <a:buNone/>
            </a:pPr>
            <a:r>
              <a:rPr lang="en-US" sz="1200" b="1">
                <a:solidFill>
                  <a:srgbClr val="FFFFFF"/>
                </a:solidFill>
                <a:latin typeface="Arial" pitchFamily="34" charset="0"/>
                <a:ea typeface="Arial" pitchFamily="34" charset="-122"/>
                <a:cs typeface="Arial" pitchFamily="34" charset="-120"/>
              </a:rPr>
              <a:t>EU-27 + CH</a:t>
            </a:r>
            <a:endParaRPr lang="en-US" sz="1200"/>
          </a:p>
        </p:txBody>
      </p:sp>
      <p:sp>
        <p:nvSpPr>
          <p:cNvPr id="8" name="Text 6"/>
          <p:cNvSpPr/>
          <p:nvPr/>
        </p:nvSpPr>
        <p:spPr>
          <a:xfrm>
            <a:off x="2286000" y="914400"/>
            <a:ext cx="1371600" cy="228600"/>
          </a:xfrm>
          <a:prstGeom prst="rect">
            <a:avLst/>
          </a:prstGeom>
          <a:noFill/>
          <a:ln/>
        </p:spPr>
        <p:txBody>
          <a:bodyPr wrap="square" rtlCol="0" anchor="ctr"/>
          <a:lstStyle/>
          <a:p>
            <a:pPr marL="0" indent="0">
              <a:buNone/>
            </a:pPr>
            <a:r>
              <a:rPr lang="en-US" sz="1100" b="1">
                <a:solidFill>
                  <a:srgbClr val="333333"/>
                </a:solidFill>
                <a:latin typeface="Arial" pitchFamily="34" charset="0"/>
                <a:ea typeface="Arial" pitchFamily="34" charset="-122"/>
                <a:cs typeface="Arial" pitchFamily="34" charset="-120"/>
              </a:rPr>
              <a:t>28 countries</a:t>
            </a:r>
            <a:endParaRPr lang="en-US" sz="1100"/>
          </a:p>
        </p:txBody>
      </p:sp>
      <p:sp>
        <p:nvSpPr>
          <p:cNvPr id="9" name="Text 7"/>
          <p:cNvSpPr/>
          <p:nvPr/>
        </p:nvSpPr>
        <p:spPr>
          <a:xfrm>
            <a:off x="2286000" y="1143000"/>
            <a:ext cx="1371600" cy="228600"/>
          </a:xfrm>
          <a:prstGeom prst="rect">
            <a:avLst/>
          </a:prstGeom>
          <a:noFill/>
          <a:ln/>
        </p:spPr>
        <p:txBody>
          <a:bodyPr wrap="square" rtlCol="0" anchor="ctr"/>
          <a:lstStyle/>
          <a:p>
            <a:pPr marL="0" indent="0">
              <a:buNone/>
            </a:pPr>
            <a:r>
              <a:rPr lang="en-US" sz="1000">
                <a:solidFill>
                  <a:srgbClr val="666666"/>
                </a:solidFill>
                <a:latin typeface="Arial" pitchFamily="34" charset="0"/>
                <a:ea typeface="Arial" pitchFamily="34" charset="-122"/>
                <a:cs typeface="Arial" pitchFamily="34" charset="-120"/>
              </a:rPr>
              <a:t>83,488 obs.</a:t>
            </a:r>
            <a:endParaRPr lang="en-US" sz="1000"/>
          </a:p>
        </p:txBody>
      </p:sp>
      <p:sp>
        <p:nvSpPr>
          <p:cNvPr id="10" name="Text 8"/>
          <p:cNvSpPr/>
          <p:nvPr/>
        </p:nvSpPr>
        <p:spPr>
          <a:xfrm>
            <a:off x="3840480" y="914400"/>
            <a:ext cx="4663440" cy="731520"/>
          </a:xfrm>
          <a:prstGeom prst="rect">
            <a:avLst/>
          </a:prstGeom>
          <a:noFill/>
          <a:ln/>
        </p:spPr>
        <p:txBody>
          <a:bodyPr wrap="square" rtlCol="0" anchor="ctr"/>
          <a:lstStyle/>
          <a:p>
            <a:pPr marL="0" indent="0">
              <a:buNone/>
            </a:pPr>
            <a:r>
              <a:rPr lang="en-US" sz="1100">
                <a:solidFill>
                  <a:srgbClr val="333333"/>
                </a:solidFill>
                <a:latin typeface="Arial" pitchFamily="34" charset="0"/>
                <a:ea typeface="Arial" pitchFamily="34" charset="-122"/>
                <a:cs typeface="Arial" pitchFamily="34" charset="-120"/>
              </a:rPr>
              <a:t>EU members + Switzerland. CH follows equiv. regulation. Globally significant banking sector. Full OECD data.</a:t>
            </a:r>
            <a:endParaRPr lang="en-US" sz="1100"/>
          </a:p>
        </p:txBody>
      </p:sp>
      <p:sp>
        <p:nvSpPr>
          <p:cNvPr id="11" name="Shape 9"/>
          <p:cNvSpPr/>
          <p:nvPr/>
        </p:nvSpPr>
        <p:spPr>
          <a:xfrm>
            <a:off x="457200" y="1874520"/>
            <a:ext cx="8229600" cy="9144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GB"/>
          </a:p>
        </p:txBody>
      </p:sp>
      <p:sp>
        <p:nvSpPr>
          <p:cNvPr id="12" name="Shape 10"/>
          <p:cNvSpPr/>
          <p:nvPr/>
        </p:nvSpPr>
        <p:spPr>
          <a:xfrm>
            <a:off x="457200" y="1874520"/>
            <a:ext cx="73152" cy="914400"/>
          </a:xfrm>
          <a:prstGeom prst="rect">
            <a:avLst/>
          </a:prstGeom>
          <a:solidFill>
            <a:srgbClr val="3A7D3E"/>
          </a:solidFill>
          <a:ln/>
        </p:spPr>
        <p:txBody>
          <a:bodyPr/>
          <a:lstStyle/>
          <a:p>
            <a:endParaRPr lang="en-GB"/>
          </a:p>
        </p:txBody>
      </p:sp>
      <p:sp>
        <p:nvSpPr>
          <p:cNvPr id="13" name="Shape 11"/>
          <p:cNvSpPr/>
          <p:nvPr/>
        </p:nvSpPr>
        <p:spPr>
          <a:xfrm>
            <a:off x="731520" y="2011680"/>
            <a:ext cx="1371600" cy="320040"/>
          </a:xfrm>
          <a:prstGeom prst="rect">
            <a:avLst/>
          </a:prstGeom>
          <a:solidFill>
            <a:srgbClr val="3A7D3E"/>
          </a:solidFill>
          <a:ln/>
        </p:spPr>
        <p:txBody>
          <a:bodyPr/>
          <a:lstStyle/>
          <a:p>
            <a:endParaRPr lang="en-GB"/>
          </a:p>
        </p:txBody>
      </p:sp>
      <p:sp>
        <p:nvSpPr>
          <p:cNvPr id="14" name="Text 12"/>
          <p:cNvSpPr/>
          <p:nvPr/>
        </p:nvSpPr>
        <p:spPr>
          <a:xfrm>
            <a:off x="731520" y="2011680"/>
            <a:ext cx="1371600" cy="320040"/>
          </a:xfrm>
          <a:prstGeom prst="rect">
            <a:avLst/>
          </a:prstGeom>
          <a:noFill/>
          <a:ln/>
        </p:spPr>
        <p:txBody>
          <a:bodyPr wrap="square" rtlCol="0" anchor="ctr"/>
          <a:lstStyle/>
          <a:p>
            <a:pPr marL="0" indent="0" algn="ctr">
              <a:buNone/>
            </a:pPr>
            <a:r>
              <a:rPr lang="en-US" sz="1200" b="1">
                <a:solidFill>
                  <a:srgbClr val="FFFFFF"/>
                </a:solidFill>
                <a:latin typeface="Arial" pitchFamily="34" charset="0"/>
                <a:ea typeface="Arial" pitchFamily="34" charset="-122"/>
                <a:cs typeface="Arial" pitchFamily="34" charset="-120"/>
              </a:rPr>
              <a:t>EEA + CH</a:t>
            </a:r>
            <a:endParaRPr lang="en-US" sz="1200"/>
          </a:p>
        </p:txBody>
      </p:sp>
      <p:sp>
        <p:nvSpPr>
          <p:cNvPr id="15" name="Text 13"/>
          <p:cNvSpPr/>
          <p:nvPr/>
        </p:nvSpPr>
        <p:spPr>
          <a:xfrm>
            <a:off x="2286000" y="1965960"/>
            <a:ext cx="1371600" cy="228600"/>
          </a:xfrm>
          <a:prstGeom prst="rect">
            <a:avLst/>
          </a:prstGeom>
          <a:noFill/>
          <a:ln/>
        </p:spPr>
        <p:txBody>
          <a:bodyPr wrap="square" rtlCol="0" anchor="ctr"/>
          <a:lstStyle/>
          <a:p>
            <a:pPr marL="0" indent="0">
              <a:buNone/>
            </a:pPr>
            <a:r>
              <a:rPr lang="en-US" sz="1100" b="1">
                <a:solidFill>
                  <a:srgbClr val="333333"/>
                </a:solidFill>
                <a:latin typeface="Arial" pitchFamily="34" charset="0"/>
                <a:ea typeface="Arial" pitchFamily="34" charset="-122"/>
                <a:cs typeface="Arial" pitchFamily="34" charset="-120"/>
              </a:rPr>
              <a:t>31 countries</a:t>
            </a:r>
            <a:endParaRPr lang="en-US" sz="1100"/>
          </a:p>
        </p:txBody>
      </p:sp>
      <p:sp>
        <p:nvSpPr>
          <p:cNvPr id="16" name="Text 14"/>
          <p:cNvSpPr/>
          <p:nvPr/>
        </p:nvSpPr>
        <p:spPr>
          <a:xfrm>
            <a:off x="2286000" y="2194560"/>
            <a:ext cx="1371600" cy="228600"/>
          </a:xfrm>
          <a:prstGeom prst="rect">
            <a:avLst/>
          </a:prstGeom>
          <a:noFill/>
          <a:ln/>
        </p:spPr>
        <p:txBody>
          <a:bodyPr wrap="square" rtlCol="0" anchor="ctr"/>
          <a:lstStyle/>
          <a:p>
            <a:pPr marL="0" indent="0">
              <a:buNone/>
            </a:pPr>
            <a:r>
              <a:rPr lang="en-US" sz="1000">
                <a:solidFill>
                  <a:srgbClr val="666666"/>
                </a:solidFill>
                <a:latin typeface="Arial" pitchFamily="34" charset="0"/>
                <a:ea typeface="Arial" pitchFamily="34" charset="-122"/>
                <a:cs typeface="Arial" pitchFamily="34" charset="-120"/>
              </a:rPr>
              <a:t>86,192 obs.</a:t>
            </a:r>
            <a:endParaRPr lang="en-US" sz="1000"/>
          </a:p>
        </p:txBody>
      </p:sp>
      <p:sp>
        <p:nvSpPr>
          <p:cNvPr id="17" name="Text 15"/>
          <p:cNvSpPr/>
          <p:nvPr/>
        </p:nvSpPr>
        <p:spPr>
          <a:xfrm>
            <a:off x="3840480" y="1965960"/>
            <a:ext cx="4663440" cy="731520"/>
          </a:xfrm>
          <a:prstGeom prst="rect">
            <a:avLst/>
          </a:prstGeom>
          <a:noFill/>
          <a:ln/>
        </p:spPr>
        <p:txBody>
          <a:bodyPr wrap="square" rtlCol="0" anchor="ctr"/>
          <a:lstStyle/>
          <a:p>
            <a:pPr marL="0" indent="0">
              <a:buNone/>
            </a:pPr>
            <a:r>
              <a:rPr lang="en-US" sz="1100">
                <a:solidFill>
                  <a:srgbClr val="333333"/>
                </a:solidFill>
                <a:latin typeface="Arial" pitchFamily="34" charset="0"/>
                <a:ea typeface="Arial" pitchFamily="34" charset="-122"/>
                <a:cs typeface="Arial" pitchFamily="34" charset="-120"/>
              </a:rPr>
              <a:t>EU + NO, IS, LI + Switzerland. EU-equiv. financial regulation. Adds Nordic banks.</a:t>
            </a:r>
            <a:endParaRPr lang="en-US" sz="1100"/>
          </a:p>
        </p:txBody>
      </p:sp>
      <p:sp>
        <p:nvSpPr>
          <p:cNvPr id="18" name="Shape 16"/>
          <p:cNvSpPr/>
          <p:nvPr/>
        </p:nvSpPr>
        <p:spPr>
          <a:xfrm>
            <a:off x="457200" y="2926080"/>
            <a:ext cx="8229600" cy="9144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GB"/>
          </a:p>
        </p:txBody>
      </p:sp>
      <p:sp>
        <p:nvSpPr>
          <p:cNvPr id="19" name="Shape 17"/>
          <p:cNvSpPr/>
          <p:nvPr/>
        </p:nvSpPr>
        <p:spPr>
          <a:xfrm>
            <a:off x="457200" y="2926080"/>
            <a:ext cx="73152" cy="914400"/>
          </a:xfrm>
          <a:prstGeom prst="rect">
            <a:avLst/>
          </a:prstGeom>
          <a:solidFill>
            <a:srgbClr val="5A9F5E"/>
          </a:solidFill>
          <a:ln/>
        </p:spPr>
        <p:txBody>
          <a:bodyPr/>
          <a:lstStyle/>
          <a:p>
            <a:endParaRPr lang="en-GB"/>
          </a:p>
        </p:txBody>
      </p:sp>
      <p:sp>
        <p:nvSpPr>
          <p:cNvPr id="20" name="Shape 18"/>
          <p:cNvSpPr/>
          <p:nvPr/>
        </p:nvSpPr>
        <p:spPr>
          <a:xfrm>
            <a:off x="731520" y="3063240"/>
            <a:ext cx="1371600" cy="320040"/>
          </a:xfrm>
          <a:prstGeom prst="rect">
            <a:avLst/>
          </a:prstGeom>
          <a:solidFill>
            <a:srgbClr val="5A9F5E"/>
          </a:solidFill>
          <a:ln/>
        </p:spPr>
        <p:txBody>
          <a:bodyPr/>
          <a:lstStyle/>
          <a:p>
            <a:endParaRPr lang="en-GB"/>
          </a:p>
        </p:txBody>
      </p:sp>
      <p:sp>
        <p:nvSpPr>
          <p:cNvPr id="21" name="Text 19"/>
          <p:cNvSpPr/>
          <p:nvPr/>
        </p:nvSpPr>
        <p:spPr>
          <a:xfrm>
            <a:off x="731520" y="3063240"/>
            <a:ext cx="1371600" cy="320040"/>
          </a:xfrm>
          <a:prstGeom prst="rect">
            <a:avLst/>
          </a:prstGeom>
          <a:noFill/>
          <a:ln/>
        </p:spPr>
        <p:txBody>
          <a:bodyPr wrap="square" rtlCol="0" anchor="ctr"/>
          <a:lstStyle/>
          <a:p>
            <a:pPr marL="0" indent="0" algn="ctr">
              <a:buNone/>
            </a:pPr>
            <a:r>
              <a:rPr lang="en-US" sz="1200" b="1">
                <a:solidFill>
                  <a:srgbClr val="FFFFFF"/>
                </a:solidFill>
                <a:latin typeface="Arial" pitchFamily="34" charset="0"/>
                <a:ea typeface="Arial" pitchFamily="34" charset="-122"/>
                <a:cs typeface="Arial" pitchFamily="34" charset="-120"/>
              </a:rPr>
              <a:t>Eurozone</a:t>
            </a:r>
            <a:endParaRPr lang="en-US" sz="1200"/>
          </a:p>
        </p:txBody>
      </p:sp>
      <p:sp>
        <p:nvSpPr>
          <p:cNvPr id="22" name="Text 20"/>
          <p:cNvSpPr/>
          <p:nvPr/>
        </p:nvSpPr>
        <p:spPr>
          <a:xfrm>
            <a:off x="2286000" y="3017520"/>
            <a:ext cx="1371600" cy="228600"/>
          </a:xfrm>
          <a:prstGeom prst="rect">
            <a:avLst/>
          </a:prstGeom>
          <a:noFill/>
          <a:ln/>
        </p:spPr>
        <p:txBody>
          <a:bodyPr wrap="square" rtlCol="0" anchor="ctr"/>
          <a:lstStyle/>
          <a:p>
            <a:pPr marL="0" indent="0">
              <a:buNone/>
            </a:pPr>
            <a:r>
              <a:rPr lang="en-US" sz="1100" b="1">
                <a:solidFill>
                  <a:srgbClr val="333333"/>
                </a:solidFill>
                <a:latin typeface="Arial" pitchFamily="34" charset="0"/>
                <a:ea typeface="Arial" pitchFamily="34" charset="-122"/>
                <a:cs typeface="Arial" pitchFamily="34" charset="-120"/>
              </a:rPr>
              <a:t>20 countries</a:t>
            </a:r>
            <a:endParaRPr lang="en-US" sz="1100"/>
          </a:p>
        </p:txBody>
      </p:sp>
      <p:sp>
        <p:nvSpPr>
          <p:cNvPr id="23" name="Text 21"/>
          <p:cNvSpPr/>
          <p:nvPr/>
        </p:nvSpPr>
        <p:spPr>
          <a:xfrm>
            <a:off x="2286000" y="3246120"/>
            <a:ext cx="1371600" cy="228600"/>
          </a:xfrm>
          <a:prstGeom prst="rect">
            <a:avLst/>
          </a:prstGeom>
          <a:noFill/>
          <a:ln/>
        </p:spPr>
        <p:txBody>
          <a:bodyPr wrap="square" rtlCol="0" anchor="ctr"/>
          <a:lstStyle/>
          <a:p>
            <a:pPr marL="0" indent="0">
              <a:buNone/>
            </a:pPr>
            <a:r>
              <a:rPr lang="en-US" sz="1000">
                <a:solidFill>
                  <a:srgbClr val="666666"/>
                </a:solidFill>
                <a:latin typeface="Arial" pitchFamily="34" charset="0"/>
                <a:ea typeface="Arial" pitchFamily="34" charset="-122"/>
                <a:cs typeface="Arial" pitchFamily="34" charset="-120"/>
              </a:rPr>
              <a:t>71,600 obs.</a:t>
            </a:r>
            <a:endParaRPr lang="en-US" sz="1000"/>
          </a:p>
        </p:txBody>
      </p:sp>
      <p:sp>
        <p:nvSpPr>
          <p:cNvPr id="24" name="Text 22"/>
          <p:cNvSpPr/>
          <p:nvPr/>
        </p:nvSpPr>
        <p:spPr>
          <a:xfrm>
            <a:off x="3840480" y="3017520"/>
            <a:ext cx="4663440" cy="731520"/>
          </a:xfrm>
          <a:prstGeom prst="rect">
            <a:avLst/>
          </a:prstGeom>
          <a:noFill/>
          <a:ln/>
        </p:spPr>
        <p:txBody>
          <a:bodyPr wrap="square" rtlCol="0" anchor="ctr"/>
          <a:lstStyle/>
          <a:p>
            <a:pPr marL="0" indent="0">
              <a:buNone/>
            </a:pPr>
            <a:r>
              <a:rPr lang="en-US" sz="1100">
                <a:solidFill>
                  <a:srgbClr val="333333"/>
                </a:solidFill>
                <a:latin typeface="Arial" pitchFamily="34" charset="0"/>
                <a:ea typeface="Arial" pitchFamily="34" charset="-122"/>
                <a:cs typeface="Arial" pitchFamily="34" charset="-120"/>
              </a:rPr>
              <a:t>Euro currency area. Common monetary policy. Too narrow—excludes CH, DK, SE, PL.</a:t>
            </a:r>
            <a:endParaRPr lang="en-US" sz="1100"/>
          </a:p>
        </p:txBody>
      </p:sp>
      <p:sp>
        <p:nvSpPr>
          <p:cNvPr id="25" name="Shape 23"/>
          <p:cNvSpPr/>
          <p:nvPr/>
        </p:nvSpPr>
        <p:spPr>
          <a:xfrm>
            <a:off x="457200" y="3977640"/>
            <a:ext cx="8229600" cy="9144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GB"/>
          </a:p>
        </p:txBody>
      </p:sp>
      <p:sp>
        <p:nvSpPr>
          <p:cNvPr id="26" name="Shape 24"/>
          <p:cNvSpPr/>
          <p:nvPr/>
        </p:nvSpPr>
        <p:spPr>
          <a:xfrm>
            <a:off x="457200" y="3977640"/>
            <a:ext cx="73152" cy="914400"/>
          </a:xfrm>
          <a:prstGeom prst="rect">
            <a:avLst/>
          </a:prstGeom>
          <a:solidFill>
            <a:srgbClr val="97BC62"/>
          </a:solidFill>
          <a:ln/>
        </p:spPr>
        <p:txBody>
          <a:bodyPr/>
          <a:lstStyle/>
          <a:p>
            <a:endParaRPr lang="en-GB"/>
          </a:p>
        </p:txBody>
      </p:sp>
      <p:sp>
        <p:nvSpPr>
          <p:cNvPr id="27" name="Shape 25"/>
          <p:cNvSpPr/>
          <p:nvPr/>
        </p:nvSpPr>
        <p:spPr>
          <a:xfrm>
            <a:off x="731520" y="4114800"/>
            <a:ext cx="1371600" cy="320040"/>
          </a:xfrm>
          <a:prstGeom prst="rect">
            <a:avLst/>
          </a:prstGeom>
          <a:solidFill>
            <a:srgbClr val="97BC62"/>
          </a:solidFill>
          <a:ln/>
        </p:spPr>
        <p:txBody>
          <a:bodyPr/>
          <a:lstStyle/>
          <a:p>
            <a:endParaRPr lang="en-GB"/>
          </a:p>
        </p:txBody>
      </p:sp>
      <p:sp>
        <p:nvSpPr>
          <p:cNvPr id="28" name="Text 26"/>
          <p:cNvSpPr/>
          <p:nvPr/>
        </p:nvSpPr>
        <p:spPr>
          <a:xfrm>
            <a:off x="731520" y="4114800"/>
            <a:ext cx="1371600" cy="320040"/>
          </a:xfrm>
          <a:prstGeom prst="rect">
            <a:avLst/>
          </a:prstGeom>
          <a:noFill/>
          <a:ln/>
        </p:spPr>
        <p:txBody>
          <a:bodyPr wrap="square" rtlCol="0" anchor="ctr"/>
          <a:lstStyle/>
          <a:p>
            <a:pPr marL="0" indent="0" algn="ctr">
              <a:buNone/>
            </a:pPr>
            <a:r>
              <a:rPr lang="en-US" sz="1200" b="1">
                <a:solidFill>
                  <a:srgbClr val="FFFFFF"/>
                </a:solidFill>
                <a:latin typeface="Arial" pitchFamily="34" charset="0"/>
                <a:ea typeface="Arial" pitchFamily="34" charset="-122"/>
                <a:cs typeface="Arial" pitchFamily="34" charset="-120"/>
              </a:rPr>
              <a:t>Geographic</a:t>
            </a:r>
            <a:endParaRPr lang="en-US" sz="1200"/>
          </a:p>
        </p:txBody>
      </p:sp>
      <p:sp>
        <p:nvSpPr>
          <p:cNvPr id="29" name="Text 27"/>
          <p:cNvSpPr/>
          <p:nvPr/>
        </p:nvSpPr>
        <p:spPr>
          <a:xfrm>
            <a:off x="2286000" y="4069080"/>
            <a:ext cx="1371600" cy="228600"/>
          </a:xfrm>
          <a:prstGeom prst="rect">
            <a:avLst/>
          </a:prstGeom>
          <a:noFill/>
          <a:ln/>
        </p:spPr>
        <p:txBody>
          <a:bodyPr wrap="square" rtlCol="0" anchor="ctr"/>
          <a:lstStyle/>
          <a:p>
            <a:pPr marL="0" indent="0">
              <a:buNone/>
            </a:pPr>
            <a:r>
              <a:rPr lang="en-US" sz="1100" b="1">
                <a:solidFill>
                  <a:srgbClr val="333333"/>
                </a:solidFill>
                <a:latin typeface="Arial" pitchFamily="34" charset="0"/>
                <a:ea typeface="Arial" pitchFamily="34" charset="-122"/>
                <a:cs typeface="Arial" pitchFamily="34" charset="-120"/>
              </a:rPr>
              <a:t>55 countries</a:t>
            </a:r>
            <a:endParaRPr lang="en-US" sz="1100"/>
          </a:p>
        </p:txBody>
      </p:sp>
      <p:sp>
        <p:nvSpPr>
          <p:cNvPr id="30" name="Text 28"/>
          <p:cNvSpPr/>
          <p:nvPr/>
        </p:nvSpPr>
        <p:spPr>
          <a:xfrm>
            <a:off x="2286000" y="4297680"/>
            <a:ext cx="1371600" cy="228600"/>
          </a:xfrm>
          <a:prstGeom prst="rect">
            <a:avLst/>
          </a:prstGeom>
          <a:noFill/>
          <a:ln/>
        </p:spPr>
        <p:txBody>
          <a:bodyPr wrap="square" rtlCol="0" anchor="ctr"/>
          <a:lstStyle/>
          <a:p>
            <a:pPr marL="0" indent="0">
              <a:buNone/>
            </a:pPr>
            <a:r>
              <a:rPr lang="en-US" sz="1000">
                <a:solidFill>
                  <a:srgbClr val="666666"/>
                </a:solidFill>
                <a:latin typeface="Arial" pitchFamily="34" charset="0"/>
                <a:ea typeface="Arial" pitchFamily="34" charset="-122"/>
                <a:cs typeface="Arial" pitchFamily="34" charset="-120"/>
              </a:rPr>
              <a:t>104,848 obs.</a:t>
            </a:r>
            <a:endParaRPr lang="en-US" sz="1000"/>
          </a:p>
        </p:txBody>
      </p:sp>
      <p:sp>
        <p:nvSpPr>
          <p:cNvPr id="31" name="Text 29"/>
          <p:cNvSpPr/>
          <p:nvPr/>
        </p:nvSpPr>
        <p:spPr>
          <a:xfrm>
            <a:off x="3840480" y="4069080"/>
            <a:ext cx="4663440" cy="731520"/>
          </a:xfrm>
          <a:prstGeom prst="rect">
            <a:avLst/>
          </a:prstGeom>
          <a:noFill/>
          <a:ln/>
        </p:spPr>
        <p:txBody>
          <a:bodyPr wrap="square" rtlCol="0" anchor="ctr"/>
          <a:lstStyle/>
          <a:p>
            <a:pPr marL="0" indent="0">
              <a:buNone/>
            </a:pPr>
            <a:r>
              <a:rPr lang="en-US" sz="1100">
                <a:solidFill>
                  <a:srgbClr val="333333"/>
                </a:solidFill>
                <a:latin typeface="Arial" pitchFamily="34" charset="0"/>
                <a:ea typeface="Arial" pitchFamily="34" charset="-122"/>
                <a:cs typeface="Arial" pitchFamily="34" charset="-120"/>
              </a:rPr>
              <a:t>Broadest. Incl. UK, TR, RU, Balkans. Max sample but heterogeneous regulation.</a:t>
            </a:r>
            <a:endParaRPr lang="en-US" sz="1100"/>
          </a:p>
        </p:txBody>
      </p:sp>
      <p:sp>
        <p:nvSpPr>
          <p:cNvPr id="32" name="Shape 30"/>
          <p:cNvSpPr/>
          <p:nvPr/>
        </p:nvSpPr>
        <p:spPr>
          <a:xfrm>
            <a:off x="457200" y="4572000"/>
            <a:ext cx="8229600" cy="411480"/>
          </a:xfrm>
          <a:prstGeom prst="rect">
            <a:avLst/>
          </a:prstGeom>
          <a:solidFill>
            <a:srgbClr val="E8F5E9"/>
          </a:solidFill>
          <a:ln/>
        </p:spPr>
        <p:txBody>
          <a:bodyPr/>
          <a:lstStyle/>
          <a:p>
            <a:endParaRPr lang="en-GB"/>
          </a:p>
        </p:txBody>
      </p:sp>
      <p:sp>
        <p:nvSpPr>
          <p:cNvPr id="33" name="Text 31"/>
          <p:cNvSpPr/>
          <p:nvPr/>
        </p:nvSpPr>
        <p:spPr>
          <a:xfrm>
            <a:off x="640080" y="4572000"/>
            <a:ext cx="7863840" cy="411480"/>
          </a:xfrm>
          <a:prstGeom prst="rect">
            <a:avLst/>
          </a:prstGeom>
          <a:noFill/>
          <a:ln/>
        </p:spPr>
        <p:txBody>
          <a:bodyPr wrap="square" rtlCol="0" anchor="ctr"/>
          <a:lstStyle/>
          <a:p>
            <a:pPr marL="0" indent="0">
              <a:buNone/>
            </a:pPr>
            <a:r>
              <a:rPr lang="en-US" sz="1100" b="1">
                <a:solidFill>
                  <a:srgbClr val="2C5F2D"/>
                </a:solidFill>
                <a:latin typeface="Arial" pitchFamily="34" charset="0"/>
                <a:ea typeface="Arial" pitchFamily="34" charset="-122"/>
                <a:cs typeface="Arial" pitchFamily="34" charset="-120"/>
              </a:rPr>
              <a:t>✓ Recommendation: </a:t>
            </a:r>
            <a:r>
              <a:rPr lang="en-US" sz="1100">
                <a:solidFill>
                  <a:srgbClr val="333333"/>
                </a:solidFill>
                <a:latin typeface="Arial" pitchFamily="34" charset="0"/>
                <a:ea typeface="Arial" pitchFamily="34" charset="-122"/>
                <a:cs typeface="Arial" pitchFamily="34" charset="-120"/>
              </a:rPr>
              <a:t>EU-27 + CH as primary sample, EEA + CH for robustness.</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C5F2D"/>
          </a:solidFill>
          <a:ln/>
        </p:spPr>
        <p:txBody>
          <a:bodyPr/>
          <a:lstStyle/>
          <a:p>
            <a:endParaRPr lang="en-GB"/>
          </a:p>
        </p:txBody>
      </p:sp>
      <p:sp>
        <p:nvSpPr>
          <p:cNvPr id="3" name="Text 1"/>
          <p:cNvSpPr/>
          <p:nvPr/>
        </p:nvSpPr>
        <p:spPr>
          <a:xfrm>
            <a:off x="457200" y="73152"/>
            <a:ext cx="8229600" cy="411480"/>
          </a:xfrm>
          <a:prstGeom prst="rect">
            <a:avLst/>
          </a:prstGeom>
          <a:noFill/>
          <a:ln/>
        </p:spPr>
        <p:txBody>
          <a:bodyPr wrap="square" rtlCol="0" anchor="ctr"/>
          <a:lstStyle/>
          <a:p>
            <a:pPr marL="0" indent="0">
              <a:buNone/>
            </a:pPr>
            <a:r>
              <a:rPr lang="en-US" sz="2000" b="1">
                <a:solidFill>
                  <a:srgbClr val="FFFFFF"/>
                </a:solidFill>
                <a:latin typeface="Georgia" pitchFamily="34" charset="0"/>
                <a:ea typeface="Georgia" pitchFamily="34" charset="-122"/>
                <a:cs typeface="Georgia" pitchFamily="34" charset="-120"/>
              </a:rPr>
              <a:t>Population Aged 65+ in EU-27 + CH (2025)</a:t>
            </a:r>
            <a:endParaRPr lang="en-US" sz="2000"/>
          </a:p>
        </p:txBody>
      </p:sp>
      <p:graphicFrame>
        <p:nvGraphicFramePr>
          <p:cNvPr id="4" name="Chart 0"/>
          <p:cNvGraphicFramePr/>
          <p:nvPr/>
        </p:nvGraphicFramePr>
        <p:xfrm>
          <a:off x="274320" y="685800"/>
          <a:ext cx="859536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4572000"/>
            <a:ext cx="2743200" cy="228600"/>
          </a:xfrm>
          <a:prstGeom prst="rect">
            <a:avLst/>
          </a:prstGeom>
          <a:noFill/>
          <a:ln/>
        </p:spPr>
        <p:txBody>
          <a:bodyPr wrap="square" rtlCol="0" anchor="ctr"/>
          <a:lstStyle/>
          <a:p>
            <a:pPr marL="0" indent="0">
              <a:buNone/>
            </a:pPr>
            <a:r>
              <a:rPr lang="en-US" sz="900" b="1">
                <a:solidFill>
                  <a:srgbClr val="FF6B6B"/>
                </a:solidFill>
                <a:latin typeface="Arial" pitchFamily="34" charset="0"/>
                <a:ea typeface="Arial" pitchFamily="34" charset="-122"/>
                <a:cs typeface="Arial" pitchFamily="34" charset="-120"/>
              </a:rPr>
              <a:t>EU-27 avg: 22.0% | CH: 19.5%</a:t>
            </a:r>
            <a:endParaRPr lang="en-US" sz="900"/>
          </a:p>
        </p:txBody>
      </p:sp>
      <p:sp>
        <p:nvSpPr>
          <p:cNvPr id="6" name="Text 3"/>
          <p:cNvSpPr/>
          <p:nvPr/>
        </p:nvSpPr>
        <p:spPr>
          <a:xfrm>
            <a:off x="5029200" y="4572000"/>
            <a:ext cx="3657600" cy="228600"/>
          </a:xfrm>
          <a:prstGeom prst="rect">
            <a:avLst/>
          </a:prstGeom>
          <a:noFill/>
          <a:ln/>
        </p:spPr>
        <p:txBody>
          <a:bodyPr wrap="square" rtlCol="0" anchor="ctr"/>
          <a:lstStyle/>
          <a:p>
            <a:pPr marL="0" indent="0" algn="r">
              <a:buNone/>
            </a:pPr>
            <a:r>
              <a:rPr lang="en-US" sz="800" i="1">
                <a:solidFill>
                  <a:srgbClr val="666666"/>
                </a:solidFill>
                <a:latin typeface="Arial" pitchFamily="34" charset="0"/>
                <a:ea typeface="Arial" pitchFamily="34" charset="-122"/>
                <a:cs typeface="Arial" pitchFamily="34" charset="-120"/>
              </a:rPr>
              <a:t>Source: Eurostat demo_pjanind (2025); BFS for CH</a:t>
            </a:r>
            <a:endParaRPr lang="en-US" sz="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C5F2D"/>
          </a:solidFill>
          <a:ln/>
        </p:spPr>
        <p:txBody>
          <a:bodyPr/>
          <a:lstStyle/>
          <a:p>
            <a:endParaRPr lang="en-GB"/>
          </a:p>
        </p:txBody>
      </p:sp>
      <p:sp>
        <p:nvSpPr>
          <p:cNvPr id="3" name="Text 1"/>
          <p:cNvSpPr/>
          <p:nvPr/>
        </p:nvSpPr>
        <p:spPr>
          <a:xfrm>
            <a:off x="457200" y="73152"/>
            <a:ext cx="8229600" cy="411480"/>
          </a:xfrm>
          <a:prstGeom prst="rect">
            <a:avLst/>
          </a:prstGeom>
          <a:noFill/>
          <a:ln/>
        </p:spPr>
        <p:txBody>
          <a:bodyPr wrap="square" rtlCol="0" anchor="ctr"/>
          <a:lstStyle/>
          <a:p>
            <a:pPr marL="0" indent="0">
              <a:buNone/>
            </a:pPr>
            <a:r>
              <a:rPr lang="en-US" sz="1800" b="1">
                <a:solidFill>
                  <a:srgbClr val="FFFFFF"/>
                </a:solidFill>
                <a:latin typeface="Georgia" pitchFamily="34" charset="0"/>
                <a:ea typeface="Georgia" pitchFamily="34" charset="-122"/>
                <a:cs typeface="Georgia" pitchFamily="34" charset="-120"/>
              </a:rPr>
              <a:t>"Death Gap": Life Expectancy – Retirement Age (EU-27 + CH)</a:t>
            </a:r>
            <a:endParaRPr lang="en-US" sz="1800"/>
          </a:p>
        </p:txBody>
      </p:sp>
      <p:graphicFrame>
        <p:nvGraphicFramePr>
          <p:cNvPr id="4" name="Chart 0"/>
          <p:cNvGraphicFramePr/>
          <p:nvPr/>
        </p:nvGraphicFramePr>
        <p:xfrm>
          <a:off x="274320" y="685800"/>
          <a:ext cx="85953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4389120"/>
            <a:ext cx="8229600" cy="274320"/>
          </a:xfrm>
          <a:prstGeom prst="rect">
            <a:avLst/>
          </a:prstGeom>
          <a:noFill/>
          <a:ln/>
        </p:spPr>
        <p:txBody>
          <a:bodyPr wrap="square" rtlCol="0" anchor="ctr"/>
          <a:lstStyle/>
          <a:p>
            <a:pPr marL="0" indent="0">
              <a:buNone/>
            </a:pPr>
            <a:r>
              <a:rPr lang="en-US" sz="900" i="1">
                <a:solidFill>
                  <a:srgbClr val="666666"/>
                </a:solidFill>
                <a:latin typeface="Arial" pitchFamily="34" charset="0"/>
                <a:ea typeface="Arial" pitchFamily="34" charset="-122"/>
                <a:cs typeface="Arial" pitchFamily="34" charset="-120"/>
              </a:rPr>
              <a:t>Death Gap = Life Expectancy at Birth – OECD Current Retirement Age (avg. M/F)  |  H2: Wider gap → higher deposits</a:t>
            </a:r>
            <a:endParaRPr lang="en-US" sz="900"/>
          </a:p>
        </p:txBody>
      </p:sp>
      <p:sp>
        <p:nvSpPr>
          <p:cNvPr id="6" name="Text 3"/>
          <p:cNvSpPr/>
          <p:nvPr/>
        </p:nvSpPr>
        <p:spPr>
          <a:xfrm>
            <a:off x="457200" y="4663440"/>
            <a:ext cx="8229600" cy="274320"/>
          </a:xfrm>
          <a:prstGeom prst="rect">
            <a:avLst/>
          </a:prstGeom>
          <a:noFill/>
          <a:ln/>
        </p:spPr>
        <p:txBody>
          <a:bodyPr wrap="square" rtlCol="0" anchor="ctr"/>
          <a:lstStyle/>
          <a:p>
            <a:pPr marL="0" indent="0" algn="r">
              <a:buNone/>
            </a:pPr>
            <a:r>
              <a:rPr lang="en-US" sz="800" i="1">
                <a:solidFill>
                  <a:srgbClr val="666666"/>
                </a:solidFill>
                <a:latin typeface="Arial" pitchFamily="34" charset="0"/>
                <a:ea typeface="Arial" pitchFamily="34" charset="-122"/>
                <a:cs typeface="Arial" pitchFamily="34" charset="-120"/>
              </a:rPr>
              <a:t>Sources: Eurostat demo_mlexpec (2023); OECD Pensions at a Glance (2024)</a:t>
            </a:r>
            <a:endParaRPr lang="en-US" sz="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C5F2D"/>
          </a:solidFill>
          <a:ln/>
        </p:spPr>
        <p:txBody>
          <a:bodyPr/>
          <a:lstStyle/>
          <a:p>
            <a:endParaRPr lang="en-GB"/>
          </a:p>
        </p:txBody>
      </p:sp>
      <p:sp>
        <p:nvSpPr>
          <p:cNvPr id="3" name="Text 1"/>
          <p:cNvSpPr/>
          <p:nvPr/>
        </p:nvSpPr>
        <p:spPr>
          <a:xfrm>
            <a:off x="457200" y="73152"/>
            <a:ext cx="8229600" cy="411480"/>
          </a:xfrm>
          <a:prstGeom prst="rect">
            <a:avLst/>
          </a:prstGeom>
          <a:noFill/>
          <a:ln/>
        </p:spPr>
        <p:txBody>
          <a:bodyPr wrap="square" rtlCol="0" anchor="ctr"/>
          <a:lstStyle/>
          <a:p>
            <a:pPr marL="0" indent="0">
              <a:buNone/>
            </a:pPr>
            <a:r>
              <a:rPr lang="en-US" sz="2000" b="1">
                <a:solidFill>
                  <a:srgbClr val="FFFFFF"/>
                </a:solidFill>
                <a:latin typeface="Georgia" pitchFamily="34" charset="0"/>
                <a:ea typeface="Georgia" pitchFamily="34" charset="-122"/>
                <a:cs typeface="Georgia" pitchFamily="34" charset="-120"/>
              </a:rPr>
              <a:t>Pension System Classification (EU-27 + CH)</a:t>
            </a:r>
            <a:endParaRPr lang="en-US" sz="2000"/>
          </a:p>
        </p:txBody>
      </p:sp>
      <p:sp>
        <p:nvSpPr>
          <p:cNvPr id="4" name="Shape 2"/>
          <p:cNvSpPr/>
          <p:nvPr/>
        </p:nvSpPr>
        <p:spPr>
          <a:xfrm>
            <a:off x="457200" y="777240"/>
            <a:ext cx="8229600" cy="12344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GB"/>
          </a:p>
        </p:txBody>
      </p:sp>
      <p:sp>
        <p:nvSpPr>
          <p:cNvPr id="5" name="Shape 3"/>
          <p:cNvSpPr/>
          <p:nvPr/>
        </p:nvSpPr>
        <p:spPr>
          <a:xfrm>
            <a:off x="457200" y="777240"/>
            <a:ext cx="73152" cy="1234440"/>
          </a:xfrm>
          <a:prstGeom prst="rect">
            <a:avLst/>
          </a:prstGeom>
          <a:solidFill>
            <a:srgbClr val="B85042"/>
          </a:solidFill>
          <a:ln/>
        </p:spPr>
        <p:txBody>
          <a:bodyPr/>
          <a:lstStyle/>
          <a:p>
            <a:endParaRPr lang="en-GB"/>
          </a:p>
        </p:txBody>
      </p:sp>
      <p:sp>
        <p:nvSpPr>
          <p:cNvPr id="6" name="Shape 4"/>
          <p:cNvSpPr/>
          <p:nvPr/>
        </p:nvSpPr>
        <p:spPr>
          <a:xfrm>
            <a:off x="731520" y="914400"/>
            <a:ext cx="1645920" cy="320040"/>
          </a:xfrm>
          <a:prstGeom prst="rect">
            <a:avLst/>
          </a:prstGeom>
          <a:solidFill>
            <a:srgbClr val="B85042"/>
          </a:solidFill>
          <a:ln/>
        </p:spPr>
        <p:txBody>
          <a:bodyPr/>
          <a:lstStyle/>
          <a:p>
            <a:endParaRPr lang="en-GB"/>
          </a:p>
        </p:txBody>
      </p:sp>
      <p:sp>
        <p:nvSpPr>
          <p:cNvPr id="7" name="Text 5"/>
          <p:cNvSpPr/>
          <p:nvPr/>
        </p:nvSpPr>
        <p:spPr>
          <a:xfrm>
            <a:off x="731520" y="914400"/>
            <a:ext cx="1645920" cy="320040"/>
          </a:xfrm>
          <a:prstGeom prst="rect">
            <a:avLst/>
          </a:prstGeom>
          <a:noFill/>
          <a:ln/>
        </p:spPr>
        <p:txBody>
          <a:bodyPr wrap="square" rtlCol="0" anchor="ctr"/>
          <a:lstStyle/>
          <a:p>
            <a:pPr marL="0" indent="0" algn="ctr">
              <a:buNone/>
            </a:pPr>
            <a:r>
              <a:rPr lang="en-US" sz="1100" b="1">
                <a:solidFill>
                  <a:srgbClr val="FFFFFF"/>
                </a:solidFill>
                <a:latin typeface="Arial" pitchFamily="34" charset="0"/>
                <a:ea typeface="Arial" pitchFamily="34" charset="-122"/>
                <a:cs typeface="Arial" pitchFamily="34" charset="-120"/>
              </a:rPr>
              <a:t>Bismarckian</a:t>
            </a:r>
            <a:endParaRPr lang="en-US" sz="1100"/>
          </a:p>
        </p:txBody>
      </p:sp>
      <p:sp>
        <p:nvSpPr>
          <p:cNvPr id="8" name="Text 6"/>
          <p:cNvSpPr/>
          <p:nvPr/>
        </p:nvSpPr>
        <p:spPr>
          <a:xfrm>
            <a:off x="731520" y="1325880"/>
            <a:ext cx="1645920" cy="228600"/>
          </a:xfrm>
          <a:prstGeom prst="rect">
            <a:avLst/>
          </a:prstGeom>
          <a:noFill/>
          <a:ln/>
        </p:spPr>
        <p:txBody>
          <a:bodyPr wrap="square" rtlCol="0" anchor="ctr"/>
          <a:lstStyle/>
          <a:p>
            <a:pPr marL="0" indent="0" algn="ctr">
              <a:buNone/>
            </a:pPr>
            <a:r>
              <a:rPr lang="en-US" sz="1000">
                <a:solidFill>
                  <a:srgbClr val="666666"/>
                </a:solidFill>
                <a:latin typeface="Arial" pitchFamily="34" charset="0"/>
                <a:ea typeface="Arial" pitchFamily="34" charset="-122"/>
                <a:cs typeface="Arial" pitchFamily="34" charset="-120"/>
              </a:rPr>
              <a:t>17 countries</a:t>
            </a:r>
            <a:endParaRPr lang="en-US" sz="1000"/>
          </a:p>
        </p:txBody>
      </p:sp>
      <p:sp>
        <p:nvSpPr>
          <p:cNvPr id="9" name="Text 7"/>
          <p:cNvSpPr/>
          <p:nvPr/>
        </p:nvSpPr>
        <p:spPr>
          <a:xfrm>
            <a:off x="2651760" y="868680"/>
            <a:ext cx="5852160" cy="457200"/>
          </a:xfrm>
          <a:prstGeom prst="rect">
            <a:avLst/>
          </a:prstGeom>
          <a:noFill/>
          <a:ln/>
        </p:spPr>
        <p:txBody>
          <a:bodyPr wrap="square" rtlCol="0" anchor="ctr"/>
          <a:lstStyle/>
          <a:p>
            <a:pPr marL="0" indent="0">
              <a:buNone/>
            </a:pPr>
            <a:r>
              <a:rPr lang="en-US" sz="1100">
                <a:solidFill>
                  <a:srgbClr val="333333"/>
                </a:solidFill>
                <a:latin typeface="Arial" pitchFamily="34" charset="0"/>
                <a:ea typeface="Arial" pitchFamily="34" charset="-122"/>
                <a:cs typeface="Arial" pitchFamily="34" charset="-120"/>
              </a:rPr>
              <a:t>Earnings-related, contribution-based. Benefits proportional to past earnings. Dominant in Continental &amp; Southern Europe.</a:t>
            </a:r>
            <a:endParaRPr lang="en-US" sz="1100"/>
          </a:p>
        </p:txBody>
      </p:sp>
      <p:sp>
        <p:nvSpPr>
          <p:cNvPr id="10" name="Text 8"/>
          <p:cNvSpPr/>
          <p:nvPr/>
        </p:nvSpPr>
        <p:spPr>
          <a:xfrm>
            <a:off x="2651760" y="1371600"/>
            <a:ext cx="5852160" cy="502920"/>
          </a:xfrm>
          <a:prstGeom prst="rect">
            <a:avLst/>
          </a:prstGeom>
          <a:noFill/>
          <a:ln/>
        </p:spPr>
        <p:txBody>
          <a:bodyPr wrap="square" rtlCol="0" anchor="ctr"/>
          <a:lstStyle/>
          <a:p>
            <a:pPr marL="0" indent="0">
              <a:buNone/>
            </a:pPr>
            <a:r>
              <a:rPr lang="en-US" sz="1000" i="1">
                <a:solidFill>
                  <a:srgbClr val="666666"/>
                </a:solidFill>
                <a:latin typeface="Arial" pitchFamily="34" charset="0"/>
                <a:ea typeface="Arial" pitchFamily="34" charset="-122"/>
                <a:cs typeface="Arial" pitchFamily="34" charset="-120"/>
              </a:rPr>
              <a:t>DE, FR, IT, AT, ES, PT, EL, BE, LU, PL, CZ, HU, SK, SI, HR, RO, BG</a:t>
            </a:r>
            <a:endParaRPr lang="en-US" sz="1000"/>
          </a:p>
        </p:txBody>
      </p:sp>
      <p:sp>
        <p:nvSpPr>
          <p:cNvPr id="11" name="Shape 9"/>
          <p:cNvSpPr/>
          <p:nvPr/>
        </p:nvSpPr>
        <p:spPr>
          <a:xfrm>
            <a:off x="457200" y="2148840"/>
            <a:ext cx="8229600" cy="12344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GB"/>
          </a:p>
        </p:txBody>
      </p:sp>
      <p:sp>
        <p:nvSpPr>
          <p:cNvPr id="12" name="Shape 10"/>
          <p:cNvSpPr/>
          <p:nvPr/>
        </p:nvSpPr>
        <p:spPr>
          <a:xfrm>
            <a:off x="457200" y="2148840"/>
            <a:ext cx="73152" cy="1234440"/>
          </a:xfrm>
          <a:prstGeom prst="rect">
            <a:avLst/>
          </a:prstGeom>
          <a:solidFill>
            <a:srgbClr val="065A82"/>
          </a:solidFill>
          <a:ln/>
        </p:spPr>
        <p:txBody>
          <a:bodyPr/>
          <a:lstStyle/>
          <a:p>
            <a:endParaRPr lang="en-GB"/>
          </a:p>
        </p:txBody>
      </p:sp>
      <p:sp>
        <p:nvSpPr>
          <p:cNvPr id="13" name="Shape 11"/>
          <p:cNvSpPr/>
          <p:nvPr/>
        </p:nvSpPr>
        <p:spPr>
          <a:xfrm>
            <a:off x="731520" y="2286000"/>
            <a:ext cx="1645920" cy="320040"/>
          </a:xfrm>
          <a:prstGeom prst="rect">
            <a:avLst/>
          </a:prstGeom>
          <a:solidFill>
            <a:srgbClr val="065A82"/>
          </a:solidFill>
          <a:ln/>
        </p:spPr>
        <p:txBody>
          <a:bodyPr/>
          <a:lstStyle/>
          <a:p>
            <a:endParaRPr lang="en-GB"/>
          </a:p>
        </p:txBody>
      </p:sp>
      <p:sp>
        <p:nvSpPr>
          <p:cNvPr id="14" name="Text 12"/>
          <p:cNvSpPr/>
          <p:nvPr/>
        </p:nvSpPr>
        <p:spPr>
          <a:xfrm>
            <a:off x="731520" y="2286000"/>
            <a:ext cx="1645920" cy="320040"/>
          </a:xfrm>
          <a:prstGeom prst="rect">
            <a:avLst/>
          </a:prstGeom>
          <a:noFill/>
          <a:ln/>
        </p:spPr>
        <p:txBody>
          <a:bodyPr wrap="square" rtlCol="0" anchor="ctr"/>
          <a:lstStyle/>
          <a:p>
            <a:pPr marL="0" indent="0" algn="ctr">
              <a:buNone/>
            </a:pPr>
            <a:r>
              <a:rPr lang="en-US" sz="1100" b="1">
                <a:solidFill>
                  <a:srgbClr val="FFFFFF"/>
                </a:solidFill>
                <a:latin typeface="Arial" pitchFamily="34" charset="0"/>
                <a:ea typeface="Arial" pitchFamily="34" charset="-122"/>
                <a:cs typeface="Arial" pitchFamily="34" charset="-120"/>
              </a:rPr>
              <a:t>Beveridgean</a:t>
            </a:r>
            <a:endParaRPr lang="en-US" sz="1100"/>
          </a:p>
        </p:txBody>
      </p:sp>
      <p:sp>
        <p:nvSpPr>
          <p:cNvPr id="15" name="Text 13"/>
          <p:cNvSpPr/>
          <p:nvPr/>
        </p:nvSpPr>
        <p:spPr>
          <a:xfrm>
            <a:off x="731520" y="2697480"/>
            <a:ext cx="1645920" cy="228600"/>
          </a:xfrm>
          <a:prstGeom prst="rect">
            <a:avLst/>
          </a:prstGeom>
          <a:noFill/>
          <a:ln/>
        </p:spPr>
        <p:txBody>
          <a:bodyPr wrap="square" rtlCol="0" anchor="ctr"/>
          <a:lstStyle/>
          <a:p>
            <a:pPr marL="0" indent="0" algn="ctr">
              <a:buNone/>
            </a:pPr>
            <a:r>
              <a:rPr lang="en-US" sz="1000">
                <a:solidFill>
                  <a:srgbClr val="666666"/>
                </a:solidFill>
                <a:latin typeface="Arial" pitchFamily="34" charset="0"/>
                <a:ea typeface="Arial" pitchFamily="34" charset="-122"/>
                <a:cs typeface="Arial" pitchFamily="34" charset="-120"/>
              </a:rPr>
              <a:t>5 countries</a:t>
            </a:r>
            <a:endParaRPr lang="en-US" sz="1000"/>
          </a:p>
        </p:txBody>
      </p:sp>
      <p:sp>
        <p:nvSpPr>
          <p:cNvPr id="16" name="Text 14"/>
          <p:cNvSpPr/>
          <p:nvPr/>
        </p:nvSpPr>
        <p:spPr>
          <a:xfrm>
            <a:off x="2651760" y="2240280"/>
            <a:ext cx="5852160" cy="457200"/>
          </a:xfrm>
          <a:prstGeom prst="rect">
            <a:avLst/>
          </a:prstGeom>
          <a:noFill/>
          <a:ln/>
        </p:spPr>
        <p:txBody>
          <a:bodyPr wrap="square" rtlCol="0" anchor="ctr"/>
          <a:lstStyle/>
          <a:p>
            <a:pPr marL="0" indent="0">
              <a:buNone/>
            </a:pPr>
            <a:r>
              <a:rPr lang="en-US" sz="1100">
                <a:solidFill>
                  <a:srgbClr val="333333"/>
                </a:solidFill>
                <a:latin typeface="Arial" pitchFamily="34" charset="0"/>
                <a:ea typeface="Arial" pitchFamily="34" charset="-122"/>
                <a:cs typeface="Arial" pitchFamily="34" charset="-120"/>
              </a:rPr>
              <a:t>Flat-rate, universal basic pension. Tax-funded. Dominant in Nordic &amp; Anglo-Saxon countries.</a:t>
            </a:r>
            <a:endParaRPr lang="en-US" sz="1100"/>
          </a:p>
        </p:txBody>
      </p:sp>
      <p:sp>
        <p:nvSpPr>
          <p:cNvPr id="17" name="Text 15"/>
          <p:cNvSpPr/>
          <p:nvPr/>
        </p:nvSpPr>
        <p:spPr>
          <a:xfrm>
            <a:off x="2651760" y="2743200"/>
            <a:ext cx="5852160" cy="502920"/>
          </a:xfrm>
          <a:prstGeom prst="rect">
            <a:avLst/>
          </a:prstGeom>
          <a:noFill/>
          <a:ln/>
        </p:spPr>
        <p:txBody>
          <a:bodyPr wrap="square" rtlCol="0" anchor="ctr"/>
          <a:lstStyle/>
          <a:p>
            <a:pPr marL="0" indent="0">
              <a:buNone/>
            </a:pPr>
            <a:r>
              <a:rPr lang="en-US" sz="1000" i="1">
                <a:solidFill>
                  <a:srgbClr val="666666"/>
                </a:solidFill>
                <a:latin typeface="Arial" pitchFamily="34" charset="0"/>
                <a:ea typeface="Arial" pitchFamily="34" charset="-122"/>
                <a:cs typeface="Arial" pitchFamily="34" charset="-120"/>
              </a:rPr>
              <a:t>DK, FI, SE, NL, IE</a:t>
            </a:r>
            <a:endParaRPr lang="en-US" sz="1000"/>
          </a:p>
        </p:txBody>
      </p:sp>
      <p:sp>
        <p:nvSpPr>
          <p:cNvPr id="18" name="Shape 16"/>
          <p:cNvSpPr/>
          <p:nvPr/>
        </p:nvSpPr>
        <p:spPr>
          <a:xfrm>
            <a:off x="457200" y="3520440"/>
            <a:ext cx="8229600" cy="12344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GB"/>
          </a:p>
        </p:txBody>
      </p:sp>
      <p:sp>
        <p:nvSpPr>
          <p:cNvPr id="19" name="Shape 17"/>
          <p:cNvSpPr/>
          <p:nvPr/>
        </p:nvSpPr>
        <p:spPr>
          <a:xfrm>
            <a:off x="457200" y="3520440"/>
            <a:ext cx="73152" cy="1234440"/>
          </a:xfrm>
          <a:prstGeom prst="rect">
            <a:avLst/>
          </a:prstGeom>
          <a:solidFill>
            <a:srgbClr val="97BC62"/>
          </a:solidFill>
          <a:ln/>
        </p:spPr>
        <p:txBody>
          <a:bodyPr/>
          <a:lstStyle/>
          <a:p>
            <a:endParaRPr lang="en-GB"/>
          </a:p>
        </p:txBody>
      </p:sp>
      <p:sp>
        <p:nvSpPr>
          <p:cNvPr id="20" name="Shape 18"/>
          <p:cNvSpPr/>
          <p:nvPr/>
        </p:nvSpPr>
        <p:spPr>
          <a:xfrm>
            <a:off x="731520" y="3657600"/>
            <a:ext cx="1645920" cy="320040"/>
          </a:xfrm>
          <a:prstGeom prst="rect">
            <a:avLst/>
          </a:prstGeom>
          <a:solidFill>
            <a:srgbClr val="97BC62"/>
          </a:solidFill>
          <a:ln/>
        </p:spPr>
        <p:txBody>
          <a:bodyPr/>
          <a:lstStyle/>
          <a:p>
            <a:endParaRPr lang="en-GB"/>
          </a:p>
        </p:txBody>
      </p:sp>
      <p:sp>
        <p:nvSpPr>
          <p:cNvPr id="21" name="Text 19"/>
          <p:cNvSpPr/>
          <p:nvPr/>
        </p:nvSpPr>
        <p:spPr>
          <a:xfrm>
            <a:off x="731520" y="3657600"/>
            <a:ext cx="1645920" cy="320040"/>
          </a:xfrm>
          <a:prstGeom prst="rect">
            <a:avLst/>
          </a:prstGeom>
          <a:noFill/>
          <a:ln/>
        </p:spPr>
        <p:txBody>
          <a:bodyPr wrap="square" rtlCol="0" anchor="ctr"/>
          <a:lstStyle/>
          <a:p>
            <a:pPr marL="0" indent="0" algn="ctr">
              <a:buNone/>
            </a:pPr>
            <a:r>
              <a:rPr lang="en-US" sz="1100" b="1">
                <a:solidFill>
                  <a:srgbClr val="FFFFFF"/>
                </a:solidFill>
                <a:latin typeface="Arial" pitchFamily="34" charset="0"/>
                <a:ea typeface="Arial" pitchFamily="34" charset="-122"/>
                <a:cs typeface="Arial" pitchFamily="34" charset="-120"/>
              </a:rPr>
              <a:t>Multipillar / Mixed</a:t>
            </a:r>
            <a:endParaRPr lang="en-US" sz="1100"/>
          </a:p>
        </p:txBody>
      </p:sp>
      <p:sp>
        <p:nvSpPr>
          <p:cNvPr id="22" name="Text 20"/>
          <p:cNvSpPr/>
          <p:nvPr/>
        </p:nvSpPr>
        <p:spPr>
          <a:xfrm>
            <a:off x="731520" y="4069080"/>
            <a:ext cx="1645920" cy="228600"/>
          </a:xfrm>
          <a:prstGeom prst="rect">
            <a:avLst/>
          </a:prstGeom>
          <a:noFill/>
          <a:ln/>
        </p:spPr>
        <p:txBody>
          <a:bodyPr wrap="square" rtlCol="0" anchor="ctr"/>
          <a:lstStyle/>
          <a:p>
            <a:pPr marL="0" indent="0" algn="ctr">
              <a:buNone/>
            </a:pPr>
            <a:r>
              <a:rPr lang="en-US" sz="1000">
                <a:solidFill>
                  <a:srgbClr val="666666"/>
                </a:solidFill>
                <a:latin typeface="Arial" pitchFamily="34" charset="0"/>
                <a:ea typeface="Arial" pitchFamily="34" charset="-122"/>
                <a:cs typeface="Arial" pitchFamily="34" charset="-120"/>
              </a:rPr>
              <a:t>6 countries</a:t>
            </a:r>
            <a:endParaRPr lang="en-US" sz="1000"/>
          </a:p>
        </p:txBody>
      </p:sp>
      <p:sp>
        <p:nvSpPr>
          <p:cNvPr id="23" name="Text 21"/>
          <p:cNvSpPr/>
          <p:nvPr/>
        </p:nvSpPr>
        <p:spPr>
          <a:xfrm>
            <a:off x="2651760" y="3611880"/>
            <a:ext cx="5852160" cy="457200"/>
          </a:xfrm>
          <a:prstGeom prst="rect">
            <a:avLst/>
          </a:prstGeom>
          <a:noFill/>
          <a:ln/>
        </p:spPr>
        <p:txBody>
          <a:bodyPr wrap="square" rtlCol="0" anchor="ctr"/>
          <a:lstStyle/>
          <a:p>
            <a:pPr marL="0" indent="0">
              <a:buNone/>
            </a:pPr>
            <a:r>
              <a:rPr lang="en-US" sz="1100">
                <a:solidFill>
                  <a:srgbClr val="333333"/>
                </a:solidFill>
                <a:latin typeface="Arial" pitchFamily="34" charset="0"/>
                <a:ea typeface="Arial" pitchFamily="34" charset="-122"/>
                <a:cs typeface="Arial" pitchFamily="34" charset="-120"/>
              </a:rPr>
              <a:t>Combination of public mandatory + private funded pillars. Switzerland’s 3-pillar model is the archetype. Common in Baltic states.</a:t>
            </a:r>
            <a:endParaRPr lang="en-US" sz="1100"/>
          </a:p>
        </p:txBody>
      </p:sp>
      <p:sp>
        <p:nvSpPr>
          <p:cNvPr id="24" name="Text 22"/>
          <p:cNvSpPr/>
          <p:nvPr/>
        </p:nvSpPr>
        <p:spPr>
          <a:xfrm>
            <a:off x="2651760" y="4114800"/>
            <a:ext cx="5852160" cy="502920"/>
          </a:xfrm>
          <a:prstGeom prst="rect">
            <a:avLst/>
          </a:prstGeom>
          <a:noFill/>
          <a:ln/>
        </p:spPr>
        <p:txBody>
          <a:bodyPr wrap="square" rtlCol="0" anchor="ctr"/>
          <a:lstStyle/>
          <a:p>
            <a:pPr marL="0" indent="0">
              <a:buNone/>
            </a:pPr>
            <a:r>
              <a:rPr lang="en-US" sz="1000" i="1">
                <a:solidFill>
                  <a:srgbClr val="666666"/>
                </a:solidFill>
                <a:latin typeface="Arial" pitchFamily="34" charset="0"/>
                <a:ea typeface="Arial" pitchFamily="34" charset="-122"/>
                <a:cs typeface="Arial" pitchFamily="34" charset="-120"/>
              </a:rPr>
              <a:t>CH, EE, LV, LT, MT, CY</a:t>
            </a:r>
            <a:endParaRPr lang="en-US" sz="1000"/>
          </a:p>
        </p:txBody>
      </p:sp>
      <p:sp>
        <p:nvSpPr>
          <p:cNvPr id="25" name="Text 23"/>
          <p:cNvSpPr/>
          <p:nvPr/>
        </p:nvSpPr>
        <p:spPr>
          <a:xfrm>
            <a:off x="457200" y="4800600"/>
            <a:ext cx="8229600" cy="228600"/>
          </a:xfrm>
          <a:prstGeom prst="rect">
            <a:avLst/>
          </a:prstGeom>
          <a:noFill/>
          <a:ln/>
        </p:spPr>
        <p:txBody>
          <a:bodyPr wrap="square" rtlCol="0" anchor="ctr"/>
          <a:lstStyle/>
          <a:p>
            <a:pPr marL="0" indent="0">
              <a:buNone/>
            </a:pPr>
            <a:r>
              <a:rPr lang="en-US" sz="800" i="1">
                <a:solidFill>
                  <a:srgbClr val="666666"/>
                </a:solidFill>
                <a:latin typeface="Arial" pitchFamily="34" charset="0"/>
                <a:ea typeface="Arial" pitchFamily="34" charset="-122"/>
                <a:cs typeface="Arial" pitchFamily="34" charset="-120"/>
              </a:rPr>
              <a:t>Classification: Ebbinghaus (2021); Werding (2003); OECD Pensions at a Glance (2024)</a:t>
            </a:r>
            <a:endParaRPr lang="en-US" sz="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rtlCol="0" anchor="ctr"/>
          <a:lstStyle/>
          <a:p>
            <a:pPr marL="0" indent="0">
              <a:buNone/>
            </a:pPr>
            <a:r>
              <a:rPr lang="en-US" sz="3000" b="1">
                <a:solidFill>
                  <a:srgbClr val="FFFFFF"/>
                </a:solidFill>
                <a:latin typeface="Georgia" pitchFamily="34" charset="0"/>
                <a:ea typeface="Georgia" pitchFamily="34" charset="-122"/>
                <a:cs typeface="Georgia" pitchFamily="34" charset="-120"/>
              </a:rPr>
              <a:t>Key Takeaways</a:t>
            </a:r>
            <a:endParaRPr lang="en-US" sz="3000"/>
          </a:p>
        </p:txBody>
      </p:sp>
      <p:sp>
        <p:nvSpPr>
          <p:cNvPr id="3" name="Shape 1"/>
          <p:cNvSpPr/>
          <p:nvPr/>
        </p:nvSpPr>
        <p:spPr>
          <a:xfrm>
            <a:off x="731520" y="1051560"/>
            <a:ext cx="2286000" cy="0"/>
          </a:xfrm>
          <a:prstGeom prst="line">
            <a:avLst/>
          </a:prstGeom>
          <a:noFill/>
          <a:ln w="38100">
            <a:solidFill>
              <a:srgbClr val="97BC62"/>
            </a:solidFill>
            <a:prstDash val="solid"/>
          </a:ln>
        </p:spPr>
        <p:txBody>
          <a:bodyPr/>
          <a:lstStyle/>
          <a:p>
            <a:endParaRPr lang="en-GB"/>
          </a:p>
        </p:txBody>
      </p:sp>
      <p:sp>
        <p:nvSpPr>
          <p:cNvPr id="4" name="Shape 2"/>
          <p:cNvSpPr/>
          <p:nvPr/>
        </p:nvSpPr>
        <p:spPr>
          <a:xfrm>
            <a:off x="731520" y="1371600"/>
            <a:ext cx="411480" cy="411480"/>
          </a:xfrm>
          <a:prstGeom prst="rect">
            <a:avLst/>
          </a:prstGeom>
          <a:solidFill>
            <a:srgbClr val="97BC62"/>
          </a:solidFill>
          <a:ln/>
        </p:spPr>
        <p:txBody>
          <a:bodyPr/>
          <a:lstStyle/>
          <a:p>
            <a:endParaRPr lang="en-GB"/>
          </a:p>
        </p:txBody>
      </p:sp>
      <p:sp>
        <p:nvSpPr>
          <p:cNvPr id="5" name="Text 3"/>
          <p:cNvSpPr/>
          <p:nvPr/>
        </p:nvSpPr>
        <p:spPr>
          <a:xfrm>
            <a:off x="731520" y="1371600"/>
            <a:ext cx="411480" cy="411480"/>
          </a:xfrm>
          <a:prstGeom prst="rect">
            <a:avLst/>
          </a:prstGeom>
          <a:noFill/>
          <a:ln/>
        </p:spPr>
        <p:txBody>
          <a:bodyPr wrap="square" rtlCol="0" anchor="ctr"/>
          <a:lstStyle/>
          <a:p>
            <a:pPr marL="0" indent="0" algn="ctr">
              <a:buNone/>
            </a:pPr>
            <a:r>
              <a:rPr lang="en-US" sz="1600" b="1">
                <a:solidFill>
                  <a:srgbClr val="1A3A1C"/>
                </a:solidFill>
                <a:latin typeface="Georgia" pitchFamily="34" charset="0"/>
                <a:ea typeface="Georgia" pitchFamily="34" charset="-122"/>
                <a:cs typeface="Georgia" pitchFamily="34" charset="-120"/>
              </a:rPr>
              <a:t>1</a:t>
            </a:r>
            <a:endParaRPr lang="en-US" sz="1600"/>
          </a:p>
        </p:txBody>
      </p:sp>
      <p:sp>
        <p:nvSpPr>
          <p:cNvPr id="6" name="Text 4"/>
          <p:cNvSpPr/>
          <p:nvPr/>
        </p:nvSpPr>
        <p:spPr>
          <a:xfrm>
            <a:off x="1371600" y="1325880"/>
            <a:ext cx="7132320" cy="640080"/>
          </a:xfrm>
          <a:prstGeom prst="rect">
            <a:avLst/>
          </a:prstGeom>
          <a:noFill/>
          <a:ln/>
        </p:spPr>
        <p:txBody>
          <a:bodyPr wrap="square" rtlCol="0" anchor="ctr"/>
          <a:lstStyle/>
          <a:p>
            <a:pPr marL="0" indent="0">
              <a:buNone/>
            </a:pPr>
            <a:r>
              <a:rPr lang="en-US" sz="1200">
                <a:solidFill>
                  <a:srgbClr val="E0E0E0"/>
                </a:solidFill>
                <a:latin typeface="Arial" pitchFamily="34" charset="0"/>
                <a:ea typeface="Arial" pitchFamily="34" charset="-122"/>
                <a:cs typeface="Arial" pitchFamily="34" charset="-120"/>
              </a:rPr>
              <a:t>EU-27 + Switzerland recommended as primary Europe definition (28 countries, 83,488 obs.) – regulatory comparability and full demographic data coverage.</a:t>
            </a:r>
            <a:endParaRPr lang="en-US" sz="1200"/>
          </a:p>
        </p:txBody>
      </p:sp>
      <p:sp>
        <p:nvSpPr>
          <p:cNvPr id="7" name="Shape 5"/>
          <p:cNvSpPr/>
          <p:nvPr/>
        </p:nvSpPr>
        <p:spPr>
          <a:xfrm>
            <a:off x="731520" y="2286000"/>
            <a:ext cx="411480" cy="411480"/>
          </a:xfrm>
          <a:prstGeom prst="rect">
            <a:avLst/>
          </a:prstGeom>
          <a:solidFill>
            <a:srgbClr val="97BC62"/>
          </a:solidFill>
          <a:ln/>
        </p:spPr>
        <p:txBody>
          <a:bodyPr/>
          <a:lstStyle/>
          <a:p>
            <a:endParaRPr lang="en-GB"/>
          </a:p>
        </p:txBody>
      </p:sp>
      <p:sp>
        <p:nvSpPr>
          <p:cNvPr id="8" name="Text 6"/>
          <p:cNvSpPr/>
          <p:nvPr/>
        </p:nvSpPr>
        <p:spPr>
          <a:xfrm>
            <a:off x="731520" y="2286000"/>
            <a:ext cx="411480" cy="411480"/>
          </a:xfrm>
          <a:prstGeom prst="rect">
            <a:avLst/>
          </a:prstGeom>
          <a:noFill/>
          <a:ln/>
        </p:spPr>
        <p:txBody>
          <a:bodyPr wrap="square" rtlCol="0" anchor="ctr"/>
          <a:lstStyle/>
          <a:p>
            <a:pPr marL="0" indent="0" algn="ctr">
              <a:buNone/>
            </a:pPr>
            <a:r>
              <a:rPr lang="en-US" sz="1600" b="1">
                <a:solidFill>
                  <a:srgbClr val="1A3A1C"/>
                </a:solidFill>
                <a:latin typeface="Georgia" pitchFamily="34" charset="0"/>
                <a:ea typeface="Georgia" pitchFamily="34" charset="-122"/>
                <a:cs typeface="Georgia" pitchFamily="34" charset="-120"/>
              </a:rPr>
              <a:t>2</a:t>
            </a:r>
            <a:endParaRPr lang="en-US" sz="1600"/>
          </a:p>
        </p:txBody>
      </p:sp>
      <p:sp>
        <p:nvSpPr>
          <p:cNvPr id="9" name="Text 7"/>
          <p:cNvSpPr/>
          <p:nvPr/>
        </p:nvSpPr>
        <p:spPr>
          <a:xfrm>
            <a:off x="1371600" y="2240280"/>
            <a:ext cx="7132320" cy="640080"/>
          </a:xfrm>
          <a:prstGeom prst="rect">
            <a:avLst/>
          </a:prstGeom>
          <a:noFill/>
          <a:ln/>
        </p:spPr>
        <p:txBody>
          <a:bodyPr wrap="square" rtlCol="0" anchor="ctr"/>
          <a:lstStyle/>
          <a:p>
            <a:pPr marL="0" indent="0">
              <a:buNone/>
            </a:pPr>
            <a:r>
              <a:rPr lang="en-US" sz="1200">
                <a:solidFill>
                  <a:srgbClr val="E0E0E0"/>
                </a:solidFill>
                <a:latin typeface="Arial" pitchFamily="34" charset="0"/>
                <a:ea typeface="Arial" pitchFamily="34" charset="-122"/>
                <a:cs typeface="Arial" pitchFamily="34" charset="-120"/>
              </a:rPr>
              <a:t>Population 65+ ranges from 15.2% (LU) to 24.7% (IT); CH at 19.5% – sufficient cross-country variation to test H1.</a:t>
            </a:r>
            <a:endParaRPr lang="en-US" sz="1200"/>
          </a:p>
        </p:txBody>
      </p:sp>
      <p:sp>
        <p:nvSpPr>
          <p:cNvPr id="10" name="Shape 8"/>
          <p:cNvSpPr/>
          <p:nvPr/>
        </p:nvSpPr>
        <p:spPr>
          <a:xfrm>
            <a:off x="731520" y="3200400"/>
            <a:ext cx="411480" cy="411480"/>
          </a:xfrm>
          <a:prstGeom prst="rect">
            <a:avLst/>
          </a:prstGeom>
          <a:solidFill>
            <a:srgbClr val="97BC62"/>
          </a:solidFill>
          <a:ln/>
        </p:spPr>
        <p:txBody>
          <a:bodyPr/>
          <a:lstStyle/>
          <a:p>
            <a:endParaRPr lang="en-GB"/>
          </a:p>
        </p:txBody>
      </p:sp>
      <p:sp>
        <p:nvSpPr>
          <p:cNvPr id="11" name="Text 9"/>
          <p:cNvSpPr/>
          <p:nvPr/>
        </p:nvSpPr>
        <p:spPr>
          <a:xfrm>
            <a:off x="731520" y="3200400"/>
            <a:ext cx="411480" cy="411480"/>
          </a:xfrm>
          <a:prstGeom prst="rect">
            <a:avLst/>
          </a:prstGeom>
          <a:noFill/>
          <a:ln/>
        </p:spPr>
        <p:txBody>
          <a:bodyPr wrap="square" rtlCol="0" anchor="ctr"/>
          <a:lstStyle/>
          <a:p>
            <a:pPr marL="0" indent="0" algn="ctr">
              <a:buNone/>
            </a:pPr>
            <a:r>
              <a:rPr lang="en-US" sz="1600" b="1">
                <a:solidFill>
                  <a:srgbClr val="1A3A1C"/>
                </a:solidFill>
                <a:latin typeface="Georgia" pitchFamily="34" charset="0"/>
                <a:ea typeface="Georgia" pitchFamily="34" charset="-122"/>
                <a:cs typeface="Georgia" pitchFamily="34" charset="-120"/>
              </a:rPr>
              <a:t>3</a:t>
            </a:r>
            <a:endParaRPr lang="en-US" sz="1600"/>
          </a:p>
        </p:txBody>
      </p:sp>
      <p:sp>
        <p:nvSpPr>
          <p:cNvPr id="12" name="Text 10"/>
          <p:cNvSpPr/>
          <p:nvPr/>
        </p:nvSpPr>
        <p:spPr>
          <a:xfrm>
            <a:off x="1371600" y="3154680"/>
            <a:ext cx="7132320" cy="640080"/>
          </a:xfrm>
          <a:prstGeom prst="rect">
            <a:avLst/>
          </a:prstGeom>
          <a:noFill/>
          <a:ln/>
        </p:spPr>
        <p:txBody>
          <a:bodyPr wrap="square" rtlCol="0" anchor="ctr"/>
          <a:lstStyle/>
          <a:p>
            <a:pPr marL="0" indent="0">
              <a:buNone/>
            </a:pPr>
            <a:r>
              <a:rPr lang="en-US" sz="1200">
                <a:solidFill>
                  <a:srgbClr val="E0E0E0"/>
                </a:solidFill>
                <a:latin typeface="Arial" pitchFamily="34" charset="0"/>
                <a:ea typeface="Arial" pitchFamily="34" charset="-122"/>
                <a:cs typeface="Arial" pitchFamily="34" charset="-120"/>
              </a:rPr>
              <a:t>"Death Gap" ranges from ~11 to ~21 years; CH at 19.0 years – substantial variation across pension system types supports H2.</a:t>
            </a:r>
            <a:endParaRPr lang="en-US" sz="1200"/>
          </a:p>
        </p:txBody>
      </p:sp>
      <p:sp>
        <p:nvSpPr>
          <p:cNvPr id="13" name="Shape 11"/>
          <p:cNvSpPr/>
          <p:nvPr/>
        </p:nvSpPr>
        <p:spPr>
          <a:xfrm>
            <a:off x="731520" y="4114800"/>
            <a:ext cx="411480" cy="411480"/>
          </a:xfrm>
          <a:prstGeom prst="rect">
            <a:avLst/>
          </a:prstGeom>
          <a:solidFill>
            <a:srgbClr val="97BC62"/>
          </a:solidFill>
          <a:ln/>
        </p:spPr>
        <p:txBody>
          <a:bodyPr/>
          <a:lstStyle/>
          <a:p>
            <a:endParaRPr lang="en-GB"/>
          </a:p>
        </p:txBody>
      </p:sp>
      <p:sp>
        <p:nvSpPr>
          <p:cNvPr id="14" name="Text 12"/>
          <p:cNvSpPr/>
          <p:nvPr/>
        </p:nvSpPr>
        <p:spPr>
          <a:xfrm>
            <a:off x="731520" y="4114800"/>
            <a:ext cx="411480" cy="411480"/>
          </a:xfrm>
          <a:prstGeom prst="rect">
            <a:avLst/>
          </a:prstGeom>
          <a:noFill/>
          <a:ln/>
        </p:spPr>
        <p:txBody>
          <a:bodyPr wrap="square" rtlCol="0" anchor="ctr"/>
          <a:lstStyle/>
          <a:p>
            <a:pPr marL="0" indent="0" algn="ctr">
              <a:buNone/>
            </a:pPr>
            <a:r>
              <a:rPr lang="en-US" sz="1600" b="1">
                <a:solidFill>
                  <a:srgbClr val="1A3A1C"/>
                </a:solidFill>
                <a:latin typeface="Georgia" pitchFamily="34" charset="0"/>
                <a:ea typeface="Georgia" pitchFamily="34" charset="-122"/>
                <a:cs typeface="Georgia" pitchFamily="34" charset="-120"/>
              </a:rPr>
              <a:t>4</a:t>
            </a:r>
            <a:endParaRPr lang="en-US" sz="1600"/>
          </a:p>
        </p:txBody>
      </p:sp>
      <p:sp>
        <p:nvSpPr>
          <p:cNvPr id="15" name="Text 13"/>
          <p:cNvSpPr/>
          <p:nvPr/>
        </p:nvSpPr>
        <p:spPr>
          <a:xfrm>
            <a:off x="1371600" y="4069080"/>
            <a:ext cx="7132320" cy="640080"/>
          </a:xfrm>
          <a:prstGeom prst="rect">
            <a:avLst/>
          </a:prstGeom>
          <a:noFill/>
          <a:ln/>
        </p:spPr>
        <p:txBody>
          <a:bodyPr wrap="square" rtlCol="0" anchor="ctr"/>
          <a:lstStyle/>
          <a:p>
            <a:pPr marL="0" indent="0">
              <a:buNone/>
            </a:pPr>
            <a:r>
              <a:rPr lang="en-US" sz="1200">
                <a:solidFill>
                  <a:srgbClr val="E0E0E0"/>
                </a:solidFill>
                <a:latin typeface="Arial" pitchFamily="34" charset="0"/>
                <a:ea typeface="Arial" pitchFamily="34" charset="-122"/>
                <a:cs typeface="Arial" pitchFamily="34" charset="-120"/>
              </a:rPr>
              <a:t>Pension systems: Bismarckian (17), Beveridgean (5), Multipillar incl. CH (6) – operationalised as dummies; retirement ages from OECD.</a:t>
            </a:r>
            <a:endParaRPr lang="en-US" sz="1200"/>
          </a:p>
        </p:txBody>
      </p:sp>
      <p:sp>
        <p:nvSpPr>
          <p:cNvPr id="16" name="Shape 14"/>
          <p:cNvSpPr/>
          <p:nvPr/>
        </p:nvSpPr>
        <p:spPr>
          <a:xfrm>
            <a:off x="0" y="4572000"/>
            <a:ext cx="9144000" cy="571500"/>
          </a:xfrm>
          <a:prstGeom prst="rect">
            <a:avLst/>
          </a:prstGeom>
          <a:solidFill>
            <a:srgbClr val="2C5F2D"/>
          </a:solidFill>
          <a:ln/>
        </p:spPr>
        <p:txBody>
          <a:bodyPr/>
          <a:lstStyle/>
          <a:p>
            <a:endParaRPr lang="en-GB"/>
          </a:p>
        </p:txBody>
      </p:sp>
      <p:sp>
        <p:nvSpPr>
          <p:cNvPr id="17" name="Text 15"/>
          <p:cNvSpPr/>
          <p:nvPr/>
        </p:nvSpPr>
        <p:spPr>
          <a:xfrm>
            <a:off x="457200" y="4617720"/>
            <a:ext cx="8229600" cy="457200"/>
          </a:xfrm>
          <a:prstGeom prst="rect">
            <a:avLst/>
          </a:prstGeom>
          <a:noFill/>
          <a:ln/>
        </p:spPr>
        <p:txBody>
          <a:bodyPr wrap="square" rtlCol="0" anchor="ctr"/>
          <a:lstStyle/>
          <a:p>
            <a:pPr marL="0" indent="0">
              <a:buNone/>
            </a:pPr>
            <a:r>
              <a:rPr lang="en-US" sz="800" i="1">
                <a:solidFill>
                  <a:srgbClr val="FFFFFF"/>
                </a:solidFill>
                <a:latin typeface="Arial" pitchFamily="34" charset="0"/>
                <a:ea typeface="Arial" pitchFamily="34" charset="-122"/>
                <a:cs typeface="Arial" pitchFamily="34" charset="-120"/>
              </a:rPr>
              <a:t>Datasets: OECD_Retirement_Age_2024 | Europe_Classification | Life_Expectancy | Death_Gap | Pop_65plus | Pension_System (all .csv)</a:t>
            </a:r>
            <a:endParaRPr lang="en-US" sz="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33843-E13C-5737-780A-7E422879BBBE}"/>
              </a:ext>
            </a:extLst>
          </p:cNvPr>
          <p:cNvSpPr>
            <a:spLocks noGrp="1"/>
          </p:cNvSpPr>
          <p:nvPr>
            <p:ph type="title"/>
          </p:nvPr>
        </p:nvSpPr>
        <p:spPr>
          <a:xfrm>
            <a:off x="358775" y="376238"/>
            <a:ext cx="8426450" cy="609662"/>
          </a:xfrm>
        </p:spPr>
        <p:txBody>
          <a:bodyPr/>
          <a:lstStyle/>
          <a:p>
            <a:r>
              <a:rPr lang="en-CH"/>
              <a:t>Paper outline (TBD)</a:t>
            </a:r>
          </a:p>
        </p:txBody>
      </p:sp>
      <p:sp>
        <p:nvSpPr>
          <p:cNvPr id="3" name="Slide Number Placeholder 2">
            <a:extLst>
              <a:ext uri="{FF2B5EF4-FFF2-40B4-BE49-F238E27FC236}">
                <a16:creationId xmlns:a16="http://schemas.microsoft.com/office/drawing/2014/main" id="{39C1DF82-ABED-751D-B4FD-AA13097A0293}"/>
              </a:ext>
            </a:extLst>
          </p:cNvPr>
          <p:cNvSpPr>
            <a:spLocks noGrp="1"/>
          </p:cNvSpPr>
          <p:nvPr>
            <p:ph type="sldNum" sz="quarter" idx="12"/>
          </p:nvPr>
        </p:nvSpPr>
        <p:spPr/>
        <p:txBody>
          <a:bodyPr/>
          <a:lstStyle/>
          <a:p>
            <a:fld id="{7559FC98-AF75-4A00-A03C-DF9FEBF6BCB9}" type="slidenum">
              <a:rPr lang="en-GB" smtClean="0"/>
              <a:t>23</a:t>
            </a:fld>
            <a:endParaRPr lang="en-GB"/>
          </a:p>
        </p:txBody>
      </p:sp>
      <p:sp>
        <p:nvSpPr>
          <p:cNvPr id="4" name="Rectangle 3">
            <a:extLst>
              <a:ext uri="{FF2B5EF4-FFF2-40B4-BE49-F238E27FC236}">
                <a16:creationId xmlns:a16="http://schemas.microsoft.com/office/drawing/2014/main" id="{B48D57CA-122C-3627-1C74-528FCFCAE9ED}"/>
              </a:ext>
            </a:extLst>
          </p:cNvPr>
          <p:cNvSpPr/>
          <p:nvPr/>
        </p:nvSpPr>
        <p:spPr>
          <a:xfrm>
            <a:off x="358775" y="1024372"/>
            <a:ext cx="1589029" cy="6001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H" sz="1100"/>
              <a:t>Motivation</a:t>
            </a:r>
            <a:r>
              <a:rPr lang="en-CH" sz="1100"/>
              <a:t> &amp;</a:t>
            </a:r>
            <a:br>
              <a:rPr lang="en-CH" sz="1100"/>
            </a:br>
            <a:r>
              <a:rPr lang="en-CH" sz="1100"/>
              <a:t>research gap</a:t>
            </a:r>
            <a:endParaRPr lang="en-GB" sz="1100"/>
          </a:p>
        </p:txBody>
      </p:sp>
      <p:sp>
        <p:nvSpPr>
          <p:cNvPr id="5" name="TextBox 4">
            <a:extLst>
              <a:ext uri="{FF2B5EF4-FFF2-40B4-BE49-F238E27FC236}">
                <a16:creationId xmlns:a16="http://schemas.microsoft.com/office/drawing/2014/main" id="{F9A2D694-52F9-74DF-822F-6CCEE77657A3}"/>
              </a:ext>
            </a:extLst>
          </p:cNvPr>
          <p:cNvSpPr txBox="1"/>
          <p:nvPr/>
        </p:nvSpPr>
        <p:spPr>
          <a:xfrm>
            <a:off x="2142165" y="1024372"/>
            <a:ext cx="6559936" cy="769441"/>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GB" sz="1100"/>
              <a:t>Lifecycle theory (Modigliani and Brumberg, 1954): As households age, loan demand falls while demand for safe retirement assets rises, implying that aging can increase deposit-type savings and reduce borrowing</a:t>
            </a:r>
          </a:p>
          <a:p>
            <a:pPr marL="171450" indent="-171450">
              <a:buFont typeface="Arial" panose="020B0604020202020204" pitchFamily="34" charset="0"/>
              <a:buChar char="•"/>
            </a:pPr>
            <a:r>
              <a:rPr lang="en-GB" sz="1100">
                <a:highlight>
                  <a:srgbClr val="FFFF00"/>
                </a:highlight>
              </a:rPr>
              <a:t>Market vs Bank based FS --&gt; add theoretical background</a:t>
            </a:r>
          </a:p>
          <a:p>
            <a:pPr marL="171450" indent="-171450">
              <a:buFont typeface="Arial" panose="020B0604020202020204" pitchFamily="34" charset="0"/>
              <a:buChar char="•"/>
            </a:pPr>
            <a:r>
              <a:rPr lang="en-GB" sz="1100">
                <a:highlight>
                  <a:srgbClr val="FFFF00"/>
                </a:highlight>
              </a:rPr>
              <a:t>Higher share of retired people --&gt; higher deposit ratio --&gt; add theoretical background</a:t>
            </a:r>
          </a:p>
        </p:txBody>
      </p:sp>
      <p:sp>
        <p:nvSpPr>
          <p:cNvPr id="6" name="Rectangle 5">
            <a:extLst>
              <a:ext uri="{FF2B5EF4-FFF2-40B4-BE49-F238E27FC236}">
                <a16:creationId xmlns:a16="http://schemas.microsoft.com/office/drawing/2014/main" id="{57DF70A7-EA4C-813A-5250-3DFB355BCC09}"/>
              </a:ext>
            </a:extLst>
          </p:cNvPr>
          <p:cNvSpPr/>
          <p:nvPr/>
        </p:nvSpPr>
        <p:spPr>
          <a:xfrm>
            <a:off x="358775" y="1788681"/>
            <a:ext cx="1589029" cy="6001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a:t>Hypotheses</a:t>
            </a:r>
            <a:endParaRPr lang="en-GB" sz="1100"/>
          </a:p>
        </p:txBody>
      </p:sp>
      <p:sp>
        <p:nvSpPr>
          <p:cNvPr id="7" name="TextBox 6">
            <a:extLst>
              <a:ext uri="{FF2B5EF4-FFF2-40B4-BE49-F238E27FC236}">
                <a16:creationId xmlns:a16="http://schemas.microsoft.com/office/drawing/2014/main" id="{3D2C6A97-7B71-1206-5BA4-9650D4C6A743}"/>
              </a:ext>
            </a:extLst>
          </p:cNvPr>
          <p:cNvSpPr txBox="1"/>
          <p:nvPr/>
        </p:nvSpPr>
        <p:spPr>
          <a:xfrm>
            <a:off x="2142165" y="1788681"/>
            <a:ext cx="6559936" cy="600164"/>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GB" sz="1100" b="1"/>
              <a:t>H1:</a:t>
            </a:r>
            <a:r>
              <a:rPr lang="en-GB" sz="1100"/>
              <a:t> </a:t>
            </a:r>
            <a:r>
              <a:rPr lang="en-US" sz="1100"/>
              <a:t>The positive effect of population aging on retail deposit funding is stronger in </a:t>
            </a:r>
            <a:r>
              <a:rPr lang="en-US" sz="1100" b="1"/>
              <a:t>bank-based</a:t>
            </a:r>
            <a:r>
              <a:rPr lang="en-US" sz="1100"/>
              <a:t> financial systems than in </a:t>
            </a:r>
            <a:r>
              <a:rPr lang="en-US" sz="1100" b="1"/>
              <a:t>market-based</a:t>
            </a:r>
            <a:r>
              <a:rPr lang="en-US" sz="1100"/>
              <a:t> financial systems</a:t>
            </a:r>
            <a:endParaRPr lang="en-GB" sz="1100"/>
          </a:p>
          <a:p>
            <a:pPr marL="171450" indent="-171450">
              <a:buFont typeface="Arial" panose="020B0604020202020204" pitchFamily="34" charset="0"/>
              <a:buChar char="•"/>
            </a:pPr>
            <a:r>
              <a:rPr lang="en-GB" sz="1100" b="1"/>
              <a:t>H2:</a:t>
            </a:r>
            <a:r>
              <a:rPr lang="en-GB" sz="1100"/>
              <a:t> </a:t>
            </a:r>
            <a:r>
              <a:rPr lang="en-CH" sz="1100"/>
              <a:t>TBD</a:t>
            </a:r>
            <a:endParaRPr lang="en-US" sz="1100"/>
          </a:p>
        </p:txBody>
      </p:sp>
      <p:sp>
        <p:nvSpPr>
          <p:cNvPr id="9" name="Rectangle 8">
            <a:extLst>
              <a:ext uri="{FF2B5EF4-FFF2-40B4-BE49-F238E27FC236}">
                <a16:creationId xmlns:a16="http://schemas.microsoft.com/office/drawing/2014/main" id="{6C734D87-D6BD-6568-FA86-2308594B1EFF}"/>
              </a:ext>
            </a:extLst>
          </p:cNvPr>
          <p:cNvSpPr/>
          <p:nvPr/>
        </p:nvSpPr>
        <p:spPr>
          <a:xfrm>
            <a:off x="358775" y="2552990"/>
            <a:ext cx="1589029" cy="6001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a:t>Main regression</a:t>
            </a:r>
            <a:br>
              <a:rPr lang="en-CH" sz="1100"/>
            </a:br>
            <a:r>
              <a:rPr lang="en-CH" sz="1100"/>
              <a:t>model</a:t>
            </a:r>
            <a:endParaRPr lang="en-GB" sz="1100"/>
          </a:p>
        </p:txBody>
      </p:sp>
      <p:sp>
        <p:nvSpPr>
          <p:cNvPr id="11" name="Rectangle 10">
            <a:extLst>
              <a:ext uri="{FF2B5EF4-FFF2-40B4-BE49-F238E27FC236}">
                <a16:creationId xmlns:a16="http://schemas.microsoft.com/office/drawing/2014/main" id="{03B712BD-6486-4FE6-907B-97EF64D05B4E}"/>
              </a:ext>
            </a:extLst>
          </p:cNvPr>
          <p:cNvSpPr/>
          <p:nvPr/>
        </p:nvSpPr>
        <p:spPr>
          <a:xfrm>
            <a:off x="358775" y="3301007"/>
            <a:ext cx="1589029" cy="6001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a:t>Preliminary</a:t>
            </a:r>
            <a:br>
              <a:rPr lang="en-CH" sz="1100"/>
            </a:br>
            <a:r>
              <a:rPr lang="en-CH" sz="1100"/>
              <a:t>findings</a:t>
            </a:r>
            <a:endParaRPr lang="en-GB" sz="1100"/>
          </a:p>
        </p:txBody>
      </p:sp>
      <p:sp>
        <p:nvSpPr>
          <p:cNvPr id="12" name="TextBox 11">
            <a:extLst>
              <a:ext uri="{FF2B5EF4-FFF2-40B4-BE49-F238E27FC236}">
                <a16:creationId xmlns:a16="http://schemas.microsoft.com/office/drawing/2014/main" id="{2B065A06-0379-B7EC-EBB6-8EBA126C5F1F}"/>
              </a:ext>
            </a:extLst>
          </p:cNvPr>
          <p:cNvSpPr txBox="1"/>
          <p:nvPr/>
        </p:nvSpPr>
        <p:spPr>
          <a:xfrm>
            <a:off x="2142165" y="3301007"/>
            <a:ext cx="6559936" cy="261610"/>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GB" sz="1100"/>
              <a:t>XXX</a:t>
            </a:r>
            <a:endParaRPr lang="en-US"/>
          </a:p>
        </p:txBody>
      </p:sp>
      <p:sp>
        <p:nvSpPr>
          <p:cNvPr id="13" name="Rectangle 12">
            <a:extLst>
              <a:ext uri="{FF2B5EF4-FFF2-40B4-BE49-F238E27FC236}">
                <a16:creationId xmlns:a16="http://schemas.microsoft.com/office/drawing/2014/main" id="{916B250B-CAB7-9784-8308-8998A7A880A2}"/>
              </a:ext>
            </a:extLst>
          </p:cNvPr>
          <p:cNvSpPr/>
          <p:nvPr/>
        </p:nvSpPr>
        <p:spPr>
          <a:xfrm>
            <a:off x="358775" y="4042136"/>
            <a:ext cx="1589029" cy="3774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a:t>Considerations</a:t>
            </a:r>
            <a:endParaRPr lang="en-GB" sz="1100"/>
          </a:p>
        </p:txBody>
      </p:sp>
      <p:sp>
        <p:nvSpPr>
          <p:cNvPr id="14" name="TextBox 13">
            <a:extLst>
              <a:ext uri="{FF2B5EF4-FFF2-40B4-BE49-F238E27FC236}">
                <a16:creationId xmlns:a16="http://schemas.microsoft.com/office/drawing/2014/main" id="{2269B678-DB9A-229F-FD67-90F57C59D75E}"/>
              </a:ext>
            </a:extLst>
          </p:cNvPr>
          <p:cNvSpPr txBox="1"/>
          <p:nvPr/>
        </p:nvSpPr>
        <p:spPr>
          <a:xfrm>
            <a:off x="2142165" y="4042136"/>
            <a:ext cx="6559936" cy="261610"/>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CH" sz="1100"/>
              <a:t>Potential omitted variable bias; multicollinearity, reverse causality</a:t>
            </a:r>
            <a:endParaRPr lang="en-US"/>
          </a:p>
        </p:txBody>
      </p:sp>
      <p:pic>
        <p:nvPicPr>
          <p:cNvPr id="15" name="Picture 14" descr="A black text on a white background&#10;&#10;AI-generated content may be incorrect.">
            <a:extLst>
              <a:ext uri="{FF2B5EF4-FFF2-40B4-BE49-F238E27FC236}">
                <a16:creationId xmlns:a16="http://schemas.microsoft.com/office/drawing/2014/main" id="{7FFE9459-9D7B-51F1-2F4B-5F8FE9BBBDAC}"/>
              </a:ext>
            </a:extLst>
          </p:cNvPr>
          <p:cNvPicPr>
            <a:picLocks noChangeAspect="1"/>
          </p:cNvPicPr>
          <p:nvPr/>
        </p:nvPicPr>
        <p:blipFill>
          <a:blip r:embed="rId2"/>
          <a:stretch>
            <a:fillRect/>
          </a:stretch>
        </p:blipFill>
        <p:spPr>
          <a:xfrm>
            <a:off x="2286000" y="2729830"/>
            <a:ext cx="6178379" cy="239895"/>
          </a:xfrm>
          <a:prstGeom prst="rect">
            <a:avLst/>
          </a:prstGeom>
        </p:spPr>
      </p:pic>
    </p:spTree>
    <p:extLst>
      <p:ext uri="{BB962C8B-B14F-4D97-AF65-F5344CB8AC3E}">
        <p14:creationId xmlns:p14="http://schemas.microsoft.com/office/powerpoint/2010/main" val="4218477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8D7F8-6A06-638E-470D-DBEFE94560B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A958054-800C-CFD7-27C7-BC9E627C620F}"/>
              </a:ext>
            </a:extLst>
          </p:cNvPr>
          <p:cNvGraphicFramePr>
            <a:graphicFrameLocks/>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4" name="think-cell data - do not delete" hidden="1">
                        <a:extLst>
                          <a:ext uri="{FF2B5EF4-FFF2-40B4-BE49-F238E27FC236}">
                            <a16:creationId xmlns:a16="http://schemas.microsoft.com/office/drawing/2014/main" id="{FA958054-800C-CFD7-27C7-BC9E627C620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FD54C83-C9B6-422B-D78C-F3B372D98B67}"/>
              </a:ext>
            </a:extLst>
          </p:cNvPr>
          <p:cNvSpPr>
            <a:spLocks noGrp="1"/>
          </p:cNvSpPr>
          <p:nvPr>
            <p:ph type="title"/>
          </p:nvPr>
        </p:nvSpPr>
        <p:spPr>
          <a:xfrm>
            <a:off x="827015" y="1098178"/>
            <a:ext cx="7958210" cy="1792800"/>
          </a:xfrm>
        </p:spPr>
        <p:txBody>
          <a:bodyPr vert="horz" rIns="0"/>
          <a:lstStyle/>
          <a:p>
            <a:pPr algn="ctr"/>
            <a:r>
              <a:rPr lang="de-LI">
                <a:latin typeface="Gill Sans Nova Light"/>
              </a:rPr>
              <a:t>Research Seminar Financial </a:t>
            </a:r>
            <a:r>
              <a:rPr lang="de-LI" err="1">
                <a:latin typeface="Gill Sans Nova Light"/>
              </a:rPr>
              <a:t>Institutions</a:t>
            </a:r>
            <a:r>
              <a:rPr lang="de-LI">
                <a:latin typeface="Gill Sans Nova Light"/>
              </a:rPr>
              <a:t>  </a:t>
            </a:r>
            <a:br>
              <a:rPr lang="de-LI">
                <a:latin typeface="Gill Sans Nova Light"/>
              </a:rPr>
            </a:br>
            <a:r>
              <a:rPr lang="de-LI" err="1">
                <a:latin typeface="Gill Sans Nova Light"/>
              </a:rPr>
              <a:t>Proposal</a:t>
            </a:r>
            <a:r>
              <a:rPr lang="de-LI">
                <a:latin typeface="Gill Sans Nova Light"/>
              </a:rPr>
              <a:t> </a:t>
            </a:r>
            <a:endParaRPr lang="de-LI"/>
          </a:p>
        </p:txBody>
      </p:sp>
      <p:sp>
        <p:nvSpPr>
          <p:cNvPr id="3" name="Text Placeholder 2">
            <a:extLst>
              <a:ext uri="{FF2B5EF4-FFF2-40B4-BE49-F238E27FC236}">
                <a16:creationId xmlns:a16="http://schemas.microsoft.com/office/drawing/2014/main" id="{213D72C8-B417-9D92-1DCA-F21B5147ABC5}"/>
              </a:ext>
            </a:extLst>
          </p:cNvPr>
          <p:cNvSpPr>
            <a:spLocks noGrp="1"/>
          </p:cNvSpPr>
          <p:nvPr>
            <p:ph type="body" sz="quarter" idx="10"/>
          </p:nvPr>
        </p:nvSpPr>
        <p:spPr>
          <a:xfrm>
            <a:off x="831027" y="3123868"/>
            <a:ext cx="3650486" cy="1356057"/>
          </a:xfrm>
        </p:spPr>
        <p:txBody>
          <a:bodyPr vert="horz" lIns="0" tIns="0" rIns="0" bIns="0" rtlCol="0" anchor="t">
            <a:normAutofit/>
          </a:bodyPr>
          <a:lstStyle/>
          <a:p>
            <a:r>
              <a:rPr lang="en-GB" err="1"/>
              <a:t>St.Gallen</a:t>
            </a:r>
            <a:r>
              <a:rPr lang="en-GB"/>
              <a:t>, </a:t>
            </a:r>
            <a:r>
              <a:rPr lang="de-LI"/>
              <a:t>18th March 2026</a:t>
            </a:r>
            <a:endParaRPr lang="en-GB"/>
          </a:p>
        </p:txBody>
      </p:sp>
    </p:spTree>
    <p:custDataLst>
      <p:custData r:id="rId1"/>
      <p:custData r:id="rId2"/>
    </p:custDataLst>
    <p:extLst>
      <p:ext uri="{BB962C8B-B14F-4D97-AF65-F5344CB8AC3E}">
        <p14:creationId xmlns:p14="http://schemas.microsoft.com/office/powerpoint/2010/main" val="3398968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FF196-1989-3963-367D-30FFCBC19F2A}"/>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CF40B0B0-85F5-8F19-5EB1-A5C493369D2B}"/>
              </a:ext>
            </a:extLst>
          </p:cNvPr>
          <p:cNvGraphicFramePr>
            <a:graphicFrameLocks/>
          </p:cNvGraphicFramePr>
          <p:nvPr>
            <p:custDataLst>
              <p:tags r:id="rId1"/>
            </p:custDataLst>
            <p:extLst>
              <p:ext uri="{D42A27DB-BD31-4B8C-83A1-F6EECF244321}">
                <p14:modId xmlns:p14="http://schemas.microsoft.com/office/powerpoint/2010/main" val="292355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15" name="think-cell data - do not delete" hidden="1">
                        <a:extLst>
                          <a:ext uri="{FF2B5EF4-FFF2-40B4-BE49-F238E27FC236}">
                            <a16:creationId xmlns:a16="http://schemas.microsoft.com/office/drawing/2014/main" id="{CF40B0B0-85F5-8F19-5EB1-A5C493369D2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6DD1F0F-352C-6654-C3E6-21ACD81D7F2F}"/>
              </a:ext>
            </a:extLst>
          </p:cNvPr>
          <p:cNvSpPr>
            <a:spLocks noGrp="1"/>
          </p:cNvSpPr>
          <p:nvPr>
            <p:ph type="title"/>
          </p:nvPr>
        </p:nvSpPr>
        <p:spPr>
          <a:xfrm>
            <a:off x="358775" y="376238"/>
            <a:ext cx="8426450" cy="609662"/>
          </a:xfrm>
        </p:spPr>
        <p:txBody>
          <a:bodyPr vert="horz" rIns="0"/>
          <a:lstStyle/>
          <a:p>
            <a:r>
              <a:rPr lang="en-CH"/>
              <a:t>Proposed slides for discussion with professor</a:t>
            </a:r>
          </a:p>
        </p:txBody>
      </p:sp>
      <p:sp>
        <p:nvSpPr>
          <p:cNvPr id="3" name="Slide Number Placeholder 2">
            <a:extLst>
              <a:ext uri="{FF2B5EF4-FFF2-40B4-BE49-F238E27FC236}">
                <a16:creationId xmlns:a16="http://schemas.microsoft.com/office/drawing/2014/main" id="{9A8B6D3C-615E-E11E-8ECB-1996A6B076A9}"/>
              </a:ext>
            </a:extLst>
          </p:cNvPr>
          <p:cNvSpPr>
            <a:spLocks noGrp="1"/>
          </p:cNvSpPr>
          <p:nvPr>
            <p:ph type="sldNum" sz="quarter" idx="12"/>
          </p:nvPr>
        </p:nvSpPr>
        <p:spPr/>
        <p:txBody>
          <a:bodyPr/>
          <a:lstStyle/>
          <a:p>
            <a:fld id="{7559FC98-AF75-4A00-A03C-DF9FEBF6BCB9}" type="slidenum">
              <a:rPr lang="en-GB" smtClean="0"/>
              <a:t>25</a:t>
            </a:fld>
            <a:endParaRPr lang="en-GB"/>
          </a:p>
        </p:txBody>
      </p:sp>
      <p:sp>
        <p:nvSpPr>
          <p:cNvPr id="4" name="Rectangle 3">
            <a:extLst>
              <a:ext uri="{FF2B5EF4-FFF2-40B4-BE49-F238E27FC236}">
                <a16:creationId xmlns:a16="http://schemas.microsoft.com/office/drawing/2014/main" id="{4936C3C1-A23C-6A65-B78D-53803B7B1B5C}"/>
              </a:ext>
            </a:extLst>
          </p:cNvPr>
          <p:cNvSpPr/>
          <p:nvPr/>
        </p:nvSpPr>
        <p:spPr>
          <a:xfrm>
            <a:off x="968375" y="892715"/>
            <a:ext cx="1589029" cy="49600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100" noProof="0"/>
              <a:t>Slide 1:</a:t>
            </a:r>
            <a:br>
              <a:rPr lang="en-CH" sz="1100" noProof="0"/>
            </a:br>
            <a:r>
              <a:rPr lang="en-CH" sz="1100" noProof="0"/>
              <a:t>Exec sum</a:t>
            </a:r>
            <a:endParaRPr lang="en-GB" sz="1100" noProof="0"/>
          </a:p>
        </p:txBody>
      </p:sp>
      <p:sp>
        <p:nvSpPr>
          <p:cNvPr id="6" name="Rectangle 5">
            <a:extLst>
              <a:ext uri="{FF2B5EF4-FFF2-40B4-BE49-F238E27FC236}">
                <a16:creationId xmlns:a16="http://schemas.microsoft.com/office/drawing/2014/main" id="{8CFD175E-B4E9-5DAF-3A05-69A429DC0F59}"/>
              </a:ext>
            </a:extLst>
          </p:cNvPr>
          <p:cNvSpPr/>
          <p:nvPr/>
        </p:nvSpPr>
        <p:spPr>
          <a:xfrm>
            <a:off x="968375" y="1453130"/>
            <a:ext cx="1589029" cy="49600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noProof="0"/>
              <a:t>Slide 2:</a:t>
            </a:r>
            <a:br>
              <a:rPr lang="en-CH" sz="1100" noProof="0"/>
            </a:br>
            <a:r>
              <a:rPr lang="en-CH" sz="1100" noProof="0"/>
              <a:t>Motivation &amp; research</a:t>
            </a:r>
            <a:br>
              <a:rPr lang="en-CH" sz="1100" noProof="0"/>
            </a:br>
            <a:r>
              <a:rPr lang="en-CH" sz="1100" noProof="0"/>
              <a:t>gap</a:t>
            </a:r>
            <a:endParaRPr lang="en-GB" sz="1100" noProof="0"/>
          </a:p>
        </p:txBody>
      </p:sp>
      <p:sp>
        <p:nvSpPr>
          <p:cNvPr id="9" name="Rectangle 8">
            <a:extLst>
              <a:ext uri="{FF2B5EF4-FFF2-40B4-BE49-F238E27FC236}">
                <a16:creationId xmlns:a16="http://schemas.microsoft.com/office/drawing/2014/main" id="{45AD62F0-B5A7-5334-AA83-97ACD92301CB}"/>
              </a:ext>
            </a:extLst>
          </p:cNvPr>
          <p:cNvSpPr/>
          <p:nvPr/>
        </p:nvSpPr>
        <p:spPr>
          <a:xfrm>
            <a:off x="968375" y="2013545"/>
            <a:ext cx="1589029" cy="49600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a:t>Slides 3 &amp; 4:</a:t>
            </a:r>
            <a:br>
              <a:rPr lang="en-CH" sz="1100" noProof="0"/>
            </a:br>
            <a:r>
              <a:rPr lang="en-CH" sz="1100" noProof="0"/>
              <a:t>Hypotheses, economic intuition channels</a:t>
            </a:r>
            <a:endParaRPr lang="en-GB" sz="1100" noProof="0"/>
          </a:p>
        </p:txBody>
      </p:sp>
      <p:sp>
        <p:nvSpPr>
          <p:cNvPr id="11" name="Rectangle 10">
            <a:extLst>
              <a:ext uri="{FF2B5EF4-FFF2-40B4-BE49-F238E27FC236}">
                <a16:creationId xmlns:a16="http://schemas.microsoft.com/office/drawing/2014/main" id="{B4B04BB2-B62E-7A52-DF83-A9D62FB45B36}"/>
              </a:ext>
            </a:extLst>
          </p:cNvPr>
          <p:cNvSpPr/>
          <p:nvPr/>
        </p:nvSpPr>
        <p:spPr>
          <a:xfrm>
            <a:off x="968375" y="2573960"/>
            <a:ext cx="1589029" cy="49600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noProof="0"/>
              <a:t>Slide 5:</a:t>
            </a:r>
            <a:br>
              <a:rPr lang="en-CH" sz="1100" noProof="0"/>
            </a:br>
            <a:r>
              <a:rPr lang="en-CH" sz="1100" noProof="0"/>
              <a:t>Main regression model (its components)</a:t>
            </a:r>
            <a:endParaRPr lang="en-GB" sz="1100" noProof="0"/>
          </a:p>
        </p:txBody>
      </p:sp>
      <p:sp>
        <p:nvSpPr>
          <p:cNvPr id="13" name="Rectangle 12">
            <a:extLst>
              <a:ext uri="{FF2B5EF4-FFF2-40B4-BE49-F238E27FC236}">
                <a16:creationId xmlns:a16="http://schemas.microsoft.com/office/drawing/2014/main" id="{4E9406B9-C3B3-62A9-B762-2A8719B4B0CF}"/>
              </a:ext>
            </a:extLst>
          </p:cNvPr>
          <p:cNvSpPr/>
          <p:nvPr/>
        </p:nvSpPr>
        <p:spPr>
          <a:xfrm>
            <a:off x="968375" y="3134375"/>
            <a:ext cx="1589029" cy="4567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noProof="0"/>
              <a:t>Slide 6:</a:t>
            </a:r>
            <a:br>
              <a:rPr lang="en-CH" sz="1100" noProof="0"/>
            </a:br>
            <a:r>
              <a:rPr lang="en-CH" sz="1100" noProof="0"/>
              <a:t>Preliminary findings</a:t>
            </a:r>
            <a:endParaRPr lang="en-GB" sz="1100" noProof="0"/>
          </a:p>
        </p:txBody>
      </p:sp>
      <p:sp>
        <p:nvSpPr>
          <p:cNvPr id="16" name="Rectangle 15">
            <a:extLst>
              <a:ext uri="{FF2B5EF4-FFF2-40B4-BE49-F238E27FC236}">
                <a16:creationId xmlns:a16="http://schemas.microsoft.com/office/drawing/2014/main" id="{C711257B-D1DF-370B-85EB-CEE9396B9AEB}"/>
              </a:ext>
            </a:extLst>
          </p:cNvPr>
          <p:cNvSpPr/>
          <p:nvPr/>
        </p:nvSpPr>
        <p:spPr>
          <a:xfrm>
            <a:off x="8131510" y="0"/>
            <a:ext cx="1012490" cy="37623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Discussion</a:t>
            </a:r>
          </a:p>
        </p:txBody>
      </p:sp>
      <p:sp>
        <p:nvSpPr>
          <p:cNvPr id="17" name="Rectangle 16">
            <a:extLst>
              <a:ext uri="{FF2B5EF4-FFF2-40B4-BE49-F238E27FC236}">
                <a16:creationId xmlns:a16="http://schemas.microsoft.com/office/drawing/2014/main" id="{6BEBADF1-84B0-46A5-6A23-29B27DDBBF1F}"/>
              </a:ext>
            </a:extLst>
          </p:cNvPr>
          <p:cNvSpPr/>
          <p:nvPr/>
        </p:nvSpPr>
        <p:spPr>
          <a:xfrm>
            <a:off x="968375" y="3655517"/>
            <a:ext cx="1589029" cy="4567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a:t>Slide 7:</a:t>
            </a:r>
            <a:br>
              <a:rPr lang="en-CH" sz="1100"/>
            </a:br>
            <a:r>
              <a:rPr lang="en-CH" sz="1100"/>
              <a:t>Our key questions TBD with professor</a:t>
            </a:r>
            <a:endParaRPr lang="en-GB" sz="1100" noProof="0"/>
          </a:p>
        </p:txBody>
      </p:sp>
      <p:sp>
        <p:nvSpPr>
          <p:cNvPr id="18" name="Rectangle 17">
            <a:extLst>
              <a:ext uri="{FF2B5EF4-FFF2-40B4-BE49-F238E27FC236}">
                <a16:creationId xmlns:a16="http://schemas.microsoft.com/office/drawing/2014/main" id="{B5845B84-4A51-ACD0-9E72-903B2DC547F0}"/>
              </a:ext>
            </a:extLst>
          </p:cNvPr>
          <p:cNvSpPr/>
          <p:nvPr/>
        </p:nvSpPr>
        <p:spPr>
          <a:xfrm>
            <a:off x="968375" y="4176658"/>
            <a:ext cx="1589029" cy="4567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CH" sz="1100"/>
              <a:t>Back-ups &amp; annex</a:t>
            </a:r>
            <a:endParaRPr lang="en-GB" sz="1100" noProof="0"/>
          </a:p>
        </p:txBody>
      </p:sp>
      <p:sp>
        <p:nvSpPr>
          <p:cNvPr id="19" name="TextBox 18">
            <a:extLst>
              <a:ext uri="{FF2B5EF4-FFF2-40B4-BE49-F238E27FC236}">
                <a16:creationId xmlns:a16="http://schemas.microsoft.com/office/drawing/2014/main" id="{C8CBE43C-DD5A-C85F-A5A4-615A9AECFA1A}"/>
              </a:ext>
            </a:extLst>
          </p:cNvPr>
          <p:cNvSpPr txBox="1"/>
          <p:nvPr/>
        </p:nvSpPr>
        <p:spPr>
          <a:xfrm>
            <a:off x="2702754" y="4176658"/>
            <a:ext cx="5868846" cy="430887"/>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CH" sz="1100"/>
              <a:t>Slides with paper/literature overview; slides with datasets; slides arguing why to use certain ratios; OVB considerations</a:t>
            </a:r>
            <a:endParaRPr lang="en-US"/>
          </a:p>
        </p:txBody>
      </p:sp>
      <p:sp>
        <p:nvSpPr>
          <p:cNvPr id="20" name="Rectangle 19">
            <a:extLst>
              <a:ext uri="{FF2B5EF4-FFF2-40B4-BE49-F238E27FC236}">
                <a16:creationId xmlns:a16="http://schemas.microsoft.com/office/drawing/2014/main" id="{AD8D91F5-DBCC-FF15-7C86-E55EEC4E8EF1}"/>
              </a:ext>
            </a:extLst>
          </p:cNvPr>
          <p:cNvSpPr/>
          <p:nvPr/>
        </p:nvSpPr>
        <p:spPr>
          <a:xfrm>
            <a:off x="6601691" y="471729"/>
            <a:ext cx="2542310" cy="11146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1100">
                <a:solidFill>
                  <a:sysClr val="windowText" lastClr="000000"/>
                </a:solidFill>
              </a:rPr>
              <a:t>Comment NB:</a:t>
            </a:r>
            <a:br>
              <a:rPr lang="en-CH" sz="1100">
                <a:solidFill>
                  <a:sysClr val="windowText" lastClr="000000"/>
                </a:solidFill>
              </a:rPr>
            </a:br>
            <a:r>
              <a:rPr lang="en-CH" sz="1100">
                <a:solidFill>
                  <a:sysClr val="windowText" lastClr="000000"/>
                </a:solidFill>
              </a:rPr>
              <a:t>I would propose to leverage this document for the discussion with professor; it could be like a “mini-version” of our final paper but just in slides form only</a:t>
            </a:r>
          </a:p>
        </p:txBody>
      </p:sp>
    </p:spTree>
    <p:extLst>
      <p:ext uri="{BB962C8B-B14F-4D97-AF65-F5344CB8AC3E}">
        <p14:creationId xmlns:p14="http://schemas.microsoft.com/office/powerpoint/2010/main" val="2340304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07B0F-CC58-7811-67C8-14CFBB2D04C4}"/>
              </a:ext>
            </a:extLst>
          </p:cNvPr>
          <p:cNvSpPr>
            <a:spLocks noGrp="1"/>
          </p:cNvSpPr>
          <p:nvPr>
            <p:ph type="title"/>
          </p:nvPr>
        </p:nvSpPr>
        <p:spPr/>
        <p:txBody>
          <a:bodyPr/>
          <a:lstStyle/>
          <a:p>
            <a:r>
              <a:rPr lang="en-GB"/>
              <a:t>Questions (WIP)</a:t>
            </a:r>
          </a:p>
        </p:txBody>
      </p:sp>
      <p:sp>
        <p:nvSpPr>
          <p:cNvPr id="3" name="Content Placeholder 2">
            <a:extLst>
              <a:ext uri="{FF2B5EF4-FFF2-40B4-BE49-F238E27FC236}">
                <a16:creationId xmlns:a16="http://schemas.microsoft.com/office/drawing/2014/main" id="{9A0CD11F-999C-2ED4-3BED-8A6D63D48ADB}"/>
              </a:ext>
            </a:extLst>
          </p:cNvPr>
          <p:cNvSpPr>
            <a:spLocks noGrp="1"/>
          </p:cNvSpPr>
          <p:nvPr>
            <p:ph idx="1"/>
          </p:nvPr>
        </p:nvSpPr>
        <p:spPr/>
        <p:txBody>
          <a:bodyPr vert="horz" lIns="0" tIns="0" rIns="0" bIns="0" rtlCol="0" anchor="t">
            <a:normAutofit/>
          </a:bodyPr>
          <a:lstStyle/>
          <a:p>
            <a:r>
              <a:rPr lang="en-GB" b="1">
                <a:ea typeface="+mn-lt"/>
                <a:cs typeface="+mn-lt"/>
              </a:rPr>
              <a:t>Context:</a:t>
            </a:r>
            <a:r>
              <a:rPr lang="en-GB">
                <a:ea typeface="+mn-lt"/>
                <a:cs typeface="+mn-lt"/>
              </a:rPr>
              <a:t> Unit is bank × year, and all regressors of interest (Age65, </a:t>
            </a:r>
            <a:r>
              <a:rPr lang="en-GB" err="1">
                <a:ea typeface="+mn-lt"/>
                <a:cs typeface="+mn-lt"/>
              </a:rPr>
              <a:t>FinStructure</a:t>
            </a:r>
            <a:r>
              <a:rPr lang="en-GB">
                <a:ea typeface="+mn-lt"/>
                <a:cs typeface="+mn-lt"/>
              </a:rPr>
              <a:t>, ARR, pension dummies) vary only at country × year. This means in regression, the standard errors must be clustered at the country level, because all banks within Germany in 2015 get the exact same Age65, </a:t>
            </a:r>
            <a:r>
              <a:rPr lang="en-GB" err="1">
                <a:ea typeface="+mn-lt"/>
                <a:cs typeface="+mn-lt"/>
              </a:rPr>
              <a:t>FinStructure</a:t>
            </a:r>
            <a:r>
              <a:rPr lang="en-GB">
                <a:ea typeface="+mn-lt"/>
                <a:cs typeface="+mn-lt"/>
              </a:rPr>
              <a:t>, and ARR values, so their residuals are mechanically correlated. With only 28 clusters this is a known small-cluster problem --&gt; solution is wild cluster bootstrap. </a:t>
            </a:r>
            <a:r>
              <a:rPr lang="en-GB" b="1">
                <a:solidFill>
                  <a:srgbClr val="00802F"/>
                </a:solidFill>
                <a:ea typeface="+mn-lt"/>
                <a:cs typeface="+mn-lt"/>
              </a:rPr>
              <a:t>Question: </a:t>
            </a:r>
            <a:r>
              <a:rPr lang="en-GB">
                <a:solidFill>
                  <a:srgbClr val="00802F"/>
                </a:solidFill>
                <a:ea typeface="+mn-lt"/>
                <a:cs typeface="+mn-lt"/>
              </a:rPr>
              <a:t>is it fine or should we </a:t>
            </a:r>
            <a:r>
              <a:rPr lang="en-GB" err="1">
                <a:solidFill>
                  <a:srgbClr val="00802F"/>
                </a:solidFill>
                <a:ea typeface="+mn-lt"/>
                <a:cs typeface="+mn-lt"/>
              </a:rPr>
              <a:t>expa</a:t>
            </a:r>
            <a:r>
              <a:rPr lang="en-GB">
                <a:solidFill>
                  <a:srgbClr val="00802F"/>
                </a:solidFill>
                <a:ea typeface="+mn-lt"/>
                <a:cs typeface="+mn-lt"/>
              </a:rPr>
              <a:t>nd our country cluster?</a:t>
            </a:r>
          </a:p>
          <a:p>
            <a:endParaRPr lang="en-GB">
              <a:ea typeface="+mn-lt"/>
              <a:cs typeface="+mn-lt"/>
            </a:endParaRPr>
          </a:p>
        </p:txBody>
      </p:sp>
      <p:sp>
        <p:nvSpPr>
          <p:cNvPr id="4" name="Slide Number Placeholder 3">
            <a:extLst>
              <a:ext uri="{FF2B5EF4-FFF2-40B4-BE49-F238E27FC236}">
                <a16:creationId xmlns:a16="http://schemas.microsoft.com/office/drawing/2014/main" id="{E73AD13D-DA26-EBD2-2A93-822B4506BB12}"/>
              </a:ext>
            </a:extLst>
          </p:cNvPr>
          <p:cNvSpPr>
            <a:spLocks noGrp="1"/>
          </p:cNvSpPr>
          <p:nvPr>
            <p:ph type="sldNum" sz="quarter" idx="12"/>
          </p:nvPr>
        </p:nvSpPr>
        <p:spPr/>
        <p:txBody>
          <a:bodyPr/>
          <a:lstStyle/>
          <a:p>
            <a:fld id="{7559FC98-AF75-4A00-A03C-DF9FEBF6BCB9}" type="slidenum">
              <a:rPr lang="en-GB" smtClean="0"/>
              <a:t>26</a:t>
            </a:fld>
            <a:endParaRPr lang="en-GB"/>
          </a:p>
        </p:txBody>
      </p:sp>
    </p:spTree>
    <p:extLst>
      <p:ext uri="{BB962C8B-B14F-4D97-AF65-F5344CB8AC3E}">
        <p14:creationId xmlns:p14="http://schemas.microsoft.com/office/powerpoint/2010/main" val="1658356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B796D-E75F-8501-079D-2130E032C4BF}"/>
              </a:ext>
            </a:extLst>
          </p:cNvPr>
          <p:cNvSpPr>
            <a:spLocks noGrp="1"/>
          </p:cNvSpPr>
          <p:nvPr>
            <p:ph type="title"/>
          </p:nvPr>
        </p:nvSpPr>
        <p:spPr/>
        <p:txBody>
          <a:bodyPr/>
          <a:lstStyle/>
          <a:p>
            <a:r>
              <a:rPr lang="en-GB" err="1"/>
              <a:t>FinStructure</a:t>
            </a:r>
            <a:r>
              <a:rPr lang="en-GB"/>
              <a:t>: Overview</a:t>
            </a:r>
            <a:endParaRPr lang="en-CH"/>
          </a:p>
        </p:txBody>
      </p:sp>
      <p:sp>
        <p:nvSpPr>
          <p:cNvPr id="4" name="Slide Number Placeholder 3">
            <a:extLst>
              <a:ext uri="{FF2B5EF4-FFF2-40B4-BE49-F238E27FC236}">
                <a16:creationId xmlns:a16="http://schemas.microsoft.com/office/drawing/2014/main" id="{30B2A6C3-B823-4632-3BEF-4298CEECF00E}"/>
              </a:ext>
            </a:extLst>
          </p:cNvPr>
          <p:cNvSpPr>
            <a:spLocks noGrp="1"/>
          </p:cNvSpPr>
          <p:nvPr>
            <p:ph type="sldNum" sz="quarter" idx="12"/>
          </p:nvPr>
        </p:nvSpPr>
        <p:spPr/>
        <p:txBody>
          <a:bodyPr/>
          <a:lstStyle/>
          <a:p>
            <a:fld id="{7559FC98-AF75-4A00-A03C-DF9FEBF6BCB9}" type="slidenum">
              <a:rPr lang="en-GB" smtClean="0">
                <a:latin typeface="Gill Sans Nova Light" panose="020B0302020104020203" pitchFamily="34" charset="0"/>
              </a:rPr>
              <a:t>27</a:t>
            </a:fld>
            <a:endParaRPr lang="en-GB">
              <a:latin typeface="Gill Sans Nova Light" panose="020B0302020104020203" pitchFamily="34" charset="0"/>
            </a:endParaRPr>
          </a:p>
        </p:txBody>
      </p:sp>
      <p:sp>
        <p:nvSpPr>
          <p:cNvPr id="28" name="Shape 2">
            <a:extLst>
              <a:ext uri="{FF2B5EF4-FFF2-40B4-BE49-F238E27FC236}">
                <a16:creationId xmlns:a16="http://schemas.microsoft.com/office/drawing/2014/main" id="{18B0882F-5714-0328-F89B-A41AFAF2D25F}"/>
              </a:ext>
            </a:extLst>
          </p:cNvPr>
          <p:cNvSpPr/>
          <p:nvPr/>
        </p:nvSpPr>
        <p:spPr>
          <a:xfrm>
            <a:off x="365760" y="914400"/>
            <a:ext cx="8412480" cy="822960"/>
          </a:xfrm>
          <a:prstGeom prst="rect">
            <a:avLst/>
          </a:prstGeom>
          <a:solidFill>
            <a:srgbClr val="FFFFFF"/>
          </a:solidFill>
          <a:ln w="12700">
            <a:solidFill>
              <a:srgbClr val="2C5F2D"/>
            </a:solidFill>
            <a:prstDash val="solid"/>
          </a:ln>
          <a:effectLst>
            <a:outerShdw blurRad="50800" dist="25400" dir="8100000" algn="bl" rotWithShape="0">
              <a:srgbClr val="000000">
                <a:alpha val="8000"/>
              </a:srgbClr>
            </a:outerShdw>
          </a:effectLst>
        </p:spPr>
        <p:txBody>
          <a:bodyPr/>
          <a:lstStyle/>
          <a:p>
            <a:endParaRPr lang="en-CH">
              <a:latin typeface="Gill Sans Nova Light" panose="020B0302020104020203" pitchFamily="34" charset="0"/>
            </a:endParaRPr>
          </a:p>
        </p:txBody>
      </p:sp>
      <p:sp>
        <p:nvSpPr>
          <p:cNvPr id="29" name="Text 3">
            <a:extLst>
              <a:ext uri="{FF2B5EF4-FFF2-40B4-BE49-F238E27FC236}">
                <a16:creationId xmlns:a16="http://schemas.microsoft.com/office/drawing/2014/main" id="{47379F89-FF7F-29B9-DC25-EA9E8BF2F3E5}"/>
              </a:ext>
            </a:extLst>
          </p:cNvPr>
          <p:cNvSpPr/>
          <p:nvPr/>
        </p:nvSpPr>
        <p:spPr>
          <a:xfrm>
            <a:off x="365760" y="914400"/>
            <a:ext cx="8412480" cy="822960"/>
          </a:xfrm>
          <a:prstGeom prst="rect">
            <a:avLst/>
          </a:prstGeom>
          <a:noFill/>
          <a:ln/>
        </p:spPr>
        <p:txBody>
          <a:bodyPr wrap="square" rtlCol="0" anchor="ctr"/>
          <a:lstStyle/>
          <a:p>
            <a:pPr marL="0" indent="0" algn="ctr">
              <a:buNone/>
            </a:pPr>
            <a:r>
              <a:rPr lang="en-US" sz="1500" b="1" err="1">
                <a:latin typeface="Gill Sans Nova Light" panose="020B0302020104020203" pitchFamily="34" charset="0"/>
                <a:ea typeface="Calibri" pitchFamily="34" charset="-122"/>
                <a:cs typeface="Calibri" pitchFamily="34" charset="-120"/>
              </a:rPr>
              <a:t>FinStructure</a:t>
            </a:r>
            <a:r>
              <a:rPr lang="en-US" sz="1500" b="1">
                <a:latin typeface="Gill Sans Nova Light" panose="020B0302020104020203" pitchFamily="34" charset="0"/>
                <a:ea typeface="Calibri" pitchFamily="34" charset="-122"/>
                <a:cs typeface="Calibri" pitchFamily="34" charset="-120"/>
              </a:rPr>
              <a:t> = ln [ (1 + Market Cap / GDP) / (1 + Private Credit by Banks / GDP) ]</a:t>
            </a:r>
            <a:endParaRPr lang="en-US" sz="1500">
              <a:latin typeface="Gill Sans Nova Light" panose="020B0302020104020203" pitchFamily="34" charset="0"/>
            </a:endParaRPr>
          </a:p>
        </p:txBody>
      </p:sp>
      <p:sp>
        <p:nvSpPr>
          <p:cNvPr id="30" name="Text 4">
            <a:extLst>
              <a:ext uri="{FF2B5EF4-FFF2-40B4-BE49-F238E27FC236}">
                <a16:creationId xmlns:a16="http://schemas.microsoft.com/office/drawing/2014/main" id="{53D6FA49-2A00-FF56-DF72-B942FA2E4CD8}"/>
              </a:ext>
            </a:extLst>
          </p:cNvPr>
          <p:cNvSpPr/>
          <p:nvPr/>
        </p:nvSpPr>
        <p:spPr>
          <a:xfrm>
            <a:off x="365760" y="1894832"/>
            <a:ext cx="8412480" cy="365760"/>
          </a:xfrm>
          <a:prstGeom prst="rect">
            <a:avLst/>
          </a:prstGeom>
          <a:noFill/>
          <a:ln/>
        </p:spPr>
        <p:txBody>
          <a:bodyPr wrap="square" rtlCol="0" anchor="ctr"/>
          <a:lstStyle/>
          <a:p>
            <a:pPr marL="0" indent="0">
              <a:buNone/>
            </a:pPr>
            <a:r>
              <a:rPr lang="en-US" sz="1500" b="1">
                <a:latin typeface="Gill Sans Nova Light" panose="020B0302020104020203" pitchFamily="34" charset="0"/>
                <a:ea typeface="Calibri" pitchFamily="34" charset="-122"/>
                <a:cs typeface="Calibri" pitchFamily="34" charset="-120"/>
              </a:rPr>
              <a:t>Interpretation</a:t>
            </a:r>
            <a:endParaRPr lang="en-US" sz="1500">
              <a:latin typeface="Gill Sans Nova Light" panose="020B0302020104020203" pitchFamily="34" charset="0"/>
            </a:endParaRPr>
          </a:p>
        </p:txBody>
      </p:sp>
      <p:sp>
        <p:nvSpPr>
          <p:cNvPr id="31" name="Text 5">
            <a:extLst>
              <a:ext uri="{FF2B5EF4-FFF2-40B4-BE49-F238E27FC236}">
                <a16:creationId xmlns:a16="http://schemas.microsoft.com/office/drawing/2014/main" id="{5A0A60F3-CEF7-5588-51E4-6E9A2469D78D}"/>
              </a:ext>
            </a:extLst>
          </p:cNvPr>
          <p:cNvSpPr/>
          <p:nvPr/>
        </p:nvSpPr>
        <p:spPr>
          <a:xfrm>
            <a:off x="365760" y="2096000"/>
            <a:ext cx="8412480" cy="822960"/>
          </a:xfrm>
          <a:prstGeom prst="rect">
            <a:avLst/>
          </a:prstGeom>
          <a:noFill/>
          <a:ln/>
        </p:spPr>
        <p:txBody>
          <a:bodyPr wrap="square" rtlCol="0" anchor="ctr"/>
          <a:lstStyle/>
          <a:p>
            <a:pPr marL="0" indent="0">
              <a:buNone/>
            </a:pPr>
            <a:r>
              <a:rPr lang="en-US" sz="1300" b="1">
                <a:solidFill>
                  <a:srgbClr val="1A7A4A"/>
                </a:solidFill>
                <a:latin typeface="Gill Sans Nova Light" panose="020B0302020104020203" pitchFamily="34" charset="0"/>
                <a:ea typeface="Calibri" pitchFamily="34" charset="-122"/>
                <a:cs typeface="Calibri" pitchFamily="34" charset="-120"/>
              </a:rPr>
              <a:t>Positive value</a:t>
            </a:r>
            <a:r>
              <a:rPr lang="en-US" sz="1300">
                <a:solidFill>
                  <a:srgbClr val="363636"/>
                </a:solidFill>
                <a:latin typeface="Gill Sans Nova Light" panose="020B0302020104020203" pitchFamily="34" charset="0"/>
                <a:ea typeface="Calibri" pitchFamily="34" charset="-122"/>
                <a:cs typeface="Calibri" pitchFamily="34" charset="-120"/>
              </a:rPr>
              <a:t>  →  Market-based financial system (market cap &gt; private credit)</a:t>
            </a:r>
            <a:r>
              <a:rPr lang="en-US" sz="1300">
                <a:solidFill>
                  <a:srgbClr val="000000"/>
                </a:solidFill>
                <a:latin typeface="Gill Sans Nova Light" panose="020B0302020104020203" pitchFamily="34" charset="0"/>
                <a:ea typeface="Calibri" pitchFamily="34" charset="-122"/>
                <a:cs typeface="Calibri" pitchFamily="34" charset="-120"/>
              </a:rPr>
              <a:t>
</a:t>
            </a:r>
            <a:r>
              <a:rPr lang="en-US" sz="1300" b="1">
                <a:solidFill>
                  <a:srgbClr val="C0392B"/>
                </a:solidFill>
                <a:latin typeface="Gill Sans Nova Light" panose="020B0302020104020203" pitchFamily="34" charset="0"/>
                <a:ea typeface="Calibri" pitchFamily="34" charset="-122"/>
                <a:cs typeface="Calibri" pitchFamily="34" charset="-120"/>
              </a:rPr>
              <a:t>Negative value</a:t>
            </a:r>
            <a:r>
              <a:rPr lang="en-US" sz="1300">
                <a:solidFill>
                  <a:srgbClr val="363636"/>
                </a:solidFill>
                <a:latin typeface="Gill Sans Nova Light" panose="020B0302020104020203" pitchFamily="34" charset="0"/>
                <a:ea typeface="Calibri" pitchFamily="34" charset="-122"/>
                <a:cs typeface="Calibri" pitchFamily="34" charset="-120"/>
              </a:rPr>
              <a:t>  →  Bank-based financial system (private credit &gt; market cap)</a:t>
            </a:r>
            <a:endParaRPr lang="en-US" sz="1300">
              <a:latin typeface="Gill Sans Nova Light" panose="020B0302020104020203" pitchFamily="34" charset="0"/>
            </a:endParaRPr>
          </a:p>
        </p:txBody>
      </p:sp>
      <p:sp>
        <p:nvSpPr>
          <p:cNvPr id="32" name="Text 6">
            <a:extLst>
              <a:ext uri="{FF2B5EF4-FFF2-40B4-BE49-F238E27FC236}">
                <a16:creationId xmlns:a16="http://schemas.microsoft.com/office/drawing/2014/main" id="{6B3AA6FD-775F-6A79-10F6-9D6E5797D86D}"/>
              </a:ext>
            </a:extLst>
          </p:cNvPr>
          <p:cNvSpPr/>
          <p:nvPr/>
        </p:nvSpPr>
        <p:spPr>
          <a:xfrm>
            <a:off x="365760" y="3056120"/>
            <a:ext cx="1828800" cy="228600"/>
          </a:xfrm>
          <a:prstGeom prst="rect">
            <a:avLst/>
          </a:prstGeom>
          <a:noFill/>
          <a:ln/>
        </p:spPr>
        <p:txBody>
          <a:bodyPr wrap="square" rtlCol="0" anchor="ctr"/>
          <a:lstStyle/>
          <a:p>
            <a:pPr marL="0" indent="0">
              <a:buNone/>
            </a:pPr>
            <a:r>
              <a:rPr lang="en-US" sz="1000" b="1">
                <a:solidFill>
                  <a:srgbClr val="00802F"/>
                </a:solidFill>
                <a:latin typeface="Gill Sans Nova Light" panose="020B0302020104020203" pitchFamily="34" charset="0"/>
                <a:ea typeface="Calibri" pitchFamily="34" charset="-122"/>
                <a:cs typeface="Calibri" pitchFamily="34" charset="-120"/>
              </a:rPr>
              <a:t>Base (WB only)</a:t>
            </a:r>
            <a:endParaRPr lang="en-US" sz="1000">
              <a:solidFill>
                <a:srgbClr val="00802F"/>
              </a:solidFill>
              <a:latin typeface="Gill Sans Nova Light" panose="020B0302020104020203" pitchFamily="34" charset="0"/>
            </a:endParaRPr>
          </a:p>
        </p:txBody>
      </p:sp>
      <p:sp>
        <p:nvSpPr>
          <p:cNvPr id="33" name="Text 7">
            <a:extLst>
              <a:ext uri="{FF2B5EF4-FFF2-40B4-BE49-F238E27FC236}">
                <a16:creationId xmlns:a16="http://schemas.microsoft.com/office/drawing/2014/main" id="{E9A29FF4-7E90-4242-5EDB-4D4655A82111}"/>
              </a:ext>
            </a:extLst>
          </p:cNvPr>
          <p:cNvSpPr/>
          <p:nvPr/>
        </p:nvSpPr>
        <p:spPr>
          <a:xfrm>
            <a:off x="365760" y="3879080"/>
            <a:ext cx="1828800" cy="228600"/>
          </a:xfrm>
          <a:prstGeom prst="rect">
            <a:avLst/>
          </a:prstGeom>
          <a:noFill/>
          <a:ln/>
        </p:spPr>
        <p:txBody>
          <a:bodyPr wrap="square" rtlCol="0" anchor="ctr"/>
          <a:lstStyle/>
          <a:p>
            <a:pPr marL="0" indent="0">
              <a:buNone/>
            </a:pPr>
            <a:r>
              <a:rPr lang="en-US" sz="1000" b="1">
                <a:solidFill>
                  <a:srgbClr val="BFDFCB"/>
                </a:solidFill>
                <a:latin typeface="Gill Sans Nova Light" panose="020B0302020104020203" pitchFamily="34" charset="0"/>
                <a:ea typeface="Calibri" pitchFamily="34" charset="-122"/>
                <a:cs typeface="Calibri" pitchFamily="34" charset="-120"/>
              </a:rPr>
              <a:t>Patched</a:t>
            </a:r>
            <a:endParaRPr lang="en-US" sz="1000">
              <a:solidFill>
                <a:srgbClr val="BFDFCB"/>
              </a:solidFill>
              <a:latin typeface="Gill Sans Nova Light" panose="020B0302020104020203" pitchFamily="34" charset="0"/>
            </a:endParaRPr>
          </a:p>
        </p:txBody>
      </p:sp>
      <p:sp>
        <p:nvSpPr>
          <p:cNvPr id="34" name="Shape 8">
            <a:extLst>
              <a:ext uri="{FF2B5EF4-FFF2-40B4-BE49-F238E27FC236}">
                <a16:creationId xmlns:a16="http://schemas.microsoft.com/office/drawing/2014/main" id="{7A2D4183-5312-93B4-F57D-255879D3050C}"/>
              </a:ext>
            </a:extLst>
          </p:cNvPr>
          <p:cNvSpPr/>
          <p:nvPr/>
        </p:nvSpPr>
        <p:spPr>
          <a:xfrm>
            <a:off x="1417320" y="3056120"/>
            <a:ext cx="1143000" cy="640080"/>
          </a:xfrm>
          <a:prstGeom prst="rect">
            <a:avLst/>
          </a:prstGeom>
          <a:solidFill>
            <a:srgbClr val="00802F"/>
          </a:solidFill>
          <a:ln w="12700">
            <a:noFill/>
            <a:prstDash val="solid"/>
          </a:ln>
          <a:effectLst>
            <a:outerShdw blurRad="381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35" name="Text 9">
            <a:extLst>
              <a:ext uri="{FF2B5EF4-FFF2-40B4-BE49-F238E27FC236}">
                <a16:creationId xmlns:a16="http://schemas.microsoft.com/office/drawing/2014/main" id="{1291847A-8FB2-A7C0-F308-F59D47011E25}"/>
              </a:ext>
            </a:extLst>
          </p:cNvPr>
          <p:cNvSpPr/>
          <p:nvPr/>
        </p:nvSpPr>
        <p:spPr>
          <a:xfrm>
            <a:off x="1417320" y="3074408"/>
            <a:ext cx="1143000" cy="347472"/>
          </a:xfrm>
          <a:prstGeom prst="rect">
            <a:avLst/>
          </a:prstGeom>
          <a:noFill/>
          <a:ln/>
        </p:spPr>
        <p:txBody>
          <a:bodyPr wrap="square" rtlCol="0" anchor="ctr"/>
          <a:lstStyle/>
          <a:p>
            <a:pPr marL="0" indent="0" algn="ctr">
              <a:buNone/>
            </a:pPr>
            <a:r>
              <a:rPr lang="en-US" sz="1800" b="1">
                <a:solidFill>
                  <a:schemeClr val="bg1"/>
                </a:solidFill>
                <a:latin typeface="Gill Sans Nova Light" panose="020B0302020104020203" pitchFamily="34" charset="0"/>
                <a:ea typeface="Calibri" pitchFamily="34" charset="-122"/>
                <a:cs typeface="Calibri" pitchFamily="34" charset="-120"/>
              </a:rPr>
              <a:t>22</a:t>
            </a:r>
            <a:endParaRPr lang="en-US" sz="1800">
              <a:solidFill>
                <a:schemeClr val="bg1"/>
              </a:solidFill>
              <a:latin typeface="Gill Sans Nova Light" panose="020B0302020104020203" pitchFamily="34" charset="0"/>
            </a:endParaRPr>
          </a:p>
        </p:txBody>
      </p:sp>
      <p:sp>
        <p:nvSpPr>
          <p:cNvPr id="36" name="Text 10">
            <a:extLst>
              <a:ext uri="{FF2B5EF4-FFF2-40B4-BE49-F238E27FC236}">
                <a16:creationId xmlns:a16="http://schemas.microsoft.com/office/drawing/2014/main" id="{94EB0FF0-A85E-4375-9BA9-DF4F452562C1}"/>
              </a:ext>
            </a:extLst>
          </p:cNvPr>
          <p:cNvSpPr/>
          <p:nvPr/>
        </p:nvSpPr>
        <p:spPr>
          <a:xfrm>
            <a:off x="1417320" y="3394448"/>
            <a:ext cx="1143000" cy="256032"/>
          </a:xfrm>
          <a:prstGeom prst="rect">
            <a:avLst/>
          </a:prstGeom>
          <a:noFill/>
          <a:ln/>
        </p:spPr>
        <p:txBody>
          <a:bodyPr wrap="square" rtlCol="0" anchor="ctr"/>
          <a:lstStyle/>
          <a:p>
            <a:pPr marL="0" indent="0" algn="ctr">
              <a:buNone/>
            </a:pPr>
            <a:r>
              <a:rPr lang="en-US" sz="900">
                <a:solidFill>
                  <a:schemeClr val="bg1"/>
                </a:solidFill>
                <a:latin typeface="Gill Sans Nova Light" panose="020B0302020104020203" pitchFamily="34" charset="0"/>
                <a:ea typeface="Calibri" pitchFamily="34" charset="-122"/>
                <a:cs typeface="Calibri" pitchFamily="34" charset="-120"/>
              </a:rPr>
              <a:t>Countries</a:t>
            </a:r>
            <a:endParaRPr lang="en-US" sz="900">
              <a:solidFill>
                <a:schemeClr val="bg1"/>
              </a:solidFill>
              <a:latin typeface="Gill Sans Nova Light" panose="020B0302020104020203" pitchFamily="34" charset="0"/>
            </a:endParaRPr>
          </a:p>
        </p:txBody>
      </p:sp>
      <p:sp>
        <p:nvSpPr>
          <p:cNvPr id="37" name="Shape 11">
            <a:extLst>
              <a:ext uri="{FF2B5EF4-FFF2-40B4-BE49-F238E27FC236}">
                <a16:creationId xmlns:a16="http://schemas.microsoft.com/office/drawing/2014/main" id="{80B1A4CB-62F8-8477-2A91-7B30427F24A4}"/>
              </a:ext>
            </a:extLst>
          </p:cNvPr>
          <p:cNvSpPr/>
          <p:nvPr/>
        </p:nvSpPr>
        <p:spPr>
          <a:xfrm>
            <a:off x="1417320" y="3879080"/>
            <a:ext cx="1143000" cy="640080"/>
          </a:xfrm>
          <a:prstGeom prst="rect">
            <a:avLst/>
          </a:prstGeom>
          <a:solidFill>
            <a:srgbClr val="BFDFCB"/>
          </a:solidFill>
          <a:ln w="12700">
            <a:noFill/>
            <a:prstDash val="solid"/>
          </a:ln>
          <a:effectLst>
            <a:outerShdw blurRad="381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38" name="Text 12">
            <a:extLst>
              <a:ext uri="{FF2B5EF4-FFF2-40B4-BE49-F238E27FC236}">
                <a16:creationId xmlns:a16="http://schemas.microsoft.com/office/drawing/2014/main" id="{EA6C894C-C12C-DD73-2E61-B16A614FD878}"/>
              </a:ext>
            </a:extLst>
          </p:cNvPr>
          <p:cNvSpPr/>
          <p:nvPr/>
        </p:nvSpPr>
        <p:spPr>
          <a:xfrm>
            <a:off x="1417320" y="3897368"/>
            <a:ext cx="1143000" cy="347472"/>
          </a:xfrm>
          <a:prstGeom prst="rect">
            <a:avLst/>
          </a:prstGeom>
          <a:noFill/>
          <a:ln/>
        </p:spPr>
        <p:txBody>
          <a:bodyPr wrap="square" rtlCol="0" anchor="ctr"/>
          <a:lstStyle/>
          <a:p>
            <a:pPr marL="0" indent="0" algn="ctr">
              <a:buNone/>
            </a:pPr>
            <a:r>
              <a:rPr lang="en-US" sz="1800" b="1">
                <a:latin typeface="Gill Sans Nova Light" panose="020B0302020104020203" pitchFamily="34" charset="0"/>
                <a:ea typeface="Calibri" pitchFamily="34" charset="-122"/>
                <a:cs typeface="Calibri" pitchFamily="34" charset="-120"/>
              </a:rPr>
              <a:t>27</a:t>
            </a:r>
            <a:endParaRPr lang="en-US" sz="1800">
              <a:latin typeface="Gill Sans Nova Light" panose="020B0302020104020203" pitchFamily="34" charset="0"/>
            </a:endParaRPr>
          </a:p>
        </p:txBody>
      </p:sp>
      <p:sp>
        <p:nvSpPr>
          <p:cNvPr id="39" name="Text 13">
            <a:extLst>
              <a:ext uri="{FF2B5EF4-FFF2-40B4-BE49-F238E27FC236}">
                <a16:creationId xmlns:a16="http://schemas.microsoft.com/office/drawing/2014/main" id="{97A4A2B1-BED9-DC01-4E7F-5FBA89D957BD}"/>
              </a:ext>
            </a:extLst>
          </p:cNvPr>
          <p:cNvSpPr/>
          <p:nvPr/>
        </p:nvSpPr>
        <p:spPr>
          <a:xfrm>
            <a:off x="1417320" y="4217408"/>
            <a:ext cx="1143000" cy="256032"/>
          </a:xfrm>
          <a:prstGeom prst="rect">
            <a:avLst/>
          </a:prstGeom>
          <a:noFill/>
          <a:ln/>
        </p:spPr>
        <p:txBody>
          <a:bodyPr wrap="square" rtlCol="0" anchor="ctr"/>
          <a:lstStyle/>
          <a:p>
            <a:pPr marL="0" indent="0" algn="ctr">
              <a:buNone/>
            </a:pPr>
            <a:r>
              <a:rPr lang="en-US" sz="900">
                <a:latin typeface="Gill Sans Nova Light" panose="020B0302020104020203" pitchFamily="34" charset="0"/>
                <a:ea typeface="Calibri" pitchFamily="34" charset="-122"/>
                <a:cs typeface="Calibri" pitchFamily="34" charset="-120"/>
              </a:rPr>
              <a:t>Countries</a:t>
            </a:r>
            <a:endParaRPr lang="en-US" sz="900">
              <a:latin typeface="Gill Sans Nova Light" panose="020B0302020104020203" pitchFamily="34" charset="0"/>
            </a:endParaRPr>
          </a:p>
        </p:txBody>
      </p:sp>
      <p:sp>
        <p:nvSpPr>
          <p:cNvPr id="40" name="Shape 14">
            <a:extLst>
              <a:ext uri="{FF2B5EF4-FFF2-40B4-BE49-F238E27FC236}">
                <a16:creationId xmlns:a16="http://schemas.microsoft.com/office/drawing/2014/main" id="{47015595-F767-6FC6-9960-D5CECA315004}"/>
              </a:ext>
            </a:extLst>
          </p:cNvPr>
          <p:cNvSpPr/>
          <p:nvPr/>
        </p:nvSpPr>
        <p:spPr>
          <a:xfrm>
            <a:off x="2651760" y="3056120"/>
            <a:ext cx="1143000" cy="640080"/>
          </a:xfrm>
          <a:prstGeom prst="rect">
            <a:avLst/>
          </a:prstGeom>
          <a:solidFill>
            <a:srgbClr val="00802F"/>
          </a:solidFill>
          <a:ln w="12700">
            <a:noFill/>
            <a:prstDash val="solid"/>
          </a:ln>
          <a:effectLst>
            <a:outerShdw blurRad="381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41" name="Text 15">
            <a:extLst>
              <a:ext uri="{FF2B5EF4-FFF2-40B4-BE49-F238E27FC236}">
                <a16:creationId xmlns:a16="http://schemas.microsoft.com/office/drawing/2014/main" id="{BB7F96F4-C724-3302-3F1F-1D8F426B4C33}"/>
              </a:ext>
            </a:extLst>
          </p:cNvPr>
          <p:cNvSpPr/>
          <p:nvPr/>
        </p:nvSpPr>
        <p:spPr>
          <a:xfrm>
            <a:off x="2651760" y="3074408"/>
            <a:ext cx="1143000" cy="347472"/>
          </a:xfrm>
          <a:prstGeom prst="rect">
            <a:avLst/>
          </a:prstGeom>
          <a:noFill/>
          <a:ln/>
        </p:spPr>
        <p:txBody>
          <a:bodyPr wrap="square" rtlCol="0" anchor="ctr"/>
          <a:lstStyle/>
          <a:p>
            <a:pPr marL="0" indent="0" algn="ctr">
              <a:buNone/>
            </a:pPr>
            <a:r>
              <a:rPr lang="en-US" sz="1800" b="1">
                <a:solidFill>
                  <a:schemeClr val="bg1"/>
                </a:solidFill>
                <a:latin typeface="Gill Sans Nova Light" panose="020B0302020104020203" pitchFamily="34" charset="0"/>
                <a:ea typeface="Calibri" pitchFamily="34" charset="-122"/>
                <a:cs typeface="Calibri" pitchFamily="34" charset="-120"/>
              </a:rPr>
              <a:t>252</a:t>
            </a:r>
            <a:endParaRPr lang="en-US" sz="1800">
              <a:solidFill>
                <a:schemeClr val="bg1"/>
              </a:solidFill>
              <a:latin typeface="Gill Sans Nova Light" panose="020B0302020104020203" pitchFamily="34" charset="0"/>
            </a:endParaRPr>
          </a:p>
        </p:txBody>
      </p:sp>
      <p:sp>
        <p:nvSpPr>
          <p:cNvPr id="42" name="Text 16">
            <a:extLst>
              <a:ext uri="{FF2B5EF4-FFF2-40B4-BE49-F238E27FC236}">
                <a16:creationId xmlns:a16="http://schemas.microsoft.com/office/drawing/2014/main" id="{6A4038A2-8A80-4C4F-32B5-D44831FD4D8D}"/>
              </a:ext>
            </a:extLst>
          </p:cNvPr>
          <p:cNvSpPr/>
          <p:nvPr/>
        </p:nvSpPr>
        <p:spPr>
          <a:xfrm>
            <a:off x="2651760" y="3394448"/>
            <a:ext cx="1143000" cy="256032"/>
          </a:xfrm>
          <a:prstGeom prst="rect">
            <a:avLst/>
          </a:prstGeom>
          <a:noFill/>
          <a:ln/>
        </p:spPr>
        <p:txBody>
          <a:bodyPr wrap="square" rtlCol="0" anchor="ctr"/>
          <a:lstStyle/>
          <a:p>
            <a:pPr marL="0" indent="0" algn="ctr">
              <a:buNone/>
            </a:pPr>
            <a:r>
              <a:rPr lang="en-US" sz="900">
                <a:solidFill>
                  <a:schemeClr val="bg1"/>
                </a:solidFill>
                <a:latin typeface="Gill Sans Nova Light" panose="020B0302020104020203" pitchFamily="34" charset="0"/>
                <a:ea typeface="Calibri" pitchFamily="34" charset="-122"/>
                <a:cs typeface="Calibri" pitchFamily="34" charset="-120"/>
              </a:rPr>
              <a:t>Valid Obs.</a:t>
            </a:r>
            <a:endParaRPr lang="en-US" sz="900">
              <a:solidFill>
                <a:schemeClr val="bg1"/>
              </a:solidFill>
              <a:latin typeface="Gill Sans Nova Light" panose="020B0302020104020203" pitchFamily="34" charset="0"/>
            </a:endParaRPr>
          </a:p>
        </p:txBody>
      </p:sp>
      <p:sp>
        <p:nvSpPr>
          <p:cNvPr id="43" name="Shape 17">
            <a:extLst>
              <a:ext uri="{FF2B5EF4-FFF2-40B4-BE49-F238E27FC236}">
                <a16:creationId xmlns:a16="http://schemas.microsoft.com/office/drawing/2014/main" id="{6C4FCA18-E36F-C045-208B-99E7C457D9AD}"/>
              </a:ext>
            </a:extLst>
          </p:cNvPr>
          <p:cNvSpPr/>
          <p:nvPr/>
        </p:nvSpPr>
        <p:spPr>
          <a:xfrm>
            <a:off x="2651760" y="3879080"/>
            <a:ext cx="1143000" cy="640080"/>
          </a:xfrm>
          <a:prstGeom prst="rect">
            <a:avLst/>
          </a:prstGeom>
          <a:solidFill>
            <a:srgbClr val="BFDFCB"/>
          </a:solidFill>
          <a:ln w="12700">
            <a:noFill/>
            <a:prstDash val="solid"/>
          </a:ln>
          <a:effectLst>
            <a:outerShdw blurRad="381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44" name="Text 18">
            <a:extLst>
              <a:ext uri="{FF2B5EF4-FFF2-40B4-BE49-F238E27FC236}">
                <a16:creationId xmlns:a16="http://schemas.microsoft.com/office/drawing/2014/main" id="{D9A3B87F-190A-2F10-AB77-0FE9B13433B0}"/>
              </a:ext>
            </a:extLst>
          </p:cNvPr>
          <p:cNvSpPr/>
          <p:nvPr/>
        </p:nvSpPr>
        <p:spPr>
          <a:xfrm>
            <a:off x="2651760" y="3897368"/>
            <a:ext cx="1143000" cy="347472"/>
          </a:xfrm>
          <a:prstGeom prst="rect">
            <a:avLst/>
          </a:prstGeom>
          <a:noFill/>
          <a:ln/>
        </p:spPr>
        <p:txBody>
          <a:bodyPr wrap="square" rtlCol="0" anchor="ctr"/>
          <a:lstStyle/>
          <a:p>
            <a:pPr marL="0" indent="0" algn="ctr">
              <a:buNone/>
            </a:pPr>
            <a:r>
              <a:rPr lang="en-US" sz="1800" b="1">
                <a:latin typeface="Gill Sans Nova Light" panose="020B0302020104020203" pitchFamily="34" charset="0"/>
                <a:ea typeface="Calibri" pitchFamily="34" charset="-122"/>
                <a:cs typeface="Calibri" pitchFamily="34" charset="-120"/>
              </a:rPr>
              <a:t>366</a:t>
            </a:r>
            <a:endParaRPr lang="en-US" sz="1800">
              <a:latin typeface="Gill Sans Nova Light" panose="020B0302020104020203" pitchFamily="34" charset="0"/>
            </a:endParaRPr>
          </a:p>
        </p:txBody>
      </p:sp>
      <p:sp>
        <p:nvSpPr>
          <p:cNvPr id="45" name="Text 19">
            <a:extLst>
              <a:ext uri="{FF2B5EF4-FFF2-40B4-BE49-F238E27FC236}">
                <a16:creationId xmlns:a16="http://schemas.microsoft.com/office/drawing/2014/main" id="{E82B0B22-122A-409D-813B-8AD2AB205B51}"/>
              </a:ext>
            </a:extLst>
          </p:cNvPr>
          <p:cNvSpPr/>
          <p:nvPr/>
        </p:nvSpPr>
        <p:spPr>
          <a:xfrm>
            <a:off x="2651760" y="4217408"/>
            <a:ext cx="1143000" cy="256032"/>
          </a:xfrm>
          <a:prstGeom prst="rect">
            <a:avLst/>
          </a:prstGeom>
          <a:noFill/>
          <a:ln/>
        </p:spPr>
        <p:txBody>
          <a:bodyPr wrap="square" rtlCol="0" anchor="ctr"/>
          <a:lstStyle/>
          <a:p>
            <a:pPr marL="0" indent="0" algn="ctr">
              <a:buNone/>
            </a:pPr>
            <a:r>
              <a:rPr lang="en-US" sz="900">
                <a:latin typeface="Gill Sans Nova Light" panose="020B0302020104020203" pitchFamily="34" charset="0"/>
                <a:ea typeface="Calibri" pitchFamily="34" charset="-122"/>
                <a:cs typeface="Calibri" pitchFamily="34" charset="-120"/>
              </a:rPr>
              <a:t>Valid Obs.</a:t>
            </a:r>
            <a:endParaRPr lang="en-US" sz="900">
              <a:latin typeface="Gill Sans Nova Light" panose="020B0302020104020203" pitchFamily="34" charset="0"/>
            </a:endParaRPr>
          </a:p>
        </p:txBody>
      </p:sp>
      <p:sp>
        <p:nvSpPr>
          <p:cNvPr id="46" name="Shape 20">
            <a:extLst>
              <a:ext uri="{FF2B5EF4-FFF2-40B4-BE49-F238E27FC236}">
                <a16:creationId xmlns:a16="http://schemas.microsoft.com/office/drawing/2014/main" id="{CA7A5F66-5861-7924-F55A-2B34C6B33244}"/>
              </a:ext>
            </a:extLst>
          </p:cNvPr>
          <p:cNvSpPr/>
          <p:nvPr/>
        </p:nvSpPr>
        <p:spPr>
          <a:xfrm>
            <a:off x="3886200" y="3056120"/>
            <a:ext cx="1143000" cy="640080"/>
          </a:xfrm>
          <a:prstGeom prst="rect">
            <a:avLst/>
          </a:prstGeom>
          <a:solidFill>
            <a:srgbClr val="00802F"/>
          </a:solidFill>
          <a:ln w="12700">
            <a:noFill/>
            <a:prstDash val="solid"/>
          </a:ln>
          <a:effectLst>
            <a:outerShdw blurRad="381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47" name="Text 21">
            <a:extLst>
              <a:ext uri="{FF2B5EF4-FFF2-40B4-BE49-F238E27FC236}">
                <a16:creationId xmlns:a16="http://schemas.microsoft.com/office/drawing/2014/main" id="{6AC588A7-EB43-472C-D63E-7B0DC06571F4}"/>
              </a:ext>
            </a:extLst>
          </p:cNvPr>
          <p:cNvSpPr/>
          <p:nvPr/>
        </p:nvSpPr>
        <p:spPr>
          <a:xfrm>
            <a:off x="3886200" y="3074408"/>
            <a:ext cx="1143000" cy="347472"/>
          </a:xfrm>
          <a:prstGeom prst="rect">
            <a:avLst/>
          </a:prstGeom>
          <a:noFill/>
          <a:ln/>
        </p:spPr>
        <p:txBody>
          <a:bodyPr wrap="square" rtlCol="0" anchor="ctr"/>
          <a:lstStyle/>
          <a:p>
            <a:pPr marL="0" indent="0" algn="ctr">
              <a:buNone/>
            </a:pPr>
            <a:r>
              <a:rPr lang="en-US" sz="1800" b="1">
                <a:solidFill>
                  <a:schemeClr val="bg1"/>
                </a:solidFill>
                <a:latin typeface="Gill Sans Nova Light" panose="020B0302020104020203" pitchFamily="34" charset="0"/>
                <a:ea typeface="Calibri" pitchFamily="34" charset="-122"/>
                <a:cs typeface="Calibri" pitchFamily="34" charset="-120"/>
              </a:rPr>
              <a:t>−0.26</a:t>
            </a:r>
            <a:endParaRPr lang="en-US" sz="1800">
              <a:solidFill>
                <a:schemeClr val="bg1"/>
              </a:solidFill>
              <a:latin typeface="Gill Sans Nova Light" panose="020B0302020104020203" pitchFamily="34" charset="0"/>
            </a:endParaRPr>
          </a:p>
        </p:txBody>
      </p:sp>
      <p:sp>
        <p:nvSpPr>
          <p:cNvPr id="48" name="Text 22">
            <a:extLst>
              <a:ext uri="{FF2B5EF4-FFF2-40B4-BE49-F238E27FC236}">
                <a16:creationId xmlns:a16="http://schemas.microsoft.com/office/drawing/2014/main" id="{2444B9E3-3B84-7F63-B614-C76229ADC465}"/>
              </a:ext>
            </a:extLst>
          </p:cNvPr>
          <p:cNvSpPr/>
          <p:nvPr/>
        </p:nvSpPr>
        <p:spPr>
          <a:xfrm>
            <a:off x="3886200" y="3394448"/>
            <a:ext cx="1143000" cy="256032"/>
          </a:xfrm>
          <a:prstGeom prst="rect">
            <a:avLst/>
          </a:prstGeom>
          <a:noFill/>
          <a:ln/>
        </p:spPr>
        <p:txBody>
          <a:bodyPr wrap="square" rtlCol="0" anchor="ctr"/>
          <a:lstStyle/>
          <a:p>
            <a:pPr marL="0" indent="0" algn="ctr">
              <a:buNone/>
            </a:pPr>
            <a:r>
              <a:rPr lang="en-US" sz="900">
                <a:solidFill>
                  <a:schemeClr val="bg1"/>
                </a:solidFill>
                <a:latin typeface="Gill Sans Nova Light" panose="020B0302020104020203" pitchFamily="34" charset="0"/>
                <a:ea typeface="Calibri" pitchFamily="34" charset="-122"/>
                <a:cs typeface="Calibri" pitchFamily="34" charset="-120"/>
              </a:rPr>
              <a:t>Mean</a:t>
            </a:r>
            <a:endParaRPr lang="en-US" sz="900">
              <a:solidFill>
                <a:schemeClr val="bg1"/>
              </a:solidFill>
              <a:latin typeface="Gill Sans Nova Light" panose="020B0302020104020203" pitchFamily="34" charset="0"/>
            </a:endParaRPr>
          </a:p>
        </p:txBody>
      </p:sp>
      <p:sp>
        <p:nvSpPr>
          <p:cNvPr id="49" name="Shape 23">
            <a:extLst>
              <a:ext uri="{FF2B5EF4-FFF2-40B4-BE49-F238E27FC236}">
                <a16:creationId xmlns:a16="http://schemas.microsoft.com/office/drawing/2014/main" id="{63965AF4-5D4F-17DB-83DF-313AE866AB82}"/>
              </a:ext>
            </a:extLst>
          </p:cNvPr>
          <p:cNvSpPr/>
          <p:nvPr/>
        </p:nvSpPr>
        <p:spPr>
          <a:xfrm>
            <a:off x="3886200" y="3879080"/>
            <a:ext cx="1143000" cy="640080"/>
          </a:xfrm>
          <a:prstGeom prst="rect">
            <a:avLst/>
          </a:prstGeom>
          <a:solidFill>
            <a:srgbClr val="BFDFCB"/>
          </a:solidFill>
          <a:ln w="12700">
            <a:noFill/>
            <a:prstDash val="solid"/>
          </a:ln>
          <a:effectLst>
            <a:outerShdw blurRad="381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50" name="Text 24">
            <a:extLst>
              <a:ext uri="{FF2B5EF4-FFF2-40B4-BE49-F238E27FC236}">
                <a16:creationId xmlns:a16="http://schemas.microsoft.com/office/drawing/2014/main" id="{E53FA8E6-2D45-841D-0EAA-981BD1127AA7}"/>
              </a:ext>
            </a:extLst>
          </p:cNvPr>
          <p:cNvSpPr/>
          <p:nvPr/>
        </p:nvSpPr>
        <p:spPr>
          <a:xfrm>
            <a:off x="3886200" y="3897368"/>
            <a:ext cx="1143000" cy="347472"/>
          </a:xfrm>
          <a:prstGeom prst="rect">
            <a:avLst/>
          </a:prstGeom>
          <a:noFill/>
          <a:ln/>
        </p:spPr>
        <p:txBody>
          <a:bodyPr wrap="square" rtlCol="0" anchor="ctr"/>
          <a:lstStyle/>
          <a:p>
            <a:pPr marL="0" indent="0" algn="ctr">
              <a:buNone/>
            </a:pPr>
            <a:r>
              <a:rPr lang="en-US" sz="1800" b="1">
                <a:latin typeface="Gill Sans Nova Light" panose="020B0302020104020203" pitchFamily="34" charset="0"/>
                <a:ea typeface="Calibri" pitchFamily="34" charset="-122"/>
                <a:cs typeface="Calibri" pitchFamily="34" charset="-120"/>
              </a:rPr>
              <a:t>−0.22</a:t>
            </a:r>
            <a:endParaRPr lang="en-US" sz="1800">
              <a:latin typeface="Gill Sans Nova Light" panose="020B0302020104020203" pitchFamily="34" charset="0"/>
            </a:endParaRPr>
          </a:p>
        </p:txBody>
      </p:sp>
      <p:sp>
        <p:nvSpPr>
          <p:cNvPr id="51" name="Text 25">
            <a:extLst>
              <a:ext uri="{FF2B5EF4-FFF2-40B4-BE49-F238E27FC236}">
                <a16:creationId xmlns:a16="http://schemas.microsoft.com/office/drawing/2014/main" id="{FACBD214-CE02-1C1E-D791-16BC3C5D45C5}"/>
              </a:ext>
            </a:extLst>
          </p:cNvPr>
          <p:cNvSpPr/>
          <p:nvPr/>
        </p:nvSpPr>
        <p:spPr>
          <a:xfrm>
            <a:off x="3886200" y="4217408"/>
            <a:ext cx="1143000" cy="256032"/>
          </a:xfrm>
          <a:prstGeom prst="rect">
            <a:avLst/>
          </a:prstGeom>
          <a:noFill/>
          <a:ln/>
        </p:spPr>
        <p:txBody>
          <a:bodyPr wrap="square" rtlCol="0" anchor="ctr"/>
          <a:lstStyle/>
          <a:p>
            <a:pPr marL="0" indent="0" algn="ctr">
              <a:buNone/>
            </a:pPr>
            <a:r>
              <a:rPr lang="en-US" sz="900">
                <a:latin typeface="Gill Sans Nova Light" panose="020B0302020104020203" pitchFamily="34" charset="0"/>
                <a:ea typeface="Calibri" pitchFamily="34" charset="-122"/>
                <a:cs typeface="Calibri" pitchFamily="34" charset="-120"/>
              </a:rPr>
              <a:t>Mean</a:t>
            </a:r>
            <a:endParaRPr lang="en-US" sz="900">
              <a:latin typeface="Gill Sans Nova Light" panose="020B0302020104020203" pitchFamily="34" charset="0"/>
            </a:endParaRPr>
          </a:p>
        </p:txBody>
      </p:sp>
      <p:sp>
        <p:nvSpPr>
          <p:cNvPr id="52" name="Shape 26">
            <a:extLst>
              <a:ext uri="{FF2B5EF4-FFF2-40B4-BE49-F238E27FC236}">
                <a16:creationId xmlns:a16="http://schemas.microsoft.com/office/drawing/2014/main" id="{8622C9E3-91E9-3DCA-548B-1E795D05E254}"/>
              </a:ext>
            </a:extLst>
          </p:cNvPr>
          <p:cNvSpPr/>
          <p:nvPr/>
        </p:nvSpPr>
        <p:spPr>
          <a:xfrm>
            <a:off x="5120640" y="3056120"/>
            <a:ext cx="1143000" cy="640080"/>
          </a:xfrm>
          <a:prstGeom prst="rect">
            <a:avLst/>
          </a:prstGeom>
          <a:solidFill>
            <a:srgbClr val="00802F"/>
          </a:solidFill>
          <a:ln w="12700">
            <a:noFill/>
            <a:prstDash val="solid"/>
          </a:ln>
          <a:effectLst>
            <a:outerShdw blurRad="381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53" name="Text 27">
            <a:extLst>
              <a:ext uri="{FF2B5EF4-FFF2-40B4-BE49-F238E27FC236}">
                <a16:creationId xmlns:a16="http://schemas.microsoft.com/office/drawing/2014/main" id="{941C898F-AB04-DF6B-625B-836ED8DAAE57}"/>
              </a:ext>
            </a:extLst>
          </p:cNvPr>
          <p:cNvSpPr/>
          <p:nvPr/>
        </p:nvSpPr>
        <p:spPr>
          <a:xfrm>
            <a:off x="5120640" y="3074408"/>
            <a:ext cx="1143000" cy="347472"/>
          </a:xfrm>
          <a:prstGeom prst="rect">
            <a:avLst/>
          </a:prstGeom>
          <a:noFill/>
          <a:ln/>
        </p:spPr>
        <p:txBody>
          <a:bodyPr wrap="square" rtlCol="0" anchor="ctr"/>
          <a:lstStyle/>
          <a:p>
            <a:pPr marL="0" indent="0" algn="ctr">
              <a:buNone/>
            </a:pPr>
            <a:r>
              <a:rPr lang="en-US" sz="1800" b="1">
                <a:solidFill>
                  <a:schemeClr val="bg1"/>
                </a:solidFill>
                <a:latin typeface="Gill Sans Nova Light" panose="020B0302020104020203" pitchFamily="34" charset="0"/>
                <a:ea typeface="Calibri" pitchFamily="34" charset="-122"/>
                <a:cs typeface="Calibri" pitchFamily="34" charset="-120"/>
              </a:rPr>
              <a:t>0.24</a:t>
            </a:r>
            <a:endParaRPr lang="en-US" sz="1800">
              <a:solidFill>
                <a:schemeClr val="bg1"/>
              </a:solidFill>
              <a:latin typeface="Gill Sans Nova Light" panose="020B0302020104020203" pitchFamily="34" charset="0"/>
            </a:endParaRPr>
          </a:p>
        </p:txBody>
      </p:sp>
      <p:sp>
        <p:nvSpPr>
          <p:cNvPr id="54" name="Text 28">
            <a:extLst>
              <a:ext uri="{FF2B5EF4-FFF2-40B4-BE49-F238E27FC236}">
                <a16:creationId xmlns:a16="http://schemas.microsoft.com/office/drawing/2014/main" id="{E775B9C3-55B4-EFA3-86CD-DD5D6DB52042}"/>
              </a:ext>
            </a:extLst>
          </p:cNvPr>
          <p:cNvSpPr/>
          <p:nvPr/>
        </p:nvSpPr>
        <p:spPr>
          <a:xfrm>
            <a:off x="5120640" y="3394448"/>
            <a:ext cx="1143000" cy="256032"/>
          </a:xfrm>
          <a:prstGeom prst="rect">
            <a:avLst/>
          </a:prstGeom>
          <a:noFill/>
          <a:ln/>
        </p:spPr>
        <p:txBody>
          <a:bodyPr wrap="square" rtlCol="0" anchor="ctr"/>
          <a:lstStyle/>
          <a:p>
            <a:pPr marL="0" indent="0" algn="ctr">
              <a:buNone/>
            </a:pPr>
            <a:r>
              <a:rPr lang="en-US" sz="900">
                <a:solidFill>
                  <a:schemeClr val="bg1"/>
                </a:solidFill>
                <a:latin typeface="Gill Sans Nova Light" panose="020B0302020104020203" pitchFamily="34" charset="0"/>
                <a:ea typeface="Calibri" pitchFamily="34" charset="-122"/>
                <a:cs typeface="Calibri" pitchFamily="34" charset="-120"/>
              </a:rPr>
              <a:t>Std Dev</a:t>
            </a:r>
            <a:endParaRPr lang="en-US" sz="900">
              <a:solidFill>
                <a:schemeClr val="bg1"/>
              </a:solidFill>
              <a:latin typeface="Gill Sans Nova Light" panose="020B0302020104020203" pitchFamily="34" charset="0"/>
            </a:endParaRPr>
          </a:p>
        </p:txBody>
      </p:sp>
      <p:sp>
        <p:nvSpPr>
          <p:cNvPr id="55" name="Shape 29">
            <a:extLst>
              <a:ext uri="{FF2B5EF4-FFF2-40B4-BE49-F238E27FC236}">
                <a16:creationId xmlns:a16="http://schemas.microsoft.com/office/drawing/2014/main" id="{32AAC680-B183-C5E7-7BE7-1DE36B26F3D4}"/>
              </a:ext>
            </a:extLst>
          </p:cNvPr>
          <p:cNvSpPr/>
          <p:nvPr/>
        </p:nvSpPr>
        <p:spPr>
          <a:xfrm>
            <a:off x="5120640" y="3879080"/>
            <a:ext cx="1143000" cy="640080"/>
          </a:xfrm>
          <a:prstGeom prst="rect">
            <a:avLst/>
          </a:prstGeom>
          <a:solidFill>
            <a:srgbClr val="BFDFCB"/>
          </a:solidFill>
          <a:ln w="12700">
            <a:noFill/>
            <a:prstDash val="solid"/>
          </a:ln>
          <a:effectLst>
            <a:outerShdw blurRad="381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56" name="Text 30">
            <a:extLst>
              <a:ext uri="{FF2B5EF4-FFF2-40B4-BE49-F238E27FC236}">
                <a16:creationId xmlns:a16="http://schemas.microsoft.com/office/drawing/2014/main" id="{E3054B90-2E4E-E400-E39F-160CCCB66D45}"/>
              </a:ext>
            </a:extLst>
          </p:cNvPr>
          <p:cNvSpPr/>
          <p:nvPr/>
        </p:nvSpPr>
        <p:spPr>
          <a:xfrm>
            <a:off x="5120640" y="3897368"/>
            <a:ext cx="1143000" cy="347472"/>
          </a:xfrm>
          <a:prstGeom prst="rect">
            <a:avLst/>
          </a:prstGeom>
          <a:noFill/>
          <a:ln/>
        </p:spPr>
        <p:txBody>
          <a:bodyPr wrap="square" rtlCol="0" anchor="ctr"/>
          <a:lstStyle/>
          <a:p>
            <a:pPr marL="0" indent="0" algn="ctr">
              <a:buNone/>
            </a:pPr>
            <a:r>
              <a:rPr lang="en-US" sz="1800" b="1">
                <a:latin typeface="Gill Sans Nova Light" panose="020B0302020104020203" pitchFamily="34" charset="0"/>
                <a:ea typeface="Calibri" pitchFamily="34" charset="-122"/>
                <a:cs typeface="Calibri" pitchFamily="34" charset="-120"/>
              </a:rPr>
              <a:t>0.24</a:t>
            </a:r>
            <a:endParaRPr lang="en-US" sz="1800">
              <a:latin typeface="Gill Sans Nova Light" panose="020B0302020104020203" pitchFamily="34" charset="0"/>
            </a:endParaRPr>
          </a:p>
        </p:txBody>
      </p:sp>
      <p:sp>
        <p:nvSpPr>
          <p:cNvPr id="57" name="Text 31">
            <a:extLst>
              <a:ext uri="{FF2B5EF4-FFF2-40B4-BE49-F238E27FC236}">
                <a16:creationId xmlns:a16="http://schemas.microsoft.com/office/drawing/2014/main" id="{3FAD0642-4E99-582D-C33D-4EC73A0EA1DF}"/>
              </a:ext>
            </a:extLst>
          </p:cNvPr>
          <p:cNvSpPr/>
          <p:nvPr/>
        </p:nvSpPr>
        <p:spPr>
          <a:xfrm>
            <a:off x="5120640" y="4217408"/>
            <a:ext cx="1143000" cy="256032"/>
          </a:xfrm>
          <a:prstGeom prst="rect">
            <a:avLst/>
          </a:prstGeom>
          <a:noFill/>
          <a:ln/>
        </p:spPr>
        <p:txBody>
          <a:bodyPr wrap="square" rtlCol="0" anchor="ctr"/>
          <a:lstStyle/>
          <a:p>
            <a:pPr marL="0" indent="0" algn="ctr">
              <a:buNone/>
            </a:pPr>
            <a:r>
              <a:rPr lang="en-US" sz="900">
                <a:latin typeface="Gill Sans Nova Light" panose="020B0302020104020203" pitchFamily="34" charset="0"/>
                <a:ea typeface="Calibri" pitchFamily="34" charset="-122"/>
                <a:cs typeface="Calibri" pitchFamily="34" charset="-120"/>
              </a:rPr>
              <a:t>Std Dev</a:t>
            </a:r>
            <a:endParaRPr lang="en-US" sz="900">
              <a:latin typeface="Gill Sans Nova Light" panose="020B0302020104020203" pitchFamily="34" charset="0"/>
            </a:endParaRPr>
          </a:p>
        </p:txBody>
      </p:sp>
      <p:sp>
        <p:nvSpPr>
          <p:cNvPr id="58" name="Shape 32">
            <a:extLst>
              <a:ext uri="{FF2B5EF4-FFF2-40B4-BE49-F238E27FC236}">
                <a16:creationId xmlns:a16="http://schemas.microsoft.com/office/drawing/2014/main" id="{A1672FFF-75E2-8CBE-42FF-DD3B2EF0B7E9}"/>
              </a:ext>
            </a:extLst>
          </p:cNvPr>
          <p:cNvSpPr/>
          <p:nvPr/>
        </p:nvSpPr>
        <p:spPr>
          <a:xfrm>
            <a:off x="6355080" y="3056120"/>
            <a:ext cx="1143000" cy="640080"/>
          </a:xfrm>
          <a:prstGeom prst="rect">
            <a:avLst/>
          </a:prstGeom>
          <a:solidFill>
            <a:srgbClr val="00802F"/>
          </a:solidFill>
          <a:ln w="12700">
            <a:noFill/>
            <a:prstDash val="solid"/>
          </a:ln>
          <a:effectLst>
            <a:outerShdw blurRad="381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59" name="Text 33">
            <a:extLst>
              <a:ext uri="{FF2B5EF4-FFF2-40B4-BE49-F238E27FC236}">
                <a16:creationId xmlns:a16="http://schemas.microsoft.com/office/drawing/2014/main" id="{1494FB73-E9D7-A2ED-D87D-85DE288B2779}"/>
              </a:ext>
            </a:extLst>
          </p:cNvPr>
          <p:cNvSpPr/>
          <p:nvPr/>
        </p:nvSpPr>
        <p:spPr>
          <a:xfrm>
            <a:off x="6355080" y="3074408"/>
            <a:ext cx="1143000" cy="347472"/>
          </a:xfrm>
          <a:prstGeom prst="rect">
            <a:avLst/>
          </a:prstGeom>
          <a:noFill/>
          <a:ln/>
        </p:spPr>
        <p:txBody>
          <a:bodyPr wrap="square" rtlCol="0" anchor="ctr"/>
          <a:lstStyle/>
          <a:p>
            <a:pPr marL="0" indent="0" algn="ctr">
              <a:buNone/>
            </a:pPr>
            <a:r>
              <a:rPr lang="en-US" sz="1800" b="1">
                <a:solidFill>
                  <a:schemeClr val="bg1"/>
                </a:solidFill>
                <a:latin typeface="Gill Sans Nova Light" panose="020B0302020104020203" pitchFamily="34" charset="0"/>
                <a:ea typeface="Calibri" pitchFamily="34" charset="-122"/>
                <a:cs typeface="Calibri" pitchFamily="34" charset="-120"/>
              </a:rPr>
              <a:t>−1.18</a:t>
            </a:r>
            <a:endParaRPr lang="en-US" sz="1800">
              <a:solidFill>
                <a:schemeClr val="bg1"/>
              </a:solidFill>
              <a:latin typeface="Gill Sans Nova Light" panose="020B0302020104020203" pitchFamily="34" charset="0"/>
            </a:endParaRPr>
          </a:p>
        </p:txBody>
      </p:sp>
      <p:sp>
        <p:nvSpPr>
          <p:cNvPr id="60" name="Text 34">
            <a:extLst>
              <a:ext uri="{FF2B5EF4-FFF2-40B4-BE49-F238E27FC236}">
                <a16:creationId xmlns:a16="http://schemas.microsoft.com/office/drawing/2014/main" id="{864A9ED2-E6EE-93C5-16E0-30ABE868DDE7}"/>
              </a:ext>
            </a:extLst>
          </p:cNvPr>
          <p:cNvSpPr/>
          <p:nvPr/>
        </p:nvSpPr>
        <p:spPr>
          <a:xfrm>
            <a:off x="6355080" y="3394448"/>
            <a:ext cx="1143000" cy="256032"/>
          </a:xfrm>
          <a:prstGeom prst="rect">
            <a:avLst/>
          </a:prstGeom>
          <a:noFill/>
          <a:ln/>
        </p:spPr>
        <p:txBody>
          <a:bodyPr wrap="square" rtlCol="0" anchor="ctr"/>
          <a:lstStyle/>
          <a:p>
            <a:pPr marL="0" indent="0" algn="ctr">
              <a:buNone/>
            </a:pPr>
            <a:r>
              <a:rPr lang="en-US" sz="900">
                <a:solidFill>
                  <a:schemeClr val="bg1"/>
                </a:solidFill>
                <a:latin typeface="Gill Sans Nova Light" panose="020B0302020104020203" pitchFamily="34" charset="0"/>
                <a:ea typeface="Calibri" pitchFamily="34" charset="-122"/>
                <a:cs typeface="Calibri" pitchFamily="34" charset="-120"/>
              </a:rPr>
              <a:t>Min</a:t>
            </a:r>
            <a:endParaRPr lang="en-US" sz="900">
              <a:solidFill>
                <a:schemeClr val="bg1"/>
              </a:solidFill>
              <a:latin typeface="Gill Sans Nova Light" panose="020B0302020104020203" pitchFamily="34" charset="0"/>
            </a:endParaRPr>
          </a:p>
        </p:txBody>
      </p:sp>
      <p:sp>
        <p:nvSpPr>
          <p:cNvPr id="61" name="Shape 35">
            <a:extLst>
              <a:ext uri="{FF2B5EF4-FFF2-40B4-BE49-F238E27FC236}">
                <a16:creationId xmlns:a16="http://schemas.microsoft.com/office/drawing/2014/main" id="{A9FD14EA-7E2A-C223-3ADC-936A099D5683}"/>
              </a:ext>
            </a:extLst>
          </p:cNvPr>
          <p:cNvSpPr/>
          <p:nvPr/>
        </p:nvSpPr>
        <p:spPr>
          <a:xfrm>
            <a:off x="6355080" y="3879080"/>
            <a:ext cx="1143000" cy="640080"/>
          </a:xfrm>
          <a:prstGeom prst="rect">
            <a:avLst/>
          </a:prstGeom>
          <a:solidFill>
            <a:srgbClr val="BFDFCB"/>
          </a:solidFill>
          <a:ln w="12700">
            <a:noFill/>
            <a:prstDash val="solid"/>
          </a:ln>
          <a:effectLst>
            <a:outerShdw blurRad="381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62" name="Text 36">
            <a:extLst>
              <a:ext uri="{FF2B5EF4-FFF2-40B4-BE49-F238E27FC236}">
                <a16:creationId xmlns:a16="http://schemas.microsoft.com/office/drawing/2014/main" id="{BD81463D-5B21-8F8F-381A-19E945F88371}"/>
              </a:ext>
            </a:extLst>
          </p:cNvPr>
          <p:cNvSpPr/>
          <p:nvPr/>
        </p:nvSpPr>
        <p:spPr>
          <a:xfrm>
            <a:off x="6355080" y="3897368"/>
            <a:ext cx="1143000" cy="347472"/>
          </a:xfrm>
          <a:prstGeom prst="rect">
            <a:avLst/>
          </a:prstGeom>
          <a:noFill/>
          <a:ln/>
        </p:spPr>
        <p:txBody>
          <a:bodyPr wrap="square" rtlCol="0" anchor="ctr"/>
          <a:lstStyle/>
          <a:p>
            <a:pPr marL="0" indent="0" algn="ctr">
              <a:buNone/>
            </a:pPr>
            <a:r>
              <a:rPr lang="en-US" sz="1800" b="1">
                <a:latin typeface="Gill Sans Nova Light" panose="020B0302020104020203" pitchFamily="34" charset="0"/>
                <a:ea typeface="Calibri" pitchFamily="34" charset="-122"/>
                <a:cs typeface="Calibri" pitchFamily="34" charset="-120"/>
              </a:rPr>
              <a:t>−1.18</a:t>
            </a:r>
            <a:endParaRPr lang="en-US" sz="1800">
              <a:latin typeface="Gill Sans Nova Light" panose="020B0302020104020203" pitchFamily="34" charset="0"/>
            </a:endParaRPr>
          </a:p>
        </p:txBody>
      </p:sp>
      <p:sp>
        <p:nvSpPr>
          <p:cNvPr id="63" name="Text 37">
            <a:extLst>
              <a:ext uri="{FF2B5EF4-FFF2-40B4-BE49-F238E27FC236}">
                <a16:creationId xmlns:a16="http://schemas.microsoft.com/office/drawing/2014/main" id="{6D50E100-EBAE-8E70-9577-889453282A49}"/>
              </a:ext>
            </a:extLst>
          </p:cNvPr>
          <p:cNvSpPr/>
          <p:nvPr/>
        </p:nvSpPr>
        <p:spPr>
          <a:xfrm>
            <a:off x="6355080" y="4217408"/>
            <a:ext cx="1143000" cy="256032"/>
          </a:xfrm>
          <a:prstGeom prst="rect">
            <a:avLst/>
          </a:prstGeom>
          <a:noFill/>
          <a:ln/>
        </p:spPr>
        <p:txBody>
          <a:bodyPr wrap="square" rtlCol="0" anchor="ctr"/>
          <a:lstStyle/>
          <a:p>
            <a:pPr marL="0" indent="0" algn="ctr">
              <a:buNone/>
            </a:pPr>
            <a:r>
              <a:rPr lang="en-US" sz="900">
                <a:latin typeface="Gill Sans Nova Light" panose="020B0302020104020203" pitchFamily="34" charset="0"/>
                <a:ea typeface="Calibri" pitchFamily="34" charset="-122"/>
                <a:cs typeface="Calibri" pitchFamily="34" charset="-120"/>
              </a:rPr>
              <a:t>Min</a:t>
            </a:r>
            <a:endParaRPr lang="en-US" sz="900">
              <a:latin typeface="Gill Sans Nova Light" panose="020B0302020104020203" pitchFamily="34" charset="0"/>
            </a:endParaRPr>
          </a:p>
        </p:txBody>
      </p:sp>
      <p:sp>
        <p:nvSpPr>
          <p:cNvPr id="64" name="Shape 38">
            <a:extLst>
              <a:ext uri="{FF2B5EF4-FFF2-40B4-BE49-F238E27FC236}">
                <a16:creationId xmlns:a16="http://schemas.microsoft.com/office/drawing/2014/main" id="{0EF0BECC-20FC-E60F-EA2B-841F5D8E3A3A}"/>
              </a:ext>
            </a:extLst>
          </p:cNvPr>
          <p:cNvSpPr/>
          <p:nvPr/>
        </p:nvSpPr>
        <p:spPr>
          <a:xfrm>
            <a:off x="7589520" y="3056120"/>
            <a:ext cx="1143000" cy="640080"/>
          </a:xfrm>
          <a:prstGeom prst="rect">
            <a:avLst/>
          </a:prstGeom>
          <a:solidFill>
            <a:srgbClr val="00802F"/>
          </a:solidFill>
          <a:ln w="12700">
            <a:noFill/>
            <a:prstDash val="solid"/>
          </a:ln>
          <a:effectLst>
            <a:outerShdw blurRad="381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65" name="Text 39">
            <a:extLst>
              <a:ext uri="{FF2B5EF4-FFF2-40B4-BE49-F238E27FC236}">
                <a16:creationId xmlns:a16="http://schemas.microsoft.com/office/drawing/2014/main" id="{A6F538BC-0778-D5DB-B0BD-7F5A6CAC6329}"/>
              </a:ext>
            </a:extLst>
          </p:cNvPr>
          <p:cNvSpPr/>
          <p:nvPr/>
        </p:nvSpPr>
        <p:spPr>
          <a:xfrm>
            <a:off x="7589520" y="3074408"/>
            <a:ext cx="1143000" cy="347472"/>
          </a:xfrm>
          <a:prstGeom prst="rect">
            <a:avLst/>
          </a:prstGeom>
          <a:noFill/>
          <a:ln/>
        </p:spPr>
        <p:txBody>
          <a:bodyPr wrap="square" rtlCol="0" anchor="ctr"/>
          <a:lstStyle/>
          <a:p>
            <a:pPr marL="0" indent="0" algn="ctr">
              <a:buNone/>
            </a:pPr>
            <a:r>
              <a:rPr lang="en-US" sz="1800" b="1">
                <a:solidFill>
                  <a:schemeClr val="bg1"/>
                </a:solidFill>
                <a:latin typeface="Gill Sans Nova Light" panose="020B0302020104020203" pitchFamily="34" charset="0"/>
                <a:ea typeface="Calibri" pitchFamily="34" charset="-122"/>
                <a:cs typeface="Calibri" pitchFamily="34" charset="-120"/>
              </a:rPr>
              <a:t>0.41</a:t>
            </a:r>
            <a:endParaRPr lang="en-US" sz="1800">
              <a:solidFill>
                <a:schemeClr val="bg1"/>
              </a:solidFill>
              <a:latin typeface="Gill Sans Nova Light" panose="020B0302020104020203" pitchFamily="34" charset="0"/>
            </a:endParaRPr>
          </a:p>
        </p:txBody>
      </p:sp>
      <p:sp>
        <p:nvSpPr>
          <p:cNvPr id="66" name="Text 40">
            <a:extLst>
              <a:ext uri="{FF2B5EF4-FFF2-40B4-BE49-F238E27FC236}">
                <a16:creationId xmlns:a16="http://schemas.microsoft.com/office/drawing/2014/main" id="{823EC0D6-5786-37AC-DCBD-DE24C64F9255}"/>
              </a:ext>
            </a:extLst>
          </p:cNvPr>
          <p:cNvSpPr/>
          <p:nvPr/>
        </p:nvSpPr>
        <p:spPr>
          <a:xfrm>
            <a:off x="7589520" y="3394448"/>
            <a:ext cx="1143000" cy="256032"/>
          </a:xfrm>
          <a:prstGeom prst="rect">
            <a:avLst/>
          </a:prstGeom>
          <a:noFill/>
          <a:ln/>
        </p:spPr>
        <p:txBody>
          <a:bodyPr wrap="square" rtlCol="0" anchor="ctr"/>
          <a:lstStyle/>
          <a:p>
            <a:pPr marL="0" indent="0" algn="ctr">
              <a:buNone/>
            </a:pPr>
            <a:r>
              <a:rPr lang="en-US" sz="900">
                <a:solidFill>
                  <a:schemeClr val="bg1"/>
                </a:solidFill>
                <a:latin typeface="Gill Sans Nova Light" panose="020B0302020104020203" pitchFamily="34" charset="0"/>
                <a:ea typeface="Calibri" pitchFamily="34" charset="-122"/>
                <a:cs typeface="Calibri" pitchFamily="34" charset="-120"/>
              </a:rPr>
              <a:t>Max</a:t>
            </a:r>
            <a:endParaRPr lang="en-US" sz="900">
              <a:solidFill>
                <a:schemeClr val="bg1"/>
              </a:solidFill>
              <a:latin typeface="Gill Sans Nova Light" panose="020B0302020104020203" pitchFamily="34" charset="0"/>
            </a:endParaRPr>
          </a:p>
        </p:txBody>
      </p:sp>
      <p:sp>
        <p:nvSpPr>
          <p:cNvPr id="67" name="Shape 41">
            <a:extLst>
              <a:ext uri="{FF2B5EF4-FFF2-40B4-BE49-F238E27FC236}">
                <a16:creationId xmlns:a16="http://schemas.microsoft.com/office/drawing/2014/main" id="{71B8B4D1-64B4-F55D-50BF-F0D2DD3DD706}"/>
              </a:ext>
            </a:extLst>
          </p:cNvPr>
          <p:cNvSpPr/>
          <p:nvPr/>
        </p:nvSpPr>
        <p:spPr>
          <a:xfrm>
            <a:off x="7589520" y="3879080"/>
            <a:ext cx="1143000" cy="640080"/>
          </a:xfrm>
          <a:prstGeom prst="rect">
            <a:avLst/>
          </a:prstGeom>
          <a:solidFill>
            <a:srgbClr val="BFDFCB"/>
          </a:solidFill>
          <a:ln w="12700">
            <a:noFill/>
            <a:prstDash val="solid"/>
          </a:ln>
          <a:effectLst>
            <a:outerShdw blurRad="381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68" name="Text 42">
            <a:extLst>
              <a:ext uri="{FF2B5EF4-FFF2-40B4-BE49-F238E27FC236}">
                <a16:creationId xmlns:a16="http://schemas.microsoft.com/office/drawing/2014/main" id="{07B6AF7E-2869-C4F2-4926-139F03E7EE59}"/>
              </a:ext>
            </a:extLst>
          </p:cNvPr>
          <p:cNvSpPr/>
          <p:nvPr/>
        </p:nvSpPr>
        <p:spPr>
          <a:xfrm>
            <a:off x="7589520" y="3897368"/>
            <a:ext cx="1143000" cy="347472"/>
          </a:xfrm>
          <a:prstGeom prst="rect">
            <a:avLst/>
          </a:prstGeom>
          <a:noFill/>
          <a:ln/>
        </p:spPr>
        <p:txBody>
          <a:bodyPr wrap="square" rtlCol="0" anchor="ctr"/>
          <a:lstStyle/>
          <a:p>
            <a:pPr marL="0" indent="0" algn="ctr">
              <a:buNone/>
            </a:pPr>
            <a:r>
              <a:rPr lang="en-US" sz="1800" b="1">
                <a:latin typeface="Gill Sans Nova Light" panose="020B0302020104020203" pitchFamily="34" charset="0"/>
                <a:ea typeface="Calibri" pitchFamily="34" charset="-122"/>
                <a:cs typeface="Calibri" pitchFamily="34" charset="-120"/>
              </a:rPr>
              <a:t>0.41</a:t>
            </a:r>
            <a:endParaRPr lang="en-US" sz="1800">
              <a:latin typeface="Gill Sans Nova Light" panose="020B0302020104020203" pitchFamily="34" charset="0"/>
            </a:endParaRPr>
          </a:p>
        </p:txBody>
      </p:sp>
      <p:sp>
        <p:nvSpPr>
          <p:cNvPr id="69" name="Text 43">
            <a:extLst>
              <a:ext uri="{FF2B5EF4-FFF2-40B4-BE49-F238E27FC236}">
                <a16:creationId xmlns:a16="http://schemas.microsoft.com/office/drawing/2014/main" id="{AAE0E6D3-AB96-5117-23A0-9F12E865D571}"/>
              </a:ext>
            </a:extLst>
          </p:cNvPr>
          <p:cNvSpPr/>
          <p:nvPr/>
        </p:nvSpPr>
        <p:spPr>
          <a:xfrm>
            <a:off x="7589520" y="4217408"/>
            <a:ext cx="1143000" cy="256032"/>
          </a:xfrm>
          <a:prstGeom prst="rect">
            <a:avLst/>
          </a:prstGeom>
          <a:noFill/>
          <a:ln/>
        </p:spPr>
        <p:txBody>
          <a:bodyPr wrap="square" rtlCol="0" anchor="ctr"/>
          <a:lstStyle/>
          <a:p>
            <a:pPr marL="0" indent="0" algn="ctr">
              <a:buNone/>
            </a:pPr>
            <a:r>
              <a:rPr lang="en-US" sz="900">
                <a:latin typeface="Gill Sans Nova Light" panose="020B0302020104020203" pitchFamily="34" charset="0"/>
                <a:ea typeface="Calibri" pitchFamily="34" charset="-122"/>
                <a:cs typeface="Calibri" pitchFamily="34" charset="-120"/>
              </a:rPr>
              <a:t>Max</a:t>
            </a:r>
            <a:endParaRPr lang="en-US" sz="900">
              <a:latin typeface="Gill Sans Nova Light" panose="020B0302020104020203" pitchFamily="34" charset="0"/>
            </a:endParaRPr>
          </a:p>
        </p:txBody>
      </p:sp>
      <p:sp>
        <p:nvSpPr>
          <p:cNvPr id="70" name="Text 44">
            <a:extLst>
              <a:ext uri="{FF2B5EF4-FFF2-40B4-BE49-F238E27FC236}">
                <a16:creationId xmlns:a16="http://schemas.microsoft.com/office/drawing/2014/main" id="{BF17F50F-AD94-110F-787E-EEF39628EB30}"/>
              </a:ext>
            </a:extLst>
          </p:cNvPr>
          <p:cNvSpPr/>
          <p:nvPr/>
        </p:nvSpPr>
        <p:spPr>
          <a:xfrm>
            <a:off x="365760" y="4846320"/>
            <a:ext cx="8412480" cy="228600"/>
          </a:xfrm>
          <a:prstGeom prst="rect">
            <a:avLst/>
          </a:prstGeom>
          <a:noFill/>
          <a:ln/>
        </p:spPr>
        <p:txBody>
          <a:bodyPr wrap="square" rtlCol="0" anchor="ctr"/>
          <a:lstStyle/>
          <a:p>
            <a:pPr marL="0" indent="0">
              <a:buNone/>
            </a:pPr>
            <a:r>
              <a:rPr lang="en-US" sz="900" i="1">
                <a:solidFill>
                  <a:srgbClr val="64748B"/>
                </a:solidFill>
                <a:latin typeface="Gill Sans Nova Light" panose="020B0302020104020203" pitchFamily="34" charset="0"/>
                <a:ea typeface="Calibri" pitchFamily="34" charset="-122"/>
                <a:cs typeface="Calibri" pitchFamily="34" charset="-120"/>
              </a:rPr>
              <a:t>Source: World Bank WDI, ECB SDW, BIS Total Credit Statistics, Nasdaq OMX Stockholm  |  Formula: Levine (2002)</a:t>
            </a:r>
            <a:endParaRPr lang="en-US" sz="900">
              <a:latin typeface="Gill Sans Nova Light" panose="020B0302020104020203" pitchFamily="34" charset="0"/>
            </a:endParaRPr>
          </a:p>
        </p:txBody>
      </p:sp>
    </p:spTree>
    <p:extLst>
      <p:ext uri="{BB962C8B-B14F-4D97-AF65-F5344CB8AC3E}">
        <p14:creationId xmlns:p14="http://schemas.microsoft.com/office/powerpoint/2010/main" val="4220626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40043-CD86-84AE-1C0E-ADD3800C22E4}"/>
              </a:ext>
            </a:extLst>
          </p:cNvPr>
          <p:cNvSpPr>
            <a:spLocks noGrp="1"/>
          </p:cNvSpPr>
          <p:nvPr>
            <p:ph type="title"/>
          </p:nvPr>
        </p:nvSpPr>
        <p:spPr/>
        <p:txBody>
          <a:bodyPr/>
          <a:lstStyle/>
          <a:p>
            <a:r>
              <a:rPr lang="en-GB" err="1"/>
              <a:t>FinStructure</a:t>
            </a:r>
            <a:r>
              <a:rPr lang="en-GB"/>
              <a:t>: Comparison vs. Levine (2002)</a:t>
            </a:r>
            <a:endParaRPr lang="en-CH"/>
          </a:p>
        </p:txBody>
      </p:sp>
      <p:grpSp>
        <p:nvGrpSpPr>
          <p:cNvPr id="4" name="Group 3">
            <a:extLst>
              <a:ext uri="{FF2B5EF4-FFF2-40B4-BE49-F238E27FC236}">
                <a16:creationId xmlns:a16="http://schemas.microsoft.com/office/drawing/2014/main" id="{59A12EDF-1833-AACE-B50A-C781F9648BE1}"/>
              </a:ext>
            </a:extLst>
          </p:cNvPr>
          <p:cNvGrpSpPr>
            <a:grpSpLocks noChangeAspect="1"/>
          </p:cNvGrpSpPr>
          <p:nvPr/>
        </p:nvGrpSpPr>
        <p:grpSpPr>
          <a:xfrm>
            <a:off x="358775" y="887127"/>
            <a:ext cx="8467689" cy="3739896"/>
            <a:chOff x="182880" y="777240"/>
            <a:chExt cx="8778240" cy="3877056"/>
          </a:xfrm>
        </p:grpSpPr>
        <p:sp>
          <p:nvSpPr>
            <p:cNvPr id="121" name="Shape 2">
              <a:extLst>
                <a:ext uri="{FF2B5EF4-FFF2-40B4-BE49-F238E27FC236}">
                  <a16:creationId xmlns:a16="http://schemas.microsoft.com/office/drawing/2014/main" id="{F420A677-373D-F761-7841-35A6040D492E}"/>
                </a:ext>
              </a:extLst>
            </p:cNvPr>
            <p:cNvSpPr/>
            <p:nvPr/>
          </p:nvSpPr>
          <p:spPr>
            <a:xfrm>
              <a:off x="182880" y="777240"/>
              <a:ext cx="4206240" cy="292608"/>
            </a:xfrm>
            <a:prstGeom prst="rect">
              <a:avLst/>
            </a:prstGeom>
            <a:solidFill>
              <a:srgbClr val="00802F"/>
            </a:solidFill>
            <a:ln w="12700">
              <a:solidFill>
                <a:srgbClr val="2C5F2D"/>
              </a:solidFill>
              <a:prstDash val="solid"/>
            </a:ln>
          </p:spPr>
          <p:txBody>
            <a:bodyPr/>
            <a:lstStyle/>
            <a:p>
              <a:endParaRPr lang="en-CH">
                <a:solidFill>
                  <a:schemeClr val="bg1"/>
                </a:solidFill>
                <a:latin typeface="Gill Sans Nova Light" panose="020B0302020104020203" pitchFamily="34" charset="0"/>
              </a:endParaRPr>
            </a:p>
          </p:txBody>
        </p:sp>
        <p:sp>
          <p:nvSpPr>
            <p:cNvPr id="122" name="Text 3">
              <a:extLst>
                <a:ext uri="{FF2B5EF4-FFF2-40B4-BE49-F238E27FC236}">
                  <a16:creationId xmlns:a16="http://schemas.microsoft.com/office/drawing/2014/main" id="{48E5FF93-A3BA-ACDD-3889-36E673D2EE9D}"/>
                </a:ext>
              </a:extLst>
            </p:cNvPr>
            <p:cNvSpPr/>
            <p:nvPr/>
          </p:nvSpPr>
          <p:spPr>
            <a:xfrm>
              <a:off x="274320" y="795528"/>
              <a:ext cx="1280160" cy="256032"/>
            </a:xfrm>
            <a:prstGeom prst="rect">
              <a:avLst/>
            </a:prstGeom>
            <a:noFill/>
            <a:ln/>
          </p:spPr>
          <p:txBody>
            <a:bodyPr wrap="square" rtlCol="0" anchor="ctr"/>
            <a:lstStyle/>
            <a:p>
              <a:pPr marL="0" indent="0">
                <a:buNone/>
              </a:pPr>
              <a:r>
                <a:rPr lang="en-US" sz="850" b="1">
                  <a:solidFill>
                    <a:schemeClr val="bg1"/>
                  </a:solidFill>
                  <a:latin typeface="Gill Sans Nova Light" panose="020B0302020104020203" pitchFamily="34" charset="0"/>
                  <a:ea typeface="Calibri" pitchFamily="34" charset="-122"/>
                  <a:cs typeface="Calibri" pitchFamily="34" charset="-120"/>
                </a:rPr>
                <a:t>Country</a:t>
              </a:r>
              <a:endParaRPr lang="en-US" sz="850">
                <a:solidFill>
                  <a:schemeClr val="bg1"/>
                </a:solidFill>
                <a:latin typeface="Gill Sans Nova Light" panose="020B0302020104020203" pitchFamily="34" charset="0"/>
              </a:endParaRPr>
            </a:p>
          </p:txBody>
        </p:sp>
        <p:sp>
          <p:nvSpPr>
            <p:cNvPr id="123" name="Text 4">
              <a:extLst>
                <a:ext uri="{FF2B5EF4-FFF2-40B4-BE49-F238E27FC236}">
                  <a16:creationId xmlns:a16="http://schemas.microsoft.com/office/drawing/2014/main" id="{F8D9088C-B0A4-9BB6-0CF6-4ABC1FF49625}"/>
                </a:ext>
              </a:extLst>
            </p:cNvPr>
            <p:cNvSpPr/>
            <p:nvPr/>
          </p:nvSpPr>
          <p:spPr>
            <a:xfrm>
              <a:off x="1600200" y="795528"/>
              <a:ext cx="731520" cy="256032"/>
            </a:xfrm>
            <a:prstGeom prst="rect">
              <a:avLst/>
            </a:prstGeom>
            <a:noFill/>
            <a:ln/>
          </p:spPr>
          <p:txBody>
            <a:bodyPr wrap="square" rtlCol="0" anchor="ctr"/>
            <a:lstStyle/>
            <a:p>
              <a:pPr marL="0" indent="0" algn="ctr">
                <a:buNone/>
              </a:pPr>
              <a:r>
                <a:rPr lang="en-US" sz="850" b="1">
                  <a:solidFill>
                    <a:schemeClr val="bg1"/>
                  </a:solidFill>
                  <a:latin typeface="Gill Sans Nova Light" panose="020B0302020104020203" pitchFamily="34" charset="0"/>
                  <a:ea typeface="Calibri" pitchFamily="34" charset="-122"/>
                  <a:cs typeface="Calibri" pitchFamily="34" charset="-120"/>
                </a:rPr>
                <a:t>Base</a:t>
              </a:r>
              <a:endParaRPr lang="en-US" sz="850">
                <a:solidFill>
                  <a:schemeClr val="bg1"/>
                </a:solidFill>
                <a:latin typeface="Gill Sans Nova Light" panose="020B0302020104020203" pitchFamily="34" charset="0"/>
              </a:endParaRPr>
            </a:p>
          </p:txBody>
        </p:sp>
        <p:sp>
          <p:nvSpPr>
            <p:cNvPr id="124" name="Text 5">
              <a:extLst>
                <a:ext uri="{FF2B5EF4-FFF2-40B4-BE49-F238E27FC236}">
                  <a16:creationId xmlns:a16="http://schemas.microsoft.com/office/drawing/2014/main" id="{15327685-12E8-D2B2-A1BF-7AF0BF519EC0}"/>
                </a:ext>
              </a:extLst>
            </p:cNvPr>
            <p:cNvSpPr/>
            <p:nvPr/>
          </p:nvSpPr>
          <p:spPr>
            <a:xfrm>
              <a:off x="2377440" y="795528"/>
              <a:ext cx="777240" cy="256032"/>
            </a:xfrm>
            <a:prstGeom prst="rect">
              <a:avLst/>
            </a:prstGeom>
            <a:noFill/>
            <a:ln/>
          </p:spPr>
          <p:txBody>
            <a:bodyPr wrap="square" rtlCol="0" anchor="ctr"/>
            <a:lstStyle/>
            <a:p>
              <a:pPr marL="0" indent="0" algn="ctr">
                <a:buNone/>
              </a:pPr>
              <a:r>
                <a:rPr lang="en-US" sz="850" b="1">
                  <a:solidFill>
                    <a:schemeClr val="bg1"/>
                  </a:solidFill>
                  <a:latin typeface="Gill Sans Nova Light" panose="020B0302020104020203" pitchFamily="34" charset="0"/>
                  <a:ea typeface="Calibri" pitchFamily="34" charset="-122"/>
                  <a:cs typeface="Calibri" pitchFamily="34" charset="-120"/>
                </a:rPr>
                <a:t>Patched</a:t>
              </a:r>
              <a:endParaRPr lang="en-US" sz="850">
                <a:solidFill>
                  <a:schemeClr val="bg1"/>
                </a:solidFill>
                <a:latin typeface="Gill Sans Nova Light" panose="020B0302020104020203" pitchFamily="34" charset="0"/>
              </a:endParaRPr>
            </a:p>
          </p:txBody>
        </p:sp>
        <p:sp>
          <p:nvSpPr>
            <p:cNvPr id="125" name="Text 6">
              <a:extLst>
                <a:ext uri="{FF2B5EF4-FFF2-40B4-BE49-F238E27FC236}">
                  <a16:creationId xmlns:a16="http://schemas.microsoft.com/office/drawing/2014/main" id="{D7A370BA-BFC5-B3DB-EA3B-CDEA74111E62}"/>
                </a:ext>
              </a:extLst>
            </p:cNvPr>
            <p:cNvSpPr/>
            <p:nvPr/>
          </p:nvSpPr>
          <p:spPr>
            <a:xfrm>
              <a:off x="3200400" y="795528"/>
              <a:ext cx="1097280" cy="256032"/>
            </a:xfrm>
            <a:prstGeom prst="rect">
              <a:avLst/>
            </a:prstGeom>
            <a:noFill/>
            <a:ln/>
          </p:spPr>
          <p:txBody>
            <a:bodyPr wrap="square" rtlCol="0" anchor="ctr"/>
            <a:lstStyle/>
            <a:p>
              <a:pPr marL="0" indent="0" algn="ctr">
                <a:buNone/>
              </a:pPr>
              <a:r>
                <a:rPr lang="en-US" sz="850" b="1">
                  <a:solidFill>
                    <a:schemeClr val="bg1"/>
                  </a:solidFill>
                  <a:latin typeface="Gill Sans Nova Light" panose="020B0302020104020203" pitchFamily="34" charset="0"/>
                  <a:ea typeface="Calibri" pitchFamily="34" charset="-122"/>
                  <a:cs typeface="Calibri" pitchFamily="34" charset="-120"/>
                </a:rPr>
                <a:t>Levine</a:t>
              </a:r>
              <a:endParaRPr lang="en-US" sz="850">
                <a:solidFill>
                  <a:schemeClr val="bg1"/>
                </a:solidFill>
                <a:latin typeface="Gill Sans Nova Light" panose="020B0302020104020203" pitchFamily="34" charset="0"/>
              </a:endParaRPr>
            </a:p>
          </p:txBody>
        </p:sp>
        <p:sp>
          <p:nvSpPr>
            <p:cNvPr id="126" name="Shape 7">
              <a:extLst>
                <a:ext uri="{FF2B5EF4-FFF2-40B4-BE49-F238E27FC236}">
                  <a16:creationId xmlns:a16="http://schemas.microsoft.com/office/drawing/2014/main" id="{55519EDB-BA59-9C75-2152-3AB2B68E350C}"/>
                </a:ext>
              </a:extLst>
            </p:cNvPr>
            <p:cNvSpPr/>
            <p:nvPr/>
          </p:nvSpPr>
          <p:spPr>
            <a:xfrm>
              <a:off x="182880" y="108813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127" name="Shape 8">
              <a:extLst>
                <a:ext uri="{FF2B5EF4-FFF2-40B4-BE49-F238E27FC236}">
                  <a16:creationId xmlns:a16="http://schemas.microsoft.com/office/drawing/2014/main" id="{2F3F9C78-FDEE-F30F-3CD1-F575889B6714}"/>
                </a:ext>
              </a:extLst>
            </p:cNvPr>
            <p:cNvSpPr/>
            <p:nvPr/>
          </p:nvSpPr>
          <p:spPr>
            <a:xfrm>
              <a:off x="182880" y="108813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28" name="Text 9">
              <a:extLst>
                <a:ext uri="{FF2B5EF4-FFF2-40B4-BE49-F238E27FC236}">
                  <a16:creationId xmlns:a16="http://schemas.microsoft.com/office/drawing/2014/main" id="{E3E520FA-314C-DBC6-8990-113AF0344B85}"/>
                </a:ext>
              </a:extLst>
            </p:cNvPr>
            <p:cNvSpPr/>
            <p:nvPr/>
          </p:nvSpPr>
          <p:spPr>
            <a:xfrm>
              <a:off x="274320" y="111556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Cyprus</a:t>
              </a:r>
              <a:endParaRPr lang="en-US" sz="850">
                <a:latin typeface="Gill Sans Nova Light" panose="020B0302020104020203" pitchFamily="34" charset="0"/>
              </a:endParaRPr>
            </a:p>
          </p:txBody>
        </p:sp>
        <p:sp>
          <p:nvSpPr>
            <p:cNvPr id="129" name="Text 10">
              <a:extLst>
                <a:ext uri="{FF2B5EF4-FFF2-40B4-BE49-F238E27FC236}">
                  <a16:creationId xmlns:a16="http://schemas.microsoft.com/office/drawing/2014/main" id="{2DB88D10-E80A-538D-DB0C-016CB00E5A6C}"/>
                </a:ext>
              </a:extLst>
            </p:cNvPr>
            <p:cNvSpPr/>
            <p:nvPr/>
          </p:nvSpPr>
          <p:spPr>
            <a:xfrm>
              <a:off x="1600200" y="111556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-0.782</a:t>
              </a:r>
              <a:endParaRPr lang="en-US" sz="850">
                <a:latin typeface="Gill Sans Nova Light" panose="020B0302020104020203" pitchFamily="34" charset="0"/>
              </a:endParaRPr>
            </a:p>
          </p:txBody>
        </p:sp>
        <p:sp>
          <p:nvSpPr>
            <p:cNvPr id="130" name="Text 11">
              <a:extLst>
                <a:ext uri="{FF2B5EF4-FFF2-40B4-BE49-F238E27FC236}">
                  <a16:creationId xmlns:a16="http://schemas.microsoft.com/office/drawing/2014/main" id="{636A4E48-37E1-DED9-6DBC-612A2E148D46}"/>
                </a:ext>
              </a:extLst>
            </p:cNvPr>
            <p:cNvSpPr/>
            <p:nvPr/>
          </p:nvSpPr>
          <p:spPr>
            <a:xfrm>
              <a:off x="2377440" y="111556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-0.782</a:t>
              </a:r>
              <a:endParaRPr lang="en-US" sz="850">
                <a:latin typeface="Gill Sans Nova Light" panose="020B0302020104020203" pitchFamily="34" charset="0"/>
              </a:endParaRPr>
            </a:p>
          </p:txBody>
        </p:sp>
        <p:sp>
          <p:nvSpPr>
            <p:cNvPr id="131" name="Text 12">
              <a:extLst>
                <a:ext uri="{FF2B5EF4-FFF2-40B4-BE49-F238E27FC236}">
                  <a16:creationId xmlns:a16="http://schemas.microsoft.com/office/drawing/2014/main" id="{041F1211-51B9-00AE-B88D-AE05E9346E0B}"/>
                </a:ext>
              </a:extLst>
            </p:cNvPr>
            <p:cNvSpPr/>
            <p:nvPr/>
          </p:nvSpPr>
          <p:spPr>
            <a:xfrm>
              <a:off x="3200400" y="1115568"/>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Calibri"/>
                  <a:cs typeface="Calibri"/>
                </a:rPr>
                <a:t>-1.11</a:t>
              </a:r>
              <a:endParaRPr lang="en-US" sz="800">
                <a:latin typeface="Gill Sans Nova Light" panose="020B0302020104020203" pitchFamily="34" charset="0"/>
              </a:endParaRPr>
            </a:p>
          </p:txBody>
        </p:sp>
        <p:sp>
          <p:nvSpPr>
            <p:cNvPr id="132" name="Shape 13">
              <a:extLst>
                <a:ext uri="{FF2B5EF4-FFF2-40B4-BE49-F238E27FC236}">
                  <a16:creationId xmlns:a16="http://schemas.microsoft.com/office/drawing/2014/main" id="{4472171E-E667-34DA-963F-4329D72CB15C}"/>
                </a:ext>
              </a:extLst>
            </p:cNvPr>
            <p:cNvSpPr/>
            <p:nvPr/>
          </p:nvSpPr>
          <p:spPr>
            <a:xfrm>
              <a:off x="182880" y="1339596"/>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133" name="Shape 14">
              <a:extLst>
                <a:ext uri="{FF2B5EF4-FFF2-40B4-BE49-F238E27FC236}">
                  <a16:creationId xmlns:a16="http://schemas.microsoft.com/office/drawing/2014/main" id="{06A98D21-56EE-8ACD-75DF-6FC99C1A7300}"/>
                </a:ext>
              </a:extLst>
            </p:cNvPr>
            <p:cNvSpPr/>
            <p:nvPr/>
          </p:nvSpPr>
          <p:spPr>
            <a:xfrm>
              <a:off x="182880" y="133959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34" name="Text 15">
              <a:extLst>
                <a:ext uri="{FF2B5EF4-FFF2-40B4-BE49-F238E27FC236}">
                  <a16:creationId xmlns:a16="http://schemas.microsoft.com/office/drawing/2014/main" id="{959F42BB-27B2-C795-5BE4-31639327D4CE}"/>
                </a:ext>
              </a:extLst>
            </p:cNvPr>
            <p:cNvSpPr/>
            <p:nvPr/>
          </p:nvSpPr>
          <p:spPr>
            <a:xfrm>
              <a:off x="274320" y="136702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Portugal</a:t>
              </a:r>
              <a:endParaRPr lang="en-US" sz="850">
                <a:latin typeface="Gill Sans Nova Light" panose="020B0302020104020203" pitchFamily="34" charset="0"/>
              </a:endParaRPr>
            </a:p>
          </p:txBody>
        </p:sp>
        <p:sp>
          <p:nvSpPr>
            <p:cNvPr id="135" name="Text 16">
              <a:extLst>
                <a:ext uri="{FF2B5EF4-FFF2-40B4-BE49-F238E27FC236}">
                  <a16:creationId xmlns:a16="http://schemas.microsoft.com/office/drawing/2014/main" id="{30D59449-D87C-0F54-91B4-25E5F25D4092}"/>
                </a:ext>
              </a:extLst>
            </p:cNvPr>
            <p:cNvSpPr/>
            <p:nvPr/>
          </p:nvSpPr>
          <p:spPr>
            <a:xfrm>
              <a:off x="1600200" y="136702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-0.567</a:t>
              </a:r>
              <a:endParaRPr lang="en-US" sz="850">
                <a:latin typeface="Gill Sans Nova Light" panose="020B0302020104020203" pitchFamily="34" charset="0"/>
              </a:endParaRPr>
            </a:p>
          </p:txBody>
        </p:sp>
        <p:sp>
          <p:nvSpPr>
            <p:cNvPr id="136" name="Text 17">
              <a:extLst>
                <a:ext uri="{FF2B5EF4-FFF2-40B4-BE49-F238E27FC236}">
                  <a16:creationId xmlns:a16="http://schemas.microsoft.com/office/drawing/2014/main" id="{D5CDE90F-1931-7B53-13F7-B587D375DCDB}"/>
                </a:ext>
              </a:extLst>
            </p:cNvPr>
            <p:cNvSpPr/>
            <p:nvPr/>
          </p:nvSpPr>
          <p:spPr>
            <a:xfrm>
              <a:off x="2377440" y="136702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-0.511</a:t>
              </a:r>
              <a:endParaRPr lang="en-US" sz="850">
                <a:latin typeface="Gill Sans Nova Light" panose="020B0302020104020203" pitchFamily="34" charset="0"/>
              </a:endParaRPr>
            </a:p>
          </p:txBody>
        </p:sp>
        <p:sp>
          <p:nvSpPr>
            <p:cNvPr id="137" name="Text 18">
              <a:extLst>
                <a:ext uri="{FF2B5EF4-FFF2-40B4-BE49-F238E27FC236}">
                  <a16:creationId xmlns:a16="http://schemas.microsoft.com/office/drawing/2014/main" id="{E9FBFEC0-2A60-617F-8E7A-B30701F8068D}"/>
                </a:ext>
              </a:extLst>
            </p:cNvPr>
            <p:cNvSpPr/>
            <p:nvPr/>
          </p:nvSpPr>
          <p:spPr>
            <a:xfrm>
              <a:off x="3200400" y="1367028"/>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Calibri"/>
                  <a:cs typeface="Calibri"/>
                </a:rPr>
                <a:t>-7.52</a:t>
              </a:r>
              <a:endParaRPr lang="en-US" sz="800">
                <a:latin typeface="Gill Sans Nova Light" panose="020B0302020104020203" pitchFamily="34" charset="0"/>
              </a:endParaRPr>
            </a:p>
          </p:txBody>
        </p:sp>
        <p:sp>
          <p:nvSpPr>
            <p:cNvPr id="138" name="Shape 19">
              <a:extLst>
                <a:ext uri="{FF2B5EF4-FFF2-40B4-BE49-F238E27FC236}">
                  <a16:creationId xmlns:a16="http://schemas.microsoft.com/office/drawing/2014/main" id="{D85C73C5-0454-A950-4FBD-C364A15D2219}"/>
                </a:ext>
              </a:extLst>
            </p:cNvPr>
            <p:cNvSpPr/>
            <p:nvPr/>
          </p:nvSpPr>
          <p:spPr>
            <a:xfrm>
              <a:off x="182880" y="159105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139" name="Shape 20">
              <a:extLst>
                <a:ext uri="{FF2B5EF4-FFF2-40B4-BE49-F238E27FC236}">
                  <a16:creationId xmlns:a16="http://schemas.microsoft.com/office/drawing/2014/main" id="{D9158AB4-CBBF-72DD-81A1-6E254E724B86}"/>
                </a:ext>
              </a:extLst>
            </p:cNvPr>
            <p:cNvSpPr/>
            <p:nvPr/>
          </p:nvSpPr>
          <p:spPr>
            <a:xfrm>
              <a:off x="182880" y="159105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40" name="Text 21">
              <a:extLst>
                <a:ext uri="{FF2B5EF4-FFF2-40B4-BE49-F238E27FC236}">
                  <a16:creationId xmlns:a16="http://schemas.microsoft.com/office/drawing/2014/main" id="{B767651C-21DF-3D9C-166A-32F42000324D}"/>
                </a:ext>
              </a:extLst>
            </p:cNvPr>
            <p:cNvSpPr/>
            <p:nvPr/>
          </p:nvSpPr>
          <p:spPr>
            <a:xfrm>
              <a:off x="274320" y="161848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Estonia</a:t>
              </a:r>
              <a:endParaRPr lang="en-US" sz="850">
                <a:latin typeface="Gill Sans Nova Light" panose="020B0302020104020203" pitchFamily="34" charset="0"/>
              </a:endParaRPr>
            </a:p>
          </p:txBody>
        </p:sp>
        <p:sp>
          <p:nvSpPr>
            <p:cNvPr id="141" name="Text 22">
              <a:extLst>
                <a:ext uri="{FF2B5EF4-FFF2-40B4-BE49-F238E27FC236}">
                  <a16:creationId xmlns:a16="http://schemas.microsoft.com/office/drawing/2014/main" id="{EBC7E05E-4F87-9ABD-ADF2-D3D6B8ED399F}"/>
                </a:ext>
              </a:extLst>
            </p:cNvPr>
            <p:cNvSpPr/>
            <p:nvPr/>
          </p:nvSpPr>
          <p:spPr>
            <a:xfrm>
              <a:off x="1600200" y="1618488"/>
              <a:ext cx="731520" cy="219456"/>
            </a:xfrm>
            <a:prstGeom prst="rect">
              <a:avLst/>
            </a:prstGeom>
            <a:noFill/>
            <a:ln/>
          </p:spPr>
          <p:txBody>
            <a:bodyPr wrap="square" rtlCol="0" anchor="ctr"/>
            <a:lstStyle/>
            <a:p>
              <a:pPr marL="0" indent="0" algn="ctr">
                <a:buNone/>
              </a:pPr>
              <a:r>
                <a:rPr lang="en-US" sz="850" b="1">
                  <a:solidFill>
                    <a:srgbClr val="64748B"/>
                  </a:solidFill>
                  <a:latin typeface="Gill Sans Nova Light" panose="020B0302020104020203" pitchFamily="34" charset="0"/>
                  <a:ea typeface="Calibri" pitchFamily="34" charset="-122"/>
                  <a:cs typeface="Calibri" pitchFamily="34" charset="-120"/>
                </a:rPr>
                <a:t>N/A</a:t>
              </a:r>
              <a:endParaRPr lang="en-US" sz="850">
                <a:latin typeface="Gill Sans Nova Light" panose="020B0302020104020203" pitchFamily="34" charset="0"/>
              </a:endParaRPr>
            </a:p>
          </p:txBody>
        </p:sp>
        <p:sp>
          <p:nvSpPr>
            <p:cNvPr id="142" name="Text 23">
              <a:extLst>
                <a:ext uri="{FF2B5EF4-FFF2-40B4-BE49-F238E27FC236}">
                  <a16:creationId xmlns:a16="http://schemas.microsoft.com/office/drawing/2014/main" id="{CDEFB1C0-DED1-67DE-161C-8F051868F9A4}"/>
                </a:ext>
              </a:extLst>
            </p:cNvPr>
            <p:cNvSpPr/>
            <p:nvPr/>
          </p:nvSpPr>
          <p:spPr>
            <a:xfrm>
              <a:off x="2377440" y="161848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-0.403</a:t>
              </a:r>
              <a:endParaRPr lang="en-US" sz="850">
                <a:latin typeface="Gill Sans Nova Light" panose="020B0302020104020203" pitchFamily="34" charset="0"/>
              </a:endParaRPr>
            </a:p>
          </p:txBody>
        </p:sp>
        <p:sp>
          <p:nvSpPr>
            <p:cNvPr id="143" name="Text 24">
              <a:extLst>
                <a:ext uri="{FF2B5EF4-FFF2-40B4-BE49-F238E27FC236}">
                  <a16:creationId xmlns:a16="http://schemas.microsoft.com/office/drawing/2014/main" id="{5E10D0BA-197E-F72A-BBB8-15CD2FCBEF89}"/>
                </a:ext>
              </a:extLst>
            </p:cNvPr>
            <p:cNvSpPr/>
            <p:nvPr/>
          </p:nvSpPr>
          <p:spPr>
            <a:xfrm>
              <a:off x="3200400" y="1618488"/>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144" name="Shape 25">
              <a:extLst>
                <a:ext uri="{FF2B5EF4-FFF2-40B4-BE49-F238E27FC236}">
                  <a16:creationId xmlns:a16="http://schemas.microsoft.com/office/drawing/2014/main" id="{9E8D25AB-F239-0BC3-D853-5C0117B70BCF}"/>
                </a:ext>
              </a:extLst>
            </p:cNvPr>
            <p:cNvSpPr/>
            <p:nvPr/>
          </p:nvSpPr>
          <p:spPr>
            <a:xfrm>
              <a:off x="182880" y="1842516"/>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145" name="Shape 26">
              <a:extLst>
                <a:ext uri="{FF2B5EF4-FFF2-40B4-BE49-F238E27FC236}">
                  <a16:creationId xmlns:a16="http://schemas.microsoft.com/office/drawing/2014/main" id="{471E4844-C883-576F-B9DF-548EA4264167}"/>
                </a:ext>
              </a:extLst>
            </p:cNvPr>
            <p:cNvSpPr/>
            <p:nvPr/>
          </p:nvSpPr>
          <p:spPr>
            <a:xfrm>
              <a:off x="182880" y="184251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46" name="Text 27">
              <a:extLst>
                <a:ext uri="{FF2B5EF4-FFF2-40B4-BE49-F238E27FC236}">
                  <a16:creationId xmlns:a16="http://schemas.microsoft.com/office/drawing/2014/main" id="{9A867CD9-F1E3-D60E-0825-30CF0816C179}"/>
                </a:ext>
              </a:extLst>
            </p:cNvPr>
            <p:cNvSpPr/>
            <p:nvPr/>
          </p:nvSpPr>
          <p:spPr>
            <a:xfrm>
              <a:off x="274320" y="186994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Greece</a:t>
              </a:r>
              <a:endParaRPr lang="en-US" sz="850">
                <a:latin typeface="Gill Sans Nova Light" panose="020B0302020104020203" pitchFamily="34" charset="0"/>
              </a:endParaRPr>
            </a:p>
          </p:txBody>
        </p:sp>
        <p:sp>
          <p:nvSpPr>
            <p:cNvPr id="147" name="Text 28">
              <a:extLst>
                <a:ext uri="{FF2B5EF4-FFF2-40B4-BE49-F238E27FC236}">
                  <a16:creationId xmlns:a16="http://schemas.microsoft.com/office/drawing/2014/main" id="{8A5F3EB2-87B4-52DB-EB24-CC3D262D8756}"/>
                </a:ext>
              </a:extLst>
            </p:cNvPr>
            <p:cNvSpPr/>
            <p:nvPr/>
          </p:nvSpPr>
          <p:spPr>
            <a:xfrm>
              <a:off x="1600200" y="186994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-0.419</a:t>
              </a:r>
              <a:endParaRPr lang="en-US" sz="850">
                <a:latin typeface="Gill Sans Nova Light" panose="020B0302020104020203" pitchFamily="34" charset="0"/>
              </a:endParaRPr>
            </a:p>
          </p:txBody>
        </p:sp>
        <p:sp>
          <p:nvSpPr>
            <p:cNvPr id="148" name="Text 29">
              <a:extLst>
                <a:ext uri="{FF2B5EF4-FFF2-40B4-BE49-F238E27FC236}">
                  <a16:creationId xmlns:a16="http://schemas.microsoft.com/office/drawing/2014/main" id="{AE26B1D5-7BED-A4D6-015C-EE73535812AF}"/>
                </a:ext>
              </a:extLst>
            </p:cNvPr>
            <p:cNvSpPr/>
            <p:nvPr/>
          </p:nvSpPr>
          <p:spPr>
            <a:xfrm>
              <a:off x="2377440" y="186994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-0.419</a:t>
              </a:r>
              <a:endParaRPr lang="en-US" sz="850">
                <a:latin typeface="Gill Sans Nova Light" panose="020B0302020104020203" pitchFamily="34" charset="0"/>
              </a:endParaRPr>
            </a:p>
          </p:txBody>
        </p:sp>
        <p:sp>
          <p:nvSpPr>
            <p:cNvPr id="149" name="Text 30">
              <a:extLst>
                <a:ext uri="{FF2B5EF4-FFF2-40B4-BE49-F238E27FC236}">
                  <a16:creationId xmlns:a16="http://schemas.microsoft.com/office/drawing/2014/main" id="{BF96CDE7-09E4-38CA-8D1E-5667D73B6678}"/>
                </a:ext>
              </a:extLst>
            </p:cNvPr>
            <p:cNvSpPr/>
            <p:nvPr/>
          </p:nvSpPr>
          <p:spPr>
            <a:xfrm>
              <a:off x="3200400" y="1869948"/>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mn-lt"/>
                  <a:cs typeface="+mn-lt"/>
                </a:rPr>
                <a:t>-1.02</a:t>
              </a:r>
              <a:endParaRPr lang="en-US">
                <a:latin typeface="Gill Sans Nova Light" panose="020B0302020104020203" pitchFamily="34" charset="0"/>
              </a:endParaRPr>
            </a:p>
          </p:txBody>
        </p:sp>
        <p:sp>
          <p:nvSpPr>
            <p:cNvPr id="150" name="Shape 31">
              <a:extLst>
                <a:ext uri="{FF2B5EF4-FFF2-40B4-BE49-F238E27FC236}">
                  <a16:creationId xmlns:a16="http://schemas.microsoft.com/office/drawing/2014/main" id="{D4632D8A-B150-D67B-F3F5-72AB5FA7B49C}"/>
                </a:ext>
              </a:extLst>
            </p:cNvPr>
            <p:cNvSpPr/>
            <p:nvPr/>
          </p:nvSpPr>
          <p:spPr>
            <a:xfrm>
              <a:off x="182880" y="209397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151" name="Shape 32">
              <a:extLst>
                <a:ext uri="{FF2B5EF4-FFF2-40B4-BE49-F238E27FC236}">
                  <a16:creationId xmlns:a16="http://schemas.microsoft.com/office/drawing/2014/main" id="{3C95B146-9FE0-B794-A079-A211623D00A7}"/>
                </a:ext>
              </a:extLst>
            </p:cNvPr>
            <p:cNvSpPr/>
            <p:nvPr/>
          </p:nvSpPr>
          <p:spPr>
            <a:xfrm>
              <a:off x="182880" y="209397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52" name="Text 33">
              <a:extLst>
                <a:ext uri="{FF2B5EF4-FFF2-40B4-BE49-F238E27FC236}">
                  <a16:creationId xmlns:a16="http://schemas.microsoft.com/office/drawing/2014/main" id="{258C07C1-C03D-FFF2-31E7-03D8717E78FA}"/>
                </a:ext>
              </a:extLst>
            </p:cNvPr>
            <p:cNvSpPr/>
            <p:nvPr/>
          </p:nvSpPr>
          <p:spPr>
            <a:xfrm>
              <a:off x="274320" y="212140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Austria</a:t>
              </a:r>
              <a:endParaRPr lang="en-US" sz="850">
                <a:latin typeface="Gill Sans Nova Light" panose="020B0302020104020203" pitchFamily="34" charset="0"/>
              </a:endParaRPr>
            </a:p>
          </p:txBody>
        </p:sp>
        <p:sp>
          <p:nvSpPr>
            <p:cNvPr id="153" name="Text 34">
              <a:extLst>
                <a:ext uri="{FF2B5EF4-FFF2-40B4-BE49-F238E27FC236}">
                  <a16:creationId xmlns:a16="http://schemas.microsoft.com/office/drawing/2014/main" id="{3DC249C3-5127-8B83-6038-95016E82C5F4}"/>
                </a:ext>
              </a:extLst>
            </p:cNvPr>
            <p:cNvSpPr/>
            <p:nvPr/>
          </p:nvSpPr>
          <p:spPr>
            <a:xfrm>
              <a:off x="1600200" y="212140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-0.392</a:t>
              </a:r>
              <a:endParaRPr lang="en-US" sz="850">
                <a:latin typeface="Gill Sans Nova Light" panose="020B0302020104020203" pitchFamily="34" charset="0"/>
              </a:endParaRPr>
            </a:p>
          </p:txBody>
        </p:sp>
        <p:sp>
          <p:nvSpPr>
            <p:cNvPr id="154" name="Text 35">
              <a:extLst>
                <a:ext uri="{FF2B5EF4-FFF2-40B4-BE49-F238E27FC236}">
                  <a16:creationId xmlns:a16="http://schemas.microsoft.com/office/drawing/2014/main" id="{F22D8182-5509-65F5-8F4C-EBB5BDCA6FFF}"/>
                </a:ext>
              </a:extLst>
            </p:cNvPr>
            <p:cNvSpPr/>
            <p:nvPr/>
          </p:nvSpPr>
          <p:spPr>
            <a:xfrm>
              <a:off x="2377440" y="212140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-0.392</a:t>
              </a:r>
              <a:endParaRPr lang="en-US" sz="850">
                <a:latin typeface="Gill Sans Nova Light" panose="020B0302020104020203" pitchFamily="34" charset="0"/>
              </a:endParaRPr>
            </a:p>
          </p:txBody>
        </p:sp>
        <p:sp>
          <p:nvSpPr>
            <p:cNvPr id="155" name="Text 36">
              <a:extLst>
                <a:ext uri="{FF2B5EF4-FFF2-40B4-BE49-F238E27FC236}">
                  <a16:creationId xmlns:a16="http://schemas.microsoft.com/office/drawing/2014/main" id="{4E31AC32-E434-76CB-590E-56193246C27F}"/>
                </a:ext>
              </a:extLst>
            </p:cNvPr>
            <p:cNvSpPr/>
            <p:nvPr/>
          </p:nvSpPr>
          <p:spPr>
            <a:xfrm>
              <a:off x="3200400" y="2121408"/>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mn-lt"/>
                  <a:cs typeface="+mn-lt"/>
                </a:rPr>
                <a:t>-2.46</a:t>
              </a:r>
              <a:endParaRPr lang="en-US">
                <a:latin typeface="Gill Sans Nova Light" panose="020B0302020104020203" pitchFamily="34" charset="0"/>
              </a:endParaRPr>
            </a:p>
          </p:txBody>
        </p:sp>
        <p:sp>
          <p:nvSpPr>
            <p:cNvPr id="156" name="Shape 37">
              <a:extLst>
                <a:ext uri="{FF2B5EF4-FFF2-40B4-BE49-F238E27FC236}">
                  <a16:creationId xmlns:a16="http://schemas.microsoft.com/office/drawing/2014/main" id="{80D77FD0-7673-F210-7807-0D1A12C198D3}"/>
                </a:ext>
              </a:extLst>
            </p:cNvPr>
            <p:cNvSpPr/>
            <p:nvPr/>
          </p:nvSpPr>
          <p:spPr>
            <a:xfrm>
              <a:off x="182880" y="2345436"/>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157" name="Shape 38">
              <a:extLst>
                <a:ext uri="{FF2B5EF4-FFF2-40B4-BE49-F238E27FC236}">
                  <a16:creationId xmlns:a16="http://schemas.microsoft.com/office/drawing/2014/main" id="{7D69A4FC-5DD0-2A29-9999-3782AC9BF10C}"/>
                </a:ext>
              </a:extLst>
            </p:cNvPr>
            <p:cNvSpPr/>
            <p:nvPr/>
          </p:nvSpPr>
          <p:spPr>
            <a:xfrm>
              <a:off x="182880" y="234543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58" name="Text 39">
              <a:extLst>
                <a:ext uri="{FF2B5EF4-FFF2-40B4-BE49-F238E27FC236}">
                  <a16:creationId xmlns:a16="http://schemas.microsoft.com/office/drawing/2014/main" id="{3F612F84-62B0-5F8B-3615-7F48821CE9A0}"/>
                </a:ext>
              </a:extLst>
            </p:cNvPr>
            <p:cNvSpPr/>
            <p:nvPr/>
          </p:nvSpPr>
          <p:spPr>
            <a:xfrm>
              <a:off x="274320" y="237286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Italy</a:t>
              </a:r>
              <a:endParaRPr lang="en-US" sz="850">
                <a:latin typeface="Gill Sans Nova Light" panose="020B0302020104020203" pitchFamily="34" charset="0"/>
              </a:endParaRPr>
            </a:p>
          </p:txBody>
        </p:sp>
        <p:sp>
          <p:nvSpPr>
            <p:cNvPr id="159" name="Text 40">
              <a:extLst>
                <a:ext uri="{FF2B5EF4-FFF2-40B4-BE49-F238E27FC236}">
                  <a16:creationId xmlns:a16="http://schemas.microsoft.com/office/drawing/2014/main" id="{7F4A8A2B-314A-CA01-FB37-F8E38E217317}"/>
                </a:ext>
              </a:extLst>
            </p:cNvPr>
            <p:cNvSpPr/>
            <p:nvPr/>
          </p:nvSpPr>
          <p:spPr>
            <a:xfrm>
              <a:off x="1600200" y="237286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-0.431</a:t>
              </a:r>
              <a:endParaRPr lang="en-US" sz="850">
                <a:latin typeface="Gill Sans Nova Light" panose="020B0302020104020203" pitchFamily="34" charset="0"/>
              </a:endParaRPr>
            </a:p>
          </p:txBody>
        </p:sp>
        <p:sp>
          <p:nvSpPr>
            <p:cNvPr id="160" name="Text 41">
              <a:extLst>
                <a:ext uri="{FF2B5EF4-FFF2-40B4-BE49-F238E27FC236}">
                  <a16:creationId xmlns:a16="http://schemas.microsoft.com/office/drawing/2014/main" id="{958BC90C-5361-13C2-981B-BC3DA04FB4A5}"/>
                </a:ext>
              </a:extLst>
            </p:cNvPr>
            <p:cNvSpPr/>
            <p:nvPr/>
          </p:nvSpPr>
          <p:spPr>
            <a:xfrm>
              <a:off x="2377440" y="237286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-0.339</a:t>
              </a:r>
              <a:endParaRPr lang="en-US" sz="850">
                <a:latin typeface="Gill Sans Nova Light" panose="020B0302020104020203" pitchFamily="34" charset="0"/>
              </a:endParaRPr>
            </a:p>
          </p:txBody>
        </p:sp>
        <p:sp>
          <p:nvSpPr>
            <p:cNvPr id="161" name="Text 42">
              <a:extLst>
                <a:ext uri="{FF2B5EF4-FFF2-40B4-BE49-F238E27FC236}">
                  <a16:creationId xmlns:a16="http://schemas.microsoft.com/office/drawing/2014/main" id="{BE0BF7D2-7A17-7F59-7265-4CE2BAD0F8BB}"/>
                </a:ext>
              </a:extLst>
            </p:cNvPr>
            <p:cNvSpPr/>
            <p:nvPr/>
          </p:nvSpPr>
          <p:spPr>
            <a:xfrm>
              <a:off x="3200400" y="2372868"/>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mn-lt"/>
                  <a:cs typeface="+mn-lt"/>
                </a:rPr>
                <a:t>-1.45</a:t>
              </a:r>
              <a:endParaRPr lang="en-US">
                <a:latin typeface="Gill Sans Nova Light" panose="020B0302020104020203" pitchFamily="34" charset="0"/>
              </a:endParaRPr>
            </a:p>
          </p:txBody>
        </p:sp>
        <p:sp>
          <p:nvSpPr>
            <p:cNvPr id="162" name="Shape 43">
              <a:extLst>
                <a:ext uri="{FF2B5EF4-FFF2-40B4-BE49-F238E27FC236}">
                  <a16:creationId xmlns:a16="http://schemas.microsoft.com/office/drawing/2014/main" id="{8C79E698-A41C-E57D-0F47-75AEE52AB914}"/>
                </a:ext>
              </a:extLst>
            </p:cNvPr>
            <p:cNvSpPr/>
            <p:nvPr/>
          </p:nvSpPr>
          <p:spPr>
            <a:xfrm>
              <a:off x="182880" y="259689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163" name="Shape 44">
              <a:extLst>
                <a:ext uri="{FF2B5EF4-FFF2-40B4-BE49-F238E27FC236}">
                  <a16:creationId xmlns:a16="http://schemas.microsoft.com/office/drawing/2014/main" id="{E06ED9C7-7101-38D2-84BC-B3DF07079740}"/>
                </a:ext>
              </a:extLst>
            </p:cNvPr>
            <p:cNvSpPr/>
            <p:nvPr/>
          </p:nvSpPr>
          <p:spPr>
            <a:xfrm>
              <a:off x="182880" y="259689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64" name="Text 45">
              <a:extLst>
                <a:ext uri="{FF2B5EF4-FFF2-40B4-BE49-F238E27FC236}">
                  <a16:creationId xmlns:a16="http://schemas.microsoft.com/office/drawing/2014/main" id="{CDF955D8-C367-8911-D62B-BA10A74F85B9}"/>
                </a:ext>
              </a:extLst>
            </p:cNvPr>
            <p:cNvSpPr/>
            <p:nvPr/>
          </p:nvSpPr>
          <p:spPr>
            <a:xfrm>
              <a:off x="274320" y="262432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Latvia</a:t>
              </a:r>
              <a:endParaRPr lang="en-US" sz="850">
                <a:latin typeface="Gill Sans Nova Light" panose="020B0302020104020203" pitchFamily="34" charset="0"/>
              </a:endParaRPr>
            </a:p>
          </p:txBody>
        </p:sp>
        <p:sp>
          <p:nvSpPr>
            <p:cNvPr id="165" name="Text 46">
              <a:extLst>
                <a:ext uri="{FF2B5EF4-FFF2-40B4-BE49-F238E27FC236}">
                  <a16:creationId xmlns:a16="http://schemas.microsoft.com/office/drawing/2014/main" id="{D846A88A-E9CF-10B8-8C70-7D768E8C2C5F}"/>
                </a:ext>
              </a:extLst>
            </p:cNvPr>
            <p:cNvSpPr/>
            <p:nvPr/>
          </p:nvSpPr>
          <p:spPr>
            <a:xfrm>
              <a:off x="1600200" y="2624328"/>
              <a:ext cx="731520" cy="219456"/>
            </a:xfrm>
            <a:prstGeom prst="rect">
              <a:avLst/>
            </a:prstGeom>
            <a:noFill/>
            <a:ln/>
          </p:spPr>
          <p:txBody>
            <a:bodyPr wrap="square" rtlCol="0" anchor="ctr"/>
            <a:lstStyle/>
            <a:p>
              <a:pPr marL="0" indent="0" algn="ctr">
                <a:buNone/>
              </a:pPr>
              <a:r>
                <a:rPr lang="en-US" sz="850" b="1">
                  <a:solidFill>
                    <a:srgbClr val="64748B"/>
                  </a:solidFill>
                  <a:latin typeface="Gill Sans Nova Light" panose="020B0302020104020203" pitchFamily="34" charset="0"/>
                  <a:ea typeface="Calibri" pitchFamily="34" charset="-122"/>
                  <a:cs typeface="Calibri" pitchFamily="34" charset="-120"/>
                </a:rPr>
                <a:t>N/A</a:t>
              </a:r>
              <a:endParaRPr lang="en-US" sz="850">
                <a:latin typeface="Gill Sans Nova Light" panose="020B0302020104020203" pitchFamily="34" charset="0"/>
              </a:endParaRPr>
            </a:p>
          </p:txBody>
        </p:sp>
        <p:sp>
          <p:nvSpPr>
            <p:cNvPr id="166" name="Text 47">
              <a:extLst>
                <a:ext uri="{FF2B5EF4-FFF2-40B4-BE49-F238E27FC236}">
                  <a16:creationId xmlns:a16="http://schemas.microsoft.com/office/drawing/2014/main" id="{7A255955-6086-2F0E-2FA8-0501536FDD97}"/>
                </a:ext>
              </a:extLst>
            </p:cNvPr>
            <p:cNvSpPr/>
            <p:nvPr/>
          </p:nvSpPr>
          <p:spPr>
            <a:xfrm>
              <a:off x="2377440" y="262432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-0.336</a:t>
              </a:r>
              <a:endParaRPr lang="en-US" sz="850">
                <a:latin typeface="Gill Sans Nova Light" panose="020B0302020104020203" pitchFamily="34" charset="0"/>
              </a:endParaRPr>
            </a:p>
          </p:txBody>
        </p:sp>
        <p:sp>
          <p:nvSpPr>
            <p:cNvPr id="167" name="Text 48">
              <a:extLst>
                <a:ext uri="{FF2B5EF4-FFF2-40B4-BE49-F238E27FC236}">
                  <a16:creationId xmlns:a16="http://schemas.microsoft.com/office/drawing/2014/main" id="{FF92DB17-4555-4E75-A43D-1797DFB5C7EE}"/>
                </a:ext>
              </a:extLst>
            </p:cNvPr>
            <p:cNvSpPr/>
            <p:nvPr/>
          </p:nvSpPr>
          <p:spPr>
            <a:xfrm>
              <a:off x="3200400" y="2624328"/>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168" name="Shape 49">
              <a:extLst>
                <a:ext uri="{FF2B5EF4-FFF2-40B4-BE49-F238E27FC236}">
                  <a16:creationId xmlns:a16="http://schemas.microsoft.com/office/drawing/2014/main" id="{E159E0B1-EFA6-3888-DB1C-AC27FEA86840}"/>
                </a:ext>
              </a:extLst>
            </p:cNvPr>
            <p:cNvSpPr/>
            <p:nvPr/>
          </p:nvSpPr>
          <p:spPr>
            <a:xfrm>
              <a:off x="182880" y="2848356"/>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169" name="Shape 50">
              <a:extLst>
                <a:ext uri="{FF2B5EF4-FFF2-40B4-BE49-F238E27FC236}">
                  <a16:creationId xmlns:a16="http://schemas.microsoft.com/office/drawing/2014/main" id="{A0F2A13A-3112-9070-898C-7194D421CB5C}"/>
                </a:ext>
              </a:extLst>
            </p:cNvPr>
            <p:cNvSpPr/>
            <p:nvPr/>
          </p:nvSpPr>
          <p:spPr>
            <a:xfrm>
              <a:off x="182880" y="284835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70" name="Text 51">
              <a:extLst>
                <a:ext uri="{FF2B5EF4-FFF2-40B4-BE49-F238E27FC236}">
                  <a16:creationId xmlns:a16="http://schemas.microsoft.com/office/drawing/2014/main" id="{043B20C7-EE86-16BF-0F42-64D559190BFC}"/>
                </a:ext>
              </a:extLst>
            </p:cNvPr>
            <p:cNvSpPr/>
            <p:nvPr/>
          </p:nvSpPr>
          <p:spPr>
            <a:xfrm>
              <a:off x="274320" y="287578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Slovak Republic</a:t>
              </a:r>
              <a:endParaRPr lang="en-US" sz="850">
                <a:latin typeface="Gill Sans Nova Light" panose="020B0302020104020203" pitchFamily="34" charset="0"/>
              </a:endParaRPr>
            </a:p>
          </p:txBody>
        </p:sp>
        <p:sp>
          <p:nvSpPr>
            <p:cNvPr id="171" name="Text 52">
              <a:extLst>
                <a:ext uri="{FF2B5EF4-FFF2-40B4-BE49-F238E27FC236}">
                  <a16:creationId xmlns:a16="http://schemas.microsoft.com/office/drawing/2014/main" id="{569E7F64-9863-A5E4-ED80-78FF3E708200}"/>
                </a:ext>
              </a:extLst>
            </p:cNvPr>
            <p:cNvSpPr/>
            <p:nvPr/>
          </p:nvSpPr>
          <p:spPr>
            <a:xfrm>
              <a:off x="1600200" y="287578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-0.331</a:t>
              </a:r>
              <a:endParaRPr lang="en-US" sz="850">
                <a:latin typeface="Gill Sans Nova Light" panose="020B0302020104020203" pitchFamily="34" charset="0"/>
              </a:endParaRPr>
            </a:p>
          </p:txBody>
        </p:sp>
        <p:sp>
          <p:nvSpPr>
            <p:cNvPr id="172" name="Text 53">
              <a:extLst>
                <a:ext uri="{FF2B5EF4-FFF2-40B4-BE49-F238E27FC236}">
                  <a16:creationId xmlns:a16="http://schemas.microsoft.com/office/drawing/2014/main" id="{1A2E5BAA-4EEB-72B0-4C59-7821C9624368}"/>
                </a:ext>
              </a:extLst>
            </p:cNvPr>
            <p:cNvSpPr/>
            <p:nvPr/>
          </p:nvSpPr>
          <p:spPr>
            <a:xfrm>
              <a:off x="2377440" y="287578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-0.331</a:t>
              </a:r>
              <a:endParaRPr lang="en-US" sz="850">
                <a:latin typeface="Gill Sans Nova Light" panose="020B0302020104020203" pitchFamily="34" charset="0"/>
              </a:endParaRPr>
            </a:p>
          </p:txBody>
        </p:sp>
        <p:sp>
          <p:nvSpPr>
            <p:cNvPr id="173" name="Text 54">
              <a:extLst>
                <a:ext uri="{FF2B5EF4-FFF2-40B4-BE49-F238E27FC236}">
                  <a16:creationId xmlns:a16="http://schemas.microsoft.com/office/drawing/2014/main" id="{C4791A90-AE6D-3E2E-D64A-940908B8C67B}"/>
                </a:ext>
              </a:extLst>
            </p:cNvPr>
            <p:cNvSpPr/>
            <p:nvPr/>
          </p:nvSpPr>
          <p:spPr>
            <a:xfrm>
              <a:off x="3200400" y="2875788"/>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174" name="Shape 55">
              <a:extLst>
                <a:ext uri="{FF2B5EF4-FFF2-40B4-BE49-F238E27FC236}">
                  <a16:creationId xmlns:a16="http://schemas.microsoft.com/office/drawing/2014/main" id="{7B7700BB-79E4-154F-46C9-A23E2BCD5DE7}"/>
                </a:ext>
              </a:extLst>
            </p:cNvPr>
            <p:cNvSpPr/>
            <p:nvPr/>
          </p:nvSpPr>
          <p:spPr>
            <a:xfrm>
              <a:off x="182880" y="309981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175" name="Shape 56">
              <a:extLst>
                <a:ext uri="{FF2B5EF4-FFF2-40B4-BE49-F238E27FC236}">
                  <a16:creationId xmlns:a16="http://schemas.microsoft.com/office/drawing/2014/main" id="{89DFDB08-2DAF-9C9A-9571-0A986B597E2F}"/>
                </a:ext>
              </a:extLst>
            </p:cNvPr>
            <p:cNvSpPr/>
            <p:nvPr/>
          </p:nvSpPr>
          <p:spPr>
            <a:xfrm>
              <a:off x="182880" y="309981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76" name="Text 57">
              <a:extLst>
                <a:ext uri="{FF2B5EF4-FFF2-40B4-BE49-F238E27FC236}">
                  <a16:creationId xmlns:a16="http://schemas.microsoft.com/office/drawing/2014/main" id="{842EBFAD-87A4-1810-0976-2E974D089A93}"/>
                </a:ext>
              </a:extLst>
            </p:cNvPr>
            <p:cNvSpPr/>
            <p:nvPr/>
          </p:nvSpPr>
          <p:spPr>
            <a:xfrm>
              <a:off x="274320" y="312724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Malta</a:t>
              </a:r>
              <a:endParaRPr lang="en-US" sz="850">
                <a:latin typeface="Gill Sans Nova Light" panose="020B0302020104020203" pitchFamily="34" charset="0"/>
              </a:endParaRPr>
            </a:p>
          </p:txBody>
        </p:sp>
        <p:sp>
          <p:nvSpPr>
            <p:cNvPr id="177" name="Text 58">
              <a:extLst>
                <a:ext uri="{FF2B5EF4-FFF2-40B4-BE49-F238E27FC236}">
                  <a16:creationId xmlns:a16="http://schemas.microsoft.com/office/drawing/2014/main" id="{287BA7B1-673C-E4E7-6D13-E297F1E8A033}"/>
                </a:ext>
              </a:extLst>
            </p:cNvPr>
            <p:cNvSpPr/>
            <p:nvPr/>
          </p:nvSpPr>
          <p:spPr>
            <a:xfrm>
              <a:off x="1600200" y="312724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-0.322</a:t>
              </a:r>
              <a:endParaRPr lang="en-US" sz="850">
                <a:latin typeface="Gill Sans Nova Light" panose="020B0302020104020203" pitchFamily="34" charset="0"/>
              </a:endParaRPr>
            </a:p>
          </p:txBody>
        </p:sp>
        <p:sp>
          <p:nvSpPr>
            <p:cNvPr id="178" name="Text 59">
              <a:extLst>
                <a:ext uri="{FF2B5EF4-FFF2-40B4-BE49-F238E27FC236}">
                  <a16:creationId xmlns:a16="http://schemas.microsoft.com/office/drawing/2014/main" id="{BFB3DF01-A4AC-1D63-140E-69999670CD04}"/>
                </a:ext>
              </a:extLst>
            </p:cNvPr>
            <p:cNvSpPr/>
            <p:nvPr/>
          </p:nvSpPr>
          <p:spPr>
            <a:xfrm>
              <a:off x="2377440" y="312724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-0.322</a:t>
              </a:r>
              <a:endParaRPr lang="en-US" sz="850">
                <a:latin typeface="Gill Sans Nova Light" panose="020B0302020104020203" pitchFamily="34" charset="0"/>
              </a:endParaRPr>
            </a:p>
          </p:txBody>
        </p:sp>
        <p:sp>
          <p:nvSpPr>
            <p:cNvPr id="179" name="Text 60">
              <a:extLst>
                <a:ext uri="{FF2B5EF4-FFF2-40B4-BE49-F238E27FC236}">
                  <a16:creationId xmlns:a16="http://schemas.microsoft.com/office/drawing/2014/main" id="{AB706BDE-2284-AFC0-76CF-1B5EC015642A}"/>
                </a:ext>
              </a:extLst>
            </p:cNvPr>
            <p:cNvSpPr/>
            <p:nvPr/>
          </p:nvSpPr>
          <p:spPr>
            <a:xfrm>
              <a:off x="3200400" y="3127248"/>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180" name="Shape 61">
              <a:extLst>
                <a:ext uri="{FF2B5EF4-FFF2-40B4-BE49-F238E27FC236}">
                  <a16:creationId xmlns:a16="http://schemas.microsoft.com/office/drawing/2014/main" id="{D9E98032-B0C7-0524-CE1B-EC263E37D926}"/>
                </a:ext>
              </a:extLst>
            </p:cNvPr>
            <p:cNvSpPr/>
            <p:nvPr/>
          </p:nvSpPr>
          <p:spPr>
            <a:xfrm>
              <a:off x="182880" y="3351276"/>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181" name="Shape 62">
              <a:extLst>
                <a:ext uri="{FF2B5EF4-FFF2-40B4-BE49-F238E27FC236}">
                  <a16:creationId xmlns:a16="http://schemas.microsoft.com/office/drawing/2014/main" id="{59CD766B-D365-104F-EE1A-6E524EBC0352}"/>
                </a:ext>
              </a:extLst>
            </p:cNvPr>
            <p:cNvSpPr/>
            <p:nvPr/>
          </p:nvSpPr>
          <p:spPr>
            <a:xfrm>
              <a:off x="182880" y="335127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82" name="Text 63">
              <a:extLst>
                <a:ext uri="{FF2B5EF4-FFF2-40B4-BE49-F238E27FC236}">
                  <a16:creationId xmlns:a16="http://schemas.microsoft.com/office/drawing/2014/main" id="{84A2EF41-58F5-7EC4-ADA4-D629840E4206}"/>
                </a:ext>
              </a:extLst>
            </p:cNvPr>
            <p:cNvSpPr/>
            <p:nvPr/>
          </p:nvSpPr>
          <p:spPr>
            <a:xfrm>
              <a:off x="274320" y="337870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Czechia</a:t>
              </a:r>
              <a:endParaRPr lang="en-US" sz="850">
                <a:latin typeface="Gill Sans Nova Light" panose="020B0302020104020203" pitchFamily="34" charset="0"/>
              </a:endParaRPr>
            </a:p>
          </p:txBody>
        </p:sp>
        <p:sp>
          <p:nvSpPr>
            <p:cNvPr id="183" name="Text 64">
              <a:extLst>
                <a:ext uri="{FF2B5EF4-FFF2-40B4-BE49-F238E27FC236}">
                  <a16:creationId xmlns:a16="http://schemas.microsoft.com/office/drawing/2014/main" id="{996E4DBC-4DD2-AA04-BA48-FFD4FDA0933D}"/>
                </a:ext>
              </a:extLst>
            </p:cNvPr>
            <p:cNvSpPr/>
            <p:nvPr/>
          </p:nvSpPr>
          <p:spPr>
            <a:xfrm>
              <a:off x="1600200" y="337870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-0.304</a:t>
              </a:r>
              <a:endParaRPr lang="en-US" sz="850">
                <a:latin typeface="Gill Sans Nova Light" panose="020B0302020104020203" pitchFamily="34" charset="0"/>
              </a:endParaRPr>
            </a:p>
          </p:txBody>
        </p:sp>
        <p:sp>
          <p:nvSpPr>
            <p:cNvPr id="184" name="Text 65">
              <a:extLst>
                <a:ext uri="{FF2B5EF4-FFF2-40B4-BE49-F238E27FC236}">
                  <a16:creationId xmlns:a16="http://schemas.microsoft.com/office/drawing/2014/main" id="{B20EB285-9C82-919B-9913-AF253F821E89}"/>
                </a:ext>
              </a:extLst>
            </p:cNvPr>
            <p:cNvSpPr/>
            <p:nvPr/>
          </p:nvSpPr>
          <p:spPr>
            <a:xfrm>
              <a:off x="2377440" y="337870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-0.304</a:t>
              </a:r>
              <a:endParaRPr lang="en-US" sz="850">
                <a:latin typeface="Gill Sans Nova Light" panose="020B0302020104020203" pitchFamily="34" charset="0"/>
              </a:endParaRPr>
            </a:p>
          </p:txBody>
        </p:sp>
        <p:sp>
          <p:nvSpPr>
            <p:cNvPr id="185" name="Text 66">
              <a:extLst>
                <a:ext uri="{FF2B5EF4-FFF2-40B4-BE49-F238E27FC236}">
                  <a16:creationId xmlns:a16="http://schemas.microsoft.com/office/drawing/2014/main" id="{F786696D-DBF9-E8D2-7AB3-704CFC956B02}"/>
                </a:ext>
              </a:extLst>
            </p:cNvPr>
            <p:cNvSpPr/>
            <p:nvPr/>
          </p:nvSpPr>
          <p:spPr>
            <a:xfrm>
              <a:off x="3200400" y="3378708"/>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186" name="Shape 67">
              <a:extLst>
                <a:ext uri="{FF2B5EF4-FFF2-40B4-BE49-F238E27FC236}">
                  <a16:creationId xmlns:a16="http://schemas.microsoft.com/office/drawing/2014/main" id="{E19C3F9F-4113-89CD-7C97-74718378F7AF}"/>
                </a:ext>
              </a:extLst>
            </p:cNvPr>
            <p:cNvSpPr/>
            <p:nvPr/>
          </p:nvSpPr>
          <p:spPr>
            <a:xfrm>
              <a:off x="182880" y="360273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187" name="Shape 68">
              <a:extLst>
                <a:ext uri="{FF2B5EF4-FFF2-40B4-BE49-F238E27FC236}">
                  <a16:creationId xmlns:a16="http://schemas.microsoft.com/office/drawing/2014/main" id="{5B6D0C92-A797-E1F0-FAA5-F96A080BA052}"/>
                </a:ext>
              </a:extLst>
            </p:cNvPr>
            <p:cNvSpPr/>
            <p:nvPr/>
          </p:nvSpPr>
          <p:spPr>
            <a:xfrm>
              <a:off x="182880" y="360273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88" name="Text 69">
              <a:extLst>
                <a:ext uri="{FF2B5EF4-FFF2-40B4-BE49-F238E27FC236}">
                  <a16:creationId xmlns:a16="http://schemas.microsoft.com/office/drawing/2014/main" id="{74275FF4-3C18-CE5E-EF4A-AB7ADCC4D89F}"/>
                </a:ext>
              </a:extLst>
            </p:cNvPr>
            <p:cNvSpPr/>
            <p:nvPr/>
          </p:nvSpPr>
          <p:spPr>
            <a:xfrm>
              <a:off x="274320" y="363016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Slovenia</a:t>
              </a:r>
              <a:endParaRPr lang="en-US" sz="850">
                <a:latin typeface="Gill Sans Nova Light" panose="020B0302020104020203" pitchFamily="34" charset="0"/>
              </a:endParaRPr>
            </a:p>
          </p:txBody>
        </p:sp>
        <p:sp>
          <p:nvSpPr>
            <p:cNvPr id="189" name="Text 70">
              <a:extLst>
                <a:ext uri="{FF2B5EF4-FFF2-40B4-BE49-F238E27FC236}">
                  <a16:creationId xmlns:a16="http://schemas.microsoft.com/office/drawing/2014/main" id="{2B6FDBB2-1144-B56D-74DC-626BC17FCA4E}"/>
                </a:ext>
              </a:extLst>
            </p:cNvPr>
            <p:cNvSpPr/>
            <p:nvPr/>
          </p:nvSpPr>
          <p:spPr>
            <a:xfrm>
              <a:off x="1600200" y="363016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-0.283</a:t>
              </a:r>
              <a:endParaRPr lang="en-US" sz="850">
                <a:latin typeface="Gill Sans Nova Light" panose="020B0302020104020203" pitchFamily="34" charset="0"/>
              </a:endParaRPr>
            </a:p>
          </p:txBody>
        </p:sp>
        <p:sp>
          <p:nvSpPr>
            <p:cNvPr id="190" name="Text 71">
              <a:extLst>
                <a:ext uri="{FF2B5EF4-FFF2-40B4-BE49-F238E27FC236}">
                  <a16:creationId xmlns:a16="http://schemas.microsoft.com/office/drawing/2014/main" id="{5E0F4756-D80C-E145-2845-637148CC48FF}"/>
                </a:ext>
              </a:extLst>
            </p:cNvPr>
            <p:cNvSpPr/>
            <p:nvPr/>
          </p:nvSpPr>
          <p:spPr>
            <a:xfrm>
              <a:off x="2377440" y="363016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-0.283</a:t>
              </a:r>
              <a:endParaRPr lang="en-US" sz="850">
                <a:latin typeface="Gill Sans Nova Light" panose="020B0302020104020203" pitchFamily="34" charset="0"/>
              </a:endParaRPr>
            </a:p>
          </p:txBody>
        </p:sp>
        <p:sp>
          <p:nvSpPr>
            <p:cNvPr id="191" name="Text 72">
              <a:extLst>
                <a:ext uri="{FF2B5EF4-FFF2-40B4-BE49-F238E27FC236}">
                  <a16:creationId xmlns:a16="http://schemas.microsoft.com/office/drawing/2014/main" id="{CAEDF838-EF78-BE17-CEF4-E37EC5BDDB7D}"/>
                </a:ext>
              </a:extLst>
            </p:cNvPr>
            <p:cNvSpPr/>
            <p:nvPr/>
          </p:nvSpPr>
          <p:spPr>
            <a:xfrm>
              <a:off x="3200400" y="3630168"/>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192" name="Shape 73">
              <a:extLst>
                <a:ext uri="{FF2B5EF4-FFF2-40B4-BE49-F238E27FC236}">
                  <a16:creationId xmlns:a16="http://schemas.microsoft.com/office/drawing/2014/main" id="{605B5288-740B-8A0B-02E1-D204609A7F8F}"/>
                </a:ext>
              </a:extLst>
            </p:cNvPr>
            <p:cNvSpPr/>
            <p:nvPr/>
          </p:nvSpPr>
          <p:spPr>
            <a:xfrm>
              <a:off x="182880" y="3854196"/>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193" name="Shape 74">
              <a:extLst>
                <a:ext uri="{FF2B5EF4-FFF2-40B4-BE49-F238E27FC236}">
                  <a16:creationId xmlns:a16="http://schemas.microsoft.com/office/drawing/2014/main" id="{A6A164F9-0EDA-E64E-FBBE-7C7F66DA0E79}"/>
                </a:ext>
              </a:extLst>
            </p:cNvPr>
            <p:cNvSpPr/>
            <p:nvPr/>
          </p:nvSpPr>
          <p:spPr>
            <a:xfrm>
              <a:off x="182880" y="385419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94" name="Text 75">
              <a:extLst>
                <a:ext uri="{FF2B5EF4-FFF2-40B4-BE49-F238E27FC236}">
                  <a16:creationId xmlns:a16="http://schemas.microsoft.com/office/drawing/2014/main" id="{EA9B609D-31D0-9FEB-03E6-3C45A2881C9F}"/>
                </a:ext>
              </a:extLst>
            </p:cNvPr>
            <p:cNvSpPr/>
            <p:nvPr/>
          </p:nvSpPr>
          <p:spPr>
            <a:xfrm>
              <a:off x="274320" y="388162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Spain</a:t>
              </a:r>
              <a:endParaRPr lang="en-US" sz="850">
                <a:latin typeface="Gill Sans Nova Light" panose="020B0302020104020203" pitchFamily="34" charset="0"/>
              </a:endParaRPr>
            </a:p>
          </p:txBody>
        </p:sp>
        <p:sp>
          <p:nvSpPr>
            <p:cNvPr id="195" name="Text 76">
              <a:extLst>
                <a:ext uri="{FF2B5EF4-FFF2-40B4-BE49-F238E27FC236}">
                  <a16:creationId xmlns:a16="http://schemas.microsoft.com/office/drawing/2014/main" id="{C5FC63F3-F036-0D63-F497-4336E085E002}"/>
                </a:ext>
              </a:extLst>
            </p:cNvPr>
            <p:cNvSpPr/>
            <p:nvPr/>
          </p:nvSpPr>
          <p:spPr>
            <a:xfrm>
              <a:off x="1600200" y="388162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-0.280</a:t>
              </a:r>
              <a:endParaRPr lang="en-US" sz="850">
                <a:latin typeface="Gill Sans Nova Light" panose="020B0302020104020203" pitchFamily="34" charset="0"/>
              </a:endParaRPr>
            </a:p>
          </p:txBody>
        </p:sp>
        <p:sp>
          <p:nvSpPr>
            <p:cNvPr id="196" name="Text 77">
              <a:extLst>
                <a:ext uri="{FF2B5EF4-FFF2-40B4-BE49-F238E27FC236}">
                  <a16:creationId xmlns:a16="http://schemas.microsoft.com/office/drawing/2014/main" id="{8CE54185-D780-00BA-D7CF-1DA212BD2896}"/>
                </a:ext>
              </a:extLst>
            </p:cNvPr>
            <p:cNvSpPr/>
            <p:nvPr/>
          </p:nvSpPr>
          <p:spPr>
            <a:xfrm>
              <a:off x="2377440" y="388162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-0.280</a:t>
              </a:r>
              <a:endParaRPr lang="en-US" sz="850">
                <a:latin typeface="Gill Sans Nova Light" panose="020B0302020104020203" pitchFamily="34" charset="0"/>
              </a:endParaRPr>
            </a:p>
          </p:txBody>
        </p:sp>
        <p:sp>
          <p:nvSpPr>
            <p:cNvPr id="197" name="Text 78">
              <a:extLst>
                <a:ext uri="{FF2B5EF4-FFF2-40B4-BE49-F238E27FC236}">
                  <a16:creationId xmlns:a16="http://schemas.microsoft.com/office/drawing/2014/main" id="{28F5ED1D-8282-FB51-D5CE-1A9A3C6562F9}"/>
                </a:ext>
              </a:extLst>
            </p:cNvPr>
            <p:cNvSpPr/>
            <p:nvPr/>
          </p:nvSpPr>
          <p:spPr>
            <a:xfrm>
              <a:off x="3200400" y="3881628"/>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mn-lt"/>
                  <a:cs typeface="+mn-lt"/>
                </a:rPr>
                <a:t>-1.29</a:t>
              </a:r>
              <a:endParaRPr lang="en-US">
                <a:latin typeface="Gill Sans Nova Light" panose="020B0302020104020203" pitchFamily="34" charset="0"/>
              </a:endParaRPr>
            </a:p>
          </p:txBody>
        </p:sp>
        <p:sp>
          <p:nvSpPr>
            <p:cNvPr id="198" name="Shape 79">
              <a:extLst>
                <a:ext uri="{FF2B5EF4-FFF2-40B4-BE49-F238E27FC236}">
                  <a16:creationId xmlns:a16="http://schemas.microsoft.com/office/drawing/2014/main" id="{4F188599-CF32-A980-2250-5D014F67443A}"/>
                </a:ext>
              </a:extLst>
            </p:cNvPr>
            <p:cNvSpPr/>
            <p:nvPr/>
          </p:nvSpPr>
          <p:spPr>
            <a:xfrm>
              <a:off x="182880" y="410565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199" name="Shape 80">
              <a:extLst>
                <a:ext uri="{FF2B5EF4-FFF2-40B4-BE49-F238E27FC236}">
                  <a16:creationId xmlns:a16="http://schemas.microsoft.com/office/drawing/2014/main" id="{94107A70-E07B-6ED2-09AD-CE3C7AB4BC3B}"/>
                </a:ext>
              </a:extLst>
            </p:cNvPr>
            <p:cNvSpPr/>
            <p:nvPr/>
          </p:nvSpPr>
          <p:spPr>
            <a:xfrm>
              <a:off x="182880" y="410565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200" name="Text 81">
              <a:extLst>
                <a:ext uri="{FF2B5EF4-FFF2-40B4-BE49-F238E27FC236}">
                  <a16:creationId xmlns:a16="http://schemas.microsoft.com/office/drawing/2014/main" id="{AF9F9290-CF84-4864-0E7D-3721C43DF1E4}"/>
                </a:ext>
              </a:extLst>
            </p:cNvPr>
            <p:cNvSpPr/>
            <p:nvPr/>
          </p:nvSpPr>
          <p:spPr>
            <a:xfrm>
              <a:off x="274320" y="413308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Bulgaria</a:t>
              </a:r>
              <a:endParaRPr lang="en-US" sz="850">
                <a:latin typeface="Gill Sans Nova Light" panose="020B0302020104020203" pitchFamily="34" charset="0"/>
              </a:endParaRPr>
            </a:p>
          </p:txBody>
        </p:sp>
        <p:sp>
          <p:nvSpPr>
            <p:cNvPr id="201" name="Text 82">
              <a:extLst>
                <a:ext uri="{FF2B5EF4-FFF2-40B4-BE49-F238E27FC236}">
                  <a16:creationId xmlns:a16="http://schemas.microsoft.com/office/drawing/2014/main" id="{6E4D10E5-A4BD-4BBD-C7D5-1D05A95F95D2}"/>
                </a:ext>
              </a:extLst>
            </p:cNvPr>
            <p:cNvSpPr/>
            <p:nvPr/>
          </p:nvSpPr>
          <p:spPr>
            <a:xfrm>
              <a:off x="1600200" y="4133088"/>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-0.263</a:t>
              </a:r>
              <a:endParaRPr lang="en-US" sz="850">
                <a:latin typeface="Gill Sans Nova Light" panose="020B0302020104020203" pitchFamily="34" charset="0"/>
              </a:endParaRPr>
            </a:p>
          </p:txBody>
        </p:sp>
        <p:sp>
          <p:nvSpPr>
            <p:cNvPr id="202" name="Text 83">
              <a:extLst>
                <a:ext uri="{FF2B5EF4-FFF2-40B4-BE49-F238E27FC236}">
                  <a16:creationId xmlns:a16="http://schemas.microsoft.com/office/drawing/2014/main" id="{9911CFFF-7A67-BB5A-C286-E8432CAFE0DA}"/>
                </a:ext>
              </a:extLst>
            </p:cNvPr>
            <p:cNvSpPr/>
            <p:nvPr/>
          </p:nvSpPr>
          <p:spPr>
            <a:xfrm>
              <a:off x="2377440" y="413308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-0.263</a:t>
              </a:r>
              <a:endParaRPr lang="en-US" sz="850">
                <a:latin typeface="Gill Sans Nova Light" panose="020B0302020104020203" pitchFamily="34" charset="0"/>
              </a:endParaRPr>
            </a:p>
          </p:txBody>
        </p:sp>
        <p:sp>
          <p:nvSpPr>
            <p:cNvPr id="203" name="Text 84">
              <a:extLst>
                <a:ext uri="{FF2B5EF4-FFF2-40B4-BE49-F238E27FC236}">
                  <a16:creationId xmlns:a16="http://schemas.microsoft.com/office/drawing/2014/main" id="{964C09CA-73CF-64F1-80B3-8C66ED709CB5}"/>
                </a:ext>
              </a:extLst>
            </p:cNvPr>
            <p:cNvSpPr/>
            <p:nvPr/>
          </p:nvSpPr>
          <p:spPr>
            <a:xfrm>
              <a:off x="3200400" y="4133088"/>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204" name="Shape 85">
              <a:extLst>
                <a:ext uri="{FF2B5EF4-FFF2-40B4-BE49-F238E27FC236}">
                  <a16:creationId xmlns:a16="http://schemas.microsoft.com/office/drawing/2014/main" id="{EB8AEF69-2E9D-6139-CD12-39B1F2A6B2BF}"/>
                </a:ext>
              </a:extLst>
            </p:cNvPr>
            <p:cNvSpPr/>
            <p:nvPr/>
          </p:nvSpPr>
          <p:spPr>
            <a:xfrm>
              <a:off x="4754880" y="777240"/>
              <a:ext cx="4206240" cy="292608"/>
            </a:xfrm>
            <a:prstGeom prst="rect">
              <a:avLst/>
            </a:prstGeom>
            <a:solidFill>
              <a:srgbClr val="00802F"/>
            </a:solidFill>
            <a:ln w="12700">
              <a:solidFill>
                <a:srgbClr val="2C5F2D"/>
              </a:solidFill>
              <a:prstDash val="solid"/>
            </a:ln>
          </p:spPr>
          <p:txBody>
            <a:bodyPr/>
            <a:lstStyle/>
            <a:p>
              <a:endParaRPr lang="en-CH">
                <a:solidFill>
                  <a:schemeClr val="bg1"/>
                </a:solidFill>
                <a:latin typeface="Gill Sans Nova Light" panose="020B0302020104020203" pitchFamily="34" charset="0"/>
              </a:endParaRPr>
            </a:p>
          </p:txBody>
        </p:sp>
        <p:sp>
          <p:nvSpPr>
            <p:cNvPr id="205" name="Text 86">
              <a:extLst>
                <a:ext uri="{FF2B5EF4-FFF2-40B4-BE49-F238E27FC236}">
                  <a16:creationId xmlns:a16="http://schemas.microsoft.com/office/drawing/2014/main" id="{6F9550D3-3B32-0EB1-D2FD-4DB1A8704E38}"/>
                </a:ext>
              </a:extLst>
            </p:cNvPr>
            <p:cNvSpPr/>
            <p:nvPr/>
          </p:nvSpPr>
          <p:spPr>
            <a:xfrm>
              <a:off x="4846320" y="795528"/>
              <a:ext cx="1280160" cy="256032"/>
            </a:xfrm>
            <a:prstGeom prst="rect">
              <a:avLst/>
            </a:prstGeom>
            <a:noFill/>
            <a:ln/>
          </p:spPr>
          <p:txBody>
            <a:bodyPr wrap="square" rtlCol="0" anchor="ctr"/>
            <a:lstStyle/>
            <a:p>
              <a:pPr marL="0" indent="0">
                <a:buNone/>
              </a:pPr>
              <a:r>
                <a:rPr lang="en-US" sz="850" b="1">
                  <a:solidFill>
                    <a:schemeClr val="bg1"/>
                  </a:solidFill>
                  <a:latin typeface="Gill Sans Nova Light" panose="020B0302020104020203" pitchFamily="34" charset="0"/>
                  <a:ea typeface="Calibri" pitchFamily="34" charset="-122"/>
                  <a:cs typeface="Calibri" pitchFamily="34" charset="-120"/>
                </a:rPr>
                <a:t>Country</a:t>
              </a:r>
              <a:endParaRPr lang="en-US" sz="850">
                <a:solidFill>
                  <a:schemeClr val="bg1"/>
                </a:solidFill>
                <a:latin typeface="Gill Sans Nova Light" panose="020B0302020104020203" pitchFamily="34" charset="0"/>
              </a:endParaRPr>
            </a:p>
          </p:txBody>
        </p:sp>
        <p:sp>
          <p:nvSpPr>
            <p:cNvPr id="206" name="Text 87">
              <a:extLst>
                <a:ext uri="{FF2B5EF4-FFF2-40B4-BE49-F238E27FC236}">
                  <a16:creationId xmlns:a16="http://schemas.microsoft.com/office/drawing/2014/main" id="{C55D708E-B9BE-3A40-16D2-5BBF5D575FBE}"/>
                </a:ext>
              </a:extLst>
            </p:cNvPr>
            <p:cNvSpPr/>
            <p:nvPr/>
          </p:nvSpPr>
          <p:spPr>
            <a:xfrm>
              <a:off x="6172200" y="795528"/>
              <a:ext cx="731520" cy="256032"/>
            </a:xfrm>
            <a:prstGeom prst="rect">
              <a:avLst/>
            </a:prstGeom>
            <a:noFill/>
            <a:ln/>
          </p:spPr>
          <p:txBody>
            <a:bodyPr wrap="square" rtlCol="0" anchor="ctr"/>
            <a:lstStyle/>
            <a:p>
              <a:pPr marL="0" indent="0" algn="ctr">
                <a:buNone/>
              </a:pPr>
              <a:r>
                <a:rPr lang="en-US" sz="850" b="1">
                  <a:solidFill>
                    <a:schemeClr val="bg1"/>
                  </a:solidFill>
                  <a:latin typeface="Gill Sans Nova Light" panose="020B0302020104020203" pitchFamily="34" charset="0"/>
                  <a:ea typeface="Calibri" pitchFamily="34" charset="-122"/>
                  <a:cs typeface="Calibri" pitchFamily="34" charset="-120"/>
                </a:rPr>
                <a:t>Base</a:t>
              </a:r>
              <a:endParaRPr lang="en-US" sz="850">
                <a:solidFill>
                  <a:schemeClr val="bg1"/>
                </a:solidFill>
                <a:latin typeface="Gill Sans Nova Light" panose="020B0302020104020203" pitchFamily="34" charset="0"/>
              </a:endParaRPr>
            </a:p>
          </p:txBody>
        </p:sp>
        <p:sp>
          <p:nvSpPr>
            <p:cNvPr id="207" name="Text 88">
              <a:extLst>
                <a:ext uri="{FF2B5EF4-FFF2-40B4-BE49-F238E27FC236}">
                  <a16:creationId xmlns:a16="http://schemas.microsoft.com/office/drawing/2014/main" id="{ADA1483C-0DBD-B2F2-0E87-1EBC440463CB}"/>
                </a:ext>
              </a:extLst>
            </p:cNvPr>
            <p:cNvSpPr/>
            <p:nvPr/>
          </p:nvSpPr>
          <p:spPr>
            <a:xfrm>
              <a:off x="6949440" y="795528"/>
              <a:ext cx="777240" cy="256032"/>
            </a:xfrm>
            <a:prstGeom prst="rect">
              <a:avLst/>
            </a:prstGeom>
            <a:noFill/>
            <a:ln/>
          </p:spPr>
          <p:txBody>
            <a:bodyPr wrap="square" rtlCol="0" anchor="ctr"/>
            <a:lstStyle/>
            <a:p>
              <a:pPr marL="0" indent="0" algn="ctr">
                <a:buNone/>
              </a:pPr>
              <a:r>
                <a:rPr lang="en-US" sz="850" b="1">
                  <a:solidFill>
                    <a:schemeClr val="bg1"/>
                  </a:solidFill>
                  <a:latin typeface="Gill Sans Nova Light" panose="020B0302020104020203" pitchFamily="34" charset="0"/>
                  <a:ea typeface="Calibri" pitchFamily="34" charset="-122"/>
                  <a:cs typeface="Calibri" pitchFamily="34" charset="-120"/>
                </a:rPr>
                <a:t>Patched</a:t>
              </a:r>
              <a:endParaRPr lang="en-US" sz="850">
                <a:solidFill>
                  <a:schemeClr val="bg1"/>
                </a:solidFill>
                <a:latin typeface="Gill Sans Nova Light" panose="020B0302020104020203" pitchFamily="34" charset="0"/>
              </a:endParaRPr>
            </a:p>
          </p:txBody>
        </p:sp>
        <p:sp>
          <p:nvSpPr>
            <p:cNvPr id="208" name="Text 89">
              <a:extLst>
                <a:ext uri="{FF2B5EF4-FFF2-40B4-BE49-F238E27FC236}">
                  <a16:creationId xmlns:a16="http://schemas.microsoft.com/office/drawing/2014/main" id="{FE7910F7-3F76-DE5D-5719-F6CE462A5E4E}"/>
                </a:ext>
              </a:extLst>
            </p:cNvPr>
            <p:cNvSpPr/>
            <p:nvPr/>
          </p:nvSpPr>
          <p:spPr>
            <a:xfrm>
              <a:off x="7772400" y="795528"/>
              <a:ext cx="1097280" cy="256032"/>
            </a:xfrm>
            <a:prstGeom prst="rect">
              <a:avLst/>
            </a:prstGeom>
            <a:noFill/>
            <a:ln/>
          </p:spPr>
          <p:txBody>
            <a:bodyPr wrap="square" rtlCol="0" anchor="ctr"/>
            <a:lstStyle/>
            <a:p>
              <a:pPr marL="0" indent="0" algn="ctr">
                <a:buNone/>
              </a:pPr>
              <a:r>
                <a:rPr lang="en-US" sz="850" b="1">
                  <a:solidFill>
                    <a:schemeClr val="bg1"/>
                  </a:solidFill>
                  <a:latin typeface="Gill Sans Nova Light" panose="020B0302020104020203" pitchFamily="34" charset="0"/>
                  <a:ea typeface="Calibri" pitchFamily="34" charset="-122"/>
                  <a:cs typeface="Calibri" pitchFamily="34" charset="-120"/>
                </a:rPr>
                <a:t>Levine</a:t>
              </a:r>
              <a:endParaRPr lang="en-US" sz="850">
                <a:solidFill>
                  <a:schemeClr val="bg1"/>
                </a:solidFill>
                <a:latin typeface="Gill Sans Nova Light" panose="020B0302020104020203" pitchFamily="34" charset="0"/>
              </a:endParaRPr>
            </a:p>
          </p:txBody>
        </p:sp>
        <p:sp>
          <p:nvSpPr>
            <p:cNvPr id="209" name="Shape 90">
              <a:extLst>
                <a:ext uri="{FF2B5EF4-FFF2-40B4-BE49-F238E27FC236}">
                  <a16:creationId xmlns:a16="http://schemas.microsoft.com/office/drawing/2014/main" id="{BA47DA68-CDAD-3B9F-C93C-EEBABA18E4D2}"/>
                </a:ext>
              </a:extLst>
            </p:cNvPr>
            <p:cNvSpPr/>
            <p:nvPr/>
          </p:nvSpPr>
          <p:spPr>
            <a:xfrm>
              <a:off x="182880" y="436219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210" name="Shape 91">
              <a:extLst>
                <a:ext uri="{FF2B5EF4-FFF2-40B4-BE49-F238E27FC236}">
                  <a16:creationId xmlns:a16="http://schemas.microsoft.com/office/drawing/2014/main" id="{D3741710-38CF-36D5-5FB0-69C5511F81C4}"/>
                </a:ext>
              </a:extLst>
            </p:cNvPr>
            <p:cNvSpPr/>
            <p:nvPr/>
          </p:nvSpPr>
          <p:spPr>
            <a:xfrm>
              <a:off x="182880" y="4362196"/>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211" name="Text 92">
              <a:extLst>
                <a:ext uri="{FF2B5EF4-FFF2-40B4-BE49-F238E27FC236}">
                  <a16:creationId xmlns:a16="http://schemas.microsoft.com/office/drawing/2014/main" id="{EA845E8F-8950-CA2E-2609-A74DE9772658}"/>
                </a:ext>
              </a:extLst>
            </p:cNvPr>
            <p:cNvSpPr/>
            <p:nvPr/>
          </p:nvSpPr>
          <p:spPr>
            <a:xfrm>
              <a:off x="274320" y="438962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Lithuania</a:t>
              </a:r>
              <a:endParaRPr lang="en-US" sz="850">
                <a:latin typeface="Gill Sans Nova Light" panose="020B0302020104020203" pitchFamily="34" charset="0"/>
              </a:endParaRPr>
            </a:p>
          </p:txBody>
        </p:sp>
        <p:sp>
          <p:nvSpPr>
            <p:cNvPr id="212" name="Text 93">
              <a:extLst>
                <a:ext uri="{FF2B5EF4-FFF2-40B4-BE49-F238E27FC236}">
                  <a16:creationId xmlns:a16="http://schemas.microsoft.com/office/drawing/2014/main" id="{33DDF336-F11E-F51D-51C7-1CD1CC97B6C4}"/>
                </a:ext>
              </a:extLst>
            </p:cNvPr>
            <p:cNvSpPr/>
            <p:nvPr/>
          </p:nvSpPr>
          <p:spPr>
            <a:xfrm>
              <a:off x="1600200" y="4389628"/>
              <a:ext cx="731520" cy="219456"/>
            </a:xfrm>
            <a:prstGeom prst="rect">
              <a:avLst/>
            </a:prstGeom>
            <a:noFill/>
            <a:ln/>
          </p:spPr>
          <p:txBody>
            <a:bodyPr wrap="square" rtlCol="0" anchor="ctr"/>
            <a:lstStyle/>
            <a:p>
              <a:pPr marL="0" indent="0" algn="ctr">
                <a:buNone/>
              </a:pPr>
              <a:r>
                <a:rPr lang="en-US" sz="850" b="1">
                  <a:solidFill>
                    <a:srgbClr val="64748B"/>
                  </a:solidFill>
                  <a:latin typeface="Gill Sans Nova Light" panose="020B0302020104020203" pitchFamily="34" charset="0"/>
                  <a:ea typeface="Calibri" pitchFamily="34" charset="-122"/>
                  <a:cs typeface="Calibri" pitchFamily="34" charset="-120"/>
                </a:rPr>
                <a:t>N/A</a:t>
              </a:r>
              <a:endParaRPr lang="en-US" sz="850">
                <a:latin typeface="Gill Sans Nova Light" panose="020B0302020104020203" pitchFamily="34" charset="0"/>
              </a:endParaRPr>
            </a:p>
          </p:txBody>
        </p:sp>
        <p:sp>
          <p:nvSpPr>
            <p:cNvPr id="213" name="Text 94">
              <a:extLst>
                <a:ext uri="{FF2B5EF4-FFF2-40B4-BE49-F238E27FC236}">
                  <a16:creationId xmlns:a16="http://schemas.microsoft.com/office/drawing/2014/main" id="{BDABB006-4460-2497-6BF5-1697F93B7E44}"/>
                </a:ext>
              </a:extLst>
            </p:cNvPr>
            <p:cNvSpPr/>
            <p:nvPr/>
          </p:nvSpPr>
          <p:spPr>
            <a:xfrm>
              <a:off x="2377440" y="4389628"/>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-0.253</a:t>
              </a:r>
              <a:endParaRPr lang="en-US" sz="850">
                <a:latin typeface="Gill Sans Nova Light" panose="020B0302020104020203" pitchFamily="34" charset="0"/>
              </a:endParaRPr>
            </a:p>
          </p:txBody>
        </p:sp>
        <p:sp>
          <p:nvSpPr>
            <p:cNvPr id="214" name="Text 95">
              <a:extLst>
                <a:ext uri="{FF2B5EF4-FFF2-40B4-BE49-F238E27FC236}">
                  <a16:creationId xmlns:a16="http://schemas.microsoft.com/office/drawing/2014/main" id="{81FC1AF8-7C19-462F-4425-CA43E7BCCB90}"/>
                </a:ext>
              </a:extLst>
            </p:cNvPr>
            <p:cNvSpPr/>
            <p:nvPr/>
          </p:nvSpPr>
          <p:spPr>
            <a:xfrm>
              <a:off x="3200400" y="4389628"/>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215" name="Shape 96">
              <a:extLst>
                <a:ext uri="{FF2B5EF4-FFF2-40B4-BE49-F238E27FC236}">
                  <a16:creationId xmlns:a16="http://schemas.microsoft.com/office/drawing/2014/main" id="{3930B4EC-F5B0-B7BF-262F-A868005E70E5}"/>
                </a:ext>
              </a:extLst>
            </p:cNvPr>
            <p:cNvSpPr/>
            <p:nvPr/>
          </p:nvSpPr>
          <p:spPr>
            <a:xfrm>
              <a:off x="4754880" y="1085593"/>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216" name="Shape 97">
              <a:extLst>
                <a:ext uri="{FF2B5EF4-FFF2-40B4-BE49-F238E27FC236}">
                  <a16:creationId xmlns:a16="http://schemas.microsoft.com/office/drawing/2014/main" id="{44A8D465-0B3D-236D-C34C-520ED74924ED}"/>
                </a:ext>
              </a:extLst>
            </p:cNvPr>
            <p:cNvSpPr/>
            <p:nvPr/>
          </p:nvSpPr>
          <p:spPr>
            <a:xfrm>
              <a:off x="4754880" y="1085593"/>
              <a:ext cx="45720" cy="274320"/>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217" name="Text 98">
              <a:extLst>
                <a:ext uri="{FF2B5EF4-FFF2-40B4-BE49-F238E27FC236}">
                  <a16:creationId xmlns:a16="http://schemas.microsoft.com/office/drawing/2014/main" id="{6D0D78EB-336C-0F13-C752-18D72DFF432A}"/>
                </a:ext>
              </a:extLst>
            </p:cNvPr>
            <p:cNvSpPr/>
            <p:nvPr/>
          </p:nvSpPr>
          <p:spPr>
            <a:xfrm>
              <a:off x="4846320" y="111302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Ireland</a:t>
              </a:r>
              <a:endParaRPr lang="en-US" sz="850">
                <a:latin typeface="Gill Sans Nova Light" panose="020B0302020104020203" pitchFamily="34" charset="0"/>
              </a:endParaRPr>
            </a:p>
          </p:txBody>
        </p:sp>
        <p:sp>
          <p:nvSpPr>
            <p:cNvPr id="218" name="Text 99">
              <a:extLst>
                <a:ext uri="{FF2B5EF4-FFF2-40B4-BE49-F238E27FC236}">
                  <a16:creationId xmlns:a16="http://schemas.microsoft.com/office/drawing/2014/main" id="{EDFBABA0-31E4-239F-86D1-168A466D465C}"/>
                </a:ext>
              </a:extLst>
            </p:cNvPr>
            <p:cNvSpPr/>
            <p:nvPr/>
          </p:nvSpPr>
          <p:spPr>
            <a:xfrm>
              <a:off x="6172200" y="111302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-0.209</a:t>
              </a:r>
              <a:endParaRPr lang="en-US" sz="850">
                <a:latin typeface="Gill Sans Nova Light" panose="020B0302020104020203" pitchFamily="34" charset="0"/>
              </a:endParaRPr>
            </a:p>
          </p:txBody>
        </p:sp>
        <p:sp>
          <p:nvSpPr>
            <p:cNvPr id="219" name="Text 100">
              <a:extLst>
                <a:ext uri="{FF2B5EF4-FFF2-40B4-BE49-F238E27FC236}">
                  <a16:creationId xmlns:a16="http://schemas.microsoft.com/office/drawing/2014/main" id="{222031BD-B617-478D-0817-0E379036BF17}"/>
                </a:ext>
              </a:extLst>
            </p:cNvPr>
            <p:cNvSpPr/>
            <p:nvPr/>
          </p:nvSpPr>
          <p:spPr>
            <a:xfrm>
              <a:off x="6949440" y="111302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-0.209</a:t>
              </a:r>
              <a:endParaRPr lang="en-US" sz="850">
                <a:latin typeface="Gill Sans Nova Light" panose="020B0302020104020203" pitchFamily="34" charset="0"/>
              </a:endParaRPr>
            </a:p>
          </p:txBody>
        </p:sp>
        <p:sp>
          <p:nvSpPr>
            <p:cNvPr id="220" name="Text 101">
              <a:extLst>
                <a:ext uri="{FF2B5EF4-FFF2-40B4-BE49-F238E27FC236}">
                  <a16:creationId xmlns:a16="http://schemas.microsoft.com/office/drawing/2014/main" id="{A6264350-CB74-4278-9699-20F825F6EBBD}"/>
                </a:ext>
              </a:extLst>
            </p:cNvPr>
            <p:cNvSpPr/>
            <p:nvPr/>
          </p:nvSpPr>
          <p:spPr>
            <a:xfrm>
              <a:off x="7772400" y="1113025"/>
              <a:ext cx="1097280" cy="219456"/>
            </a:xfrm>
            <a:prstGeom prst="rect">
              <a:avLst/>
            </a:prstGeom>
            <a:noFill/>
            <a:ln/>
          </p:spPr>
          <p:txBody>
            <a:bodyPr wrap="square" lIns="91440" tIns="45720" rIns="91440" bIns="45720" rtlCol="0" anchor="ctr"/>
            <a:lstStyle/>
            <a:p>
              <a:pPr marL="0" indent="0" algn="ctr">
                <a:buNone/>
              </a:pPr>
              <a:r>
                <a:rPr lang="en-US" sz="800">
                  <a:solidFill>
                    <a:srgbClr val="64748B"/>
                  </a:solidFill>
                  <a:latin typeface="Gill Sans Nova Light" panose="020B0302020104020203" pitchFamily="34" charset="0"/>
                  <a:ea typeface="+mn-lt"/>
                  <a:cs typeface="+mn-lt"/>
                </a:rPr>
                <a:t>-0.03</a:t>
              </a:r>
              <a:endParaRPr lang="en-US">
                <a:latin typeface="Gill Sans Nova Light" panose="020B0302020104020203" pitchFamily="34" charset="0"/>
              </a:endParaRPr>
            </a:p>
          </p:txBody>
        </p:sp>
        <p:sp>
          <p:nvSpPr>
            <p:cNvPr id="221" name="Shape 102">
              <a:extLst>
                <a:ext uri="{FF2B5EF4-FFF2-40B4-BE49-F238E27FC236}">
                  <a16:creationId xmlns:a16="http://schemas.microsoft.com/office/drawing/2014/main" id="{D0089904-E1C7-750B-0039-249C297B7A9E}"/>
                </a:ext>
              </a:extLst>
            </p:cNvPr>
            <p:cNvSpPr/>
            <p:nvPr/>
          </p:nvSpPr>
          <p:spPr>
            <a:xfrm>
              <a:off x="4754880" y="1337053"/>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222" name="Shape 103">
              <a:extLst>
                <a:ext uri="{FF2B5EF4-FFF2-40B4-BE49-F238E27FC236}">
                  <a16:creationId xmlns:a16="http://schemas.microsoft.com/office/drawing/2014/main" id="{4463A4D1-89D3-E10A-AD54-A1977C1236D3}"/>
                </a:ext>
              </a:extLst>
            </p:cNvPr>
            <p:cNvSpPr/>
            <p:nvPr/>
          </p:nvSpPr>
          <p:spPr>
            <a:xfrm>
              <a:off x="4754880" y="1337053"/>
              <a:ext cx="45720" cy="27432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223" name="Text 104">
              <a:extLst>
                <a:ext uri="{FF2B5EF4-FFF2-40B4-BE49-F238E27FC236}">
                  <a16:creationId xmlns:a16="http://schemas.microsoft.com/office/drawing/2014/main" id="{8FF1860B-7F12-AD5D-F265-75F9F2934C09}"/>
                </a:ext>
              </a:extLst>
            </p:cNvPr>
            <p:cNvSpPr/>
            <p:nvPr/>
          </p:nvSpPr>
          <p:spPr>
            <a:xfrm>
              <a:off x="4846320" y="136448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Germany</a:t>
              </a:r>
              <a:endParaRPr lang="en-US" sz="850">
                <a:latin typeface="Gill Sans Nova Light" panose="020B0302020104020203" pitchFamily="34" charset="0"/>
              </a:endParaRPr>
            </a:p>
          </p:txBody>
        </p:sp>
        <p:sp>
          <p:nvSpPr>
            <p:cNvPr id="224" name="Text 105">
              <a:extLst>
                <a:ext uri="{FF2B5EF4-FFF2-40B4-BE49-F238E27FC236}">
                  <a16:creationId xmlns:a16="http://schemas.microsoft.com/office/drawing/2014/main" id="{B8DBA7E4-1DB9-9FAD-6535-15068C996734}"/>
                </a:ext>
              </a:extLst>
            </p:cNvPr>
            <p:cNvSpPr/>
            <p:nvPr/>
          </p:nvSpPr>
          <p:spPr>
            <a:xfrm>
              <a:off x="6172200" y="136448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-0.195</a:t>
              </a:r>
              <a:endParaRPr lang="en-US" sz="850">
                <a:latin typeface="Gill Sans Nova Light" panose="020B0302020104020203" pitchFamily="34" charset="0"/>
              </a:endParaRPr>
            </a:p>
          </p:txBody>
        </p:sp>
        <p:sp>
          <p:nvSpPr>
            <p:cNvPr id="225" name="Text 106">
              <a:extLst>
                <a:ext uri="{FF2B5EF4-FFF2-40B4-BE49-F238E27FC236}">
                  <a16:creationId xmlns:a16="http://schemas.microsoft.com/office/drawing/2014/main" id="{2192802E-7C02-DA25-ADED-FB4099B18E70}"/>
                </a:ext>
              </a:extLst>
            </p:cNvPr>
            <p:cNvSpPr/>
            <p:nvPr/>
          </p:nvSpPr>
          <p:spPr>
            <a:xfrm>
              <a:off x="6949440" y="136448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-0.195</a:t>
              </a:r>
              <a:endParaRPr lang="en-US" sz="850">
                <a:latin typeface="Gill Sans Nova Light" panose="020B0302020104020203" pitchFamily="34" charset="0"/>
              </a:endParaRPr>
            </a:p>
          </p:txBody>
        </p:sp>
        <p:sp>
          <p:nvSpPr>
            <p:cNvPr id="226" name="Text 107">
              <a:extLst>
                <a:ext uri="{FF2B5EF4-FFF2-40B4-BE49-F238E27FC236}">
                  <a16:creationId xmlns:a16="http://schemas.microsoft.com/office/drawing/2014/main" id="{9F937689-F565-5C86-0480-11E7C5C6E692}"/>
                </a:ext>
              </a:extLst>
            </p:cNvPr>
            <p:cNvSpPr/>
            <p:nvPr/>
          </p:nvSpPr>
          <p:spPr>
            <a:xfrm>
              <a:off x="7772400" y="1364485"/>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mn-lt"/>
                  <a:cs typeface="+mn-lt"/>
                </a:rPr>
                <a:t>-1.53</a:t>
              </a:r>
              <a:endParaRPr lang="en-US">
                <a:latin typeface="Gill Sans Nova Light" panose="020B0302020104020203" pitchFamily="34" charset="0"/>
              </a:endParaRPr>
            </a:p>
          </p:txBody>
        </p:sp>
        <p:sp>
          <p:nvSpPr>
            <p:cNvPr id="227" name="Shape 108">
              <a:extLst>
                <a:ext uri="{FF2B5EF4-FFF2-40B4-BE49-F238E27FC236}">
                  <a16:creationId xmlns:a16="http://schemas.microsoft.com/office/drawing/2014/main" id="{DF3E411D-A60E-7AA3-B0E3-E23935E88ED7}"/>
                </a:ext>
              </a:extLst>
            </p:cNvPr>
            <p:cNvSpPr/>
            <p:nvPr/>
          </p:nvSpPr>
          <p:spPr>
            <a:xfrm>
              <a:off x="4754880" y="1588513"/>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228" name="Shape 109">
              <a:extLst>
                <a:ext uri="{FF2B5EF4-FFF2-40B4-BE49-F238E27FC236}">
                  <a16:creationId xmlns:a16="http://schemas.microsoft.com/office/drawing/2014/main" id="{45B3465B-9969-B6D6-A546-DB2F3928B2FF}"/>
                </a:ext>
              </a:extLst>
            </p:cNvPr>
            <p:cNvSpPr/>
            <p:nvPr/>
          </p:nvSpPr>
          <p:spPr>
            <a:xfrm>
              <a:off x="4754880" y="1588513"/>
              <a:ext cx="45720" cy="27432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229" name="Text 110">
              <a:extLst>
                <a:ext uri="{FF2B5EF4-FFF2-40B4-BE49-F238E27FC236}">
                  <a16:creationId xmlns:a16="http://schemas.microsoft.com/office/drawing/2014/main" id="{C9877895-635A-AB28-67F0-34153CCF189E}"/>
                </a:ext>
              </a:extLst>
            </p:cNvPr>
            <p:cNvSpPr/>
            <p:nvPr/>
          </p:nvSpPr>
          <p:spPr>
            <a:xfrm>
              <a:off x="4846320" y="161594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Hungary</a:t>
              </a:r>
              <a:endParaRPr lang="en-US" sz="850">
                <a:latin typeface="Gill Sans Nova Light" panose="020B0302020104020203" pitchFamily="34" charset="0"/>
              </a:endParaRPr>
            </a:p>
          </p:txBody>
        </p:sp>
        <p:sp>
          <p:nvSpPr>
            <p:cNvPr id="230" name="Text 111">
              <a:extLst>
                <a:ext uri="{FF2B5EF4-FFF2-40B4-BE49-F238E27FC236}">
                  <a16:creationId xmlns:a16="http://schemas.microsoft.com/office/drawing/2014/main" id="{0BD38848-E94A-9726-2362-C17261CE3BB3}"/>
                </a:ext>
              </a:extLst>
            </p:cNvPr>
            <p:cNvSpPr/>
            <p:nvPr/>
          </p:nvSpPr>
          <p:spPr>
            <a:xfrm>
              <a:off x="6172200" y="161594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-0.179</a:t>
              </a:r>
              <a:endParaRPr lang="en-US" sz="850">
                <a:latin typeface="Gill Sans Nova Light" panose="020B0302020104020203" pitchFamily="34" charset="0"/>
              </a:endParaRPr>
            </a:p>
          </p:txBody>
        </p:sp>
        <p:sp>
          <p:nvSpPr>
            <p:cNvPr id="231" name="Text 112">
              <a:extLst>
                <a:ext uri="{FF2B5EF4-FFF2-40B4-BE49-F238E27FC236}">
                  <a16:creationId xmlns:a16="http://schemas.microsoft.com/office/drawing/2014/main" id="{BE1A6398-2A94-C940-8226-9D238A576231}"/>
                </a:ext>
              </a:extLst>
            </p:cNvPr>
            <p:cNvSpPr/>
            <p:nvPr/>
          </p:nvSpPr>
          <p:spPr>
            <a:xfrm>
              <a:off x="6949440" y="161594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-0.179</a:t>
              </a:r>
              <a:endParaRPr lang="en-US" sz="850">
                <a:latin typeface="Gill Sans Nova Light" panose="020B0302020104020203" pitchFamily="34" charset="0"/>
              </a:endParaRPr>
            </a:p>
          </p:txBody>
        </p:sp>
        <p:sp>
          <p:nvSpPr>
            <p:cNvPr id="232" name="Text 113">
              <a:extLst>
                <a:ext uri="{FF2B5EF4-FFF2-40B4-BE49-F238E27FC236}">
                  <a16:creationId xmlns:a16="http://schemas.microsoft.com/office/drawing/2014/main" id="{D0C58051-21FF-F87F-ACC1-6AF006E5BB64}"/>
                </a:ext>
              </a:extLst>
            </p:cNvPr>
            <p:cNvSpPr/>
            <p:nvPr/>
          </p:nvSpPr>
          <p:spPr>
            <a:xfrm>
              <a:off x="7772400" y="1615945"/>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233" name="Shape 114">
              <a:extLst>
                <a:ext uri="{FF2B5EF4-FFF2-40B4-BE49-F238E27FC236}">
                  <a16:creationId xmlns:a16="http://schemas.microsoft.com/office/drawing/2014/main" id="{AE868F8B-03A3-7F98-7A7A-52DF3A14CF6B}"/>
                </a:ext>
              </a:extLst>
            </p:cNvPr>
            <p:cNvSpPr/>
            <p:nvPr/>
          </p:nvSpPr>
          <p:spPr>
            <a:xfrm>
              <a:off x="4754880" y="1839973"/>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234" name="Shape 115">
              <a:extLst>
                <a:ext uri="{FF2B5EF4-FFF2-40B4-BE49-F238E27FC236}">
                  <a16:creationId xmlns:a16="http://schemas.microsoft.com/office/drawing/2014/main" id="{2B3C23DD-AB8A-7F3F-B80A-0FCAD76BA5F2}"/>
                </a:ext>
              </a:extLst>
            </p:cNvPr>
            <p:cNvSpPr/>
            <p:nvPr/>
          </p:nvSpPr>
          <p:spPr>
            <a:xfrm>
              <a:off x="4754880" y="1839973"/>
              <a:ext cx="45720" cy="27432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235" name="Text 116">
              <a:extLst>
                <a:ext uri="{FF2B5EF4-FFF2-40B4-BE49-F238E27FC236}">
                  <a16:creationId xmlns:a16="http://schemas.microsoft.com/office/drawing/2014/main" id="{847689EB-2270-93E1-F6B6-0A9D39DF46B4}"/>
                </a:ext>
              </a:extLst>
            </p:cNvPr>
            <p:cNvSpPr/>
            <p:nvPr/>
          </p:nvSpPr>
          <p:spPr>
            <a:xfrm>
              <a:off x="4846320" y="186740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Croatia</a:t>
              </a:r>
              <a:endParaRPr lang="en-US" sz="850">
                <a:latin typeface="Gill Sans Nova Light" panose="020B0302020104020203" pitchFamily="34" charset="0"/>
              </a:endParaRPr>
            </a:p>
          </p:txBody>
        </p:sp>
        <p:sp>
          <p:nvSpPr>
            <p:cNvPr id="236" name="Text 117">
              <a:extLst>
                <a:ext uri="{FF2B5EF4-FFF2-40B4-BE49-F238E27FC236}">
                  <a16:creationId xmlns:a16="http://schemas.microsoft.com/office/drawing/2014/main" id="{42DCB65A-33D5-CE1A-656D-3D21E2959B5A}"/>
                </a:ext>
              </a:extLst>
            </p:cNvPr>
            <p:cNvSpPr/>
            <p:nvPr/>
          </p:nvSpPr>
          <p:spPr>
            <a:xfrm>
              <a:off x="6172200" y="186740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-0.152</a:t>
              </a:r>
              <a:endParaRPr lang="en-US" sz="850">
                <a:latin typeface="Gill Sans Nova Light" panose="020B0302020104020203" pitchFamily="34" charset="0"/>
              </a:endParaRPr>
            </a:p>
          </p:txBody>
        </p:sp>
        <p:sp>
          <p:nvSpPr>
            <p:cNvPr id="237" name="Text 118">
              <a:extLst>
                <a:ext uri="{FF2B5EF4-FFF2-40B4-BE49-F238E27FC236}">
                  <a16:creationId xmlns:a16="http://schemas.microsoft.com/office/drawing/2014/main" id="{CAD0B09B-5645-18D1-5E8B-6E01E54DB98F}"/>
                </a:ext>
              </a:extLst>
            </p:cNvPr>
            <p:cNvSpPr/>
            <p:nvPr/>
          </p:nvSpPr>
          <p:spPr>
            <a:xfrm>
              <a:off x="6949440" y="186740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-0.152</a:t>
              </a:r>
              <a:endParaRPr lang="en-US" sz="850">
                <a:latin typeface="Gill Sans Nova Light" panose="020B0302020104020203" pitchFamily="34" charset="0"/>
              </a:endParaRPr>
            </a:p>
          </p:txBody>
        </p:sp>
        <p:sp>
          <p:nvSpPr>
            <p:cNvPr id="238" name="Text 119">
              <a:extLst>
                <a:ext uri="{FF2B5EF4-FFF2-40B4-BE49-F238E27FC236}">
                  <a16:creationId xmlns:a16="http://schemas.microsoft.com/office/drawing/2014/main" id="{8FFA84B5-A803-BA35-E87D-A1174385304B}"/>
                </a:ext>
              </a:extLst>
            </p:cNvPr>
            <p:cNvSpPr/>
            <p:nvPr/>
          </p:nvSpPr>
          <p:spPr>
            <a:xfrm>
              <a:off x="7772400" y="1867405"/>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239" name="Shape 120">
              <a:extLst>
                <a:ext uri="{FF2B5EF4-FFF2-40B4-BE49-F238E27FC236}">
                  <a16:creationId xmlns:a16="http://schemas.microsoft.com/office/drawing/2014/main" id="{5E051D73-CA54-4944-AE6B-4AA370CAA99A}"/>
                </a:ext>
              </a:extLst>
            </p:cNvPr>
            <p:cNvSpPr/>
            <p:nvPr/>
          </p:nvSpPr>
          <p:spPr>
            <a:xfrm>
              <a:off x="4754880" y="2091433"/>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240" name="Shape 121">
              <a:extLst>
                <a:ext uri="{FF2B5EF4-FFF2-40B4-BE49-F238E27FC236}">
                  <a16:creationId xmlns:a16="http://schemas.microsoft.com/office/drawing/2014/main" id="{C8AC9337-9DA9-7025-434C-69DD88CA5411}"/>
                </a:ext>
              </a:extLst>
            </p:cNvPr>
            <p:cNvSpPr/>
            <p:nvPr/>
          </p:nvSpPr>
          <p:spPr>
            <a:xfrm>
              <a:off x="4754880" y="2091433"/>
              <a:ext cx="45720" cy="27432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241" name="Text 122">
              <a:extLst>
                <a:ext uri="{FF2B5EF4-FFF2-40B4-BE49-F238E27FC236}">
                  <a16:creationId xmlns:a16="http://schemas.microsoft.com/office/drawing/2014/main" id="{A955D34B-854D-BF38-24F4-0F5DF0B6D59D}"/>
                </a:ext>
              </a:extLst>
            </p:cNvPr>
            <p:cNvSpPr/>
            <p:nvPr/>
          </p:nvSpPr>
          <p:spPr>
            <a:xfrm>
              <a:off x="4846320" y="211886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Romania</a:t>
              </a:r>
              <a:endParaRPr lang="en-US" sz="850">
                <a:latin typeface="Gill Sans Nova Light" panose="020B0302020104020203" pitchFamily="34" charset="0"/>
              </a:endParaRPr>
            </a:p>
          </p:txBody>
        </p:sp>
        <p:sp>
          <p:nvSpPr>
            <p:cNvPr id="242" name="Text 123">
              <a:extLst>
                <a:ext uri="{FF2B5EF4-FFF2-40B4-BE49-F238E27FC236}">
                  <a16:creationId xmlns:a16="http://schemas.microsoft.com/office/drawing/2014/main" id="{9CB1BA03-1AAF-E439-EAE2-13AA686CDEA0}"/>
                </a:ext>
              </a:extLst>
            </p:cNvPr>
            <p:cNvSpPr/>
            <p:nvPr/>
          </p:nvSpPr>
          <p:spPr>
            <a:xfrm>
              <a:off x="6172200" y="211886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-0.150</a:t>
              </a:r>
              <a:endParaRPr lang="en-US" sz="850">
                <a:latin typeface="Gill Sans Nova Light" panose="020B0302020104020203" pitchFamily="34" charset="0"/>
              </a:endParaRPr>
            </a:p>
          </p:txBody>
        </p:sp>
        <p:sp>
          <p:nvSpPr>
            <p:cNvPr id="243" name="Text 124">
              <a:extLst>
                <a:ext uri="{FF2B5EF4-FFF2-40B4-BE49-F238E27FC236}">
                  <a16:creationId xmlns:a16="http://schemas.microsoft.com/office/drawing/2014/main" id="{F6B68018-1A94-BFE1-C087-F9E08AC8AF17}"/>
                </a:ext>
              </a:extLst>
            </p:cNvPr>
            <p:cNvSpPr/>
            <p:nvPr/>
          </p:nvSpPr>
          <p:spPr>
            <a:xfrm>
              <a:off x="6949440" y="211886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-0.150</a:t>
              </a:r>
              <a:endParaRPr lang="en-US" sz="850">
                <a:latin typeface="Gill Sans Nova Light" panose="020B0302020104020203" pitchFamily="34" charset="0"/>
              </a:endParaRPr>
            </a:p>
          </p:txBody>
        </p:sp>
        <p:sp>
          <p:nvSpPr>
            <p:cNvPr id="244" name="Text 125">
              <a:extLst>
                <a:ext uri="{FF2B5EF4-FFF2-40B4-BE49-F238E27FC236}">
                  <a16:creationId xmlns:a16="http://schemas.microsoft.com/office/drawing/2014/main" id="{F1608898-E198-46E9-7F7F-15408796E0F5}"/>
                </a:ext>
              </a:extLst>
            </p:cNvPr>
            <p:cNvSpPr/>
            <p:nvPr/>
          </p:nvSpPr>
          <p:spPr>
            <a:xfrm>
              <a:off x="7772400" y="2118865"/>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245" name="Shape 126">
              <a:extLst>
                <a:ext uri="{FF2B5EF4-FFF2-40B4-BE49-F238E27FC236}">
                  <a16:creationId xmlns:a16="http://schemas.microsoft.com/office/drawing/2014/main" id="{F78FD21B-8F38-76EC-20D9-668DAD008C19}"/>
                </a:ext>
              </a:extLst>
            </p:cNvPr>
            <p:cNvSpPr/>
            <p:nvPr/>
          </p:nvSpPr>
          <p:spPr>
            <a:xfrm>
              <a:off x="4754880" y="2342893"/>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246" name="Shape 127">
              <a:extLst>
                <a:ext uri="{FF2B5EF4-FFF2-40B4-BE49-F238E27FC236}">
                  <a16:creationId xmlns:a16="http://schemas.microsoft.com/office/drawing/2014/main" id="{3CADD3FE-118D-13AD-CBEF-46E26E7EEA64}"/>
                </a:ext>
              </a:extLst>
            </p:cNvPr>
            <p:cNvSpPr/>
            <p:nvPr/>
          </p:nvSpPr>
          <p:spPr>
            <a:xfrm>
              <a:off x="4754880" y="2342893"/>
              <a:ext cx="45720" cy="27432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247" name="Text 128">
              <a:extLst>
                <a:ext uri="{FF2B5EF4-FFF2-40B4-BE49-F238E27FC236}">
                  <a16:creationId xmlns:a16="http://schemas.microsoft.com/office/drawing/2014/main" id="{E9F1BAA4-6927-C180-CB5E-71070CC0FB43}"/>
                </a:ext>
              </a:extLst>
            </p:cNvPr>
            <p:cNvSpPr/>
            <p:nvPr/>
          </p:nvSpPr>
          <p:spPr>
            <a:xfrm>
              <a:off x="4846320" y="237032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Poland</a:t>
              </a:r>
              <a:endParaRPr lang="en-US" sz="850">
                <a:latin typeface="Gill Sans Nova Light" panose="020B0302020104020203" pitchFamily="34" charset="0"/>
              </a:endParaRPr>
            </a:p>
          </p:txBody>
        </p:sp>
        <p:sp>
          <p:nvSpPr>
            <p:cNvPr id="248" name="Text 129">
              <a:extLst>
                <a:ext uri="{FF2B5EF4-FFF2-40B4-BE49-F238E27FC236}">
                  <a16:creationId xmlns:a16="http://schemas.microsoft.com/office/drawing/2014/main" id="{31FC2DE5-8298-FAE2-7349-FEFC48B21143}"/>
                </a:ext>
              </a:extLst>
            </p:cNvPr>
            <p:cNvSpPr/>
            <p:nvPr/>
          </p:nvSpPr>
          <p:spPr>
            <a:xfrm>
              <a:off x="6172200" y="237032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-0.131</a:t>
              </a:r>
              <a:endParaRPr lang="en-US" sz="850">
                <a:latin typeface="Gill Sans Nova Light" panose="020B0302020104020203" pitchFamily="34" charset="0"/>
              </a:endParaRPr>
            </a:p>
          </p:txBody>
        </p:sp>
        <p:sp>
          <p:nvSpPr>
            <p:cNvPr id="249" name="Text 130">
              <a:extLst>
                <a:ext uri="{FF2B5EF4-FFF2-40B4-BE49-F238E27FC236}">
                  <a16:creationId xmlns:a16="http://schemas.microsoft.com/office/drawing/2014/main" id="{66FCFCB7-D0CF-567A-57F3-43367F11CF8F}"/>
                </a:ext>
              </a:extLst>
            </p:cNvPr>
            <p:cNvSpPr/>
            <p:nvPr/>
          </p:nvSpPr>
          <p:spPr>
            <a:xfrm>
              <a:off x="6949440" y="237032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-0.131</a:t>
              </a:r>
              <a:endParaRPr lang="en-US" sz="850">
                <a:latin typeface="Gill Sans Nova Light" panose="020B0302020104020203" pitchFamily="34" charset="0"/>
              </a:endParaRPr>
            </a:p>
          </p:txBody>
        </p:sp>
        <p:sp>
          <p:nvSpPr>
            <p:cNvPr id="250" name="Text 131">
              <a:extLst>
                <a:ext uri="{FF2B5EF4-FFF2-40B4-BE49-F238E27FC236}">
                  <a16:creationId xmlns:a16="http://schemas.microsoft.com/office/drawing/2014/main" id="{66E8A9E3-1AAE-3712-E74B-F0C617B5B68E}"/>
                </a:ext>
              </a:extLst>
            </p:cNvPr>
            <p:cNvSpPr/>
            <p:nvPr/>
          </p:nvSpPr>
          <p:spPr>
            <a:xfrm>
              <a:off x="7772400" y="2370325"/>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251" name="Shape 132">
              <a:extLst>
                <a:ext uri="{FF2B5EF4-FFF2-40B4-BE49-F238E27FC236}">
                  <a16:creationId xmlns:a16="http://schemas.microsoft.com/office/drawing/2014/main" id="{D40241F4-9D2D-9500-ED3D-1D423FEF8AC6}"/>
                </a:ext>
              </a:extLst>
            </p:cNvPr>
            <p:cNvSpPr/>
            <p:nvPr/>
          </p:nvSpPr>
          <p:spPr>
            <a:xfrm>
              <a:off x="4754880" y="2594353"/>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252" name="Shape 133">
              <a:extLst>
                <a:ext uri="{FF2B5EF4-FFF2-40B4-BE49-F238E27FC236}">
                  <a16:creationId xmlns:a16="http://schemas.microsoft.com/office/drawing/2014/main" id="{4BBFA801-5AC6-774D-6E67-38C9039B94BF}"/>
                </a:ext>
              </a:extLst>
            </p:cNvPr>
            <p:cNvSpPr/>
            <p:nvPr/>
          </p:nvSpPr>
          <p:spPr>
            <a:xfrm>
              <a:off x="4754880" y="2594353"/>
              <a:ext cx="45720" cy="27432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253" name="Text 134">
              <a:extLst>
                <a:ext uri="{FF2B5EF4-FFF2-40B4-BE49-F238E27FC236}">
                  <a16:creationId xmlns:a16="http://schemas.microsoft.com/office/drawing/2014/main" id="{E066E7EF-65BB-CF97-B935-ACB47B0C2DCB}"/>
                </a:ext>
              </a:extLst>
            </p:cNvPr>
            <p:cNvSpPr/>
            <p:nvPr/>
          </p:nvSpPr>
          <p:spPr>
            <a:xfrm>
              <a:off x="4846320" y="262178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France</a:t>
              </a:r>
              <a:endParaRPr lang="en-US" sz="850">
                <a:latin typeface="Gill Sans Nova Light" panose="020B0302020104020203" pitchFamily="34" charset="0"/>
              </a:endParaRPr>
            </a:p>
          </p:txBody>
        </p:sp>
        <p:sp>
          <p:nvSpPr>
            <p:cNvPr id="254" name="Text 135">
              <a:extLst>
                <a:ext uri="{FF2B5EF4-FFF2-40B4-BE49-F238E27FC236}">
                  <a16:creationId xmlns:a16="http://schemas.microsoft.com/office/drawing/2014/main" id="{9C051E40-4E6E-DEAB-E606-5E797FA863F4}"/>
                </a:ext>
              </a:extLst>
            </p:cNvPr>
            <p:cNvSpPr/>
            <p:nvPr/>
          </p:nvSpPr>
          <p:spPr>
            <a:xfrm>
              <a:off x="6172200" y="262178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-0.097</a:t>
              </a:r>
              <a:endParaRPr lang="en-US" sz="850">
                <a:latin typeface="Gill Sans Nova Light" panose="020B0302020104020203" pitchFamily="34" charset="0"/>
              </a:endParaRPr>
            </a:p>
          </p:txBody>
        </p:sp>
        <p:sp>
          <p:nvSpPr>
            <p:cNvPr id="255" name="Text 136">
              <a:extLst>
                <a:ext uri="{FF2B5EF4-FFF2-40B4-BE49-F238E27FC236}">
                  <a16:creationId xmlns:a16="http://schemas.microsoft.com/office/drawing/2014/main" id="{62F2F422-31A1-068C-F69C-A5694D4238F8}"/>
                </a:ext>
              </a:extLst>
            </p:cNvPr>
            <p:cNvSpPr/>
            <p:nvPr/>
          </p:nvSpPr>
          <p:spPr>
            <a:xfrm>
              <a:off x="6949440" y="262178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-0.080</a:t>
              </a:r>
              <a:endParaRPr lang="en-US" sz="850">
                <a:latin typeface="Gill Sans Nova Light" panose="020B0302020104020203" pitchFamily="34" charset="0"/>
              </a:endParaRPr>
            </a:p>
          </p:txBody>
        </p:sp>
        <p:sp>
          <p:nvSpPr>
            <p:cNvPr id="256" name="Text 137">
              <a:extLst>
                <a:ext uri="{FF2B5EF4-FFF2-40B4-BE49-F238E27FC236}">
                  <a16:creationId xmlns:a16="http://schemas.microsoft.com/office/drawing/2014/main" id="{5B04740F-CC40-75BF-C038-CF2DBEF1F0D4}"/>
                </a:ext>
              </a:extLst>
            </p:cNvPr>
            <p:cNvSpPr/>
            <p:nvPr/>
          </p:nvSpPr>
          <p:spPr>
            <a:xfrm>
              <a:off x="7772400" y="2621785"/>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mn-lt"/>
                  <a:cs typeface="+mn-lt"/>
                </a:rPr>
                <a:t>-1.42</a:t>
              </a:r>
              <a:endParaRPr lang="en-US">
                <a:latin typeface="Gill Sans Nova Light" panose="020B0302020104020203" pitchFamily="34" charset="0"/>
              </a:endParaRPr>
            </a:p>
          </p:txBody>
        </p:sp>
        <p:sp>
          <p:nvSpPr>
            <p:cNvPr id="257" name="Shape 138">
              <a:extLst>
                <a:ext uri="{FF2B5EF4-FFF2-40B4-BE49-F238E27FC236}">
                  <a16:creationId xmlns:a16="http://schemas.microsoft.com/office/drawing/2014/main" id="{1001E5DF-B787-7AB4-4B0F-20EC880D1DD3}"/>
                </a:ext>
              </a:extLst>
            </p:cNvPr>
            <p:cNvSpPr/>
            <p:nvPr/>
          </p:nvSpPr>
          <p:spPr>
            <a:xfrm>
              <a:off x="4754880" y="2845813"/>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258" name="Shape 139">
              <a:extLst>
                <a:ext uri="{FF2B5EF4-FFF2-40B4-BE49-F238E27FC236}">
                  <a16:creationId xmlns:a16="http://schemas.microsoft.com/office/drawing/2014/main" id="{4F9D97C7-9399-7C55-4E00-128F7D32854D}"/>
                </a:ext>
              </a:extLst>
            </p:cNvPr>
            <p:cNvSpPr/>
            <p:nvPr/>
          </p:nvSpPr>
          <p:spPr>
            <a:xfrm>
              <a:off x="4754880" y="2845813"/>
              <a:ext cx="45720" cy="27432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259" name="Text 140">
              <a:extLst>
                <a:ext uri="{FF2B5EF4-FFF2-40B4-BE49-F238E27FC236}">
                  <a16:creationId xmlns:a16="http://schemas.microsoft.com/office/drawing/2014/main" id="{7E14F876-0DA6-3E70-3C5D-A6A277B90191}"/>
                </a:ext>
              </a:extLst>
            </p:cNvPr>
            <p:cNvSpPr/>
            <p:nvPr/>
          </p:nvSpPr>
          <p:spPr>
            <a:xfrm>
              <a:off x="4846320" y="287324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Luxembourg</a:t>
              </a:r>
              <a:endParaRPr lang="en-US" sz="850">
                <a:latin typeface="Gill Sans Nova Light" panose="020B0302020104020203" pitchFamily="34" charset="0"/>
              </a:endParaRPr>
            </a:p>
          </p:txBody>
        </p:sp>
        <p:sp>
          <p:nvSpPr>
            <p:cNvPr id="260" name="Text 141">
              <a:extLst>
                <a:ext uri="{FF2B5EF4-FFF2-40B4-BE49-F238E27FC236}">
                  <a16:creationId xmlns:a16="http://schemas.microsoft.com/office/drawing/2014/main" id="{4BF79AF0-0734-2B0B-3344-7B8596768616}"/>
                </a:ext>
              </a:extLst>
            </p:cNvPr>
            <p:cNvSpPr/>
            <p:nvPr/>
          </p:nvSpPr>
          <p:spPr>
            <a:xfrm>
              <a:off x="6172200" y="287324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-0.041</a:t>
              </a:r>
              <a:endParaRPr lang="en-US" sz="850">
                <a:latin typeface="Gill Sans Nova Light" panose="020B0302020104020203" pitchFamily="34" charset="0"/>
              </a:endParaRPr>
            </a:p>
          </p:txBody>
        </p:sp>
        <p:sp>
          <p:nvSpPr>
            <p:cNvPr id="261" name="Text 142">
              <a:extLst>
                <a:ext uri="{FF2B5EF4-FFF2-40B4-BE49-F238E27FC236}">
                  <a16:creationId xmlns:a16="http://schemas.microsoft.com/office/drawing/2014/main" id="{A89AFD51-8C0A-6E95-7880-E8CB030EDDF3}"/>
                </a:ext>
              </a:extLst>
            </p:cNvPr>
            <p:cNvSpPr/>
            <p:nvPr/>
          </p:nvSpPr>
          <p:spPr>
            <a:xfrm>
              <a:off x="6949440" y="287324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-0.041</a:t>
              </a:r>
              <a:endParaRPr lang="en-US" sz="850">
                <a:latin typeface="Gill Sans Nova Light" panose="020B0302020104020203" pitchFamily="34" charset="0"/>
              </a:endParaRPr>
            </a:p>
          </p:txBody>
        </p:sp>
        <p:sp>
          <p:nvSpPr>
            <p:cNvPr id="262" name="Text 143">
              <a:extLst>
                <a:ext uri="{FF2B5EF4-FFF2-40B4-BE49-F238E27FC236}">
                  <a16:creationId xmlns:a16="http://schemas.microsoft.com/office/drawing/2014/main" id="{8558E2E0-A316-8364-36BA-CC93389234C6}"/>
                </a:ext>
              </a:extLst>
            </p:cNvPr>
            <p:cNvSpPr/>
            <p:nvPr/>
          </p:nvSpPr>
          <p:spPr>
            <a:xfrm>
              <a:off x="7772400" y="2873245"/>
              <a:ext cx="1097280" cy="219456"/>
            </a:xfrm>
            <a:prstGeom prst="rect">
              <a:avLst/>
            </a:prstGeom>
            <a:noFill/>
            <a:ln/>
          </p:spPr>
          <p:txBody>
            <a:bodyPr wrap="square" rtlCol="0" anchor="ctr"/>
            <a:lstStyle/>
            <a:p>
              <a:pPr marL="0" indent="0" algn="ctr">
                <a:buNone/>
              </a:pPr>
              <a:r>
                <a:rPr lang="en-US" sz="800" i="1">
                  <a:solidFill>
                    <a:srgbClr val="64748B"/>
                  </a:solidFill>
                  <a:latin typeface="Gill Sans Nova Light" panose="020B0302020104020203" pitchFamily="34" charset="0"/>
                  <a:ea typeface="Calibri" pitchFamily="34" charset="-122"/>
                  <a:cs typeface="Calibri" pitchFamily="34" charset="-120"/>
                </a:rPr>
                <a:t>N/A</a:t>
              </a:r>
              <a:endParaRPr lang="en-US" sz="800">
                <a:latin typeface="Gill Sans Nova Light" panose="020B0302020104020203" pitchFamily="34" charset="0"/>
              </a:endParaRPr>
            </a:p>
          </p:txBody>
        </p:sp>
        <p:sp>
          <p:nvSpPr>
            <p:cNvPr id="263" name="Shape 144">
              <a:extLst>
                <a:ext uri="{FF2B5EF4-FFF2-40B4-BE49-F238E27FC236}">
                  <a16:creationId xmlns:a16="http://schemas.microsoft.com/office/drawing/2014/main" id="{C7400EE6-742F-4E4F-DA26-6F80E2A090B7}"/>
                </a:ext>
              </a:extLst>
            </p:cNvPr>
            <p:cNvSpPr/>
            <p:nvPr/>
          </p:nvSpPr>
          <p:spPr>
            <a:xfrm>
              <a:off x="4754880" y="3097273"/>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264" name="Shape 145">
              <a:extLst>
                <a:ext uri="{FF2B5EF4-FFF2-40B4-BE49-F238E27FC236}">
                  <a16:creationId xmlns:a16="http://schemas.microsoft.com/office/drawing/2014/main" id="{9F0533C9-6B9C-6617-88C4-8976D72F759F}"/>
                </a:ext>
              </a:extLst>
            </p:cNvPr>
            <p:cNvSpPr/>
            <p:nvPr/>
          </p:nvSpPr>
          <p:spPr>
            <a:xfrm>
              <a:off x="4754880" y="3097273"/>
              <a:ext cx="45720" cy="27432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265" name="Text 146">
              <a:extLst>
                <a:ext uri="{FF2B5EF4-FFF2-40B4-BE49-F238E27FC236}">
                  <a16:creationId xmlns:a16="http://schemas.microsoft.com/office/drawing/2014/main" id="{34E4C7F7-CFF4-9DAB-9198-29C659919711}"/>
                </a:ext>
              </a:extLst>
            </p:cNvPr>
            <p:cNvSpPr/>
            <p:nvPr/>
          </p:nvSpPr>
          <p:spPr>
            <a:xfrm>
              <a:off x="4846320" y="312470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Finland</a:t>
              </a:r>
              <a:endParaRPr lang="en-US" sz="850">
                <a:latin typeface="Gill Sans Nova Light" panose="020B0302020104020203" pitchFamily="34" charset="0"/>
              </a:endParaRPr>
            </a:p>
          </p:txBody>
        </p:sp>
        <p:sp>
          <p:nvSpPr>
            <p:cNvPr id="266" name="Text 147">
              <a:extLst>
                <a:ext uri="{FF2B5EF4-FFF2-40B4-BE49-F238E27FC236}">
                  <a16:creationId xmlns:a16="http://schemas.microsoft.com/office/drawing/2014/main" id="{C2E34121-FB82-2783-BC28-39C5EF0AFF5B}"/>
                </a:ext>
              </a:extLst>
            </p:cNvPr>
            <p:cNvSpPr/>
            <p:nvPr/>
          </p:nvSpPr>
          <p:spPr>
            <a:xfrm>
              <a:off x="6172200" y="3124705"/>
              <a:ext cx="731520" cy="219456"/>
            </a:xfrm>
            <a:prstGeom prst="rect">
              <a:avLst/>
            </a:prstGeom>
            <a:noFill/>
            <a:ln/>
          </p:spPr>
          <p:txBody>
            <a:bodyPr wrap="square" rtlCol="0" anchor="ctr"/>
            <a:lstStyle/>
            <a:p>
              <a:pPr marL="0" indent="0" algn="ctr">
                <a:buNone/>
              </a:pPr>
              <a:r>
                <a:rPr lang="en-US" sz="850" b="1">
                  <a:solidFill>
                    <a:srgbClr val="64748B"/>
                  </a:solidFill>
                  <a:latin typeface="Gill Sans Nova Light" panose="020B0302020104020203" pitchFamily="34" charset="0"/>
                  <a:ea typeface="Calibri" pitchFamily="34" charset="-122"/>
                  <a:cs typeface="Calibri" pitchFamily="34" charset="-120"/>
                </a:rPr>
                <a:t>N/A</a:t>
              </a:r>
              <a:endParaRPr lang="en-US" sz="850">
                <a:latin typeface="Gill Sans Nova Light" panose="020B0302020104020203" pitchFamily="34" charset="0"/>
              </a:endParaRPr>
            </a:p>
          </p:txBody>
        </p:sp>
        <p:sp>
          <p:nvSpPr>
            <p:cNvPr id="267" name="Text 148">
              <a:extLst>
                <a:ext uri="{FF2B5EF4-FFF2-40B4-BE49-F238E27FC236}">
                  <a16:creationId xmlns:a16="http://schemas.microsoft.com/office/drawing/2014/main" id="{95F359CB-A592-5E91-7A5F-A266DFAE91FB}"/>
                </a:ext>
              </a:extLst>
            </p:cNvPr>
            <p:cNvSpPr/>
            <p:nvPr/>
          </p:nvSpPr>
          <p:spPr>
            <a:xfrm>
              <a:off x="6949440" y="3124705"/>
              <a:ext cx="77724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-0.008</a:t>
              </a:r>
              <a:endParaRPr lang="en-US" sz="850">
                <a:latin typeface="Gill Sans Nova Light" panose="020B0302020104020203" pitchFamily="34" charset="0"/>
              </a:endParaRPr>
            </a:p>
          </p:txBody>
        </p:sp>
        <p:sp>
          <p:nvSpPr>
            <p:cNvPr id="268" name="Text 149">
              <a:extLst>
                <a:ext uri="{FF2B5EF4-FFF2-40B4-BE49-F238E27FC236}">
                  <a16:creationId xmlns:a16="http://schemas.microsoft.com/office/drawing/2014/main" id="{98980553-EDD0-09EC-5362-995282F46EF9}"/>
                </a:ext>
              </a:extLst>
            </p:cNvPr>
            <p:cNvSpPr/>
            <p:nvPr/>
          </p:nvSpPr>
          <p:spPr>
            <a:xfrm>
              <a:off x="7772400" y="3124705"/>
              <a:ext cx="1097280" cy="219456"/>
            </a:xfrm>
            <a:prstGeom prst="rect">
              <a:avLst/>
            </a:prstGeom>
            <a:noFill/>
            <a:ln/>
          </p:spPr>
          <p:txBody>
            <a:bodyPr wrap="square" lIns="91440" tIns="45720" rIns="91440" bIns="45720" rtlCol="0" anchor="ctr"/>
            <a:lstStyle/>
            <a:p>
              <a:pPr marL="0" indent="0" algn="ctr">
                <a:buNone/>
              </a:pPr>
              <a:r>
                <a:rPr lang="en-US" sz="800">
                  <a:solidFill>
                    <a:srgbClr val="64748B"/>
                  </a:solidFill>
                  <a:latin typeface="Gill Sans Nova Light" panose="020B0302020104020203" pitchFamily="34" charset="0"/>
                  <a:ea typeface="+mn-lt"/>
                  <a:cs typeface="+mn-lt"/>
                </a:rPr>
                <a:t>-1.29</a:t>
              </a:r>
              <a:endParaRPr lang="en-US">
                <a:latin typeface="Gill Sans Nova Light" panose="020B0302020104020203" pitchFamily="34" charset="0"/>
              </a:endParaRPr>
            </a:p>
          </p:txBody>
        </p:sp>
        <p:sp>
          <p:nvSpPr>
            <p:cNvPr id="269" name="Shape 150">
              <a:extLst>
                <a:ext uri="{FF2B5EF4-FFF2-40B4-BE49-F238E27FC236}">
                  <a16:creationId xmlns:a16="http://schemas.microsoft.com/office/drawing/2014/main" id="{DFEB3595-91A6-8BE0-743C-5E043ED8EE47}"/>
                </a:ext>
              </a:extLst>
            </p:cNvPr>
            <p:cNvSpPr/>
            <p:nvPr/>
          </p:nvSpPr>
          <p:spPr>
            <a:xfrm>
              <a:off x="4754880" y="3348733"/>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270" name="Shape 151">
              <a:extLst>
                <a:ext uri="{FF2B5EF4-FFF2-40B4-BE49-F238E27FC236}">
                  <a16:creationId xmlns:a16="http://schemas.microsoft.com/office/drawing/2014/main" id="{9ED668BF-22A2-B376-FDA1-E021848387B7}"/>
                </a:ext>
              </a:extLst>
            </p:cNvPr>
            <p:cNvSpPr/>
            <p:nvPr/>
          </p:nvSpPr>
          <p:spPr>
            <a:xfrm>
              <a:off x="4754880" y="3348733"/>
              <a:ext cx="45720" cy="274320"/>
            </a:xfrm>
            <a:prstGeom prst="rect">
              <a:avLst/>
            </a:prstGeom>
            <a:solidFill>
              <a:srgbClr val="1A7A4A"/>
            </a:solidFill>
            <a:ln w="12700">
              <a:solidFill>
                <a:srgbClr val="1A7A4A"/>
              </a:solidFill>
              <a:prstDash val="solid"/>
            </a:ln>
          </p:spPr>
          <p:txBody>
            <a:bodyPr/>
            <a:lstStyle/>
            <a:p>
              <a:endParaRPr lang="en-CH">
                <a:latin typeface="Gill Sans Nova Light" panose="020B0302020104020203" pitchFamily="34" charset="0"/>
              </a:endParaRPr>
            </a:p>
          </p:txBody>
        </p:sp>
        <p:sp>
          <p:nvSpPr>
            <p:cNvPr id="271" name="Text 152">
              <a:extLst>
                <a:ext uri="{FF2B5EF4-FFF2-40B4-BE49-F238E27FC236}">
                  <a16:creationId xmlns:a16="http://schemas.microsoft.com/office/drawing/2014/main" id="{7D6FD06A-F821-7F41-6312-F480B8969275}"/>
                </a:ext>
              </a:extLst>
            </p:cNvPr>
            <p:cNvSpPr/>
            <p:nvPr/>
          </p:nvSpPr>
          <p:spPr>
            <a:xfrm>
              <a:off x="4846320" y="337616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Belgium</a:t>
              </a:r>
              <a:endParaRPr lang="en-US" sz="850">
                <a:latin typeface="Gill Sans Nova Light" panose="020B0302020104020203" pitchFamily="34" charset="0"/>
              </a:endParaRPr>
            </a:p>
          </p:txBody>
        </p:sp>
        <p:sp>
          <p:nvSpPr>
            <p:cNvPr id="272" name="Text 153">
              <a:extLst>
                <a:ext uri="{FF2B5EF4-FFF2-40B4-BE49-F238E27FC236}">
                  <a16:creationId xmlns:a16="http://schemas.microsoft.com/office/drawing/2014/main" id="{EF67212B-1E6E-E0FF-9EBB-93D1CBB9C700}"/>
                </a:ext>
              </a:extLst>
            </p:cNvPr>
            <p:cNvSpPr/>
            <p:nvPr/>
          </p:nvSpPr>
          <p:spPr>
            <a:xfrm>
              <a:off x="6172200" y="3376165"/>
              <a:ext cx="731520" cy="219456"/>
            </a:xfrm>
            <a:prstGeom prst="rect">
              <a:avLst/>
            </a:prstGeom>
            <a:noFill/>
            <a:ln/>
          </p:spPr>
          <p:txBody>
            <a:bodyPr wrap="square" rtlCol="0" anchor="ctr"/>
            <a:lstStyle/>
            <a:p>
              <a:pPr marL="0" indent="0" algn="ctr">
                <a:buNone/>
              </a:pPr>
              <a:r>
                <a:rPr lang="en-US" sz="850" b="1">
                  <a:solidFill>
                    <a:srgbClr val="1A7A4A"/>
                  </a:solidFill>
                  <a:latin typeface="Gill Sans Nova Light" panose="020B0302020104020203" pitchFamily="34" charset="0"/>
                  <a:ea typeface="Calibri" pitchFamily="34" charset="-122"/>
                  <a:cs typeface="Calibri" pitchFamily="34" charset="-120"/>
                </a:rPr>
                <a:t>0.053</a:t>
              </a:r>
              <a:endParaRPr lang="en-US" sz="850">
                <a:latin typeface="Gill Sans Nova Light" panose="020B0302020104020203" pitchFamily="34" charset="0"/>
              </a:endParaRPr>
            </a:p>
          </p:txBody>
        </p:sp>
        <p:sp>
          <p:nvSpPr>
            <p:cNvPr id="273" name="Text 154">
              <a:extLst>
                <a:ext uri="{FF2B5EF4-FFF2-40B4-BE49-F238E27FC236}">
                  <a16:creationId xmlns:a16="http://schemas.microsoft.com/office/drawing/2014/main" id="{EC23DFB8-0774-5CFE-5CBF-6997DB0466AD}"/>
                </a:ext>
              </a:extLst>
            </p:cNvPr>
            <p:cNvSpPr/>
            <p:nvPr/>
          </p:nvSpPr>
          <p:spPr>
            <a:xfrm>
              <a:off x="6949440" y="3376165"/>
              <a:ext cx="777240" cy="219456"/>
            </a:xfrm>
            <a:prstGeom prst="rect">
              <a:avLst/>
            </a:prstGeom>
            <a:noFill/>
            <a:ln/>
          </p:spPr>
          <p:txBody>
            <a:bodyPr wrap="square" rtlCol="0" anchor="ctr"/>
            <a:lstStyle/>
            <a:p>
              <a:pPr marL="0" indent="0" algn="ctr">
                <a:buNone/>
              </a:pPr>
              <a:r>
                <a:rPr lang="en-US" sz="850" b="1">
                  <a:solidFill>
                    <a:srgbClr val="1A7A4A"/>
                  </a:solidFill>
                  <a:latin typeface="Gill Sans Nova Light" panose="020B0302020104020203" pitchFamily="34" charset="0"/>
                  <a:ea typeface="Calibri" pitchFamily="34" charset="-122"/>
                  <a:cs typeface="Calibri" pitchFamily="34" charset="-120"/>
                </a:rPr>
                <a:t>0.013</a:t>
              </a:r>
              <a:endParaRPr lang="en-US" sz="850">
                <a:latin typeface="Gill Sans Nova Light" panose="020B0302020104020203" pitchFamily="34" charset="0"/>
              </a:endParaRPr>
            </a:p>
          </p:txBody>
        </p:sp>
        <p:sp>
          <p:nvSpPr>
            <p:cNvPr id="274" name="Text 155">
              <a:extLst>
                <a:ext uri="{FF2B5EF4-FFF2-40B4-BE49-F238E27FC236}">
                  <a16:creationId xmlns:a16="http://schemas.microsoft.com/office/drawing/2014/main" id="{B8085C78-B888-2B83-52BF-3E6103C43DA1}"/>
                </a:ext>
              </a:extLst>
            </p:cNvPr>
            <p:cNvSpPr/>
            <p:nvPr/>
          </p:nvSpPr>
          <p:spPr>
            <a:xfrm>
              <a:off x="7772400" y="3376165"/>
              <a:ext cx="1097280" cy="219456"/>
            </a:xfrm>
            <a:prstGeom prst="rect">
              <a:avLst/>
            </a:prstGeom>
            <a:noFill/>
            <a:ln/>
          </p:spPr>
          <p:txBody>
            <a:bodyPr wrap="square" lIns="91440" tIns="45720" rIns="91440" bIns="45720" rtlCol="0" anchor="ctr"/>
            <a:lstStyle/>
            <a:p>
              <a:pPr marL="0" indent="0" algn="ctr">
                <a:buNone/>
              </a:pPr>
              <a:r>
                <a:rPr lang="en-US" sz="800">
                  <a:solidFill>
                    <a:srgbClr val="C0392B"/>
                  </a:solidFill>
                  <a:latin typeface="Gill Sans Nova Light" panose="020B0302020104020203" pitchFamily="34" charset="0"/>
                  <a:ea typeface="+mn-lt"/>
                  <a:cs typeface="+mn-lt"/>
                </a:rPr>
                <a:t>-0.36</a:t>
              </a:r>
              <a:endParaRPr lang="en-US">
                <a:latin typeface="Gill Sans Nova Light" panose="020B0302020104020203" pitchFamily="34" charset="0"/>
              </a:endParaRPr>
            </a:p>
          </p:txBody>
        </p:sp>
        <p:sp>
          <p:nvSpPr>
            <p:cNvPr id="275" name="Shape 156">
              <a:extLst>
                <a:ext uri="{FF2B5EF4-FFF2-40B4-BE49-F238E27FC236}">
                  <a16:creationId xmlns:a16="http://schemas.microsoft.com/office/drawing/2014/main" id="{D5BED39A-2D5E-DC47-5C25-AB5CDEAC44AB}"/>
                </a:ext>
              </a:extLst>
            </p:cNvPr>
            <p:cNvSpPr/>
            <p:nvPr/>
          </p:nvSpPr>
          <p:spPr>
            <a:xfrm>
              <a:off x="4754880" y="3600193"/>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276" name="Shape 157">
              <a:extLst>
                <a:ext uri="{FF2B5EF4-FFF2-40B4-BE49-F238E27FC236}">
                  <a16:creationId xmlns:a16="http://schemas.microsoft.com/office/drawing/2014/main" id="{DE2E3DDC-1FCA-7435-A3B1-B6CD6989EA81}"/>
                </a:ext>
              </a:extLst>
            </p:cNvPr>
            <p:cNvSpPr/>
            <p:nvPr/>
          </p:nvSpPr>
          <p:spPr>
            <a:xfrm>
              <a:off x="4754880" y="3600193"/>
              <a:ext cx="45720" cy="274320"/>
            </a:xfrm>
            <a:prstGeom prst="rect">
              <a:avLst/>
            </a:prstGeom>
            <a:solidFill>
              <a:srgbClr val="1A7A4A"/>
            </a:solidFill>
            <a:ln w="12700">
              <a:solidFill>
                <a:srgbClr val="1A7A4A"/>
              </a:solidFill>
              <a:prstDash val="solid"/>
            </a:ln>
          </p:spPr>
          <p:txBody>
            <a:bodyPr/>
            <a:lstStyle/>
            <a:p>
              <a:endParaRPr lang="en-CH">
                <a:latin typeface="Gill Sans Nova Light" panose="020B0302020104020203" pitchFamily="34" charset="0"/>
              </a:endParaRPr>
            </a:p>
          </p:txBody>
        </p:sp>
        <p:sp>
          <p:nvSpPr>
            <p:cNvPr id="277" name="Text 158">
              <a:extLst>
                <a:ext uri="{FF2B5EF4-FFF2-40B4-BE49-F238E27FC236}">
                  <a16:creationId xmlns:a16="http://schemas.microsoft.com/office/drawing/2014/main" id="{021E4660-966C-AA89-D3A8-759DE929901C}"/>
                </a:ext>
              </a:extLst>
            </p:cNvPr>
            <p:cNvSpPr/>
            <p:nvPr/>
          </p:nvSpPr>
          <p:spPr>
            <a:xfrm>
              <a:off x="4846320" y="362762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Netherlands</a:t>
              </a:r>
              <a:endParaRPr lang="en-US" sz="850">
                <a:latin typeface="Gill Sans Nova Light" panose="020B0302020104020203" pitchFamily="34" charset="0"/>
              </a:endParaRPr>
            </a:p>
          </p:txBody>
        </p:sp>
        <p:sp>
          <p:nvSpPr>
            <p:cNvPr id="278" name="Text 159">
              <a:extLst>
                <a:ext uri="{FF2B5EF4-FFF2-40B4-BE49-F238E27FC236}">
                  <a16:creationId xmlns:a16="http://schemas.microsoft.com/office/drawing/2014/main" id="{1762DDDD-610C-BBDA-7E3D-396488EAB8BE}"/>
                </a:ext>
              </a:extLst>
            </p:cNvPr>
            <p:cNvSpPr/>
            <p:nvPr/>
          </p:nvSpPr>
          <p:spPr>
            <a:xfrm>
              <a:off x="6172200" y="3627625"/>
              <a:ext cx="731520" cy="219456"/>
            </a:xfrm>
            <a:prstGeom prst="rect">
              <a:avLst/>
            </a:prstGeom>
            <a:noFill/>
            <a:ln/>
          </p:spPr>
          <p:txBody>
            <a:bodyPr wrap="square" rtlCol="0" anchor="ctr"/>
            <a:lstStyle/>
            <a:p>
              <a:pPr marL="0" indent="0" algn="ctr">
                <a:buNone/>
              </a:pPr>
              <a:r>
                <a:rPr lang="en-US" sz="850" b="1">
                  <a:solidFill>
                    <a:srgbClr val="C0392B"/>
                  </a:solidFill>
                  <a:latin typeface="Gill Sans Nova Light" panose="020B0302020104020203" pitchFamily="34" charset="0"/>
                  <a:ea typeface="Calibri" pitchFamily="34" charset="-122"/>
                  <a:cs typeface="Calibri" pitchFamily="34" charset="-120"/>
                </a:rPr>
                <a:t>-0.115</a:t>
              </a:r>
              <a:endParaRPr lang="en-US" sz="850">
                <a:latin typeface="Gill Sans Nova Light" panose="020B0302020104020203" pitchFamily="34" charset="0"/>
              </a:endParaRPr>
            </a:p>
          </p:txBody>
        </p:sp>
        <p:sp>
          <p:nvSpPr>
            <p:cNvPr id="279" name="Text 160">
              <a:extLst>
                <a:ext uri="{FF2B5EF4-FFF2-40B4-BE49-F238E27FC236}">
                  <a16:creationId xmlns:a16="http://schemas.microsoft.com/office/drawing/2014/main" id="{1D65E8E5-4B79-6511-9BCD-BB52DEC87BD4}"/>
                </a:ext>
              </a:extLst>
            </p:cNvPr>
            <p:cNvSpPr/>
            <p:nvPr/>
          </p:nvSpPr>
          <p:spPr>
            <a:xfrm>
              <a:off x="6949440" y="3627625"/>
              <a:ext cx="777240" cy="219456"/>
            </a:xfrm>
            <a:prstGeom prst="rect">
              <a:avLst/>
            </a:prstGeom>
            <a:noFill/>
            <a:ln/>
          </p:spPr>
          <p:txBody>
            <a:bodyPr wrap="square" rtlCol="0" anchor="ctr"/>
            <a:lstStyle/>
            <a:p>
              <a:pPr marL="0" indent="0" algn="ctr">
                <a:buNone/>
              </a:pPr>
              <a:r>
                <a:rPr lang="en-US" sz="850" b="1">
                  <a:solidFill>
                    <a:srgbClr val="1A7A4A"/>
                  </a:solidFill>
                  <a:latin typeface="Gill Sans Nova Light" panose="020B0302020104020203" pitchFamily="34" charset="0"/>
                  <a:ea typeface="Calibri" pitchFamily="34" charset="-122"/>
                  <a:cs typeface="Calibri" pitchFamily="34" charset="-120"/>
                </a:rPr>
                <a:t>0.036</a:t>
              </a:r>
              <a:endParaRPr lang="en-US" sz="850">
                <a:latin typeface="Gill Sans Nova Light" panose="020B0302020104020203" pitchFamily="34" charset="0"/>
              </a:endParaRPr>
            </a:p>
          </p:txBody>
        </p:sp>
        <p:sp>
          <p:nvSpPr>
            <p:cNvPr id="280" name="Text 161">
              <a:extLst>
                <a:ext uri="{FF2B5EF4-FFF2-40B4-BE49-F238E27FC236}">
                  <a16:creationId xmlns:a16="http://schemas.microsoft.com/office/drawing/2014/main" id="{5AF776C1-A5E0-09B5-0EF0-37B5980B6A8A}"/>
                </a:ext>
              </a:extLst>
            </p:cNvPr>
            <p:cNvSpPr/>
            <p:nvPr/>
          </p:nvSpPr>
          <p:spPr>
            <a:xfrm>
              <a:off x="7772400" y="3627625"/>
              <a:ext cx="1097280" cy="219456"/>
            </a:xfrm>
            <a:prstGeom prst="rect">
              <a:avLst/>
            </a:prstGeom>
            <a:noFill/>
            <a:ln/>
          </p:spPr>
          <p:txBody>
            <a:bodyPr wrap="square" lIns="91440" tIns="45720" rIns="91440" bIns="45720" rtlCol="0" anchor="ctr"/>
            <a:lstStyle/>
            <a:p>
              <a:pPr marL="0" indent="0" algn="ctr">
                <a:buNone/>
              </a:pPr>
              <a:r>
                <a:rPr lang="en-US" sz="800">
                  <a:solidFill>
                    <a:srgbClr val="BF4236"/>
                  </a:solidFill>
                  <a:latin typeface="Gill Sans Nova Light" panose="020B0302020104020203" pitchFamily="34" charset="0"/>
                  <a:ea typeface="+mn-lt"/>
                  <a:cs typeface="+mn-lt"/>
                </a:rPr>
                <a:t>-0.60</a:t>
              </a:r>
              <a:endParaRPr lang="en-US">
                <a:solidFill>
                  <a:srgbClr val="BF4236"/>
                </a:solidFill>
                <a:latin typeface="Gill Sans Nova Light" panose="020B0302020104020203" pitchFamily="34" charset="0"/>
              </a:endParaRPr>
            </a:p>
          </p:txBody>
        </p:sp>
        <p:sp>
          <p:nvSpPr>
            <p:cNvPr id="281" name="Shape 162">
              <a:extLst>
                <a:ext uri="{FF2B5EF4-FFF2-40B4-BE49-F238E27FC236}">
                  <a16:creationId xmlns:a16="http://schemas.microsoft.com/office/drawing/2014/main" id="{085BADC3-7BCE-25BB-7357-7BBFAEDB72AC}"/>
                </a:ext>
              </a:extLst>
            </p:cNvPr>
            <p:cNvSpPr/>
            <p:nvPr/>
          </p:nvSpPr>
          <p:spPr>
            <a:xfrm>
              <a:off x="4754880" y="3851653"/>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282" name="Shape 163">
              <a:extLst>
                <a:ext uri="{FF2B5EF4-FFF2-40B4-BE49-F238E27FC236}">
                  <a16:creationId xmlns:a16="http://schemas.microsoft.com/office/drawing/2014/main" id="{C1868326-9758-3DA0-C7F4-C9D94F048147}"/>
                </a:ext>
              </a:extLst>
            </p:cNvPr>
            <p:cNvSpPr/>
            <p:nvPr/>
          </p:nvSpPr>
          <p:spPr>
            <a:xfrm>
              <a:off x="4754880" y="3851653"/>
              <a:ext cx="45720" cy="274320"/>
            </a:xfrm>
            <a:prstGeom prst="rect">
              <a:avLst/>
            </a:prstGeom>
            <a:solidFill>
              <a:srgbClr val="1A7A4A"/>
            </a:solidFill>
            <a:ln w="12700">
              <a:solidFill>
                <a:srgbClr val="1A7A4A"/>
              </a:solidFill>
              <a:prstDash val="solid"/>
            </a:ln>
          </p:spPr>
          <p:txBody>
            <a:bodyPr/>
            <a:lstStyle/>
            <a:p>
              <a:endParaRPr lang="en-CH">
                <a:latin typeface="Gill Sans Nova Light" panose="020B0302020104020203" pitchFamily="34" charset="0"/>
              </a:endParaRPr>
            </a:p>
          </p:txBody>
        </p:sp>
        <p:sp>
          <p:nvSpPr>
            <p:cNvPr id="283" name="Text 164">
              <a:extLst>
                <a:ext uri="{FF2B5EF4-FFF2-40B4-BE49-F238E27FC236}">
                  <a16:creationId xmlns:a16="http://schemas.microsoft.com/office/drawing/2014/main" id="{72E47461-2C9F-0011-4796-1E212EDBABDC}"/>
                </a:ext>
              </a:extLst>
            </p:cNvPr>
            <p:cNvSpPr/>
            <p:nvPr/>
          </p:nvSpPr>
          <p:spPr>
            <a:xfrm>
              <a:off x="4846320" y="387908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Sweden</a:t>
              </a:r>
              <a:endParaRPr lang="en-US" sz="850">
                <a:latin typeface="Gill Sans Nova Light" panose="020B0302020104020203" pitchFamily="34" charset="0"/>
              </a:endParaRPr>
            </a:p>
          </p:txBody>
        </p:sp>
        <p:sp>
          <p:nvSpPr>
            <p:cNvPr id="284" name="Text 165">
              <a:extLst>
                <a:ext uri="{FF2B5EF4-FFF2-40B4-BE49-F238E27FC236}">
                  <a16:creationId xmlns:a16="http://schemas.microsoft.com/office/drawing/2014/main" id="{2D095F2A-8CF2-8B76-9ED9-19E2CC26BEF4}"/>
                </a:ext>
              </a:extLst>
            </p:cNvPr>
            <p:cNvSpPr/>
            <p:nvPr/>
          </p:nvSpPr>
          <p:spPr>
            <a:xfrm>
              <a:off x="6172200" y="3879085"/>
              <a:ext cx="731520" cy="219456"/>
            </a:xfrm>
            <a:prstGeom prst="rect">
              <a:avLst/>
            </a:prstGeom>
            <a:noFill/>
            <a:ln/>
          </p:spPr>
          <p:txBody>
            <a:bodyPr wrap="square" rtlCol="0" anchor="ctr"/>
            <a:lstStyle/>
            <a:p>
              <a:pPr marL="0" indent="0" algn="ctr">
                <a:buNone/>
              </a:pPr>
              <a:r>
                <a:rPr lang="en-US" sz="850" b="1">
                  <a:solidFill>
                    <a:srgbClr val="64748B"/>
                  </a:solidFill>
                  <a:latin typeface="Gill Sans Nova Light" panose="020B0302020104020203" pitchFamily="34" charset="0"/>
                  <a:ea typeface="Calibri" pitchFamily="34" charset="-122"/>
                  <a:cs typeface="Calibri" pitchFamily="34" charset="-120"/>
                </a:rPr>
                <a:t>N/A</a:t>
              </a:r>
              <a:endParaRPr lang="en-US" sz="850">
                <a:latin typeface="Gill Sans Nova Light" panose="020B0302020104020203" pitchFamily="34" charset="0"/>
              </a:endParaRPr>
            </a:p>
          </p:txBody>
        </p:sp>
        <p:sp>
          <p:nvSpPr>
            <p:cNvPr id="285" name="Text 166">
              <a:extLst>
                <a:ext uri="{FF2B5EF4-FFF2-40B4-BE49-F238E27FC236}">
                  <a16:creationId xmlns:a16="http://schemas.microsoft.com/office/drawing/2014/main" id="{4C8B06C2-EABF-1E23-CFDB-16359DD0CDC2}"/>
                </a:ext>
              </a:extLst>
            </p:cNvPr>
            <p:cNvSpPr/>
            <p:nvPr/>
          </p:nvSpPr>
          <p:spPr>
            <a:xfrm>
              <a:off x="6949440" y="3879085"/>
              <a:ext cx="777240" cy="219456"/>
            </a:xfrm>
            <a:prstGeom prst="rect">
              <a:avLst/>
            </a:prstGeom>
            <a:noFill/>
            <a:ln/>
          </p:spPr>
          <p:txBody>
            <a:bodyPr wrap="square" rtlCol="0" anchor="ctr"/>
            <a:lstStyle/>
            <a:p>
              <a:pPr marL="0" indent="0" algn="ctr">
                <a:buNone/>
              </a:pPr>
              <a:r>
                <a:rPr lang="en-US" sz="850" b="1">
                  <a:solidFill>
                    <a:srgbClr val="1A7A4A"/>
                  </a:solidFill>
                  <a:latin typeface="Gill Sans Nova Light" panose="020B0302020104020203" pitchFamily="34" charset="0"/>
                  <a:ea typeface="Calibri" pitchFamily="34" charset="-122"/>
                  <a:cs typeface="Calibri" pitchFamily="34" charset="-120"/>
                </a:rPr>
                <a:t>0.056</a:t>
              </a:r>
              <a:endParaRPr lang="en-US" sz="850">
                <a:latin typeface="Gill Sans Nova Light" panose="020B0302020104020203" pitchFamily="34" charset="0"/>
              </a:endParaRPr>
            </a:p>
          </p:txBody>
        </p:sp>
        <p:sp>
          <p:nvSpPr>
            <p:cNvPr id="286" name="Text 167">
              <a:extLst>
                <a:ext uri="{FF2B5EF4-FFF2-40B4-BE49-F238E27FC236}">
                  <a16:creationId xmlns:a16="http://schemas.microsoft.com/office/drawing/2014/main" id="{BC88CAC0-14CE-D7EE-CAB1-A6FE462CA6A1}"/>
                </a:ext>
              </a:extLst>
            </p:cNvPr>
            <p:cNvSpPr/>
            <p:nvPr/>
          </p:nvSpPr>
          <p:spPr>
            <a:xfrm>
              <a:off x="7772400" y="3879085"/>
              <a:ext cx="1097280" cy="219456"/>
            </a:xfrm>
            <a:prstGeom prst="rect">
              <a:avLst/>
            </a:prstGeom>
            <a:noFill/>
            <a:ln/>
          </p:spPr>
          <p:txBody>
            <a:bodyPr wrap="square" lIns="91440" tIns="45720" rIns="91440" bIns="45720" rtlCol="0" anchor="ctr"/>
            <a:lstStyle/>
            <a:p>
              <a:pPr marL="0" indent="0" algn="ctr">
                <a:buNone/>
              </a:pPr>
              <a:r>
                <a:rPr lang="en-US" sz="800">
                  <a:solidFill>
                    <a:srgbClr val="BF4236"/>
                  </a:solidFill>
                  <a:latin typeface="Gill Sans Nova Light" panose="020B0302020104020203" pitchFamily="34" charset="0"/>
                  <a:ea typeface="+mn-lt"/>
                  <a:cs typeface="+mn-lt"/>
                </a:rPr>
                <a:t>-0.15</a:t>
              </a:r>
              <a:endParaRPr lang="en-US">
                <a:solidFill>
                  <a:srgbClr val="BF4236"/>
                </a:solidFill>
                <a:latin typeface="Gill Sans Nova Light" panose="020B0302020104020203" pitchFamily="34" charset="0"/>
              </a:endParaRPr>
            </a:p>
          </p:txBody>
        </p:sp>
        <p:sp>
          <p:nvSpPr>
            <p:cNvPr id="287" name="Shape 168">
              <a:extLst>
                <a:ext uri="{FF2B5EF4-FFF2-40B4-BE49-F238E27FC236}">
                  <a16:creationId xmlns:a16="http://schemas.microsoft.com/office/drawing/2014/main" id="{E5C78531-268F-2622-17E4-1C751CA26711}"/>
                </a:ext>
              </a:extLst>
            </p:cNvPr>
            <p:cNvSpPr/>
            <p:nvPr/>
          </p:nvSpPr>
          <p:spPr>
            <a:xfrm>
              <a:off x="4754880" y="4128516"/>
              <a:ext cx="4206240" cy="274320"/>
            </a:xfrm>
            <a:prstGeom prst="rect">
              <a:avLst/>
            </a:prstGeom>
            <a:solidFill>
              <a:srgbClr val="F0F4FA"/>
            </a:solidFill>
            <a:ln w="12700">
              <a:solidFill>
                <a:srgbClr val="E2E8F0"/>
              </a:solidFill>
              <a:prstDash val="solid"/>
            </a:ln>
          </p:spPr>
          <p:txBody>
            <a:bodyPr/>
            <a:lstStyle/>
            <a:p>
              <a:endParaRPr lang="en-CH">
                <a:latin typeface="Gill Sans Nova Light" panose="020B0302020104020203" pitchFamily="34" charset="0"/>
              </a:endParaRPr>
            </a:p>
          </p:txBody>
        </p:sp>
        <p:sp>
          <p:nvSpPr>
            <p:cNvPr id="288" name="Shape 169">
              <a:extLst>
                <a:ext uri="{FF2B5EF4-FFF2-40B4-BE49-F238E27FC236}">
                  <a16:creationId xmlns:a16="http://schemas.microsoft.com/office/drawing/2014/main" id="{4375C401-FB89-F26A-1CC2-8A8DA03C767B}"/>
                </a:ext>
              </a:extLst>
            </p:cNvPr>
            <p:cNvSpPr/>
            <p:nvPr/>
          </p:nvSpPr>
          <p:spPr>
            <a:xfrm>
              <a:off x="4754880" y="4128516"/>
              <a:ext cx="45720" cy="274320"/>
            </a:xfrm>
            <a:prstGeom prst="rect">
              <a:avLst/>
            </a:prstGeom>
            <a:solidFill>
              <a:srgbClr val="1A7A4A"/>
            </a:solidFill>
            <a:ln w="12700">
              <a:solidFill>
                <a:srgbClr val="1A7A4A"/>
              </a:solidFill>
              <a:prstDash val="solid"/>
            </a:ln>
          </p:spPr>
          <p:txBody>
            <a:bodyPr/>
            <a:lstStyle/>
            <a:p>
              <a:endParaRPr lang="en-CH">
                <a:latin typeface="Gill Sans Nova Light" panose="020B0302020104020203" pitchFamily="34" charset="0"/>
              </a:endParaRPr>
            </a:p>
          </p:txBody>
        </p:sp>
        <p:sp>
          <p:nvSpPr>
            <p:cNvPr id="289" name="Text 170">
              <a:extLst>
                <a:ext uri="{FF2B5EF4-FFF2-40B4-BE49-F238E27FC236}">
                  <a16:creationId xmlns:a16="http://schemas.microsoft.com/office/drawing/2014/main" id="{BB6289AC-6361-6316-CE26-BB1434C12515}"/>
                </a:ext>
              </a:extLst>
            </p:cNvPr>
            <p:cNvSpPr/>
            <p:nvPr/>
          </p:nvSpPr>
          <p:spPr>
            <a:xfrm>
              <a:off x="4846320" y="4130545"/>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Switzerland</a:t>
              </a:r>
              <a:endParaRPr lang="en-US" sz="850">
                <a:latin typeface="Gill Sans Nova Light" panose="020B0302020104020203" pitchFamily="34" charset="0"/>
              </a:endParaRPr>
            </a:p>
          </p:txBody>
        </p:sp>
        <p:sp>
          <p:nvSpPr>
            <p:cNvPr id="290" name="Text 171">
              <a:extLst>
                <a:ext uri="{FF2B5EF4-FFF2-40B4-BE49-F238E27FC236}">
                  <a16:creationId xmlns:a16="http://schemas.microsoft.com/office/drawing/2014/main" id="{CB91FB51-1C06-823F-74E1-874D66003668}"/>
                </a:ext>
              </a:extLst>
            </p:cNvPr>
            <p:cNvSpPr/>
            <p:nvPr/>
          </p:nvSpPr>
          <p:spPr>
            <a:xfrm>
              <a:off x="6172200" y="4130545"/>
              <a:ext cx="731520" cy="219456"/>
            </a:xfrm>
            <a:prstGeom prst="rect">
              <a:avLst/>
            </a:prstGeom>
            <a:noFill/>
            <a:ln/>
          </p:spPr>
          <p:txBody>
            <a:bodyPr wrap="square" rtlCol="0" anchor="ctr"/>
            <a:lstStyle/>
            <a:p>
              <a:pPr marL="0" indent="0" algn="ctr">
                <a:buNone/>
              </a:pPr>
              <a:r>
                <a:rPr lang="en-US" sz="850" b="1">
                  <a:solidFill>
                    <a:srgbClr val="1A7A4A"/>
                  </a:solidFill>
                  <a:latin typeface="Gill Sans Nova Light" panose="020B0302020104020203" pitchFamily="34" charset="0"/>
                  <a:ea typeface="Calibri" pitchFamily="34" charset="-122"/>
                  <a:cs typeface="Calibri" pitchFamily="34" charset="-120"/>
                </a:rPr>
                <a:t>0.122</a:t>
              </a:r>
              <a:endParaRPr lang="en-US" sz="850">
                <a:latin typeface="Gill Sans Nova Light" panose="020B0302020104020203" pitchFamily="34" charset="0"/>
              </a:endParaRPr>
            </a:p>
          </p:txBody>
        </p:sp>
        <p:sp>
          <p:nvSpPr>
            <p:cNvPr id="291" name="Text 172">
              <a:extLst>
                <a:ext uri="{FF2B5EF4-FFF2-40B4-BE49-F238E27FC236}">
                  <a16:creationId xmlns:a16="http://schemas.microsoft.com/office/drawing/2014/main" id="{8D1D77E9-2299-8B6E-A4A9-BE0F2BC88683}"/>
                </a:ext>
              </a:extLst>
            </p:cNvPr>
            <p:cNvSpPr/>
            <p:nvPr/>
          </p:nvSpPr>
          <p:spPr>
            <a:xfrm>
              <a:off x="6949440" y="4130545"/>
              <a:ext cx="777240" cy="219456"/>
            </a:xfrm>
            <a:prstGeom prst="rect">
              <a:avLst/>
            </a:prstGeom>
            <a:noFill/>
            <a:ln/>
          </p:spPr>
          <p:txBody>
            <a:bodyPr wrap="square" rtlCol="0" anchor="ctr"/>
            <a:lstStyle/>
            <a:p>
              <a:pPr marL="0" indent="0" algn="ctr">
                <a:buNone/>
              </a:pPr>
              <a:r>
                <a:rPr lang="en-US" sz="850" b="1">
                  <a:solidFill>
                    <a:srgbClr val="1A7A4A"/>
                  </a:solidFill>
                  <a:latin typeface="Gill Sans Nova Light" panose="020B0302020104020203" pitchFamily="34" charset="0"/>
                  <a:ea typeface="Calibri" pitchFamily="34" charset="-122"/>
                  <a:cs typeface="Calibri" pitchFamily="34" charset="-120"/>
                </a:rPr>
                <a:t>0.167</a:t>
              </a:r>
              <a:endParaRPr lang="en-US" sz="850">
                <a:latin typeface="Gill Sans Nova Light" panose="020B0302020104020203" pitchFamily="34" charset="0"/>
              </a:endParaRPr>
            </a:p>
          </p:txBody>
        </p:sp>
        <p:sp>
          <p:nvSpPr>
            <p:cNvPr id="292" name="Text 173">
              <a:extLst>
                <a:ext uri="{FF2B5EF4-FFF2-40B4-BE49-F238E27FC236}">
                  <a16:creationId xmlns:a16="http://schemas.microsoft.com/office/drawing/2014/main" id="{CE4B619F-C6A0-9EE6-04F9-3582976CF680}"/>
                </a:ext>
              </a:extLst>
            </p:cNvPr>
            <p:cNvSpPr/>
            <p:nvPr/>
          </p:nvSpPr>
          <p:spPr>
            <a:xfrm>
              <a:off x="7772400" y="4130545"/>
              <a:ext cx="1097280" cy="219456"/>
            </a:xfrm>
            <a:prstGeom prst="rect">
              <a:avLst/>
            </a:prstGeom>
            <a:noFill/>
            <a:ln/>
          </p:spPr>
          <p:txBody>
            <a:bodyPr wrap="square" lIns="91440" tIns="45720" rIns="91440" bIns="45720" rtlCol="0" anchor="ctr"/>
            <a:lstStyle/>
            <a:p>
              <a:pPr marL="0" indent="0" algn="ctr">
                <a:buNone/>
              </a:pPr>
              <a:r>
                <a:rPr lang="en-US" sz="800">
                  <a:solidFill>
                    <a:srgbClr val="BF4236"/>
                  </a:solidFill>
                  <a:latin typeface="Gill Sans Nova Light" panose="020B0302020104020203" pitchFamily="34" charset="0"/>
                  <a:ea typeface="+mn-lt"/>
                  <a:cs typeface="+mn-lt"/>
                </a:rPr>
                <a:t>-0.71</a:t>
              </a:r>
              <a:endParaRPr lang="en-US">
                <a:solidFill>
                  <a:srgbClr val="BF4236"/>
                </a:solidFill>
                <a:latin typeface="Gill Sans Nova Light" panose="020B0302020104020203" pitchFamily="34" charset="0"/>
              </a:endParaRPr>
            </a:p>
          </p:txBody>
        </p:sp>
        <p:sp>
          <p:nvSpPr>
            <p:cNvPr id="293" name="Shape 174">
              <a:extLst>
                <a:ext uri="{FF2B5EF4-FFF2-40B4-BE49-F238E27FC236}">
                  <a16:creationId xmlns:a16="http://schemas.microsoft.com/office/drawing/2014/main" id="{A37F7379-5EAF-90AD-4EC8-15DAA4BC92EE}"/>
                </a:ext>
              </a:extLst>
            </p:cNvPr>
            <p:cNvSpPr/>
            <p:nvPr/>
          </p:nvSpPr>
          <p:spPr>
            <a:xfrm>
              <a:off x="4754880" y="4379976"/>
              <a:ext cx="4206240" cy="274320"/>
            </a:xfrm>
            <a:prstGeom prst="rect">
              <a:avLst/>
            </a:prstGeom>
            <a:solidFill>
              <a:srgbClr val="FFFFFF"/>
            </a:solidFill>
            <a:ln w="12700">
              <a:solidFill>
                <a:srgbClr val="E2E8F0"/>
              </a:solidFill>
              <a:prstDash val="solid"/>
            </a:ln>
          </p:spPr>
          <p:txBody>
            <a:bodyPr/>
            <a:lstStyle/>
            <a:p>
              <a:endParaRPr lang="en-CH">
                <a:latin typeface="Gill Sans Nova Light" panose="020B0302020104020203" pitchFamily="34" charset="0"/>
              </a:endParaRPr>
            </a:p>
          </p:txBody>
        </p:sp>
        <p:sp>
          <p:nvSpPr>
            <p:cNvPr id="294" name="Shape 175">
              <a:extLst>
                <a:ext uri="{FF2B5EF4-FFF2-40B4-BE49-F238E27FC236}">
                  <a16:creationId xmlns:a16="http://schemas.microsoft.com/office/drawing/2014/main" id="{10F6BA0E-BB89-43F3-84F1-06356CE7AC4C}"/>
                </a:ext>
              </a:extLst>
            </p:cNvPr>
            <p:cNvSpPr/>
            <p:nvPr/>
          </p:nvSpPr>
          <p:spPr>
            <a:xfrm>
              <a:off x="4754880" y="4379976"/>
              <a:ext cx="45720" cy="274320"/>
            </a:xfrm>
            <a:prstGeom prst="rect">
              <a:avLst/>
            </a:prstGeom>
            <a:solidFill>
              <a:srgbClr val="64748B"/>
            </a:solidFill>
            <a:ln w="12700">
              <a:solidFill>
                <a:srgbClr val="64748B"/>
              </a:solidFill>
              <a:prstDash val="solid"/>
            </a:ln>
          </p:spPr>
          <p:txBody>
            <a:bodyPr/>
            <a:lstStyle/>
            <a:p>
              <a:endParaRPr lang="en-CH">
                <a:latin typeface="Gill Sans Nova Light" panose="020B0302020104020203" pitchFamily="34" charset="0"/>
              </a:endParaRPr>
            </a:p>
          </p:txBody>
        </p:sp>
        <p:sp>
          <p:nvSpPr>
            <p:cNvPr id="295" name="Text 176">
              <a:extLst>
                <a:ext uri="{FF2B5EF4-FFF2-40B4-BE49-F238E27FC236}">
                  <a16:creationId xmlns:a16="http://schemas.microsoft.com/office/drawing/2014/main" id="{E421A6BC-1303-470E-CAFA-6CDC187353E6}"/>
                </a:ext>
              </a:extLst>
            </p:cNvPr>
            <p:cNvSpPr/>
            <p:nvPr/>
          </p:nvSpPr>
          <p:spPr>
            <a:xfrm>
              <a:off x="4846320" y="4407408"/>
              <a:ext cx="1280160" cy="219456"/>
            </a:xfrm>
            <a:prstGeom prst="rect">
              <a:avLst/>
            </a:prstGeom>
            <a:noFill/>
            <a:ln/>
          </p:spPr>
          <p:txBody>
            <a:bodyPr wrap="square" rtlCol="0" anchor="ctr"/>
            <a:lstStyle/>
            <a:p>
              <a:pPr marL="0" indent="0">
                <a:buNone/>
              </a:pPr>
              <a:r>
                <a:rPr lang="en-US" sz="850">
                  <a:solidFill>
                    <a:srgbClr val="1E293B"/>
                  </a:solidFill>
                  <a:latin typeface="Gill Sans Nova Light" panose="020B0302020104020203" pitchFamily="34" charset="0"/>
                  <a:ea typeface="Calibri" pitchFamily="34" charset="-122"/>
                  <a:cs typeface="Calibri" pitchFamily="34" charset="-120"/>
                </a:rPr>
                <a:t>Denmark</a:t>
              </a:r>
              <a:endParaRPr lang="en-US" sz="850">
                <a:latin typeface="Gill Sans Nova Light" panose="020B0302020104020203" pitchFamily="34" charset="0"/>
              </a:endParaRPr>
            </a:p>
          </p:txBody>
        </p:sp>
        <p:sp>
          <p:nvSpPr>
            <p:cNvPr id="296" name="Text 177">
              <a:extLst>
                <a:ext uri="{FF2B5EF4-FFF2-40B4-BE49-F238E27FC236}">
                  <a16:creationId xmlns:a16="http://schemas.microsoft.com/office/drawing/2014/main" id="{E28976DC-CBDA-1D3F-51FF-B270FE66F34B}"/>
                </a:ext>
              </a:extLst>
            </p:cNvPr>
            <p:cNvSpPr/>
            <p:nvPr/>
          </p:nvSpPr>
          <p:spPr>
            <a:xfrm>
              <a:off x="6172200" y="4407408"/>
              <a:ext cx="731520" cy="219456"/>
            </a:xfrm>
            <a:prstGeom prst="rect">
              <a:avLst/>
            </a:prstGeom>
            <a:noFill/>
            <a:ln/>
          </p:spPr>
          <p:txBody>
            <a:bodyPr wrap="square" rtlCol="0" anchor="ctr"/>
            <a:lstStyle/>
            <a:p>
              <a:pPr marL="0" indent="0" algn="ctr">
                <a:buNone/>
              </a:pPr>
              <a:r>
                <a:rPr lang="en-US" sz="850" b="1">
                  <a:solidFill>
                    <a:srgbClr val="64748B"/>
                  </a:solidFill>
                  <a:latin typeface="Gill Sans Nova Light" panose="020B0302020104020203" pitchFamily="34" charset="0"/>
                  <a:ea typeface="Calibri" pitchFamily="34" charset="-122"/>
                  <a:cs typeface="Calibri" pitchFamily="34" charset="-120"/>
                </a:rPr>
                <a:t>N/A</a:t>
              </a:r>
              <a:endParaRPr lang="en-US" sz="850">
                <a:latin typeface="Gill Sans Nova Light" panose="020B0302020104020203" pitchFamily="34" charset="0"/>
              </a:endParaRPr>
            </a:p>
          </p:txBody>
        </p:sp>
        <p:sp>
          <p:nvSpPr>
            <p:cNvPr id="297" name="Text 178">
              <a:extLst>
                <a:ext uri="{FF2B5EF4-FFF2-40B4-BE49-F238E27FC236}">
                  <a16:creationId xmlns:a16="http://schemas.microsoft.com/office/drawing/2014/main" id="{0469639D-37B2-BDF3-E456-BFB4B0952504}"/>
                </a:ext>
              </a:extLst>
            </p:cNvPr>
            <p:cNvSpPr/>
            <p:nvPr/>
          </p:nvSpPr>
          <p:spPr>
            <a:xfrm>
              <a:off x="6949440" y="4407408"/>
              <a:ext cx="777240" cy="219456"/>
            </a:xfrm>
            <a:prstGeom prst="rect">
              <a:avLst/>
            </a:prstGeom>
            <a:noFill/>
            <a:ln/>
          </p:spPr>
          <p:txBody>
            <a:bodyPr wrap="square" rtlCol="0" anchor="ctr"/>
            <a:lstStyle/>
            <a:p>
              <a:pPr marL="0" indent="0" algn="ctr">
                <a:buNone/>
              </a:pPr>
              <a:r>
                <a:rPr lang="en-US" sz="850" b="1">
                  <a:solidFill>
                    <a:srgbClr val="64748B"/>
                  </a:solidFill>
                  <a:latin typeface="Gill Sans Nova Light" panose="020B0302020104020203" pitchFamily="34" charset="0"/>
                  <a:ea typeface="Calibri" pitchFamily="34" charset="-122"/>
                  <a:cs typeface="Calibri" pitchFamily="34" charset="-120"/>
                </a:rPr>
                <a:t>N/A</a:t>
              </a:r>
              <a:endParaRPr lang="en-US" sz="850">
                <a:latin typeface="Gill Sans Nova Light" panose="020B0302020104020203" pitchFamily="34" charset="0"/>
              </a:endParaRPr>
            </a:p>
          </p:txBody>
        </p:sp>
        <p:sp>
          <p:nvSpPr>
            <p:cNvPr id="298" name="Text 179">
              <a:extLst>
                <a:ext uri="{FF2B5EF4-FFF2-40B4-BE49-F238E27FC236}">
                  <a16:creationId xmlns:a16="http://schemas.microsoft.com/office/drawing/2014/main" id="{1047C829-D93F-E755-D264-CFEC26E19FF6}"/>
                </a:ext>
              </a:extLst>
            </p:cNvPr>
            <p:cNvSpPr/>
            <p:nvPr/>
          </p:nvSpPr>
          <p:spPr>
            <a:xfrm>
              <a:off x="7772400" y="4407408"/>
              <a:ext cx="1097280" cy="219456"/>
            </a:xfrm>
            <a:prstGeom prst="rect">
              <a:avLst/>
            </a:prstGeom>
            <a:noFill/>
            <a:ln/>
          </p:spPr>
          <p:txBody>
            <a:bodyPr wrap="square" lIns="91440" tIns="45720" rIns="91440" bIns="45720" rtlCol="0" anchor="ctr"/>
            <a:lstStyle/>
            <a:p>
              <a:pPr marL="0" indent="0" algn="ctr">
                <a:buNone/>
              </a:pPr>
              <a:r>
                <a:rPr lang="en-US" sz="800">
                  <a:solidFill>
                    <a:srgbClr val="BF4236"/>
                  </a:solidFill>
                  <a:latin typeface="Gill Sans Nova Light" panose="020B0302020104020203" pitchFamily="34" charset="0"/>
                  <a:ea typeface="+mn-lt"/>
                  <a:cs typeface="+mn-lt"/>
                </a:rPr>
                <a:t>-0.62</a:t>
              </a:r>
              <a:endParaRPr lang="en-US">
                <a:solidFill>
                  <a:srgbClr val="BF4236"/>
                </a:solidFill>
                <a:latin typeface="Gill Sans Nova Light" panose="020B0302020104020203" pitchFamily="34" charset="0"/>
              </a:endParaRPr>
            </a:p>
          </p:txBody>
        </p:sp>
      </p:grpSp>
      <p:grpSp>
        <p:nvGrpSpPr>
          <p:cNvPr id="308" name="Group 307">
            <a:extLst>
              <a:ext uri="{FF2B5EF4-FFF2-40B4-BE49-F238E27FC236}">
                <a16:creationId xmlns:a16="http://schemas.microsoft.com/office/drawing/2014/main" id="{2ADE51A8-3C82-8CB1-A3DF-79B718112586}"/>
              </a:ext>
            </a:extLst>
          </p:cNvPr>
          <p:cNvGrpSpPr/>
          <p:nvPr/>
        </p:nvGrpSpPr>
        <p:grpSpPr>
          <a:xfrm>
            <a:off x="6268983" y="318679"/>
            <a:ext cx="2240280" cy="164592"/>
            <a:chOff x="182880" y="4754880"/>
            <a:chExt cx="2240280" cy="164592"/>
          </a:xfrm>
        </p:grpSpPr>
        <p:sp>
          <p:nvSpPr>
            <p:cNvPr id="299" name="Shape 180">
              <a:extLst>
                <a:ext uri="{FF2B5EF4-FFF2-40B4-BE49-F238E27FC236}">
                  <a16:creationId xmlns:a16="http://schemas.microsoft.com/office/drawing/2014/main" id="{A45368E4-C5BC-27E5-197E-8D39A45F92F9}"/>
                </a:ext>
              </a:extLst>
            </p:cNvPr>
            <p:cNvSpPr/>
            <p:nvPr/>
          </p:nvSpPr>
          <p:spPr>
            <a:xfrm>
              <a:off x="182880" y="4773168"/>
              <a:ext cx="91440" cy="91440"/>
            </a:xfrm>
            <a:prstGeom prst="rect">
              <a:avLst/>
            </a:prstGeom>
            <a:solidFill>
              <a:srgbClr val="C0392B"/>
            </a:solidFill>
            <a:ln w="12700">
              <a:solidFill>
                <a:srgbClr val="C0392B"/>
              </a:solidFill>
              <a:prstDash val="solid"/>
            </a:ln>
          </p:spPr>
          <p:txBody>
            <a:bodyPr/>
            <a:lstStyle/>
            <a:p>
              <a:endParaRPr lang="en-CH"/>
            </a:p>
          </p:txBody>
        </p:sp>
        <p:sp>
          <p:nvSpPr>
            <p:cNvPr id="300" name="Text 181">
              <a:extLst>
                <a:ext uri="{FF2B5EF4-FFF2-40B4-BE49-F238E27FC236}">
                  <a16:creationId xmlns:a16="http://schemas.microsoft.com/office/drawing/2014/main" id="{593F529B-21E8-5A37-E8AA-55C444ACE873}"/>
                </a:ext>
              </a:extLst>
            </p:cNvPr>
            <p:cNvSpPr/>
            <p:nvPr/>
          </p:nvSpPr>
          <p:spPr>
            <a:xfrm>
              <a:off x="320040" y="4754880"/>
              <a:ext cx="2103120" cy="164592"/>
            </a:xfrm>
            <a:prstGeom prst="rect">
              <a:avLst/>
            </a:prstGeom>
            <a:noFill/>
            <a:ln/>
          </p:spPr>
          <p:txBody>
            <a:bodyPr wrap="square" rtlCol="0" anchor="ctr"/>
            <a:lstStyle/>
            <a:p>
              <a:pPr marL="0" indent="0">
                <a:buNone/>
              </a:pPr>
              <a:r>
                <a:rPr lang="en-US" sz="750">
                  <a:solidFill>
                    <a:srgbClr val="64748B"/>
                  </a:solidFill>
                  <a:latin typeface="Calibri" pitchFamily="34" charset="0"/>
                  <a:ea typeface="Calibri" pitchFamily="34" charset="-122"/>
                  <a:cs typeface="Calibri" pitchFamily="34" charset="-120"/>
                </a:rPr>
                <a:t>Strongly bank-based (&lt; −0.2)</a:t>
              </a:r>
              <a:endParaRPr lang="en-US" sz="750"/>
            </a:p>
          </p:txBody>
        </p:sp>
      </p:grpSp>
      <p:grpSp>
        <p:nvGrpSpPr>
          <p:cNvPr id="309" name="Group 308">
            <a:extLst>
              <a:ext uri="{FF2B5EF4-FFF2-40B4-BE49-F238E27FC236}">
                <a16:creationId xmlns:a16="http://schemas.microsoft.com/office/drawing/2014/main" id="{8A138DB5-82E0-5EF8-4711-8000E1FF779E}"/>
              </a:ext>
            </a:extLst>
          </p:cNvPr>
          <p:cNvGrpSpPr/>
          <p:nvPr/>
        </p:nvGrpSpPr>
        <p:grpSpPr>
          <a:xfrm>
            <a:off x="6268983" y="516477"/>
            <a:ext cx="2240280" cy="164592"/>
            <a:chOff x="2468880" y="4754880"/>
            <a:chExt cx="2240280" cy="164592"/>
          </a:xfrm>
        </p:grpSpPr>
        <p:sp>
          <p:nvSpPr>
            <p:cNvPr id="301" name="Shape 182">
              <a:extLst>
                <a:ext uri="{FF2B5EF4-FFF2-40B4-BE49-F238E27FC236}">
                  <a16:creationId xmlns:a16="http://schemas.microsoft.com/office/drawing/2014/main" id="{A208F98B-24B2-AA8E-A921-31039023F842}"/>
                </a:ext>
              </a:extLst>
            </p:cNvPr>
            <p:cNvSpPr/>
            <p:nvPr/>
          </p:nvSpPr>
          <p:spPr>
            <a:xfrm>
              <a:off x="2468880" y="4773169"/>
              <a:ext cx="91440" cy="91440"/>
            </a:xfrm>
            <a:prstGeom prst="rect">
              <a:avLst/>
            </a:prstGeom>
            <a:solidFill>
              <a:srgbClr val="E67E22"/>
            </a:solidFill>
            <a:ln w="12700">
              <a:solidFill>
                <a:srgbClr val="E67E22"/>
              </a:solidFill>
              <a:prstDash val="solid"/>
            </a:ln>
          </p:spPr>
          <p:txBody>
            <a:bodyPr/>
            <a:lstStyle/>
            <a:p>
              <a:endParaRPr lang="en-CH">
                <a:latin typeface="Gill Sans Nova Light" panose="020B0302020104020203" pitchFamily="34" charset="0"/>
              </a:endParaRPr>
            </a:p>
          </p:txBody>
        </p:sp>
        <p:sp>
          <p:nvSpPr>
            <p:cNvPr id="302" name="Text 183">
              <a:extLst>
                <a:ext uri="{FF2B5EF4-FFF2-40B4-BE49-F238E27FC236}">
                  <a16:creationId xmlns:a16="http://schemas.microsoft.com/office/drawing/2014/main" id="{9352BD19-BEC9-6F49-8968-FBD198FDEC01}"/>
                </a:ext>
              </a:extLst>
            </p:cNvPr>
            <p:cNvSpPr/>
            <p:nvPr/>
          </p:nvSpPr>
          <p:spPr>
            <a:xfrm>
              <a:off x="2606040" y="4754880"/>
              <a:ext cx="2103120" cy="164592"/>
            </a:xfrm>
            <a:prstGeom prst="rect">
              <a:avLst/>
            </a:prstGeom>
            <a:noFill/>
            <a:ln/>
          </p:spPr>
          <p:txBody>
            <a:bodyPr wrap="square" rtlCol="0" anchor="ctr"/>
            <a:lstStyle/>
            <a:p>
              <a:pPr marL="0" indent="0">
                <a:buNone/>
              </a:pPr>
              <a:r>
                <a:rPr lang="en-US" sz="750">
                  <a:solidFill>
                    <a:srgbClr val="64748B"/>
                  </a:solidFill>
                  <a:latin typeface="Gill Sans Nova Light" panose="020B0302020104020203" pitchFamily="34" charset="0"/>
                  <a:ea typeface="Calibri" pitchFamily="34" charset="-122"/>
                  <a:cs typeface="Calibri" pitchFamily="34" charset="-120"/>
                </a:rPr>
                <a:t>Mildly bank-based (0 to −0.2)</a:t>
              </a:r>
              <a:endParaRPr lang="en-US" sz="750">
                <a:latin typeface="Gill Sans Nova Light" panose="020B0302020104020203" pitchFamily="34" charset="0"/>
              </a:endParaRPr>
            </a:p>
          </p:txBody>
        </p:sp>
      </p:grpSp>
      <p:grpSp>
        <p:nvGrpSpPr>
          <p:cNvPr id="310" name="Group 309">
            <a:extLst>
              <a:ext uri="{FF2B5EF4-FFF2-40B4-BE49-F238E27FC236}">
                <a16:creationId xmlns:a16="http://schemas.microsoft.com/office/drawing/2014/main" id="{4DFB3633-7DA2-5878-3971-E80C8B864D9E}"/>
              </a:ext>
            </a:extLst>
          </p:cNvPr>
          <p:cNvGrpSpPr/>
          <p:nvPr/>
        </p:nvGrpSpPr>
        <p:grpSpPr>
          <a:xfrm>
            <a:off x="7779525" y="318679"/>
            <a:ext cx="1783080" cy="164592"/>
            <a:chOff x="4846320" y="4754880"/>
            <a:chExt cx="1783080" cy="164592"/>
          </a:xfrm>
        </p:grpSpPr>
        <p:sp>
          <p:nvSpPr>
            <p:cNvPr id="303" name="Shape 184">
              <a:extLst>
                <a:ext uri="{FF2B5EF4-FFF2-40B4-BE49-F238E27FC236}">
                  <a16:creationId xmlns:a16="http://schemas.microsoft.com/office/drawing/2014/main" id="{575693D1-B449-3A7B-5184-B99417864C0D}"/>
                </a:ext>
              </a:extLst>
            </p:cNvPr>
            <p:cNvSpPr/>
            <p:nvPr/>
          </p:nvSpPr>
          <p:spPr>
            <a:xfrm>
              <a:off x="4846320" y="4773169"/>
              <a:ext cx="91440" cy="91440"/>
            </a:xfrm>
            <a:prstGeom prst="rect">
              <a:avLst/>
            </a:prstGeom>
            <a:solidFill>
              <a:srgbClr val="1A7A4A"/>
            </a:solidFill>
            <a:ln w="12700">
              <a:solidFill>
                <a:srgbClr val="1A7A4A"/>
              </a:solidFill>
              <a:prstDash val="solid"/>
            </a:ln>
          </p:spPr>
          <p:txBody>
            <a:bodyPr/>
            <a:lstStyle/>
            <a:p>
              <a:endParaRPr lang="en-CH"/>
            </a:p>
          </p:txBody>
        </p:sp>
        <p:sp>
          <p:nvSpPr>
            <p:cNvPr id="304" name="Text 185">
              <a:extLst>
                <a:ext uri="{FF2B5EF4-FFF2-40B4-BE49-F238E27FC236}">
                  <a16:creationId xmlns:a16="http://schemas.microsoft.com/office/drawing/2014/main" id="{4A4ADDB5-131C-88C8-48D2-1DA9A42F8AE0}"/>
                </a:ext>
              </a:extLst>
            </p:cNvPr>
            <p:cNvSpPr/>
            <p:nvPr/>
          </p:nvSpPr>
          <p:spPr>
            <a:xfrm>
              <a:off x="4983480" y="4754880"/>
              <a:ext cx="1645920" cy="164592"/>
            </a:xfrm>
            <a:prstGeom prst="rect">
              <a:avLst/>
            </a:prstGeom>
            <a:noFill/>
            <a:ln/>
          </p:spPr>
          <p:txBody>
            <a:bodyPr wrap="square" rtlCol="0" anchor="ctr"/>
            <a:lstStyle/>
            <a:p>
              <a:pPr marL="0" indent="0">
                <a:buNone/>
              </a:pPr>
              <a:r>
                <a:rPr lang="en-US" sz="750">
                  <a:solidFill>
                    <a:srgbClr val="64748B"/>
                  </a:solidFill>
                  <a:latin typeface="Calibri" pitchFamily="34" charset="0"/>
                  <a:ea typeface="Calibri" pitchFamily="34" charset="-122"/>
                  <a:cs typeface="Calibri" pitchFamily="34" charset="-120"/>
                </a:rPr>
                <a:t>Market-based (&gt; 0)</a:t>
              </a:r>
              <a:endParaRPr lang="en-US" sz="750"/>
            </a:p>
          </p:txBody>
        </p:sp>
      </p:grpSp>
      <p:grpSp>
        <p:nvGrpSpPr>
          <p:cNvPr id="311" name="Group 310">
            <a:extLst>
              <a:ext uri="{FF2B5EF4-FFF2-40B4-BE49-F238E27FC236}">
                <a16:creationId xmlns:a16="http://schemas.microsoft.com/office/drawing/2014/main" id="{36D3A203-62B0-6EC6-B167-6DBF6859BE57}"/>
              </a:ext>
            </a:extLst>
          </p:cNvPr>
          <p:cNvGrpSpPr/>
          <p:nvPr/>
        </p:nvGrpSpPr>
        <p:grpSpPr>
          <a:xfrm>
            <a:off x="7779525" y="516477"/>
            <a:ext cx="1783080" cy="164592"/>
            <a:chOff x="6675120" y="4754880"/>
            <a:chExt cx="1783080" cy="164592"/>
          </a:xfrm>
        </p:grpSpPr>
        <p:sp>
          <p:nvSpPr>
            <p:cNvPr id="305" name="Shape 186">
              <a:extLst>
                <a:ext uri="{FF2B5EF4-FFF2-40B4-BE49-F238E27FC236}">
                  <a16:creationId xmlns:a16="http://schemas.microsoft.com/office/drawing/2014/main" id="{CE2EB21B-D883-4810-98BF-04AEB223ED48}"/>
                </a:ext>
              </a:extLst>
            </p:cNvPr>
            <p:cNvSpPr/>
            <p:nvPr/>
          </p:nvSpPr>
          <p:spPr>
            <a:xfrm>
              <a:off x="6675120" y="4773169"/>
              <a:ext cx="91440" cy="91440"/>
            </a:xfrm>
            <a:prstGeom prst="rect">
              <a:avLst/>
            </a:prstGeom>
            <a:solidFill>
              <a:srgbClr val="64748B"/>
            </a:solidFill>
            <a:ln w="12700">
              <a:solidFill>
                <a:srgbClr val="64748B"/>
              </a:solidFill>
              <a:prstDash val="solid"/>
            </a:ln>
          </p:spPr>
          <p:txBody>
            <a:bodyPr/>
            <a:lstStyle/>
            <a:p>
              <a:endParaRPr lang="en-CH"/>
            </a:p>
          </p:txBody>
        </p:sp>
        <p:sp>
          <p:nvSpPr>
            <p:cNvPr id="306" name="Text 187">
              <a:extLst>
                <a:ext uri="{FF2B5EF4-FFF2-40B4-BE49-F238E27FC236}">
                  <a16:creationId xmlns:a16="http://schemas.microsoft.com/office/drawing/2014/main" id="{3840EA32-F913-23E2-208F-BD9C60C57E32}"/>
                </a:ext>
              </a:extLst>
            </p:cNvPr>
            <p:cNvSpPr/>
            <p:nvPr/>
          </p:nvSpPr>
          <p:spPr>
            <a:xfrm>
              <a:off x="6812280" y="4754880"/>
              <a:ext cx="1645920" cy="164592"/>
            </a:xfrm>
            <a:prstGeom prst="rect">
              <a:avLst/>
            </a:prstGeom>
            <a:noFill/>
            <a:ln/>
          </p:spPr>
          <p:txBody>
            <a:bodyPr wrap="square" rtlCol="0" anchor="ctr"/>
            <a:lstStyle/>
            <a:p>
              <a:pPr marL="0" indent="0">
                <a:buNone/>
              </a:pPr>
              <a:r>
                <a:rPr lang="en-US" sz="750">
                  <a:solidFill>
                    <a:srgbClr val="64748B"/>
                  </a:solidFill>
                  <a:latin typeface="Calibri" pitchFamily="34" charset="0"/>
                  <a:ea typeface="Calibri" pitchFamily="34" charset="-122"/>
                  <a:cs typeface="Calibri" pitchFamily="34" charset="-120"/>
                </a:rPr>
                <a:t>No data available</a:t>
              </a:r>
              <a:endParaRPr lang="en-US" sz="750"/>
            </a:p>
          </p:txBody>
        </p:sp>
      </p:grpSp>
      <p:sp>
        <p:nvSpPr>
          <p:cNvPr id="307" name="Text 188">
            <a:extLst>
              <a:ext uri="{FF2B5EF4-FFF2-40B4-BE49-F238E27FC236}">
                <a16:creationId xmlns:a16="http://schemas.microsoft.com/office/drawing/2014/main" id="{B83F515D-B822-B559-BECE-2A1CE5ED88CB}"/>
              </a:ext>
            </a:extLst>
          </p:cNvPr>
          <p:cNvSpPr/>
          <p:nvPr/>
        </p:nvSpPr>
        <p:spPr>
          <a:xfrm>
            <a:off x="182880" y="4937760"/>
            <a:ext cx="8778240" cy="164592"/>
          </a:xfrm>
          <a:prstGeom prst="rect">
            <a:avLst/>
          </a:prstGeom>
          <a:noFill/>
          <a:ln/>
        </p:spPr>
        <p:txBody>
          <a:bodyPr wrap="square" lIns="91440" tIns="45720" rIns="91440" bIns="45720" rtlCol="0" anchor="ctr"/>
          <a:lstStyle/>
          <a:p>
            <a:r>
              <a:rPr lang="en-US" sz="750" i="1">
                <a:solidFill>
                  <a:srgbClr val="64748B"/>
                </a:solidFill>
                <a:latin typeface="Gill Sans Nova Light" panose="020B0302020104020203" pitchFamily="34" charset="0"/>
                <a:ea typeface="Calibri"/>
                <a:cs typeface="Calibri"/>
              </a:rPr>
              <a:t>Structure Size from Levine (2002); N/A = not in Levine's original sample  |  Sorted by patched mean </a:t>
            </a:r>
            <a:r>
              <a:rPr lang="en-US" sz="750" i="1" err="1">
                <a:solidFill>
                  <a:srgbClr val="64748B"/>
                </a:solidFill>
                <a:latin typeface="Gill Sans Nova Light" panose="020B0302020104020203" pitchFamily="34" charset="0"/>
                <a:ea typeface="Calibri"/>
                <a:cs typeface="Calibri"/>
              </a:rPr>
              <a:t>FinStructure</a:t>
            </a:r>
            <a:endParaRPr lang="en-US" sz="750" err="1">
              <a:latin typeface="Gill Sans Nova Light" panose="020B0302020104020203" pitchFamily="34" charset="0"/>
              <a:ea typeface="Calibri"/>
              <a:cs typeface="Calibri"/>
            </a:endParaRPr>
          </a:p>
        </p:txBody>
      </p:sp>
    </p:spTree>
    <p:extLst>
      <p:ext uri="{BB962C8B-B14F-4D97-AF65-F5344CB8AC3E}">
        <p14:creationId xmlns:p14="http://schemas.microsoft.com/office/powerpoint/2010/main" val="1613239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FE38-CA59-F580-7874-128AE02708B8}"/>
              </a:ext>
            </a:extLst>
          </p:cNvPr>
          <p:cNvSpPr>
            <a:spLocks noGrp="1"/>
          </p:cNvSpPr>
          <p:nvPr>
            <p:ph type="title"/>
          </p:nvPr>
        </p:nvSpPr>
        <p:spPr/>
        <p:txBody>
          <a:bodyPr/>
          <a:lstStyle/>
          <a:p>
            <a:r>
              <a:rPr lang="en-GB"/>
              <a:t>Aggregate Replacement Ratio: Overview</a:t>
            </a:r>
            <a:endParaRPr lang="en-CH"/>
          </a:p>
        </p:txBody>
      </p:sp>
      <p:sp>
        <p:nvSpPr>
          <p:cNvPr id="4" name="Slide Number Placeholder 3">
            <a:extLst>
              <a:ext uri="{FF2B5EF4-FFF2-40B4-BE49-F238E27FC236}">
                <a16:creationId xmlns:a16="http://schemas.microsoft.com/office/drawing/2014/main" id="{AA6A85BB-0427-55B8-4CC4-6C748D07BE97}"/>
              </a:ext>
            </a:extLst>
          </p:cNvPr>
          <p:cNvSpPr>
            <a:spLocks noGrp="1"/>
          </p:cNvSpPr>
          <p:nvPr>
            <p:ph type="sldNum" sz="quarter" idx="12"/>
          </p:nvPr>
        </p:nvSpPr>
        <p:spPr/>
        <p:txBody>
          <a:bodyPr/>
          <a:lstStyle/>
          <a:p>
            <a:fld id="{7559FC98-AF75-4A00-A03C-DF9FEBF6BCB9}" type="slidenum">
              <a:rPr lang="en-GB" smtClean="0"/>
              <a:t>29</a:t>
            </a:fld>
            <a:endParaRPr lang="en-GB"/>
          </a:p>
        </p:txBody>
      </p:sp>
      <p:grpSp>
        <p:nvGrpSpPr>
          <p:cNvPr id="34" name="Group 33">
            <a:extLst>
              <a:ext uri="{FF2B5EF4-FFF2-40B4-BE49-F238E27FC236}">
                <a16:creationId xmlns:a16="http://schemas.microsoft.com/office/drawing/2014/main" id="{D149998C-591F-82C3-2B81-886CA84EC9F0}"/>
              </a:ext>
            </a:extLst>
          </p:cNvPr>
          <p:cNvGrpSpPr>
            <a:grpSpLocks noChangeAspect="1"/>
          </p:cNvGrpSpPr>
          <p:nvPr/>
        </p:nvGrpSpPr>
        <p:grpSpPr>
          <a:xfrm>
            <a:off x="358775" y="877824"/>
            <a:ext cx="8477030" cy="3648456"/>
            <a:chOff x="274320" y="822960"/>
            <a:chExt cx="8604504" cy="3703320"/>
          </a:xfrm>
        </p:grpSpPr>
        <p:sp>
          <p:nvSpPr>
            <p:cNvPr id="5" name="Shape 2">
              <a:extLst>
                <a:ext uri="{FF2B5EF4-FFF2-40B4-BE49-F238E27FC236}">
                  <a16:creationId xmlns:a16="http://schemas.microsoft.com/office/drawing/2014/main" id="{14FC5ED4-B32E-4EAC-E295-9C7FC170C552}"/>
                </a:ext>
              </a:extLst>
            </p:cNvPr>
            <p:cNvSpPr/>
            <p:nvPr/>
          </p:nvSpPr>
          <p:spPr>
            <a:xfrm>
              <a:off x="274320" y="822960"/>
              <a:ext cx="8595360" cy="960120"/>
            </a:xfrm>
            <a:prstGeom prst="rect">
              <a:avLst/>
            </a:prstGeom>
            <a:solidFill>
              <a:srgbClr val="FFFFFF"/>
            </a:solidFill>
            <a:ln w="12700">
              <a:solidFill>
                <a:srgbClr val="2C5F2D"/>
              </a:solidFill>
              <a:prstDash val="solid"/>
            </a:ln>
            <a:effectLst>
              <a:outerShdw blurRad="50800" dist="25400" dir="8100000" algn="bl" rotWithShape="0">
                <a:srgbClr val="000000">
                  <a:alpha val="8000"/>
                </a:srgbClr>
              </a:outerShdw>
            </a:effectLst>
          </p:spPr>
          <p:txBody>
            <a:bodyPr/>
            <a:lstStyle/>
            <a:p>
              <a:endParaRPr lang="en-CH">
                <a:latin typeface="Gill Sans Nova Light" panose="020B0302020104020203" pitchFamily="34" charset="0"/>
              </a:endParaRPr>
            </a:p>
          </p:txBody>
        </p:sp>
        <p:sp>
          <p:nvSpPr>
            <p:cNvPr id="6" name="Text 3">
              <a:extLst>
                <a:ext uri="{FF2B5EF4-FFF2-40B4-BE49-F238E27FC236}">
                  <a16:creationId xmlns:a16="http://schemas.microsoft.com/office/drawing/2014/main" id="{F009B3E0-B9D8-5BFD-1CF6-68B2D44E10A4}"/>
                </a:ext>
              </a:extLst>
            </p:cNvPr>
            <p:cNvSpPr/>
            <p:nvPr/>
          </p:nvSpPr>
          <p:spPr>
            <a:xfrm>
              <a:off x="274320" y="822960"/>
              <a:ext cx="8595360" cy="502920"/>
            </a:xfrm>
            <a:prstGeom prst="rect">
              <a:avLst/>
            </a:prstGeom>
            <a:noFill/>
            <a:ln/>
          </p:spPr>
          <p:txBody>
            <a:bodyPr wrap="square" lIns="127000" tIns="127000" rIns="127000" bIns="127000" rtlCol="0" anchor="ctr"/>
            <a:lstStyle/>
            <a:p>
              <a:pPr marL="0" indent="0">
                <a:buNone/>
              </a:pPr>
              <a:r>
                <a:rPr lang="en-US" sz="1300" b="1">
                  <a:solidFill>
                    <a:srgbClr val="00802F"/>
                  </a:solidFill>
                  <a:latin typeface="Gill Sans Nova Light" panose="020B0302020104020203" pitchFamily="34" charset="0"/>
                  <a:ea typeface="Calibri" pitchFamily="34" charset="-122"/>
                  <a:cs typeface="Calibri" pitchFamily="34" charset="-120"/>
                </a:rPr>
                <a:t>Definition: </a:t>
              </a:r>
              <a:r>
                <a:rPr lang="en-US" sz="1300">
                  <a:solidFill>
                    <a:srgbClr val="363636"/>
                  </a:solidFill>
                  <a:latin typeface="Gill Sans Nova Light" panose="020B0302020104020203" pitchFamily="34" charset="0"/>
                  <a:ea typeface="Calibri" pitchFamily="34" charset="-122"/>
                  <a:cs typeface="Calibri" pitchFamily="34" charset="-120"/>
                </a:rPr>
                <a:t>Gross median individual pension income of the population aged </a:t>
              </a:r>
              <a:r>
                <a:rPr lang="en-US" sz="1300" b="1">
                  <a:latin typeface="Gill Sans Nova Light" panose="020B0302020104020203" pitchFamily="34" charset="0"/>
                  <a:ea typeface="Calibri" pitchFamily="34" charset="-122"/>
                  <a:cs typeface="Calibri" pitchFamily="34" charset="-120"/>
                </a:rPr>
                <a:t>65–74</a:t>
              </a:r>
              <a:r>
                <a:rPr lang="en-US" sz="1300">
                  <a:solidFill>
                    <a:srgbClr val="363636"/>
                  </a:solidFill>
                  <a:latin typeface="Gill Sans Nova Light" panose="020B0302020104020203" pitchFamily="34" charset="0"/>
                  <a:ea typeface="Calibri" pitchFamily="34" charset="-122"/>
                  <a:cs typeface="Calibri" pitchFamily="34" charset="-120"/>
                </a:rPr>
                <a:t> relative to gross median individual earnings of the population aged </a:t>
              </a:r>
              <a:r>
                <a:rPr lang="en-US" sz="1300" b="1">
                  <a:latin typeface="Gill Sans Nova Light" panose="020B0302020104020203" pitchFamily="34" charset="0"/>
                  <a:ea typeface="Calibri" pitchFamily="34" charset="-122"/>
                  <a:cs typeface="Calibri" pitchFamily="34" charset="-120"/>
                </a:rPr>
                <a:t>55–64</a:t>
              </a:r>
              <a:r>
                <a:rPr lang="en-US" sz="1300">
                  <a:solidFill>
                    <a:srgbClr val="363636"/>
                  </a:solidFill>
                  <a:latin typeface="Gill Sans Nova Light" panose="020B0302020104020203" pitchFamily="34" charset="0"/>
                  <a:ea typeface="Calibri" pitchFamily="34" charset="-122"/>
                  <a:cs typeface="Calibri" pitchFamily="34" charset="-120"/>
                </a:rPr>
                <a:t>, excluding other social benefits.</a:t>
              </a:r>
              <a:endParaRPr lang="en-US" sz="1300">
                <a:latin typeface="Gill Sans Nova Light" panose="020B0302020104020203" pitchFamily="34" charset="0"/>
              </a:endParaRPr>
            </a:p>
          </p:txBody>
        </p:sp>
        <p:sp>
          <p:nvSpPr>
            <p:cNvPr id="7" name="Text 4">
              <a:extLst>
                <a:ext uri="{FF2B5EF4-FFF2-40B4-BE49-F238E27FC236}">
                  <a16:creationId xmlns:a16="http://schemas.microsoft.com/office/drawing/2014/main" id="{B63C5A71-40FF-96A3-7811-45C30C567E7E}"/>
                </a:ext>
              </a:extLst>
            </p:cNvPr>
            <p:cNvSpPr/>
            <p:nvPr/>
          </p:nvSpPr>
          <p:spPr>
            <a:xfrm>
              <a:off x="274320" y="1298448"/>
              <a:ext cx="8595360" cy="411480"/>
            </a:xfrm>
            <a:prstGeom prst="rect">
              <a:avLst/>
            </a:prstGeom>
            <a:noFill/>
            <a:ln/>
          </p:spPr>
          <p:txBody>
            <a:bodyPr wrap="square" lIns="127000" tIns="127000" rIns="127000" bIns="127000" rtlCol="0" anchor="ctr"/>
            <a:lstStyle/>
            <a:p>
              <a:pPr marL="0" indent="0" algn="ctr">
                <a:buNone/>
              </a:pPr>
              <a:r>
                <a:rPr lang="en-US" sz="1300" b="1">
                  <a:latin typeface="Gill Sans Nova Light" panose="020B0302020104020203" pitchFamily="34" charset="0"/>
                  <a:ea typeface="Calibri" pitchFamily="34" charset="-122"/>
                  <a:cs typeface="Calibri" pitchFamily="34" charset="-120"/>
                </a:rPr>
                <a:t>ARR = </a:t>
              </a:r>
              <a:r>
                <a:rPr lang="en-US" sz="1300" i="1">
                  <a:latin typeface="Gill Sans Nova Light" panose="020B0302020104020203" pitchFamily="34" charset="0"/>
                  <a:ea typeface="Calibri" pitchFamily="34" charset="-122"/>
                  <a:cs typeface="Calibri" pitchFamily="34" charset="-120"/>
                </a:rPr>
                <a:t>Median pension income (age 65–74)  /  Median earnings from work (age 55–64)</a:t>
              </a:r>
              <a:endParaRPr lang="en-US" sz="1300">
                <a:latin typeface="Gill Sans Nova Light" panose="020B0302020104020203" pitchFamily="34" charset="0"/>
              </a:endParaRPr>
            </a:p>
          </p:txBody>
        </p:sp>
        <p:sp>
          <p:nvSpPr>
            <p:cNvPr id="8" name="Shape 5">
              <a:extLst>
                <a:ext uri="{FF2B5EF4-FFF2-40B4-BE49-F238E27FC236}">
                  <a16:creationId xmlns:a16="http://schemas.microsoft.com/office/drawing/2014/main" id="{0356BB44-6AA4-522B-E198-7537CEE94EB0}"/>
                </a:ext>
              </a:extLst>
            </p:cNvPr>
            <p:cNvSpPr/>
            <p:nvPr/>
          </p:nvSpPr>
          <p:spPr>
            <a:xfrm>
              <a:off x="274320" y="1920240"/>
              <a:ext cx="8595360" cy="822960"/>
            </a:xfrm>
            <a:prstGeom prst="rect">
              <a:avLst/>
            </a:prstGeom>
            <a:solidFill>
              <a:srgbClr val="BFDFCB"/>
            </a:solidFill>
            <a:ln w="12700">
              <a:solidFill>
                <a:srgbClr val="2C5F2D"/>
              </a:solidFill>
              <a:prstDash val="solid"/>
            </a:ln>
            <a:effectLst>
              <a:outerShdw blurRad="38100" dist="25400" dir="8100000" algn="bl" rotWithShape="0">
                <a:srgbClr val="000000">
                  <a:alpha val="6000"/>
                </a:srgbClr>
              </a:outerShdw>
            </a:effectLst>
          </p:spPr>
          <p:txBody>
            <a:bodyPr/>
            <a:lstStyle/>
            <a:p>
              <a:endParaRPr lang="en-CH">
                <a:latin typeface="Gill Sans Nova Light" panose="020B0302020104020203" pitchFamily="34" charset="0"/>
              </a:endParaRPr>
            </a:p>
          </p:txBody>
        </p:sp>
        <p:sp>
          <p:nvSpPr>
            <p:cNvPr id="9" name="Text 6">
              <a:extLst>
                <a:ext uri="{FF2B5EF4-FFF2-40B4-BE49-F238E27FC236}">
                  <a16:creationId xmlns:a16="http://schemas.microsoft.com/office/drawing/2014/main" id="{678B838C-E6EF-AD09-61D4-477D604E1232}"/>
                </a:ext>
              </a:extLst>
            </p:cNvPr>
            <p:cNvSpPr/>
            <p:nvPr/>
          </p:nvSpPr>
          <p:spPr>
            <a:xfrm>
              <a:off x="411480" y="1938528"/>
              <a:ext cx="1828800" cy="274320"/>
            </a:xfrm>
            <a:prstGeom prst="rect">
              <a:avLst/>
            </a:prstGeom>
            <a:noFill/>
            <a:ln/>
          </p:spPr>
          <p:txBody>
            <a:bodyPr wrap="square" rtlCol="0" anchor="ctr"/>
            <a:lstStyle/>
            <a:p>
              <a:pPr marL="0" indent="0">
                <a:buNone/>
              </a:pPr>
              <a:r>
                <a:rPr lang="en-US" sz="1200" b="1">
                  <a:latin typeface="Gill Sans Nova Light" panose="020B0302020104020203" pitchFamily="34" charset="0"/>
                  <a:ea typeface="Calibri" pitchFamily="34" charset="-122"/>
                  <a:cs typeface="Calibri" pitchFamily="34" charset="-120"/>
                </a:rPr>
                <a:t>Rationale</a:t>
              </a:r>
              <a:endParaRPr lang="en-US" sz="1200">
                <a:latin typeface="Gill Sans Nova Light" panose="020B0302020104020203" pitchFamily="34" charset="0"/>
              </a:endParaRPr>
            </a:p>
          </p:txBody>
        </p:sp>
        <p:sp>
          <p:nvSpPr>
            <p:cNvPr id="10" name="Text 7">
              <a:extLst>
                <a:ext uri="{FF2B5EF4-FFF2-40B4-BE49-F238E27FC236}">
                  <a16:creationId xmlns:a16="http://schemas.microsoft.com/office/drawing/2014/main" id="{73A329CD-3CFF-BFCA-6607-F3CAFD5AB54D}"/>
                </a:ext>
              </a:extLst>
            </p:cNvPr>
            <p:cNvSpPr/>
            <p:nvPr/>
          </p:nvSpPr>
          <p:spPr>
            <a:xfrm>
              <a:off x="411480" y="2194560"/>
              <a:ext cx="8321040" cy="502920"/>
            </a:xfrm>
            <a:prstGeom prst="rect">
              <a:avLst/>
            </a:prstGeom>
            <a:noFill/>
            <a:ln/>
          </p:spPr>
          <p:txBody>
            <a:bodyPr wrap="square" rtlCol="0" anchor="ctr"/>
            <a:lstStyle/>
            <a:p>
              <a:pPr marL="0" indent="0">
                <a:buNone/>
              </a:pPr>
              <a:r>
                <a:rPr lang="en-US" sz="1100" b="1">
                  <a:latin typeface="Gill Sans Nova Light" panose="020B0302020104020203" pitchFamily="34" charset="0"/>
                  <a:ea typeface="Calibri" pitchFamily="34" charset="-122"/>
                  <a:cs typeface="Calibri" pitchFamily="34" charset="-120"/>
                </a:rPr>
                <a:t>Scharfstein (2018)</a:t>
              </a:r>
              <a:r>
                <a:rPr lang="en-US" sz="1100">
                  <a:latin typeface="Gill Sans Nova Light" panose="020B0302020104020203" pitchFamily="34" charset="0"/>
                  <a:ea typeface="Calibri" pitchFamily="34" charset="-122"/>
                  <a:cs typeface="Calibri" pitchFamily="34" charset="-120"/>
                </a:rPr>
                <a:t> documents that higher replacement rates are associated with more bank-based systems and greater household deposit holdings. </a:t>
              </a:r>
              <a:r>
                <a:rPr lang="en-US" sz="1100" b="1">
                  <a:latin typeface="Gill Sans Nova Light" panose="020B0302020104020203" pitchFamily="34" charset="0"/>
                  <a:ea typeface="Calibri" pitchFamily="34" charset="-122"/>
                  <a:cs typeface="Calibri" pitchFamily="34" charset="-120"/>
                </a:rPr>
                <a:t>Bottazzi, Jappelli &amp; Padula (2006)</a:t>
              </a:r>
              <a:r>
                <a:rPr lang="en-US" sz="1100">
                  <a:latin typeface="Gill Sans Nova Light" panose="020B0302020104020203" pitchFamily="34" charset="0"/>
                  <a:ea typeface="Calibri" pitchFamily="34" charset="-122"/>
                  <a:cs typeface="Calibri" pitchFamily="34" charset="-120"/>
                </a:rPr>
                <a:t> show pension generosity substitutes for private wealth accumulation, supporting its use as a proxy for pension system generosity.</a:t>
              </a:r>
              <a:endParaRPr lang="en-US" sz="1100">
                <a:latin typeface="Gill Sans Nova Light" panose="020B0302020104020203" pitchFamily="34" charset="0"/>
              </a:endParaRPr>
            </a:p>
          </p:txBody>
        </p:sp>
        <p:sp>
          <p:nvSpPr>
            <p:cNvPr id="11" name="Shape 8">
              <a:extLst>
                <a:ext uri="{FF2B5EF4-FFF2-40B4-BE49-F238E27FC236}">
                  <a16:creationId xmlns:a16="http://schemas.microsoft.com/office/drawing/2014/main" id="{600121DD-FDBE-328A-1C92-DA48A9F1450C}"/>
                </a:ext>
              </a:extLst>
            </p:cNvPr>
            <p:cNvSpPr/>
            <p:nvPr/>
          </p:nvSpPr>
          <p:spPr>
            <a:xfrm>
              <a:off x="274320" y="2926080"/>
              <a:ext cx="1143000" cy="914400"/>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12" name="Text 9">
              <a:extLst>
                <a:ext uri="{FF2B5EF4-FFF2-40B4-BE49-F238E27FC236}">
                  <a16:creationId xmlns:a16="http://schemas.microsoft.com/office/drawing/2014/main" id="{C97418B8-C8DF-BFDA-A6AC-133418CFDAA2}"/>
                </a:ext>
              </a:extLst>
            </p:cNvPr>
            <p:cNvSpPr/>
            <p:nvPr/>
          </p:nvSpPr>
          <p:spPr>
            <a:xfrm>
              <a:off x="274320" y="2971800"/>
              <a:ext cx="1143000" cy="502920"/>
            </a:xfrm>
            <a:prstGeom prst="rect">
              <a:avLst/>
            </a:prstGeom>
            <a:noFill/>
            <a:ln/>
          </p:spPr>
          <p:txBody>
            <a:bodyPr wrap="square" rtlCol="0" anchor="ctr"/>
            <a:lstStyle/>
            <a:p>
              <a:pPr marL="0" indent="0" algn="ctr">
                <a:buNone/>
              </a:pPr>
              <a:r>
                <a:rPr lang="en-US" sz="2200" b="1">
                  <a:solidFill>
                    <a:schemeClr val="bg1"/>
                  </a:solidFill>
                  <a:latin typeface="Gill Sans Nova Light" panose="020B0302020104020203" pitchFamily="34" charset="0"/>
                  <a:ea typeface="Calibri" pitchFamily="34" charset="-122"/>
                  <a:cs typeface="Calibri" pitchFamily="34" charset="-120"/>
                </a:rPr>
                <a:t>28</a:t>
              </a:r>
              <a:endParaRPr lang="en-US" sz="2200">
                <a:solidFill>
                  <a:schemeClr val="bg1"/>
                </a:solidFill>
                <a:latin typeface="Gill Sans Nova Light" panose="020B0302020104020203" pitchFamily="34" charset="0"/>
              </a:endParaRPr>
            </a:p>
          </p:txBody>
        </p:sp>
        <p:sp>
          <p:nvSpPr>
            <p:cNvPr id="13" name="Text 10">
              <a:extLst>
                <a:ext uri="{FF2B5EF4-FFF2-40B4-BE49-F238E27FC236}">
                  <a16:creationId xmlns:a16="http://schemas.microsoft.com/office/drawing/2014/main" id="{28E8D02D-DDFF-0E85-4B3C-D85650073B73}"/>
                </a:ext>
              </a:extLst>
            </p:cNvPr>
            <p:cNvSpPr/>
            <p:nvPr/>
          </p:nvSpPr>
          <p:spPr>
            <a:xfrm>
              <a:off x="274320" y="3456432"/>
              <a:ext cx="1143000" cy="274320"/>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Countries</a:t>
              </a:r>
              <a:endParaRPr lang="en-US" sz="950">
                <a:latin typeface="Gill Sans Nova Light" panose="020B0302020104020203" pitchFamily="34" charset="0"/>
              </a:endParaRPr>
            </a:p>
          </p:txBody>
        </p:sp>
        <p:sp>
          <p:nvSpPr>
            <p:cNvPr id="14" name="Shape 11">
              <a:extLst>
                <a:ext uri="{FF2B5EF4-FFF2-40B4-BE49-F238E27FC236}">
                  <a16:creationId xmlns:a16="http://schemas.microsoft.com/office/drawing/2014/main" id="{68C522E0-DC0C-F78E-6981-6C4348242916}"/>
                </a:ext>
              </a:extLst>
            </p:cNvPr>
            <p:cNvSpPr/>
            <p:nvPr/>
          </p:nvSpPr>
          <p:spPr>
            <a:xfrm>
              <a:off x="1517904" y="2926080"/>
              <a:ext cx="1143000" cy="914400"/>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15" name="Text 12">
              <a:extLst>
                <a:ext uri="{FF2B5EF4-FFF2-40B4-BE49-F238E27FC236}">
                  <a16:creationId xmlns:a16="http://schemas.microsoft.com/office/drawing/2014/main" id="{52BFDAA4-5F52-7368-E2A7-B506A712561D}"/>
                </a:ext>
              </a:extLst>
            </p:cNvPr>
            <p:cNvSpPr/>
            <p:nvPr/>
          </p:nvSpPr>
          <p:spPr>
            <a:xfrm>
              <a:off x="1517904" y="2971800"/>
              <a:ext cx="1143000" cy="502920"/>
            </a:xfrm>
            <a:prstGeom prst="rect">
              <a:avLst/>
            </a:prstGeom>
            <a:noFill/>
            <a:ln/>
          </p:spPr>
          <p:txBody>
            <a:bodyPr wrap="square" rtlCol="0" anchor="ctr"/>
            <a:lstStyle/>
            <a:p>
              <a:pPr marL="0" indent="0" algn="ctr">
                <a:buNone/>
              </a:pPr>
              <a:r>
                <a:rPr lang="en-US" sz="2200" b="1">
                  <a:solidFill>
                    <a:schemeClr val="bg1"/>
                  </a:solidFill>
                  <a:latin typeface="Gill Sans Nova Light" panose="020B0302020104020203" pitchFamily="34" charset="0"/>
                  <a:ea typeface="Calibri" pitchFamily="34" charset="-122"/>
                  <a:cs typeface="Calibri" pitchFamily="34" charset="-120"/>
                </a:rPr>
                <a:t>433</a:t>
              </a:r>
              <a:endParaRPr lang="en-US" sz="2200">
                <a:solidFill>
                  <a:schemeClr val="bg1"/>
                </a:solidFill>
                <a:latin typeface="Gill Sans Nova Light" panose="020B0302020104020203" pitchFamily="34" charset="0"/>
              </a:endParaRPr>
            </a:p>
          </p:txBody>
        </p:sp>
        <p:sp>
          <p:nvSpPr>
            <p:cNvPr id="16" name="Text 13">
              <a:extLst>
                <a:ext uri="{FF2B5EF4-FFF2-40B4-BE49-F238E27FC236}">
                  <a16:creationId xmlns:a16="http://schemas.microsoft.com/office/drawing/2014/main" id="{C04BEC47-DC73-57C3-6DBD-18E8B320E630}"/>
                </a:ext>
              </a:extLst>
            </p:cNvPr>
            <p:cNvSpPr/>
            <p:nvPr/>
          </p:nvSpPr>
          <p:spPr>
            <a:xfrm>
              <a:off x="1517904" y="3456432"/>
              <a:ext cx="1143000" cy="274320"/>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Total Obs.</a:t>
              </a:r>
              <a:endParaRPr lang="en-US" sz="950">
                <a:latin typeface="Gill Sans Nova Light" panose="020B0302020104020203" pitchFamily="34" charset="0"/>
              </a:endParaRPr>
            </a:p>
          </p:txBody>
        </p:sp>
        <p:sp>
          <p:nvSpPr>
            <p:cNvPr id="17" name="Shape 14">
              <a:extLst>
                <a:ext uri="{FF2B5EF4-FFF2-40B4-BE49-F238E27FC236}">
                  <a16:creationId xmlns:a16="http://schemas.microsoft.com/office/drawing/2014/main" id="{ACCA9B66-E945-358D-F377-BE66D726B001}"/>
                </a:ext>
              </a:extLst>
            </p:cNvPr>
            <p:cNvSpPr/>
            <p:nvPr/>
          </p:nvSpPr>
          <p:spPr>
            <a:xfrm>
              <a:off x="2761488" y="2926080"/>
              <a:ext cx="1143000" cy="914400"/>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18" name="Text 15">
              <a:extLst>
                <a:ext uri="{FF2B5EF4-FFF2-40B4-BE49-F238E27FC236}">
                  <a16:creationId xmlns:a16="http://schemas.microsoft.com/office/drawing/2014/main" id="{46EBA58B-BB9B-C7D2-2931-E40BFE82D8C5}"/>
                </a:ext>
              </a:extLst>
            </p:cNvPr>
            <p:cNvSpPr/>
            <p:nvPr/>
          </p:nvSpPr>
          <p:spPr>
            <a:xfrm>
              <a:off x="2761488" y="2971800"/>
              <a:ext cx="1143000" cy="502920"/>
            </a:xfrm>
            <a:prstGeom prst="rect">
              <a:avLst/>
            </a:prstGeom>
            <a:noFill/>
            <a:ln/>
          </p:spPr>
          <p:txBody>
            <a:bodyPr wrap="square" rtlCol="0" anchor="ctr"/>
            <a:lstStyle/>
            <a:p>
              <a:pPr marL="0" indent="0" algn="ctr">
                <a:buNone/>
              </a:pPr>
              <a:r>
                <a:rPr lang="en-US" sz="2200" b="1">
                  <a:solidFill>
                    <a:schemeClr val="bg1"/>
                  </a:solidFill>
                  <a:latin typeface="Gill Sans Nova Light" panose="020B0302020104020203" pitchFamily="34" charset="0"/>
                  <a:ea typeface="Calibri" pitchFamily="34" charset="-122"/>
                  <a:cs typeface="Calibri" pitchFamily="34" charset="-120"/>
                </a:rPr>
                <a:t>15</a:t>
              </a:r>
              <a:endParaRPr lang="en-US" sz="2200">
                <a:solidFill>
                  <a:schemeClr val="bg1"/>
                </a:solidFill>
                <a:latin typeface="Gill Sans Nova Light" panose="020B0302020104020203" pitchFamily="34" charset="0"/>
              </a:endParaRPr>
            </a:p>
          </p:txBody>
        </p:sp>
        <p:sp>
          <p:nvSpPr>
            <p:cNvPr id="19" name="Text 16">
              <a:extLst>
                <a:ext uri="{FF2B5EF4-FFF2-40B4-BE49-F238E27FC236}">
                  <a16:creationId xmlns:a16="http://schemas.microsoft.com/office/drawing/2014/main" id="{8B5B3AD4-554F-2995-6E8E-BC025F345A93}"/>
                </a:ext>
              </a:extLst>
            </p:cNvPr>
            <p:cNvSpPr/>
            <p:nvPr/>
          </p:nvSpPr>
          <p:spPr>
            <a:xfrm>
              <a:off x="2761488" y="3456432"/>
              <a:ext cx="1143000" cy="274320"/>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NA's</a:t>
              </a:r>
              <a:endParaRPr lang="en-US" sz="950">
                <a:latin typeface="Gill Sans Nova Light" panose="020B0302020104020203" pitchFamily="34" charset="0"/>
              </a:endParaRPr>
            </a:p>
          </p:txBody>
        </p:sp>
        <p:sp>
          <p:nvSpPr>
            <p:cNvPr id="20" name="Shape 17">
              <a:extLst>
                <a:ext uri="{FF2B5EF4-FFF2-40B4-BE49-F238E27FC236}">
                  <a16:creationId xmlns:a16="http://schemas.microsoft.com/office/drawing/2014/main" id="{B2333833-66DE-CD4F-0A9A-CDC75F6D6918}"/>
                </a:ext>
              </a:extLst>
            </p:cNvPr>
            <p:cNvSpPr/>
            <p:nvPr/>
          </p:nvSpPr>
          <p:spPr>
            <a:xfrm>
              <a:off x="4005072" y="2926080"/>
              <a:ext cx="1143000" cy="914400"/>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21" name="Text 18">
              <a:extLst>
                <a:ext uri="{FF2B5EF4-FFF2-40B4-BE49-F238E27FC236}">
                  <a16:creationId xmlns:a16="http://schemas.microsoft.com/office/drawing/2014/main" id="{DCACF892-6139-4C61-659B-21830E923899}"/>
                </a:ext>
              </a:extLst>
            </p:cNvPr>
            <p:cNvSpPr/>
            <p:nvPr/>
          </p:nvSpPr>
          <p:spPr>
            <a:xfrm>
              <a:off x="4005072" y="2971800"/>
              <a:ext cx="1143000" cy="502920"/>
            </a:xfrm>
            <a:prstGeom prst="rect">
              <a:avLst/>
            </a:prstGeom>
            <a:noFill/>
            <a:ln/>
          </p:spPr>
          <p:txBody>
            <a:bodyPr wrap="square" rtlCol="0" anchor="ctr"/>
            <a:lstStyle/>
            <a:p>
              <a:pPr marL="0" indent="0" algn="ctr">
                <a:buNone/>
              </a:pPr>
              <a:r>
                <a:rPr lang="en-US" sz="2200" b="1">
                  <a:solidFill>
                    <a:schemeClr val="bg1"/>
                  </a:solidFill>
                  <a:latin typeface="Gill Sans Nova Light" panose="020B0302020104020203" pitchFamily="34" charset="0"/>
                  <a:ea typeface="Calibri" pitchFamily="34" charset="-122"/>
                  <a:cs typeface="Calibri" pitchFamily="34" charset="-120"/>
                </a:rPr>
                <a:t>0.54</a:t>
              </a:r>
              <a:endParaRPr lang="en-US" sz="2200">
                <a:solidFill>
                  <a:schemeClr val="bg1"/>
                </a:solidFill>
                <a:latin typeface="Gill Sans Nova Light" panose="020B0302020104020203" pitchFamily="34" charset="0"/>
              </a:endParaRPr>
            </a:p>
          </p:txBody>
        </p:sp>
        <p:sp>
          <p:nvSpPr>
            <p:cNvPr id="22" name="Text 19">
              <a:extLst>
                <a:ext uri="{FF2B5EF4-FFF2-40B4-BE49-F238E27FC236}">
                  <a16:creationId xmlns:a16="http://schemas.microsoft.com/office/drawing/2014/main" id="{118E5201-2EDA-3C65-BAB5-1CBE04E907C4}"/>
                </a:ext>
              </a:extLst>
            </p:cNvPr>
            <p:cNvSpPr/>
            <p:nvPr/>
          </p:nvSpPr>
          <p:spPr>
            <a:xfrm>
              <a:off x="4005072" y="3456432"/>
              <a:ext cx="1143000" cy="274320"/>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Mean</a:t>
              </a:r>
              <a:endParaRPr lang="en-US" sz="950">
                <a:latin typeface="Gill Sans Nova Light" panose="020B0302020104020203" pitchFamily="34" charset="0"/>
              </a:endParaRPr>
            </a:p>
          </p:txBody>
        </p:sp>
        <p:sp>
          <p:nvSpPr>
            <p:cNvPr id="23" name="Shape 20">
              <a:extLst>
                <a:ext uri="{FF2B5EF4-FFF2-40B4-BE49-F238E27FC236}">
                  <a16:creationId xmlns:a16="http://schemas.microsoft.com/office/drawing/2014/main" id="{528D7045-8A79-856E-571A-72B9551F5768}"/>
                </a:ext>
              </a:extLst>
            </p:cNvPr>
            <p:cNvSpPr/>
            <p:nvPr/>
          </p:nvSpPr>
          <p:spPr>
            <a:xfrm>
              <a:off x="5248656" y="2926080"/>
              <a:ext cx="1143000" cy="914400"/>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24" name="Text 21">
              <a:extLst>
                <a:ext uri="{FF2B5EF4-FFF2-40B4-BE49-F238E27FC236}">
                  <a16:creationId xmlns:a16="http://schemas.microsoft.com/office/drawing/2014/main" id="{6DF34F6B-A830-C8E6-0034-71E4C066875C}"/>
                </a:ext>
              </a:extLst>
            </p:cNvPr>
            <p:cNvSpPr/>
            <p:nvPr/>
          </p:nvSpPr>
          <p:spPr>
            <a:xfrm>
              <a:off x="5248656" y="2971800"/>
              <a:ext cx="1143000" cy="502920"/>
            </a:xfrm>
            <a:prstGeom prst="rect">
              <a:avLst/>
            </a:prstGeom>
            <a:noFill/>
            <a:ln/>
          </p:spPr>
          <p:txBody>
            <a:bodyPr wrap="square" rtlCol="0" anchor="ctr"/>
            <a:lstStyle/>
            <a:p>
              <a:pPr marL="0" indent="0" algn="ctr">
                <a:buNone/>
              </a:pPr>
              <a:r>
                <a:rPr lang="en-US" sz="2200" b="1">
                  <a:solidFill>
                    <a:schemeClr val="bg1"/>
                  </a:solidFill>
                  <a:latin typeface="Gill Sans Nova Light" panose="020B0302020104020203" pitchFamily="34" charset="0"/>
                  <a:ea typeface="Calibri" pitchFamily="34" charset="-122"/>
                  <a:cs typeface="Calibri" pitchFamily="34" charset="-120"/>
                </a:rPr>
                <a:t>0.53</a:t>
              </a:r>
              <a:endParaRPr lang="en-US" sz="2200">
                <a:solidFill>
                  <a:schemeClr val="bg1"/>
                </a:solidFill>
                <a:latin typeface="Gill Sans Nova Light" panose="020B0302020104020203" pitchFamily="34" charset="0"/>
              </a:endParaRPr>
            </a:p>
          </p:txBody>
        </p:sp>
        <p:sp>
          <p:nvSpPr>
            <p:cNvPr id="25" name="Text 22">
              <a:extLst>
                <a:ext uri="{FF2B5EF4-FFF2-40B4-BE49-F238E27FC236}">
                  <a16:creationId xmlns:a16="http://schemas.microsoft.com/office/drawing/2014/main" id="{77013A65-A18A-0AB5-5D6F-E63755F46317}"/>
                </a:ext>
              </a:extLst>
            </p:cNvPr>
            <p:cNvSpPr/>
            <p:nvPr/>
          </p:nvSpPr>
          <p:spPr>
            <a:xfrm>
              <a:off x="5248656" y="3456432"/>
              <a:ext cx="1143000" cy="274320"/>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Median</a:t>
              </a:r>
              <a:endParaRPr lang="en-US" sz="950">
                <a:latin typeface="Gill Sans Nova Light" panose="020B0302020104020203" pitchFamily="34" charset="0"/>
              </a:endParaRPr>
            </a:p>
          </p:txBody>
        </p:sp>
        <p:sp>
          <p:nvSpPr>
            <p:cNvPr id="26" name="Shape 23">
              <a:extLst>
                <a:ext uri="{FF2B5EF4-FFF2-40B4-BE49-F238E27FC236}">
                  <a16:creationId xmlns:a16="http://schemas.microsoft.com/office/drawing/2014/main" id="{25A45F14-1817-C2D6-F8D0-9977898D50F0}"/>
                </a:ext>
              </a:extLst>
            </p:cNvPr>
            <p:cNvSpPr/>
            <p:nvPr/>
          </p:nvSpPr>
          <p:spPr>
            <a:xfrm>
              <a:off x="6492240" y="2926080"/>
              <a:ext cx="1143000" cy="914400"/>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27" name="Text 24">
              <a:extLst>
                <a:ext uri="{FF2B5EF4-FFF2-40B4-BE49-F238E27FC236}">
                  <a16:creationId xmlns:a16="http://schemas.microsoft.com/office/drawing/2014/main" id="{35AC5686-3B71-7C95-E697-996B40C13CE6}"/>
                </a:ext>
              </a:extLst>
            </p:cNvPr>
            <p:cNvSpPr/>
            <p:nvPr/>
          </p:nvSpPr>
          <p:spPr>
            <a:xfrm>
              <a:off x="6492240" y="2971800"/>
              <a:ext cx="1143000" cy="502920"/>
            </a:xfrm>
            <a:prstGeom prst="rect">
              <a:avLst/>
            </a:prstGeom>
            <a:noFill/>
            <a:ln/>
          </p:spPr>
          <p:txBody>
            <a:bodyPr wrap="square" rtlCol="0" anchor="ctr"/>
            <a:lstStyle/>
            <a:p>
              <a:pPr marL="0" indent="0" algn="ctr">
                <a:buNone/>
              </a:pPr>
              <a:r>
                <a:rPr lang="en-US" sz="2200" b="1">
                  <a:solidFill>
                    <a:schemeClr val="bg1"/>
                  </a:solidFill>
                  <a:latin typeface="Gill Sans Nova Light" panose="020B0302020104020203" pitchFamily="34" charset="0"/>
                  <a:ea typeface="Calibri" pitchFamily="34" charset="-122"/>
                  <a:cs typeface="Calibri" pitchFamily="34" charset="-120"/>
                </a:rPr>
                <a:t>0.29</a:t>
              </a:r>
              <a:endParaRPr lang="en-US" sz="2200">
                <a:solidFill>
                  <a:schemeClr val="bg1"/>
                </a:solidFill>
                <a:latin typeface="Gill Sans Nova Light" panose="020B0302020104020203" pitchFamily="34" charset="0"/>
              </a:endParaRPr>
            </a:p>
          </p:txBody>
        </p:sp>
        <p:sp>
          <p:nvSpPr>
            <p:cNvPr id="28" name="Text 25">
              <a:extLst>
                <a:ext uri="{FF2B5EF4-FFF2-40B4-BE49-F238E27FC236}">
                  <a16:creationId xmlns:a16="http://schemas.microsoft.com/office/drawing/2014/main" id="{B3819C73-72F9-457D-55F0-C6CC2706BDA4}"/>
                </a:ext>
              </a:extLst>
            </p:cNvPr>
            <p:cNvSpPr/>
            <p:nvPr/>
          </p:nvSpPr>
          <p:spPr>
            <a:xfrm>
              <a:off x="6492240" y="3456432"/>
              <a:ext cx="1143000" cy="274320"/>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Min</a:t>
              </a:r>
              <a:endParaRPr lang="en-US" sz="950">
                <a:latin typeface="Gill Sans Nova Light" panose="020B0302020104020203" pitchFamily="34" charset="0"/>
              </a:endParaRPr>
            </a:p>
          </p:txBody>
        </p:sp>
        <p:sp>
          <p:nvSpPr>
            <p:cNvPr id="29" name="Shape 26">
              <a:extLst>
                <a:ext uri="{FF2B5EF4-FFF2-40B4-BE49-F238E27FC236}">
                  <a16:creationId xmlns:a16="http://schemas.microsoft.com/office/drawing/2014/main" id="{0DBEC789-24D0-5277-647E-499EC3DDE186}"/>
                </a:ext>
              </a:extLst>
            </p:cNvPr>
            <p:cNvSpPr/>
            <p:nvPr/>
          </p:nvSpPr>
          <p:spPr>
            <a:xfrm>
              <a:off x="7735824" y="2926080"/>
              <a:ext cx="1143000" cy="914400"/>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solidFill>
                  <a:schemeClr val="bg1"/>
                </a:solidFill>
                <a:latin typeface="Gill Sans Nova Light" panose="020B0302020104020203" pitchFamily="34" charset="0"/>
              </a:endParaRPr>
            </a:p>
          </p:txBody>
        </p:sp>
        <p:sp>
          <p:nvSpPr>
            <p:cNvPr id="30" name="Text 27">
              <a:extLst>
                <a:ext uri="{FF2B5EF4-FFF2-40B4-BE49-F238E27FC236}">
                  <a16:creationId xmlns:a16="http://schemas.microsoft.com/office/drawing/2014/main" id="{17C5D775-281C-772F-A038-68E21FCC2871}"/>
                </a:ext>
              </a:extLst>
            </p:cNvPr>
            <p:cNvSpPr/>
            <p:nvPr/>
          </p:nvSpPr>
          <p:spPr>
            <a:xfrm>
              <a:off x="7735824" y="2971800"/>
              <a:ext cx="1143000" cy="502920"/>
            </a:xfrm>
            <a:prstGeom prst="rect">
              <a:avLst/>
            </a:prstGeom>
            <a:noFill/>
            <a:ln/>
          </p:spPr>
          <p:txBody>
            <a:bodyPr wrap="square" rtlCol="0" anchor="ctr"/>
            <a:lstStyle/>
            <a:p>
              <a:pPr marL="0" indent="0" algn="ctr">
                <a:buNone/>
              </a:pPr>
              <a:r>
                <a:rPr lang="en-US" sz="2200" b="1">
                  <a:solidFill>
                    <a:schemeClr val="bg1"/>
                  </a:solidFill>
                  <a:latin typeface="Gill Sans Nova Light" panose="020B0302020104020203" pitchFamily="34" charset="0"/>
                  <a:ea typeface="Calibri" pitchFamily="34" charset="-122"/>
                  <a:cs typeface="Calibri" pitchFamily="34" charset="-120"/>
                </a:rPr>
                <a:t>1.04</a:t>
              </a:r>
              <a:endParaRPr lang="en-US" sz="2200">
                <a:solidFill>
                  <a:schemeClr val="bg1"/>
                </a:solidFill>
                <a:latin typeface="Gill Sans Nova Light" panose="020B0302020104020203" pitchFamily="34" charset="0"/>
              </a:endParaRPr>
            </a:p>
          </p:txBody>
        </p:sp>
        <p:sp>
          <p:nvSpPr>
            <p:cNvPr id="31" name="Text 28">
              <a:extLst>
                <a:ext uri="{FF2B5EF4-FFF2-40B4-BE49-F238E27FC236}">
                  <a16:creationId xmlns:a16="http://schemas.microsoft.com/office/drawing/2014/main" id="{6197F5DE-274C-53C5-9800-19F220638F4E}"/>
                </a:ext>
              </a:extLst>
            </p:cNvPr>
            <p:cNvSpPr/>
            <p:nvPr/>
          </p:nvSpPr>
          <p:spPr>
            <a:xfrm>
              <a:off x="7735824" y="3456432"/>
              <a:ext cx="1143000" cy="274320"/>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Max</a:t>
              </a:r>
              <a:endParaRPr lang="en-US" sz="950">
                <a:latin typeface="Gill Sans Nova Light" panose="020B0302020104020203" pitchFamily="34" charset="0"/>
              </a:endParaRPr>
            </a:p>
          </p:txBody>
        </p:sp>
        <p:sp>
          <p:nvSpPr>
            <p:cNvPr id="32" name="Shape 29">
              <a:extLst>
                <a:ext uri="{FF2B5EF4-FFF2-40B4-BE49-F238E27FC236}">
                  <a16:creationId xmlns:a16="http://schemas.microsoft.com/office/drawing/2014/main" id="{62B6B42C-6291-3DC0-3C00-234E10E00963}"/>
                </a:ext>
              </a:extLst>
            </p:cNvPr>
            <p:cNvSpPr/>
            <p:nvPr/>
          </p:nvSpPr>
          <p:spPr>
            <a:xfrm>
              <a:off x="274320" y="4023360"/>
              <a:ext cx="8595360" cy="502920"/>
            </a:xfrm>
            <a:prstGeom prst="rect">
              <a:avLst/>
            </a:prstGeom>
            <a:solidFill>
              <a:srgbClr val="FFFFFF"/>
            </a:solidFill>
            <a:ln w="12700">
              <a:solidFill>
                <a:srgbClr val="2C5F2D"/>
              </a:solidFill>
              <a:prstDash val="solid"/>
            </a:ln>
          </p:spPr>
          <p:txBody>
            <a:bodyPr/>
            <a:lstStyle/>
            <a:p>
              <a:endParaRPr lang="en-CH">
                <a:solidFill>
                  <a:schemeClr val="bg1">
                    <a:lumMod val="50000"/>
                  </a:schemeClr>
                </a:solidFill>
                <a:latin typeface="Gill Sans Nova Light" panose="020B0302020104020203" pitchFamily="34" charset="0"/>
              </a:endParaRPr>
            </a:p>
          </p:txBody>
        </p:sp>
        <p:sp>
          <p:nvSpPr>
            <p:cNvPr id="33" name="Text 30">
              <a:extLst>
                <a:ext uri="{FF2B5EF4-FFF2-40B4-BE49-F238E27FC236}">
                  <a16:creationId xmlns:a16="http://schemas.microsoft.com/office/drawing/2014/main" id="{A2A49581-5ED4-F68D-C201-F8553AB218D9}"/>
                </a:ext>
              </a:extLst>
            </p:cNvPr>
            <p:cNvSpPr/>
            <p:nvPr/>
          </p:nvSpPr>
          <p:spPr>
            <a:xfrm>
              <a:off x="411480" y="4023360"/>
              <a:ext cx="8321040" cy="502920"/>
            </a:xfrm>
            <a:prstGeom prst="rect">
              <a:avLst/>
            </a:prstGeom>
            <a:noFill/>
            <a:ln/>
          </p:spPr>
          <p:txBody>
            <a:bodyPr wrap="square" rtlCol="0" anchor="ctr"/>
            <a:lstStyle/>
            <a:p>
              <a:pPr marL="0" indent="0">
                <a:buNone/>
              </a:pPr>
              <a:r>
                <a:rPr lang="en-US" sz="1100" b="1">
                  <a:solidFill>
                    <a:schemeClr val="bg1">
                      <a:lumMod val="50000"/>
                    </a:schemeClr>
                  </a:solidFill>
                  <a:latin typeface="Gill Sans Nova Light" panose="020B0302020104020203" pitchFamily="34" charset="0"/>
                  <a:ea typeface="Calibri" pitchFamily="34" charset="-122"/>
                  <a:cs typeface="Calibri" pitchFamily="34" charset="-120"/>
                </a:rPr>
                <a:t>Coverage</a:t>
              </a:r>
              <a:r>
                <a:rPr lang="en-US" sz="1100" b="1">
                  <a:solidFill>
                    <a:srgbClr val="1E2761"/>
                  </a:solidFill>
                  <a:latin typeface="Gill Sans Nova Light" panose="020B0302020104020203" pitchFamily="34" charset="0"/>
                  <a:ea typeface="Calibri" pitchFamily="34" charset="-122"/>
                  <a:cs typeface="Calibri" pitchFamily="34" charset="-120"/>
                </a:rPr>
                <a:t>: </a:t>
              </a:r>
              <a:r>
                <a:rPr lang="en-US" sz="1100">
                  <a:solidFill>
                    <a:srgbClr val="64748B"/>
                  </a:solidFill>
                  <a:latin typeface="Gill Sans Nova Light" panose="020B0302020104020203" pitchFamily="34" charset="0"/>
                  <a:ea typeface="Calibri" pitchFamily="34" charset="-122"/>
                  <a:cs typeface="Calibri" pitchFamily="34" charset="-120"/>
                </a:rPr>
                <a:t>EU-27 + Switzerland  |  2010–2025  |  16 years per country  |  Full series sourced from Eurostat (tespm100)</a:t>
              </a:r>
              <a:endParaRPr lang="en-US" sz="1100">
                <a:latin typeface="Gill Sans Nova Light" panose="020B0302020104020203" pitchFamily="34" charset="0"/>
              </a:endParaRPr>
            </a:p>
          </p:txBody>
        </p:sp>
      </p:grpSp>
    </p:spTree>
    <p:extLst>
      <p:ext uri="{BB962C8B-B14F-4D97-AF65-F5344CB8AC3E}">
        <p14:creationId xmlns:p14="http://schemas.microsoft.com/office/powerpoint/2010/main" val="623121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F88F6-2497-6D01-5188-0EFF0165DE71}"/>
              </a:ext>
            </a:extLst>
          </p:cNvPr>
          <p:cNvSpPr>
            <a:spLocks noGrp="1"/>
          </p:cNvSpPr>
          <p:nvPr>
            <p:ph type="title"/>
          </p:nvPr>
        </p:nvSpPr>
        <p:spPr/>
        <p:txBody>
          <a:bodyPr/>
          <a:lstStyle/>
          <a:p>
            <a:r>
              <a:rPr lang="en-GB"/>
              <a:t>Pension System Classification: Overview</a:t>
            </a:r>
            <a:endParaRPr lang="en-CH"/>
          </a:p>
        </p:txBody>
      </p:sp>
      <p:sp>
        <p:nvSpPr>
          <p:cNvPr id="4" name="Slide Number Placeholder 3">
            <a:extLst>
              <a:ext uri="{FF2B5EF4-FFF2-40B4-BE49-F238E27FC236}">
                <a16:creationId xmlns:a16="http://schemas.microsoft.com/office/drawing/2014/main" id="{8696B6F8-FDAA-A950-2D16-39ADE80BC479}"/>
              </a:ext>
            </a:extLst>
          </p:cNvPr>
          <p:cNvSpPr>
            <a:spLocks noGrp="1"/>
          </p:cNvSpPr>
          <p:nvPr>
            <p:ph type="sldNum" sz="quarter" idx="12"/>
          </p:nvPr>
        </p:nvSpPr>
        <p:spPr/>
        <p:txBody>
          <a:bodyPr/>
          <a:lstStyle/>
          <a:p>
            <a:fld id="{7559FC98-AF75-4A00-A03C-DF9FEBF6BCB9}" type="slidenum">
              <a:rPr lang="en-GB" smtClean="0">
                <a:latin typeface="Gill Sans Nova Light" panose="020B0302020104020203" pitchFamily="34" charset="0"/>
              </a:rPr>
              <a:t>30</a:t>
            </a:fld>
            <a:endParaRPr lang="en-GB">
              <a:latin typeface="Gill Sans Nova Light" panose="020B0302020104020203" pitchFamily="34" charset="0"/>
            </a:endParaRPr>
          </a:p>
        </p:txBody>
      </p:sp>
      <p:grpSp>
        <p:nvGrpSpPr>
          <p:cNvPr id="29" name="Group 28">
            <a:extLst>
              <a:ext uri="{FF2B5EF4-FFF2-40B4-BE49-F238E27FC236}">
                <a16:creationId xmlns:a16="http://schemas.microsoft.com/office/drawing/2014/main" id="{DCDBB7B0-756A-AA17-AF41-884047BAE49A}"/>
              </a:ext>
            </a:extLst>
          </p:cNvPr>
          <p:cNvGrpSpPr/>
          <p:nvPr/>
        </p:nvGrpSpPr>
        <p:grpSpPr>
          <a:xfrm>
            <a:off x="836676" y="973516"/>
            <a:ext cx="7470648" cy="3344037"/>
            <a:chOff x="228600" y="822960"/>
            <a:chExt cx="8595360" cy="4160520"/>
          </a:xfrm>
        </p:grpSpPr>
        <p:sp>
          <p:nvSpPr>
            <p:cNvPr id="5" name="Shape 2">
              <a:extLst>
                <a:ext uri="{FF2B5EF4-FFF2-40B4-BE49-F238E27FC236}">
                  <a16:creationId xmlns:a16="http://schemas.microsoft.com/office/drawing/2014/main" id="{A73916EE-8573-1D05-2343-729E32CB028A}"/>
                </a:ext>
              </a:extLst>
            </p:cNvPr>
            <p:cNvSpPr/>
            <p:nvPr/>
          </p:nvSpPr>
          <p:spPr>
            <a:xfrm>
              <a:off x="228600" y="822960"/>
              <a:ext cx="2743200" cy="4160520"/>
            </a:xfrm>
            <a:prstGeom prst="rect">
              <a:avLst/>
            </a:prstGeom>
            <a:solidFill>
              <a:srgbClr val="FFFFFF"/>
            </a:solidFill>
            <a:ln w="12700">
              <a:solidFill>
                <a:srgbClr val="00802F"/>
              </a:solidFill>
              <a:prstDash val="solid"/>
            </a:ln>
            <a:effectLst>
              <a:outerShdw blurRad="50800" dist="25400" dir="8100000" algn="bl" rotWithShape="0">
                <a:srgbClr val="000000">
                  <a:alpha val="8000"/>
                </a:srgbClr>
              </a:outerShdw>
            </a:effectLst>
          </p:spPr>
          <p:txBody>
            <a:bodyPr/>
            <a:lstStyle/>
            <a:p>
              <a:endParaRPr lang="en-CH">
                <a:latin typeface="Gill Sans Nova Light" panose="020B0302020104020203" pitchFamily="34" charset="0"/>
              </a:endParaRPr>
            </a:p>
          </p:txBody>
        </p:sp>
        <p:sp>
          <p:nvSpPr>
            <p:cNvPr id="6" name="Shape 3">
              <a:extLst>
                <a:ext uri="{FF2B5EF4-FFF2-40B4-BE49-F238E27FC236}">
                  <a16:creationId xmlns:a16="http://schemas.microsoft.com/office/drawing/2014/main" id="{BFD88475-8D59-1ED2-0E72-047C9A79678E}"/>
                </a:ext>
              </a:extLst>
            </p:cNvPr>
            <p:cNvSpPr/>
            <p:nvPr/>
          </p:nvSpPr>
          <p:spPr>
            <a:xfrm>
              <a:off x="228600" y="822960"/>
              <a:ext cx="2743200" cy="365760"/>
            </a:xfrm>
            <a:prstGeom prst="rect">
              <a:avLst/>
            </a:prstGeom>
            <a:solidFill>
              <a:srgbClr val="00802F"/>
            </a:solidFill>
            <a:ln w="12700">
              <a:solidFill>
                <a:srgbClr val="00802F"/>
              </a:solidFill>
              <a:prstDash val="solid"/>
            </a:ln>
          </p:spPr>
          <p:txBody>
            <a:bodyPr/>
            <a:lstStyle/>
            <a:p>
              <a:endParaRPr lang="en-CH">
                <a:latin typeface="Gill Sans Nova Light" panose="020B0302020104020203" pitchFamily="34" charset="0"/>
              </a:endParaRPr>
            </a:p>
          </p:txBody>
        </p:sp>
        <p:sp>
          <p:nvSpPr>
            <p:cNvPr id="7" name="Text 4">
              <a:extLst>
                <a:ext uri="{FF2B5EF4-FFF2-40B4-BE49-F238E27FC236}">
                  <a16:creationId xmlns:a16="http://schemas.microsoft.com/office/drawing/2014/main" id="{97B0C5F2-A7EC-6BB8-1714-FBBEAA3197F0}"/>
                </a:ext>
              </a:extLst>
            </p:cNvPr>
            <p:cNvSpPr/>
            <p:nvPr/>
          </p:nvSpPr>
          <p:spPr>
            <a:xfrm>
              <a:off x="228600" y="822960"/>
              <a:ext cx="2743200" cy="365760"/>
            </a:xfrm>
            <a:prstGeom prst="rect">
              <a:avLst/>
            </a:prstGeom>
            <a:noFill/>
            <a:ln/>
          </p:spPr>
          <p:txBody>
            <a:bodyPr wrap="square" rtlCol="0" anchor="ctr"/>
            <a:lstStyle/>
            <a:p>
              <a:pPr marL="0" indent="0" algn="ctr">
                <a:buNone/>
              </a:pPr>
              <a:r>
                <a:rPr lang="en-US" sz="1400" b="1">
                  <a:solidFill>
                    <a:srgbClr val="FFFFFF"/>
                  </a:solidFill>
                  <a:latin typeface="Gill Sans Nova Light" panose="020B0302020104020203" pitchFamily="34" charset="0"/>
                  <a:ea typeface="Calibri" pitchFamily="34" charset="-122"/>
                  <a:cs typeface="Calibri" pitchFamily="34" charset="-120"/>
                </a:rPr>
                <a:t>Bismarckian</a:t>
              </a:r>
              <a:endParaRPr lang="en-US" sz="1400">
                <a:latin typeface="Gill Sans Nova Light" panose="020B0302020104020203" pitchFamily="34" charset="0"/>
              </a:endParaRPr>
            </a:p>
          </p:txBody>
        </p:sp>
        <p:sp>
          <p:nvSpPr>
            <p:cNvPr id="8" name="Text 5">
              <a:extLst>
                <a:ext uri="{FF2B5EF4-FFF2-40B4-BE49-F238E27FC236}">
                  <a16:creationId xmlns:a16="http://schemas.microsoft.com/office/drawing/2014/main" id="{3BF68764-B507-1ECB-2D4D-6CCB0172F11B}"/>
                </a:ext>
              </a:extLst>
            </p:cNvPr>
            <p:cNvSpPr/>
            <p:nvPr/>
          </p:nvSpPr>
          <p:spPr>
            <a:xfrm>
              <a:off x="365760" y="1261872"/>
              <a:ext cx="2468880" cy="1005840"/>
            </a:xfrm>
            <a:prstGeom prst="rect">
              <a:avLst/>
            </a:prstGeom>
            <a:noFill/>
            <a:ln/>
          </p:spPr>
          <p:txBody>
            <a:bodyPr wrap="square" rtlCol="0" anchor="ctr"/>
            <a:lstStyle/>
            <a:p>
              <a:pPr marL="0" indent="0">
                <a:buNone/>
              </a:pPr>
              <a:r>
                <a:rPr lang="en-US" sz="1100">
                  <a:solidFill>
                    <a:srgbClr val="363636"/>
                  </a:solidFill>
                  <a:latin typeface="Gill Sans Nova Light" panose="020B0302020104020203" pitchFamily="34" charset="0"/>
                  <a:ea typeface="Calibri" pitchFamily="34" charset="-122"/>
                  <a:cs typeface="Calibri" pitchFamily="34" charset="-120"/>
                </a:rPr>
                <a:t>Earnings-related, contribution-based. Benefits proportional to past earnings. Dominant in Continental &amp; Southern Europe.</a:t>
              </a:r>
              <a:endParaRPr lang="en-US" sz="1100">
                <a:latin typeface="Gill Sans Nova Light" panose="020B0302020104020203" pitchFamily="34" charset="0"/>
              </a:endParaRPr>
            </a:p>
          </p:txBody>
        </p:sp>
        <p:sp>
          <p:nvSpPr>
            <p:cNvPr id="9" name="Shape 6">
              <a:extLst>
                <a:ext uri="{FF2B5EF4-FFF2-40B4-BE49-F238E27FC236}">
                  <a16:creationId xmlns:a16="http://schemas.microsoft.com/office/drawing/2014/main" id="{D619ADC4-48AC-A4C0-6811-6F7FAAA8980F}"/>
                </a:ext>
              </a:extLst>
            </p:cNvPr>
            <p:cNvSpPr/>
            <p:nvPr/>
          </p:nvSpPr>
          <p:spPr>
            <a:xfrm>
              <a:off x="365760" y="2331720"/>
              <a:ext cx="2468880" cy="0"/>
            </a:xfrm>
            <a:prstGeom prst="line">
              <a:avLst/>
            </a:prstGeom>
            <a:noFill/>
            <a:ln w="12700">
              <a:solidFill>
                <a:srgbClr val="D0D0D0"/>
              </a:solidFill>
              <a:prstDash val="solid"/>
            </a:ln>
          </p:spPr>
          <p:txBody>
            <a:bodyPr/>
            <a:lstStyle/>
            <a:p>
              <a:endParaRPr lang="en-CH">
                <a:latin typeface="Gill Sans Nova Light" panose="020B0302020104020203" pitchFamily="34" charset="0"/>
              </a:endParaRPr>
            </a:p>
          </p:txBody>
        </p:sp>
        <p:sp>
          <p:nvSpPr>
            <p:cNvPr id="10" name="Text 7">
              <a:extLst>
                <a:ext uri="{FF2B5EF4-FFF2-40B4-BE49-F238E27FC236}">
                  <a16:creationId xmlns:a16="http://schemas.microsoft.com/office/drawing/2014/main" id="{96112138-FBA7-B3E1-8A1F-1D17EBE7F52B}"/>
                </a:ext>
              </a:extLst>
            </p:cNvPr>
            <p:cNvSpPr/>
            <p:nvPr/>
          </p:nvSpPr>
          <p:spPr>
            <a:xfrm>
              <a:off x="365760" y="2423160"/>
              <a:ext cx="2468880" cy="1737360"/>
            </a:xfrm>
            <a:prstGeom prst="rect">
              <a:avLst/>
            </a:prstGeom>
            <a:noFill/>
            <a:ln/>
          </p:spPr>
          <p:txBody>
            <a:bodyPr wrap="square" rtlCol="0" anchor="ctr"/>
            <a:lstStyle/>
            <a:p>
              <a:pPr marL="0" indent="0">
                <a:buNone/>
              </a:pPr>
              <a:r>
                <a:rPr lang="en-US" sz="1050" b="1">
                  <a:latin typeface="Gill Sans Nova Light" panose="020B0302020104020203" pitchFamily="34" charset="0"/>
                  <a:ea typeface="Calibri" pitchFamily="34" charset="-122"/>
                  <a:cs typeface="Calibri" pitchFamily="34" charset="-120"/>
                </a:rPr>
                <a:t>AUT, BEL, BGR, HRV, CZE, FRA, DEU, GRC, HUN, ITA, LUX, POL, PRT, ROU, SVK, SVN, ESP</a:t>
              </a:r>
              <a:endParaRPr lang="en-US" sz="1050">
                <a:latin typeface="Gill Sans Nova Light" panose="020B0302020104020203" pitchFamily="34" charset="0"/>
              </a:endParaRPr>
            </a:p>
          </p:txBody>
        </p:sp>
        <p:sp>
          <p:nvSpPr>
            <p:cNvPr id="11" name="Shape 8">
              <a:extLst>
                <a:ext uri="{FF2B5EF4-FFF2-40B4-BE49-F238E27FC236}">
                  <a16:creationId xmlns:a16="http://schemas.microsoft.com/office/drawing/2014/main" id="{545B71F3-C9C5-BE65-F6F9-8489D00D7196}"/>
                </a:ext>
              </a:extLst>
            </p:cNvPr>
            <p:cNvSpPr/>
            <p:nvPr/>
          </p:nvSpPr>
          <p:spPr>
            <a:xfrm>
              <a:off x="228600" y="4617720"/>
              <a:ext cx="2743200" cy="256032"/>
            </a:xfrm>
            <a:prstGeom prst="rect">
              <a:avLst/>
            </a:prstGeom>
            <a:solidFill>
              <a:srgbClr val="00802F"/>
            </a:solidFill>
            <a:ln w="12700">
              <a:solidFill>
                <a:srgbClr val="00802F"/>
              </a:solidFill>
              <a:prstDash val="solid"/>
            </a:ln>
          </p:spPr>
          <p:txBody>
            <a:bodyPr/>
            <a:lstStyle/>
            <a:p>
              <a:endParaRPr lang="en-CH">
                <a:solidFill>
                  <a:schemeClr val="bg1"/>
                </a:solidFill>
                <a:latin typeface="Gill Sans Nova Light" panose="020B0302020104020203" pitchFamily="34" charset="0"/>
              </a:endParaRPr>
            </a:p>
          </p:txBody>
        </p:sp>
        <p:sp>
          <p:nvSpPr>
            <p:cNvPr id="12" name="Text 9">
              <a:extLst>
                <a:ext uri="{FF2B5EF4-FFF2-40B4-BE49-F238E27FC236}">
                  <a16:creationId xmlns:a16="http://schemas.microsoft.com/office/drawing/2014/main" id="{B05AD1FC-264B-06F8-A7F8-433595E2A951}"/>
                </a:ext>
              </a:extLst>
            </p:cNvPr>
            <p:cNvSpPr/>
            <p:nvPr/>
          </p:nvSpPr>
          <p:spPr>
            <a:xfrm>
              <a:off x="228600" y="4617720"/>
              <a:ext cx="2743200" cy="256032"/>
            </a:xfrm>
            <a:prstGeom prst="rect">
              <a:avLst/>
            </a:prstGeom>
            <a:noFill/>
            <a:ln/>
          </p:spPr>
          <p:txBody>
            <a:bodyPr wrap="square" rtlCol="0" anchor="ctr"/>
            <a:lstStyle/>
            <a:p>
              <a:pPr marL="0" indent="0" algn="ctr">
                <a:buNone/>
              </a:pPr>
              <a:r>
                <a:rPr lang="en-US" sz="950" b="1">
                  <a:solidFill>
                    <a:schemeClr val="bg1"/>
                  </a:solidFill>
                  <a:latin typeface="Gill Sans Nova Light" panose="020B0302020104020203" pitchFamily="34" charset="0"/>
                  <a:ea typeface="Calibri" pitchFamily="34" charset="-122"/>
                  <a:cs typeface="Calibri" pitchFamily="34" charset="-120"/>
                </a:rPr>
                <a:t>Dummy = 1  |  17 countries</a:t>
              </a:r>
              <a:endParaRPr lang="en-US" sz="950">
                <a:solidFill>
                  <a:schemeClr val="bg1"/>
                </a:solidFill>
                <a:latin typeface="Gill Sans Nova Light" panose="020B0302020104020203" pitchFamily="34" charset="0"/>
              </a:endParaRPr>
            </a:p>
          </p:txBody>
        </p:sp>
        <p:sp>
          <p:nvSpPr>
            <p:cNvPr id="13" name="Shape 10">
              <a:extLst>
                <a:ext uri="{FF2B5EF4-FFF2-40B4-BE49-F238E27FC236}">
                  <a16:creationId xmlns:a16="http://schemas.microsoft.com/office/drawing/2014/main" id="{486FA40B-981E-DF45-EF06-F52729849321}"/>
                </a:ext>
              </a:extLst>
            </p:cNvPr>
            <p:cNvSpPr/>
            <p:nvPr/>
          </p:nvSpPr>
          <p:spPr>
            <a:xfrm>
              <a:off x="3154680" y="822960"/>
              <a:ext cx="2743200" cy="4160520"/>
            </a:xfrm>
            <a:prstGeom prst="rect">
              <a:avLst/>
            </a:prstGeom>
            <a:solidFill>
              <a:srgbClr val="FFFFFF"/>
            </a:solidFill>
            <a:ln w="12700">
              <a:solidFill>
                <a:srgbClr val="00802F"/>
              </a:solidFill>
              <a:prstDash val="solid"/>
            </a:ln>
            <a:effectLst>
              <a:outerShdw blurRad="50800" dist="25400" dir="8100000" algn="bl" rotWithShape="0">
                <a:srgbClr val="000000">
                  <a:alpha val="8000"/>
                </a:srgbClr>
              </a:outerShdw>
            </a:effectLst>
          </p:spPr>
          <p:txBody>
            <a:bodyPr/>
            <a:lstStyle/>
            <a:p>
              <a:endParaRPr lang="en-CH">
                <a:latin typeface="Gill Sans Nova Light" panose="020B0302020104020203" pitchFamily="34" charset="0"/>
              </a:endParaRPr>
            </a:p>
          </p:txBody>
        </p:sp>
        <p:sp>
          <p:nvSpPr>
            <p:cNvPr id="14" name="Shape 11">
              <a:extLst>
                <a:ext uri="{FF2B5EF4-FFF2-40B4-BE49-F238E27FC236}">
                  <a16:creationId xmlns:a16="http://schemas.microsoft.com/office/drawing/2014/main" id="{923BFBAF-EBD3-2EB5-D91A-246F1C1A4F9A}"/>
                </a:ext>
              </a:extLst>
            </p:cNvPr>
            <p:cNvSpPr/>
            <p:nvPr/>
          </p:nvSpPr>
          <p:spPr>
            <a:xfrm>
              <a:off x="3154680" y="822960"/>
              <a:ext cx="2743200" cy="365760"/>
            </a:xfrm>
            <a:prstGeom prst="rect">
              <a:avLst/>
            </a:prstGeom>
            <a:solidFill>
              <a:srgbClr val="00802F"/>
            </a:solidFill>
            <a:ln w="12700">
              <a:solidFill>
                <a:srgbClr val="00802F"/>
              </a:solidFill>
              <a:prstDash val="solid"/>
            </a:ln>
          </p:spPr>
          <p:txBody>
            <a:bodyPr/>
            <a:lstStyle/>
            <a:p>
              <a:endParaRPr lang="en-CH">
                <a:latin typeface="Gill Sans Nova Light" panose="020B0302020104020203" pitchFamily="34" charset="0"/>
              </a:endParaRPr>
            </a:p>
          </p:txBody>
        </p:sp>
        <p:sp>
          <p:nvSpPr>
            <p:cNvPr id="15" name="Text 12">
              <a:extLst>
                <a:ext uri="{FF2B5EF4-FFF2-40B4-BE49-F238E27FC236}">
                  <a16:creationId xmlns:a16="http://schemas.microsoft.com/office/drawing/2014/main" id="{4E709C1D-CE07-FBAA-F308-59080ED210EF}"/>
                </a:ext>
              </a:extLst>
            </p:cNvPr>
            <p:cNvSpPr/>
            <p:nvPr/>
          </p:nvSpPr>
          <p:spPr>
            <a:xfrm>
              <a:off x="3154680" y="822960"/>
              <a:ext cx="2743200" cy="365760"/>
            </a:xfrm>
            <a:prstGeom prst="rect">
              <a:avLst/>
            </a:prstGeom>
            <a:noFill/>
            <a:ln/>
          </p:spPr>
          <p:txBody>
            <a:bodyPr wrap="square" rtlCol="0" anchor="ctr"/>
            <a:lstStyle/>
            <a:p>
              <a:pPr marL="0" indent="0" algn="ctr">
                <a:buNone/>
              </a:pPr>
              <a:r>
                <a:rPr lang="en-US" sz="1400" b="1">
                  <a:solidFill>
                    <a:srgbClr val="FFFFFF"/>
                  </a:solidFill>
                  <a:latin typeface="Gill Sans Nova Light" panose="020B0302020104020203" pitchFamily="34" charset="0"/>
                  <a:ea typeface="Calibri" pitchFamily="34" charset="-122"/>
                  <a:cs typeface="Calibri" pitchFamily="34" charset="-120"/>
                </a:rPr>
                <a:t>Beveridgean</a:t>
              </a:r>
              <a:endParaRPr lang="en-US" sz="1400">
                <a:latin typeface="Gill Sans Nova Light" panose="020B0302020104020203" pitchFamily="34" charset="0"/>
              </a:endParaRPr>
            </a:p>
          </p:txBody>
        </p:sp>
        <p:sp>
          <p:nvSpPr>
            <p:cNvPr id="16" name="Text 13">
              <a:extLst>
                <a:ext uri="{FF2B5EF4-FFF2-40B4-BE49-F238E27FC236}">
                  <a16:creationId xmlns:a16="http://schemas.microsoft.com/office/drawing/2014/main" id="{6E0FCF9D-B8F4-2ECC-A3DE-45AC51612116}"/>
                </a:ext>
              </a:extLst>
            </p:cNvPr>
            <p:cNvSpPr/>
            <p:nvPr/>
          </p:nvSpPr>
          <p:spPr>
            <a:xfrm>
              <a:off x="3291840" y="1261872"/>
              <a:ext cx="2468880" cy="1005840"/>
            </a:xfrm>
            <a:prstGeom prst="rect">
              <a:avLst/>
            </a:prstGeom>
            <a:noFill/>
            <a:ln/>
          </p:spPr>
          <p:txBody>
            <a:bodyPr wrap="square" rtlCol="0" anchor="ctr"/>
            <a:lstStyle/>
            <a:p>
              <a:pPr marL="0" indent="0">
                <a:buNone/>
              </a:pPr>
              <a:r>
                <a:rPr lang="en-US" sz="1100">
                  <a:solidFill>
                    <a:srgbClr val="363636"/>
                  </a:solidFill>
                  <a:latin typeface="Gill Sans Nova Light" panose="020B0302020104020203" pitchFamily="34" charset="0"/>
                  <a:ea typeface="Calibri" pitchFamily="34" charset="-122"/>
                  <a:cs typeface="Calibri" pitchFamily="34" charset="-120"/>
                </a:rPr>
                <a:t>Flat-rate, universal basic pension. Tax-funded. Dominant in Nordic &amp; Anglo-Saxon countries.</a:t>
              </a:r>
              <a:endParaRPr lang="en-US" sz="1100">
                <a:latin typeface="Gill Sans Nova Light" panose="020B0302020104020203" pitchFamily="34" charset="0"/>
              </a:endParaRPr>
            </a:p>
          </p:txBody>
        </p:sp>
        <p:sp>
          <p:nvSpPr>
            <p:cNvPr id="17" name="Shape 14">
              <a:extLst>
                <a:ext uri="{FF2B5EF4-FFF2-40B4-BE49-F238E27FC236}">
                  <a16:creationId xmlns:a16="http://schemas.microsoft.com/office/drawing/2014/main" id="{2E91F5C5-5089-2EAF-72AA-41DF5841C259}"/>
                </a:ext>
              </a:extLst>
            </p:cNvPr>
            <p:cNvSpPr/>
            <p:nvPr/>
          </p:nvSpPr>
          <p:spPr>
            <a:xfrm>
              <a:off x="3291840" y="2331720"/>
              <a:ext cx="2468880" cy="0"/>
            </a:xfrm>
            <a:prstGeom prst="line">
              <a:avLst/>
            </a:prstGeom>
            <a:noFill/>
            <a:ln w="12700">
              <a:solidFill>
                <a:srgbClr val="D0D0D0"/>
              </a:solidFill>
              <a:prstDash val="solid"/>
            </a:ln>
          </p:spPr>
          <p:txBody>
            <a:bodyPr/>
            <a:lstStyle/>
            <a:p>
              <a:endParaRPr lang="en-CH">
                <a:latin typeface="Gill Sans Nova Light" panose="020B0302020104020203" pitchFamily="34" charset="0"/>
              </a:endParaRPr>
            </a:p>
          </p:txBody>
        </p:sp>
        <p:sp>
          <p:nvSpPr>
            <p:cNvPr id="18" name="Text 15">
              <a:extLst>
                <a:ext uri="{FF2B5EF4-FFF2-40B4-BE49-F238E27FC236}">
                  <a16:creationId xmlns:a16="http://schemas.microsoft.com/office/drawing/2014/main" id="{5F3A87D8-ECBC-EB60-BA5C-6E8D7BDFF6ED}"/>
                </a:ext>
              </a:extLst>
            </p:cNvPr>
            <p:cNvSpPr/>
            <p:nvPr/>
          </p:nvSpPr>
          <p:spPr>
            <a:xfrm>
              <a:off x="3291840" y="2423160"/>
              <a:ext cx="2468880" cy="1737360"/>
            </a:xfrm>
            <a:prstGeom prst="rect">
              <a:avLst/>
            </a:prstGeom>
            <a:noFill/>
            <a:ln/>
          </p:spPr>
          <p:txBody>
            <a:bodyPr wrap="square" rtlCol="0" anchor="ctr"/>
            <a:lstStyle/>
            <a:p>
              <a:pPr marL="0" indent="0">
                <a:buNone/>
              </a:pPr>
              <a:r>
                <a:rPr lang="en-US" sz="1050" b="1">
                  <a:latin typeface="Gill Sans Nova Light" panose="020B0302020104020203" pitchFamily="34" charset="0"/>
                  <a:ea typeface="Calibri" pitchFamily="34" charset="-122"/>
                  <a:cs typeface="Calibri" pitchFamily="34" charset="-120"/>
                </a:rPr>
                <a:t>DNK, FIN, IRL, NLD, SWE</a:t>
              </a:r>
              <a:endParaRPr lang="en-US" sz="1050">
                <a:latin typeface="Gill Sans Nova Light" panose="020B0302020104020203" pitchFamily="34" charset="0"/>
              </a:endParaRPr>
            </a:p>
          </p:txBody>
        </p:sp>
        <p:sp>
          <p:nvSpPr>
            <p:cNvPr id="19" name="Shape 16">
              <a:extLst>
                <a:ext uri="{FF2B5EF4-FFF2-40B4-BE49-F238E27FC236}">
                  <a16:creationId xmlns:a16="http://schemas.microsoft.com/office/drawing/2014/main" id="{CFE63BA4-7AA2-78CC-643C-33DA1121440A}"/>
                </a:ext>
              </a:extLst>
            </p:cNvPr>
            <p:cNvSpPr/>
            <p:nvPr/>
          </p:nvSpPr>
          <p:spPr>
            <a:xfrm>
              <a:off x="3154680" y="4617720"/>
              <a:ext cx="2743200" cy="256032"/>
            </a:xfrm>
            <a:prstGeom prst="rect">
              <a:avLst/>
            </a:prstGeom>
            <a:solidFill>
              <a:srgbClr val="00802F"/>
            </a:solidFill>
            <a:ln w="12700">
              <a:solidFill>
                <a:srgbClr val="00802F"/>
              </a:solidFill>
              <a:prstDash val="solid"/>
            </a:ln>
          </p:spPr>
          <p:txBody>
            <a:bodyPr/>
            <a:lstStyle/>
            <a:p>
              <a:endParaRPr lang="en-CH">
                <a:solidFill>
                  <a:schemeClr val="bg1"/>
                </a:solidFill>
                <a:latin typeface="Gill Sans Nova Light" panose="020B0302020104020203" pitchFamily="34" charset="0"/>
              </a:endParaRPr>
            </a:p>
          </p:txBody>
        </p:sp>
        <p:sp>
          <p:nvSpPr>
            <p:cNvPr id="20" name="Text 17">
              <a:extLst>
                <a:ext uri="{FF2B5EF4-FFF2-40B4-BE49-F238E27FC236}">
                  <a16:creationId xmlns:a16="http://schemas.microsoft.com/office/drawing/2014/main" id="{D9C14292-A20A-069D-7EDC-0E7ED7C18DD6}"/>
                </a:ext>
              </a:extLst>
            </p:cNvPr>
            <p:cNvSpPr/>
            <p:nvPr/>
          </p:nvSpPr>
          <p:spPr>
            <a:xfrm>
              <a:off x="3154680" y="4617720"/>
              <a:ext cx="2743200" cy="256032"/>
            </a:xfrm>
            <a:prstGeom prst="rect">
              <a:avLst/>
            </a:prstGeom>
            <a:noFill/>
            <a:ln/>
          </p:spPr>
          <p:txBody>
            <a:bodyPr wrap="square" rtlCol="0" anchor="ctr"/>
            <a:lstStyle/>
            <a:p>
              <a:pPr marL="0" indent="0" algn="ctr">
                <a:buNone/>
              </a:pPr>
              <a:r>
                <a:rPr lang="en-US" sz="950" b="1">
                  <a:solidFill>
                    <a:schemeClr val="bg1"/>
                  </a:solidFill>
                  <a:latin typeface="Gill Sans Nova Light" panose="020B0302020104020203" pitchFamily="34" charset="0"/>
                  <a:ea typeface="Calibri" pitchFamily="34" charset="-122"/>
                  <a:cs typeface="Calibri" pitchFamily="34" charset="-120"/>
                </a:rPr>
                <a:t>Dummy = 1  |  5 countries</a:t>
              </a:r>
              <a:endParaRPr lang="en-US" sz="950">
                <a:solidFill>
                  <a:schemeClr val="bg1"/>
                </a:solidFill>
                <a:latin typeface="Gill Sans Nova Light" panose="020B0302020104020203" pitchFamily="34" charset="0"/>
              </a:endParaRPr>
            </a:p>
          </p:txBody>
        </p:sp>
        <p:sp>
          <p:nvSpPr>
            <p:cNvPr id="21" name="Shape 18">
              <a:extLst>
                <a:ext uri="{FF2B5EF4-FFF2-40B4-BE49-F238E27FC236}">
                  <a16:creationId xmlns:a16="http://schemas.microsoft.com/office/drawing/2014/main" id="{CBBFA318-9F7C-0535-300A-6895528CF83A}"/>
                </a:ext>
              </a:extLst>
            </p:cNvPr>
            <p:cNvSpPr/>
            <p:nvPr/>
          </p:nvSpPr>
          <p:spPr>
            <a:xfrm>
              <a:off x="6080760" y="822960"/>
              <a:ext cx="2743200" cy="4160520"/>
            </a:xfrm>
            <a:prstGeom prst="rect">
              <a:avLst/>
            </a:prstGeom>
            <a:solidFill>
              <a:srgbClr val="FFFFFF"/>
            </a:solidFill>
            <a:ln w="12700">
              <a:solidFill>
                <a:srgbClr val="00802F"/>
              </a:solidFill>
              <a:prstDash val="solid"/>
            </a:ln>
            <a:effectLst>
              <a:outerShdw blurRad="50800" dist="25400" dir="8100000" algn="bl" rotWithShape="0">
                <a:srgbClr val="000000">
                  <a:alpha val="8000"/>
                </a:srgbClr>
              </a:outerShdw>
            </a:effectLst>
          </p:spPr>
          <p:txBody>
            <a:bodyPr/>
            <a:lstStyle/>
            <a:p>
              <a:endParaRPr lang="en-CH">
                <a:latin typeface="Gill Sans Nova Light" panose="020B0302020104020203" pitchFamily="34" charset="0"/>
              </a:endParaRPr>
            </a:p>
          </p:txBody>
        </p:sp>
        <p:sp>
          <p:nvSpPr>
            <p:cNvPr id="22" name="Shape 19">
              <a:extLst>
                <a:ext uri="{FF2B5EF4-FFF2-40B4-BE49-F238E27FC236}">
                  <a16:creationId xmlns:a16="http://schemas.microsoft.com/office/drawing/2014/main" id="{5E5FDB70-6478-1E13-F251-BD106C21B541}"/>
                </a:ext>
              </a:extLst>
            </p:cNvPr>
            <p:cNvSpPr/>
            <p:nvPr/>
          </p:nvSpPr>
          <p:spPr>
            <a:xfrm>
              <a:off x="6080760" y="822960"/>
              <a:ext cx="2743200" cy="365760"/>
            </a:xfrm>
            <a:prstGeom prst="rect">
              <a:avLst/>
            </a:prstGeom>
            <a:solidFill>
              <a:srgbClr val="00802F"/>
            </a:solidFill>
            <a:ln w="12700">
              <a:solidFill>
                <a:srgbClr val="00802F"/>
              </a:solidFill>
              <a:prstDash val="solid"/>
            </a:ln>
          </p:spPr>
          <p:txBody>
            <a:bodyPr/>
            <a:lstStyle/>
            <a:p>
              <a:endParaRPr lang="en-CH">
                <a:latin typeface="Gill Sans Nova Light" panose="020B0302020104020203" pitchFamily="34" charset="0"/>
              </a:endParaRPr>
            </a:p>
          </p:txBody>
        </p:sp>
        <p:sp>
          <p:nvSpPr>
            <p:cNvPr id="23" name="Text 20">
              <a:extLst>
                <a:ext uri="{FF2B5EF4-FFF2-40B4-BE49-F238E27FC236}">
                  <a16:creationId xmlns:a16="http://schemas.microsoft.com/office/drawing/2014/main" id="{4F1A57A6-330F-EA33-68D3-25876637AB05}"/>
                </a:ext>
              </a:extLst>
            </p:cNvPr>
            <p:cNvSpPr/>
            <p:nvPr/>
          </p:nvSpPr>
          <p:spPr>
            <a:xfrm>
              <a:off x="6080760" y="822960"/>
              <a:ext cx="2743200" cy="365760"/>
            </a:xfrm>
            <a:prstGeom prst="rect">
              <a:avLst/>
            </a:prstGeom>
            <a:noFill/>
            <a:ln/>
          </p:spPr>
          <p:txBody>
            <a:bodyPr wrap="square" rtlCol="0" anchor="ctr"/>
            <a:lstStyle/>
            <a:p>
              <a:pPr marL="0" indent="0" algn="ctr">
                <a:buNone/>
              </a:pPr>
              <a:r>
                <a:rPr lang="en-US" sz="1400" b="1">
                  <a:solidFill>
                    <a:srgbClr val="FFFFFF"/>
                  </a:solidFill>
                  <a:latin typeface="Gill Sans Nova Light" panose="020B0302020104020203" pitchFamily="34" charset="0"/>
                  <a:ea typeface="Calibri" pitchFamily="34" charset="-122"/>
                  <a:cs typeface="Calibri" pitchFamily="34" charset="-120"/>
                </a:rPr>
                <a:t>Multipillar / Mixed</a:t>
              </a:r>
              <a:endParaRPr lang="en-US" sz="1400">
                <a:latin typeface="Gill Sans Nova Light" panose="020B0302020104020203" pitchFamily="34" charset="0"/>
              </a:endParaRPr>
            </a:p>
          </p:txBody>
        </p:sp>
        <p:sp>
          <p:nvSpPr>
            <p:cNvPr id="24" name="Text 21">
              <a:extLst>
                <a:ext uri="{FF2B5EF4-FFF2-40B4-BE49-F238E27FC236}">
                  <a16:creationId xmlns:a16="http://schemas.microsoft.com/office/drawing/2014/main" id="{5D1E30CD-5D9F-E6F0-EFBC-8B6B4880A45A}"/>
                </a:ext>
              </a:extLst>
            </p:cNvPr>
            <p:cNvSpPr/>
            <p:nvPr/>
          </p:nvSpPr>
          <p:spPr>
            <a:xfrm>
              <a:off x="6217920" y="1261872"/>
              <a:ext cx="2468880" cy="1005840"/>
            </a:xfrm>
            <a:prstGeom prst="rect">
              <a:avLst/>
            </a:prstGeom>
            <a:noFill/>
            <a:ln/>
          </p:spPr>
          <p:txBody>
            <a:bodyPr wrap="square" rtlCol="0" anchor="ctr"/>
            <a:lstStyle/>
            <a:p>
              <a:pPr marL="0" indent="0">
                <a:buNone/>
              </a:pPr>
              <a:r>
                <a:rPr lang="en-US" sz="1100">
                  <a:solidFill>
                    <a:srgbClr val="363636"/>
                  </a:solidFill>
                  <a:latin typeface="Gill Sans Nova Light" panose="020B0302020104020203" pitchFamily="34" charset="0"/>
                  <a:ea typeface="Calibri" pitchFamily="34" charset="-122"/>
                  <a:cs typeface="Calibri" pitchFamily="34" charset="-120"/>
                </a:rPr>
                <a:t>Combination of public mandatory + private funded pillars. Switzerland's 3-pillar model is the archetype.</a:t>
              </a:r>
              <a:endParaRPr lang="en-US" sz="1100">
                <a:latin typeface="Gill Sans Nova Light" panose="020B0302020104020203" pitchFamily="34" charset="0"/>
              </a:endParaRPr>
            </a:p>
          </p:txBody>
        </p:sp>
        <p:sp>
          <p:nvSpPr>
            <p:cNvPr id="25" name="Shape 22">
              <a:extLst>
                <a:ext uri="{FF2B5EF4-FFF2-40B4-BE49-F238E27FC236}">
                  <a16:creationId xmlns:a16="http://schemas.microsoft.com/office/drawing/2014/main" id="{5B00E072-74AC-E5FF-A2FF-574442829C15}"/>
                </a:ext>
              </a:extLst>
            </p:cNvPr>
            <p:cNvSpPr/>
            <p:nvPr/>
          </p:nvSpPr>
          <p:spPr>
            <a:xfrm>
              <a:off x="6217920" y="2331720"/>
              <a:ext cx="2468880" cy="0"/>
            </a:xfrm>
            <a:prstGeom prst="line">
              <a:avLst/>
            </a:prstGeom>
            <a:noFill/>
            <a:ln w="12700">
              <a:solidFill>
                <a:srgbClr val="D0D0D0"/>
              </a:solidFill>
              <a:prstDash val="solid"/>
            </a:ln>
          </p:spPr>
          <p:txBody>
            <a:bodyPr/>
            <a:lstStyle/>
            <a:p>
              <a:endParaRPr lang="en-CH">
                <a:latin typeface="Gill Sans Nova Light" panose="020B0302020104020203" pitchFamily="34" charset="0"/>
              </a:endParaRPr>
            </a:p>
          </p:txBody>
        </p:sp>
        <p:sp>
          <p:nvSpPr>
            <p:cNvPr id="26" name="Text 23">
              <a:extLst>
                <a:ext uri="{FF2B5EF4-FFF2-40B4-BE49-F238E27FC236}">
                  <a16:creationId xmlns:a16="http://schemas.microsoft.com/office/drawing/2014/main" id="{CBC20491-0CD8-A3A6-2CE4-E70249FA91D4}"/>
                </a:ext>
              </a:extLst>
            </p:cNvPr>
            <p:cNvSpPr/>
            <p:nvPr/>
          </p:nvSpPr>
          <p:spPr>
            <a:xfrm>
              <a:off x="6217920" y="2423160"/>
              <a:ext cx="2468880" cy="1737360"/>
            </a:xfrm>
            <a:prstGeom prst="rect">
              <a:avLst/>
            </a:prstGeom>
            <a:noFill/>
            <a:ln/>
          </p:spPr>
          <p:txBody>
            <a:bodyPr wrap="square" rtlCol="0" anchor="ctr"/>
            <a:lstStyle/>
            <a:p>
              <a:pPr marL="0" indent="0">
                <a:buNone/>
              </a:pPr>
              <a:r>
                <a:rPr lang="en-US" sz="1050" b="1">
                  <a:latin typeface="Gill Sans Nova Light" panose="020B0302020104020203" pitchFamily="34" charset="0"/>
                  <a:ea typeface="Calibri" pitchFamily="34" charset="-122"/>
                  <a:cs typeface="Calibri" pitchFamily="34" charset="-120"/>
                </a:rPr>
                <a:t>CYP, EST, LVA, LTU, MLT, CHE</a:t>
              </a:r>
              <a:endParaRPr lang="en-US" sz="1050">
                <a:latin typeface="Gill Sans Nova Light" panose="020B0302020104020203" pitchFamily="34" charset="0"/>
              </a:endParaRPr>
            </a:p>
          </p:txBody>
        </p:sp>
        <p:sp>
          <p:nvSpPr>
            <p:cNvPr id="27" name="Shape 24">
              <a:extLst>
                <a:ext uri="{FF2B5EF4-FFF2-40B4-BE49-F238E27FC236}">
                  <a16:creationId xmlns:a16="http://schemas.microsoft.com/office/drawing/2014/main" id="{71DC882A-2B17-A88B-C2CA-ADBE870D35E3}"/>
                </a:ext>
              </a:extLst>
            </p:cNvPr>
            <p:cNvSpPr/>
            <p:nvPr/>
          </p:nvSpPr>
          <p:spPr>
            <a:xfrm>
              <a:off x="6080760" y="4617720"/>
              <a:ext cx="2743200" cy="256032"/>
            </a:xfrm>
            <a:prstGeom prst="rect">
              <a:avLst/>
            </a:prstGeom>
            <a:solidFill>
              <a:srgbClr val="00802F"/>
            </a:solidFill>
            <a:ln w="12700">
              <a:solidFill>
                <a:srgbClr val="00802F"/>
              </a:solidFill>
              <a:prstDash val="solid"/>
            </a:ln>
          </p:spPr>
          <p:txBody>
            <a:bodyPr/>
            <a:lstStyle/>
            <a:p>
              <a:endParaRPr lang="en-CH">
                <a:latin typeface="Gill Sans Nova Light" panose="020B0302020104020203" pitchFamily="34" charset="0"/>
              </a:endParaRPr>
            </a:p>
          </p:txBody>
        </p:sp>
        <p:sp>
          <p:nvSpPr>
            <p:cNvPr id="28" name="Text 25">
              <a:extLst>
                <a:ext uri="{FF2B5EF4-FFF2-40B4-BE49-F238E27FC236}">
                  <a16:creationId xmlns:a16="http://schemas.microsoft.com/office/drawing/2014/main" id="{8A355AF7-9310-A696-C07D-99ADB00A2DE1}"/>
                </a:ext>
              </a:extLst>
            </p:cNvPr>
            <p:cNvSpPr/>
            <p:nvPr/>
          </p:nvSpPr>
          <p:spPr>
            <a:xfrm>
              <a:off x="6080760" y="4617720"/>
              <a:ext cx="2743200" cy="256032"/>
            </a:xfrm>
            <a:prstGeom prst="rect">
              <a:avLst/>
            </a:prstGeom>
            <a:noFill/>
            <a:ln/>
          </p:spPr>
          <p:txBody>
            <a:bodyPr wrap="square"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Baseline (both dummies = 0)  |  6 countries</a:t>
              </a:r>
              <a:endParaRPr lang="en-US" sz="950">
                <a:latin typeface="Gill Sans Nova Light" panose="020B0302020104020203" pitchFamily="34" charset="0"/>
              </a:endParaRPr>
            </a:p>
          </p:txBody>
        </p:sp>
      </p:grpSp>
      <p:sp>
        <p:nvSpPr>
          <p:cNvPr id="30" name="Text 26">
            <a:extLst>
              <a:ext uri="{FF2B5EF4-FFF2-40B4-BE49-F238E27FC236}">
                <a16:creationId xmlns:a16="http://schemas.microsoft.com/office/drawing/2014/main" id="{5BAA240F-108D-4E8E-D808-E1EFE66DA7BA}"/>
              </a:ext>
            </a:extLst>
          </p:cNvPr>
          <p:cNvSpPr/>
          <p:nvPr/>
        </p:nvSpPr>
        <p:spPr>
          <a:xfrm>
            <a:off x="228600" y="4956048"/>
            <a:ext cx="8686800" cy="164592"/>
          </a:xfrm>
          <a:prstGeom prst="rect">
            <a:avLst/>
          </a:prstGeom>
          <a:noFill/>
          <a:ln/>
        </p:spPr>
        <p:txBody>
          <a:bodyPr wrap="square" rtlCol="0" anchor="ctr"/>
          <a:lstStyle/>
          <a:p>
            <a:pPr marL="0" indent="0">
              <a:buNone/>
            </a:pPr>
            <a:r>
              <a:rPr lang="en-US" sz="750" i="1">
                <a:solidFill>
                  <a:srgbClr val="64748B"/>
                </a:solidFill>
                <a:latin typeface="Gill Sans Nova Light" panose="020B0302020104020203" pitchFamily="34" charset="0"/>
                <a:ea typeface="Calibri" pitchFamily="34" charset="-122"/>
                <a:cs typeface="Calibri" pitchFamily="34" charset="-120"/>
              </a:rPr>
              <a:t>Source: Ebbinghaus (2021); Werding (2003); OECD Pensions at a Glance (2024)</a:t>
            </a:r>
            <a:endParaRPr lang="en-US" sz="750">
              <a:latin typeface="Gill Sans Nova Light" panose="020B0302020104020203" pitchFamily="34" charset="0"/>
            </a:endParaRPr>
          </a:p>
        </p:txBody>
      </p:sp>
    </p:spTree>
    <p:extLst>
      <p:ext uri="{BB962C8B-B14F-4D97-AF65-F5344CB8AC3E}">
        <p14:creationId xmlns:p14="http://schemas.microsoft.com/office/powerpoint/2010/main" val="34147403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FF39A-73BD-AEC6-9B67-2859854B1064}"/>
              </a:ext>
            </a:extLst>
          </p:cNvPr>
          <p:cNvSpPr>
            <a:spLocks noGrp="1"/>
          </p:cNvSpPr>
          <p:nvPr>
            <p:ph type="title"/>
          </p:nvPr>
        </p:nvSpPr>
        <p:spPr/>
        <p:txBody>
          <a:bodyPr/>
          <a:lstStyle/>
          <a:p>
            <a:r>
              <a:rPr lang="en-CH"/>
              <a:t>Age65: Overview</a:t>
            </a:r>
          </a:p>
        </p:txBody>
      </p:sp>
      <p:sp>
        <p:nvSpPr>
          <p:cNvPr id="4" name="Slide Number Placeholder 3">
            <a:extLst>
              <a:ext uri="{FF2B5EF4-FFF2-40B4-BE49-F238E27FC236}">
                <a16:creationId xmlns:a16="http://schemas.microsoft.com/office/drawing/2014/main" id="{020E282A-B610-EDB3-70C8-BAFA076EE1C2}"/>
              </a:ext>
            </a:extLst>
          </p:cNvPr>
          <p:cNvSpPr>
            <a:spLocks noGrp="1"/>
          </p:cNvSpPr>
          <p:nvPr>
            <p:ph type="sldNum" sz="quarter" idx="12"/>
          </p:nvPr>
        </p:nvSpPr>
        <p:spPr/>
        <p:txBody>
          <a:bodyPr/>
          <a:lstStyle/>
          <a:p>
            <a:fld id="{7559FC98-AF75-4A00-A03C-DF9FEBF6BCB9}" type="slidenum">
              <a:rPr lang="en-GB" smtClean="0">
                <a:latin typeface="Gill Sans Nova Light" panose="020B0302020104020203" pitchFamily="34" charset="0"/>
              </a:rPr>
              <a:t>31</a:t>
            </a:fld>
            <a:endParaRPr lang="en-GB">
              <a:latin typeface="Gill Sans Nova Light" panose="020B0302020104020203" pitchFamily="34" charset="0"/>
            </a:endParaRPr>
          </a:p>
        </p:txBody>
      </p:sp>
      <p:grpSp>
        <p:nvGrpSpPr>
          <p:cNvPr id="33" name="Group 32">
            <a:extLst>
              <a:ext uri="{FF2B5EF4-FFF2-40B4-BE49-F238E27FC236}">
                <a16:creationId xmlns:a16="http://schemas.microsoft.com/office/drawing/2014/main" id="{7A0F96C4-ED4B-8440-3E2F-F1517BEEEDDF}"/>
              </a:ext>
            </a:extLst>
          </p:cNvPr>
          <p:cNvGrpSpPr/>
          <p:nvPr/>
        </p:nvGrpSpPr>
        <p:grpSpPr>
          <a:xfrm>
            <a:off x="356388" y="1049908"/>
            <a:ext cx="8334453" cy="2736342"/>
            <a:chOff x="356388" y="1049908"/>
            <a:chExt cx="8334453" cy="2736342"/>
          </a:xfrm>
        </p:grpSpPr>
        <p:sp>
          <p:nvSpPr>
            <p:cNvPr id="5" name="Shape 2">
              <a:extLst>
                <a:ext uri="{FF2B5EF4-FFF2-40B4-BE49-F238E27FC236}">
                  <a16:creationId xmlns:a16="http://schemas.microsoft.com/office/drawing/2014/main" id="{984882D9-58E3-6293-31D4-6BBFA31EEB9C}"/>
                </a:ext>
              </a:extLst>
            </p:cNvPr>
            <p:cNvSpPr/>
            <p:nvPr/>
          </p:nvSpPr>
          <p:spPr>
            <a:xfrm>
              <a:off x="358775" y="1049908"/>
              <a:ext cx="8323212" cy="903156"/>
            </a:xfrm>
            <a:prstGeom prst="rect">
              <a:avLst/>
            </a:prstGeom>
            <a:solidFill>
              <a:srgbClr val="BFDFCB"/>
            </a:solidFill>
            <a:ln w="12700">
              <a:solidFill>
                <a:srgbClr val="2C5F2D"/>
              </a:solidFill>
              <a:prstDash val="solid"/>
            </a:ln>
            <a:effectLst>
              <a:outerShdw blurRad="50800" dist="25400" dir="8100000" algn="bl" rotWithShape="0">
                <a:srgbClr val="000000">
                  <a:alpha val="8000"/>
                </a:srgbClr>
              </a:outerShdw>
            </a:effectLst>
          </p:spPr>
          <p:txBody>
            <a:bodyPr/>
            <a:lstStyle/>
            <a:p>
              <a:endParaRPr lang="en-CH">
                <a:latin typeface="Gill Sans Nova Light" panose="020B0302020104020203" pitchFamily="34" charset="0"/>
              </a:endParaRPr>
            </a:p>
          </p:txBody>
        </p:sp>
        <p:sp>
          <p:nvSpPr>
            <p:cNvPr id="6" name="Text 3">
              <a:extLst>
                <a:ext uri="{FF2B5EF4-FFF2-40B4-BE49-F238E27FC236}">
                  <a16:creationId xmlns:a16="http://schemas.microsoft.com/office/drawing/2014/main" id="{235C0D22-81F9-CE3B-A712-E44977F747D2}"/>
                </a:ext>
              </a:extLst>
            </p:cNvPr>
            <p:cNvSpPr/>
            <p:nvPr/>
          </p:nvSpPr>
          <p:spPr>
            <a:xfrm>
              <a:off x="358775" y="1049908"/>
              <a:ext cx="8323212" cy="371888"/>
            </a:xfrm>
            <a:prstGeom prst="rect">
              <a:avLst/>
            </a:prstGeom>
            <a:noFill/>
            <a:ln/>
          </p:spPr>
          <p:txBody>
            <a:bodyPr wrap="square" lIns="127000" tIns="127000" rIns="127000" bIns="127000" rtlCol="0" anchor="ctr"/>
            <a:lstStyle/>
            <a:p>
              <a:pPr marL="0" indent="0">
                <a:buNone/>
              </a:pPr>
              <a:r>
                <a:rPr lang="en-US" sz="1200" b="1">
                  <a:latin typeface="Gill Sans Nova Light" panose="020B0302020104020203" pitchFamily="34" charset="0"/>
                  <a:ea typeface="Calibri" pitchFamily="34" charset="-122"/>
                  <a:cs typeface="Calibri" pitchFamily="34" charset="-120"/>
                </a:rPr>
                <a:t>Definition: </a:t>
              </a:r>
              <a:r>
                <a:rPr lang="en-US" sz="1200">
                  <a:latin typeface="Gill Sans Nova Light" panose="020B0302020104020203" pitchFamily="34" charset="0"/>
                  <a:ea typeface="Calibri" pitchFamily="34" charset="-122"/>
                  <a:cs typeface="Calibri" pitchFamily="34" charset="-120"/>
                </a:rPr>
                <a:t>Share of the total population aged 65 and above, expressed as a percentage of total population (World Bank, SP.POP.65UP.TO.ZS).</a:t>
              </a:r>
            </a:p>
          </p:txBody>
        </p:sp>
        <p:sp>
          <p:nvSpPr>
            <p:cNvPr id="7" name="Text 4">
              <a:extLst>
                <a:ext uri="{FF2B5EF4-FFF2-40B4-BE49-F238E27FC236}">
                  <a16:creationId xmlns:a16="http://schemas.microsoft.com/office/drawing/2014/main" id="{673128C9-E16A-4089-84BB-8364F239222A}"/>
                </a:ext>
              </a:extLst>
            </p:cNvPr>
            <p:cNvSpPr/>
            <p:nvPr/>
          </p:nvSpPr>
          <p:spPr>
            <a:xfrm>
              <a:off x="356388" y="1549329"/>
              <a:ext cx="8323212" cy="336470"/>
            </a:xfrm>
            <a:prstGeom prst="rect">
              <a:avLst/>
            </a:prstGeom>
            <a:noFill/>
            <a:ln/>
          </p:spPr>
          <p:txBody>
            <a:bodyPr wrap="square" lIns="127000" tIns="127000" rIns="127000" bIns="127000" rtlCol="0" anchor="ctr"/>
            <a:lstStyle/>
            <a:p>
              <a:pPr marL="0" indent="0">
                <a:buNone/>
              </a:pPr>
              <a:r>
                <a:rPr lang="en-US" sz="1050" b="1">
                  <a:latin typeface="Gill Sans Nova Light" panose="020B0302020104020203" pitchFamily="34" charset="0"/>
                  <a:ea typeface="Calibri" pitchFamily="34" charset="-122"/>
                  <a:cs typeface="Calibri" pitchFamily="34" charset="-120"/>
                </a:rPr>
                <a:t>Rationale: </a:t>
              </a:r>
              <a:r>
                <a:rPr lang="en-US" sz="1050" i="1">
                  <a:latin typeface="Gill Sans Nova Light" panose="020B0302020104020203" pitchFamily="34" charset="0"/>
                  <a:ea typeface="Calibri" pitchFamily="34" charset="-122"/>
                  <a:cs typeface="Calibri" pitchFamily="34" charset="-120"/>
                </a:rPr>
                <a:t>Following Doerr, Kabaš &amp; Ongena (2024) and Avramidis &amp; Pennacchi (2025), the 65+ threshold most robustly captures the relationship between demographic aging and bank retail deposit funding.</a:t>
              </a:r>
              <a:endParaRPr lang="en-US" sz="1050">
                <a:latin typeface="Gill Sans Nova Light" panose="020B0302020104020203" pitchFamily="34" charset="0"/>
              </a:endParaRPr>
            </a:p>
          </p:txBody>
        </p:sp>
        <p:sp>
          <p:nvSpPr>
            <p:cNvPr id="8" name="Shape 5">
              <a:extLst>
                <a:ext uri="{FF2B5EF4-FFF2-40B4-BE49-F238E27FC236}">
                  <a16:creationId xmlns:a16="http://schemas.microsoft.com/office/drawing/2014/main" id="{65F83DC8-DE41-B959-5454-67F6854C34A9}"/>
                </a:ext>
              </a:extLst>
            </p:cNvPr>
            <p:cNvSpPr/>
            <p:nvPr/>
          </p:nvSpPr>
          <p:spPr>
            <a:xfrm>
              <a:off x="358775" y="2385029"/>
              <a:ext cx="1106810" cy="841176"/>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9" name="Text 6">
              <a:extLst>
                <a:ext uri="{FF2B5EF4-FFF2-40B4-BE49-F238E27FC236}">
                  <a16:creationId xmlns:a16="http://schemas.microsoft.com/office/drawing/2014/main" id="{E16FFA58-4958-1DEC-0F60-7581AF366560}"/>
                </a:ext>
              </a:extLst>
            </p:cNvPr>
            <p:cNvSpPr/>
            <p:nvPr/>
          </p:nvSpPr>
          <p:spPr>
            <a:xfrm>
              <a:off x="358775" y="2402737"/>
              <a:ext cx="1106810" cy="460433"/>
            </a:xfrm>
            <a:prstGeom prst="rect">
              <a:avLst/>
            </a:prstGeom>
            <a:noFill/>
            <a:ln/>
          </p:spPr>
          <p:txBody>
            <a:bodyPr wrap="square" rtlCol="0" anchor="ctr"/>
            <a:lstStyle/>
            <a:p>
              <a:pPr marL="0" indent="0" algn="ctr">
                <a:buNone/>
              </a:pPr>
              <a:r>
                <a:rPr lang="en-US" sz="2000" b="1">
                  <a:solidFill>
                    <a:schemeClr val="bg1"/>
                  </a:solidFill>
                  <a:latin typeface="Gill Sans Nova Light" panose="020B0302020104020203" pitchFamily="34" charset="0"/>
                  <a:ea typeface="Calibri" pitchFamily="34" charset="-122"/>
                  <a:cs typeface="Calibri" pitchFamily="34" charset="-120"/>
                </a:rPr>
                <a:t>28</a:t>
              </a:r>
              <a:endParaRPr lang="en-US" sz="2000">
                <a:solidFill>
                  <a:schemeClr val="bg1"/>
                </a:solidFill>
                <a:latin typeface="Gill Sans Nova Light" panose="020B0302020104020203" pitchFamily="34" charset="0"/>
              </a:endParaRPr>
            </a:p>
          </p:txBody>
        </p:sp>
        <p:sp>
          <p:nvSpPr>
            <p:cNvPr id="10" name="Text 7">
              <a:extLst>
                <a:ext uri="{FF2B5EF4-FFF2-40B4-BE49-F238E27FC236}">
                  <a16:creationId xmlns:a16="http://schemas.microsoft.com/office/drawing/2014/main" id="{46548202-DB06-849B-4F30-2B6557EBDC75}"/>
                </a:ext>
              </a:extLst>
            </p:cNvPr>
            <p:cNvSpPr/>
            <p:nvPr/>
          </p:nvSpPr>
          <p:spPr>
            <a:xfrm>
              <a:off x="358775" y="2827753"/>
              <a:ext cx="1106810" cy="265634"/>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Countries</a:t>
              </a:r>
              <a:endParaRPr lang="en-US" sz="950">
                <a:latin typeface="Gill Sans Nova Light" panose="020B0302020104020203" pitchFamily="34" charset="0"/>
              </a:endParaRPr>
            </a:p>
          </p:txBody>
        </p:sp>
        <p:sp>
          <p:nvSpPr>
            <p:cNvPr id="11" name="Shape 8">
              <a:extLst>
                <a:ext uri="{FF2B5EF4-FFF2-40B4-BE49-F238E27FC236}">
                  <a16:creationId xmlns:a16="http://schemas.microsoft.com/office/drawing/2014/main" id="{E53631E0-75A4-DC66-AFB2-5A6EEC2DD7B1}"/>
                </a:ext>
              </a:extLst>
            </p:cNvPr>
            <p:cNvSpPr/>
            <p:nvPr/>
          </p:nvSpPr>
          <p:spPr>
            <a:xfrm>
              <a:off x="1562984" y="2385029"/>
              <a:ext cx="1106810" cy="841176"/>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12" name="Text 9">
              <a:extLst>
                <a:ext uri="{FF2B5EF4-FFF2-40B4-BE49-F238E27FC236}">
                  <a16:creationId xmlns:a16="http://schemas.microsoft.com/office/drawing/2014/main" id="{6BD20815-D206-5AD4-A03F-58307C85FB30}"/>
                </a:ext>
              </a:extLst>
            </p:cNvPr>
            <p:cNvSpPr/>
            <p:nvPr/>
          </p:nvSpPr>
          <p:spPr>
            <a:xfrm>
              <a:off x="1562984" y="2402737"/>
              <a:ext cx="1106810" cy="460433"/>
            </a:xfrm>
            <a:prstGeom prst="rect">
              <a:avLst/>
            </a:prstGeom>
            <a:noFill/>
            <a:ln/>
          </p:spPr>
          <p:txBody>
            <a:bodyPr wrap="square" rtlCol="0" anchor="ctr"/>
            <a:lstStyle/>
            <a:p>
              <a:pPr marL="0" indent="0" algn="ctr">
                <a:buNone/>
              </a:pPr>
              <a:r>
                <a:rPr lang="en-US" sz="2000" b="1">
                  <a:solidFill>
                    <a:schemeClr val="bg1"/>
                  </a:solidFill>
                  <a:latin typeface="Gill Sans Nova Light" panose="020B0302020104020203" pitchFamily="34" charset="0"/>
                  <a:ea typeface="Calibri" pitchFamily="34" charset="-122"/>
                  <a:cs typeface="Calibri" pitchFamily="34" charset="-120"/>
                </a:rPr>
                <a:t>420</a:t>
              </a:r>
              <a:endParaRPr lang="en-US" sz="2000">
                <a:solidFill>
                  <a:schemeClr val="bg1"/>
                </a:solidFill>
                <a:latin typeface="Gill Sans Nova Light" panose="020B0302020104020203" pitchFamily="34" charset="0"/>
              </a:endParaRPr>
            </a:p>
          </p:txBody>
        </p:sp>
        <p:sp>
          <p:nvSpPr>
            <p:cNvPr id="13" name="Text 10">
              <a:extLst>
                <a:ext uri="{FF2B5EF4-FFF2-40B4-BE49-F238E27FC236}">
                  <a16:creationId xmlns:a16="http://schemas.microsoft.com/office/drawing/2014/main" id="{E63E082F-4926-2CD8-55BE-1AD29BF1E00F}"/>
                </a:ext>
              </a:extLst>
            </p:cNvPr>
            <p:cNvSpPr/>
            <p:nvPr/>
          </p:nvSpPr>
          <p:spPr>
            <a:xfrm>
              <a:off x="1562984" y="2827753"/>
              <a:ext cx="1106810" cy="265634"/>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Valid Obs.</a:t>
              </a:r>
              <a:endParaRPr lang="en-US" sz="950">
                <a:latin typeface="Gill Sans Nova Light" panose="020B0302020104020203" pitchFamily="34" charset="0"/>
              </a:endParaRPr>
            </a:p>
          </p:txBody>
        </p:sp>
        <p:sp>
          <p:nvSpPr>
            <p:cNvPr id="14" name="Shape 11">
              <a:extLst>
                <a:ext uri="{FF2B5EF4-FFF2-40B4-BE49-F238E27FC236}">
                  <a16:creationId xmlns:a16="http://schemas.microsoft.com/office/drawing/2014/main" id="{324C8ABD-AFBD-D578-AFA3-E644D6A7CE14}"/>
                </a:ext>
              </a:extLst>
            </p:cNvPr>
            <p:cNvSpPr/>
            <p:nvPr/>
          </p:nvSpPr>
          <p:spPr>
            <a:xfrm>
              <a:off x="2767194" y="2385029"/>
              <a:ext cx="1106810" cy="841176"/>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15" name="Text 12">
              <a:extLst>
                <a:ext uri="{FF2B5EF4-FFF2-40B4-BE49-F238E27FC236}">
                  <a16:creationId xmlns:a16="http://schemas.microsoft.com/office/drawing/2014/main" id="{DAC2D088-17E6-BB3A-85DC-4368D407B088}"/>
                </a:ext>
              </a:extLst>
            </p:cNvPr>
            <p:cNvSpPr/>
            <p:nvPr/>
          </p:nvSpPr>
          <p:spPr>
            <a:xfrm>
              <a:off x="2767194" y="2402737"/>
              <a:ext cx="1106810" cy="460433"/>
            </a:xfrm>
            <a:prstGeom prst="rect">
              <a:avLst/>
            </a:prstGeom>
            <a:noFill/>
            <a:ln/>
          </p:spPr>
          <p:txBody>
            <a:bodyPr wrap="square" rtlCol="0" anchor="ctr"/>
            <a:lstStyle/>
            <a:p>
              <a:pPr marL="0" indent="0" algn="ctr">
                <a:buNone/>
              </a:pPr>
              <a:r>
                <a:rPr lang="en-US" sz="2000" b="1">
                  <a:solidFill>
                    <a:schemeClr val="bg1"/>
                  </a:solidFill>
                  <a:latin typeface="Gill Sans Nova Light" panose="020B0302020104020203" pitchFamily="34" charset="0"/>
                  <a:ea typeface="Calibri" pitchFamily="34" charset="-122"/>
                  <a:cs typeface="Calibri" pitchFamily="34" charset="-120"/>
                </a:rPr>
                <a:t>28</a:t>
              </a:r>
              <a:endParaRPr lang="en-US" sz="2000">
                <a:solidFill>
                  <a:schemeClr val="bg1"/>
                </a:solidFill>
                <a:latin typeface="Gill Sans Nova Light" panose="020B0302020104020203" pitchFamily="34" charset="0"/>
              </a:endParaRPr>
            </a:p>
          </p:txBody>
        </p:sp>
        <p:sp>
          <p:nvSpPr>
            <p:cNvPr id="16" name="Text 13">
              <a:extLst>
                <a:ext uri="{FF2B5EF4-FFF2-40B4-BE49-F238E27FC236}">
                  <a16:creationId xmlns:a16="http://schemas.microsoft.com/office/drawing/2014/main" id="{2C672E2C-3FA0-6490-336A-0C90B4219405}"/>
                </a:ext>
              </a:extLst>
            </p:cNvPr>
            <p:cNvSpPr/>
            <p:nvPr/>
          </p:nvSpPr>
          <p:spPr>
            <a:xfrm>
              <a:off x="2767194" y="2827753"/>
              <a:ext cx="1106810" cy="265634"/>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NA's</a:t>
              </a:r>
              <a:endParaRPr lang="en-US" sz="950">
                <a:latin typeface="Gill Sans Nova Light" panose="020B0302020104020203" pitchFamily="34" charset="0"/>
              </a:endParaRPr>
            </a:p>
          </p:txBody>
        </p:sp>
        <p:sp>
          <p:nvSpPr>
            <p:cNvPr id="17" name="Shape 14">
              <a:extLst>
                <a:ext uri="{FF2B5EF4-FFF2-40B4-BE49-F238E27FC236}">
                  <a16:creationId xmlns:a16="http://schemas.microsoft.com/office/drawing/2014/main" id="{BABA6080-7754-3303-C7A0-8EC29DA952EE}"/>
                </a:ext>
              </a:extLst>
            </p:cNvPr>
            <p:cNvSpPr/>
            <p:nvPr/>
          </p:nvSpPr>
          <p:spPr>
            <a:xfrm>
              <a:off x="3971403" y="2385029"/>
              <a:ext cx="1106810" cy="841176"/>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18" name="Text 15">
              <a:extLst>
                <a:ext uri="{FF2B5EF4-FFF2-40B4-BE49-F238E27FC236}">
                  <a16:creationId xmlns:a16="http://schemas.microsoft.com/office/drawing/2014/main" id="{9AA54837-A88C-6004-BEE9-CC83FFCA925A}"/>
                </a:ext>
              </a:extLst>
            </p:cNvPr>
            <p:cNvSpPr/>
            <p:nvPr/>
          </p:nvSpPr>
          <p:spPr>
            <a:xfrm>
              <a:off x="3971403" y="2402737"/>
              <a:ext cx="1106810" cy="460433"/>
            </a:xfrm>
            <a:prstGeom prst="rect">
              <a:avLst/>
            </a:prstGeom>
            <a:noFill/>
            <a:ln/>
          </p:spPr>
          <p:txBody>
            <a:bodyPr wrap="square" rtlCol="0" anchor="ctr"/>
            <a:lstStyle/>
            <a:p>
              <a:pPr marL="0" indent="0" algn="ctr">
                <a:buNone/>
              </a:pPr>
              <a:r>
                <a:rPr lang="en-US" sz="2000" b="1">
                  <a:solidFill>
                    <a:schemeClr val="bg1"/>
                  </a:solidFill>
                  <a:latin typeface="Gill Sans Nova Light" panose="020B0302020104020203" pitchFamily="34" charset="0"/>
                  <a:ea typeface="Calibri" pitchFamily="34" charset="-122"/>
                  <a:cs typeface="Calibri" pitchFamily="34" charset="-120"/>
                </a:rPr>
                <a:t>18.71</a:t>
              </a:r>
              <a:endParaRPr lang="en-US" sz="2000">
                <a:solidFill>
                  <a:schemeClr val="bg1"/>
                </a:solidFill>
                <a:latin typeface="Gill Sans Nova Light" panose="020B0302020104020203" pitchFamily="34" charset="0"/>
              </a:endParaRPr>
            </a:p>
          </p:txBody>
        </p:sp>
        <p:sp>
          <p:nvSpPr>
            <p:cNvPr id="19" name="Text 16">
              <a:extLst>
                <a:ext uri="{FF2B5EF4-FFF2-40B4-BE49-F238E27FC236}">
                  <a16:creationId xmlns:a16="http://schemas.microsoft.com/office/drawing/2014/main" id="{590A7003-A6E0-FEF2-10A7-6A475181FF93}"/>
                </a:ext>
              </a:extLst>
            </p:cNvPr>
            <p:cNvSpPr/>
            <p:nvPr/>
          </p:nvSpPr>
          <p:spPr>
            <a:xfrm>
              <a:off x="3971403" y="2827753"/>
              <a:ext cx="1106810" cy="265634"/>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Mean</a:t>
              </a:r>
              <a:endParaRPr lang="en-US" sz="950">
                <a:latin typeface="Gill Sans Nova Light" panose="020B0302020104020203" pitchFamily="34" charset="0"/>
              </a:endParaRPr>
            </a:p>
          </p:txBody>
        </p:sp>
        <p:sp>
          <p:nvSpPr>
            <p:cNvPr id="20" name="Shape 17">
              <a:extLst>
                <a:ext uri="{FF2B5EF4-FFF2-40B4-BE49-F238E27FC236}">
                  <a16:creationId xmlns:a16="http://schemas.microsoft.com/office/drawing/2014/main" id="{AB654A9B-40DF-5FCC-C08B-2BC8C003AE39}"/>
                </a:ext>
              </a:extLst>
            </p:cNvPr>
            <p:cNvSpPr/>
            <p:nvPr/>
          </p:nvSpPr>
          <p:spPr>
            <a:xfrm>
              <a:off x="5175612" y="2385029"/>
              <a:ext cx="1106810" cy="841176"/>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21" name="Text 18">
              <a:extLst>
                <a:ext uri="{FF2B5EF4-FFF2-40B4-BE49-F238E27FC236}">
                  <a16:creationId xmlns:a16="http://schemas.microsoft.com/office/drawing/2014/main" id="{DD2BE304-D5F0-A4F3-4821-07021B0E6C19}"/>
                </a:ext>
              </a:extLst>
            </p:cNvPr>
            <p:cNvSpPr/>
            <p:nvPr/>
          </p:nvSpPr>
          <p:spPr>
            <a:xfrm>
              <a:off x="5175612" y="2402737"/>
              <a:ext cx="1106810" cy="460433"/>
            </a:xfrm>
            <a:prstGeom prst="rect">
              <a:avLst/>
            </a:prstGeom>
            <a:noFill/>
            <a:ln/>
          </p:spPr>
          <p:txBody>
            <a:bodyPr wrap="square" rtlCol="0" anchor="ctr"/>
            <a:lstStyle/>
            <a:p>
              <a:pPr marL="0" indent="0" algn="ctr">
                <a:buNone/>
              </a:pPr>
              <a:r>
                <a:rPr lang="en-US" sz="2000" b="1">
                  <a:solidFill>
                    <a:schemeClr val="bg1"/>
                  </a:solidFill>
                  <a:latin typeface="Gill Sans Nova Light" panose="020B0302020104020203" pitchFamily="34" charset="0"/>
                  <a:ea typeface="Calibri" pitchFamily="34" charset="-122"/>
                  <a:cs typeface="Calibri" pitchFamily="34" charset="-120"/>
                </a:rPr>
                <a:t>19.01</a:t>
              </a:r>
              <a:endParaRPr lang="en-US" sz="2000">
                <a:solidFill>
                  <a:schemeClr val="bg1"/>
                </a:solidFill>
                <a:latin typeface="Gill Sans Nova Light" panose="020B0302020104020203" pitchFamily="34" charset="0"/>
              </a:endParaRPr>
            </a:p>
          </p:txBody>
        </p:sp>
        <p:sp>
          <p:nvSpPr>
            <p:cNvPr id="22" name="Text 19">
              <a:extLst>
                <a:ext uri="{FF2B5EF4-FFF2-40B4-BE49-F238E27FC236}">
                  <a16:creationId xmlns:a16="http://schemas.microsoft.com/office/drawing/2014/main" id="{22F37B4C-A26A-699A-241C-FC462BE60F43}"/>
                </a:ext>
              </a:extLst>
            </p:cNvPr>
            <p:cNvSpPr/>
            <p:nvPr/>
          </p:nvSpPr>
          <p:spPr>
            <a:xfrm>
              <a:off x="5175612" y="2827753"/>
              <a:ext cx="1106810" cy="265634"/>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Median</a:t>
              </a:r>
              <a:endParaRPr lang="en-US" sz="950">
                <a:latin typeface="Gill Sans Nova Light" panose="020B0302020104020203" pitchFamily="34" charset="0"/>
              </a:endParaRPr>
            </a:p>
          </p:txBody>
        </p:sp>
        <p:sp>
          <p:nvSpPr>
            <p:cNvPr id="23" name="Shape 20">
              <a:extLst>
                <a:ext uri="{FF2B5EF4-FFF2-40B4-BE49-F238E27FC236}">
                  <a16:creationId xmlns:a16="http://schemas.microsoft.com/office/drawing/2014/main" id="{C72101C2-81CD-6BE9-F795-CDA3517B7F3F}"/>
                </a:ext>
              </a:extLst>
            </p:cNvPr>
            <p:cNvSpPr/>
            <p:nvPr/>
          </p:nvSpPr>
          <p:spPr>
            <a:xfrm>
              <a:off x="6379822" y="2385029"/>
              <a:ext cx="1106810" cy="841176"/>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24" name="Text 21">
              <a:extLst>
                <a:ext uri="{FF2B5EF4-FFF2-40B4-BE49-F238E27FC236}">
                  <a16:creationId xmlns:a16="http://schemas.microsoft.com/office/drawing/2014/main" id="{9FCAD278-1877-328B-84F3-E9E76C63F9AD}"/>
                </a:ext>
              </a:extLst>
            </p:cNvPr>
            <p:cNvSpPr/>
            <p:nvPr/>
          </p:nvSpPr>
          <p:spPr>
            <a:xfrm>
              <a:off x="6379822" y="2402737"/>
              <a:ext cx="1106810" cy="460433"/>
            </a:xfrm>
            <a:prstGeom prst="rect">
              <a:avLst/>
            </a:prstGeom>
            <a:noFill/>
            <a:ln/>
          </p:spPr>
          <p:txBody>
            <a:bodyPr wrap="square" rtlCol="0" anchor="ctr"/>
            <a:lstStyle/>
            <a:p>
              <a:pPr marL="0" indent="0" algn="ctr">
                <a:buNone/>
              </a:pPr>
              <a:r>
                <a:rPr lang="en-US" sz="2000" b="1">
                  <a:solidFill>
                    <a:schemeClr val="bg1"/>
                  </a:solidFill>
                  <a:latin typeface="Gill Sans Nova Light" panose="020B0302020104020203" pitchFamily="34" charset="0"/>
                  <a:ea typeface="Calibri" pitchFamily="34" charset="-122"/>
                  <a:cs typeface="Calibri" pitchFamily="34" charset="-120"/>
                </a:rPr>
                <a:t>11.32</a:t>
              </a:r>
              <a:endParaRPr lang="en-US" sz="2000">
                <a:solidFill>
                  <a:schemeClr val="bg1"/>
                </a:solidFill>
                <a:latin typeface="Gill Sans Nova Light" panose="020B0302020104020203" pitchFamily="34" charset="0"/>
              </a:endParaRPr>
            </a:p>
          </p:txBody>
        </p:sp>
        <p:sp>
          <p:nvSpPr>
            <p:cNvPr id="25" name="Text 22">
              <a:extLst>
                <a:ext uri="{FF2B5EF4-FFF2-40B4-BE49-F238E27FC236}">
                  <a16:creationId xmlns:a16="http://schemas.microsoft.com/office/drawing/2014/main" id="{EA58D057-1522-0ACC-BA47-40F0C2858224}"/>
                </a:ext>
              </a:extLst>
            </p:cNvPr>
            <p:cNvSpPr/>
            <p:nvPr/>
          </p:nvSpPr>
          <p:spPr>
            <a:xfrm>
              <a:off x="6379822" y="2827753"/>
              <a:ext cx="1106810" cy="265634"/>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Min</a:t>
              </a:r>
              <a:endParaRPr lang="en-US" sz="950">
                <a:latin typeface="Gill Sans Nova Light" panose="020B0302020104020203" pitchFamily="34" charset="0"/>
              </a:endParaRPr>
            </a:p>
          </p:txBody>
        </p:sp>
        <p:sp>
          <p:nvSpPr>
            <p:cNvPr id="26" name="Shape 23">
              <a:extLst>
                <a:ext uri="{FF2B5EF4-FFF2-40B4-BE49-F238E27FC236}">
                  <a16:creationId xmlns:a16="http://schemas.microsoft.com/office/drawing/2014/main" id="{63CEF53F-1C90-9A3F-C913-C8B214CBC63B}"/>
                </a:ext>
              </a:extLst>
            </p:cNvPr>
            <p:cNvSpPr/>
            <p:nvPr/>
          </p:nvSpPr>
          <p:spPr>
            <a:xfrm>
              <a:off x="7584031" y="2385029"/>
              <a:ext cx="1106810" cy="841176"/>
            </a:xfrm>
            <a:prstGeom prst="rect">
              <a:avLst/>
            </a:prstGeom>
            <a:solidFill>
              <a:srgbClr val="00802F"/>
            </a:solidFill>
            <a:ln w="12700">
              <a:solidFill>
                <a:srgbClr val="00802F"/>
              </a:solidFill>
              <a:prstDash val="solid"/>
            </a:ln>
            <a:effectLst>
              <a:outerShdw blurRad="50800" dist="25400" dir="8100000" algn="bl" rotWithShape="0">
                <a:srgbClr val="000000">
                  <a:alpha val="10000"/>
                </a:srgbClr>
              </a:outerShdw>
            </a:effectLst>
          </p:spPr>
          <p:txBody>
            <a:bodyPr/>
            <a:lstStyle/>
            <a:p>
              <a:endParaRPr lang="en-CH">
                <a:latin typeface="Gill Sans Nova Light" panose="020B0302020104020203" pitchFamily="34" charset="0"/>
              </a:endParaRPr>
            </a:p>
          </p:txBody>
        </p:sp>
        <p:sp>
          <p:nvSpPr>
            <p:cNvPr id="27" name="Text 24">
              <a:extLst>
                <a:ext uri="{FF2B5EF4-FFF2-40B4-BE49-F238E27FC236}">
                  <a16:creationId xmlns:a16="http://schemas.microsoft.com/office/drawing/2014/main" id="{7263D715-823F-C49C-FABF-EDF0B48A7234}"/>
                </a:ext>
              </a:extLst>
            </p:cNvPr>
            <p:cNvSpPr/>
            <p:nvPr/>
          </p:nvSpPr>
          <p:spPr>
            <a:xfrm>
              <a:off x="7584031" y="2402737"/>
              <a:ext cx="1106810" cy="460433"/>
            </a:xfrm>
            <a:prstGeom prst="rect">
              <a:avLst/>
            </a:prstGeom>
            <a:noFill/>
            <a:ln/>
          </p:spPr>
          <p:txBody>
            <a:bodyPr wrap="square" rtlCol="0" anchor="ctr"/>
            <a:lstStyle/>
            <a:p>
              <a:pPr marL="0" indent="0" algn="ctr">
                <a:buNone/>
              </a:pPr>
              <a:r>
                <a:rPr lang="en-US" sz="2000" b="1">
                  <a:solidFill>
                    <a:schemeClr val="bg1"/>
                  </a:solidFill>
                  <a:latin typeface="Gill Sans Nova Light" panose="020B0302020104020203" pitchFamily="34" charset="0"/>
                  <a:ea typeface="Calibri" pitchFamily="34" charset="-122"/>
                  <a:cs typeface="Calibri" pitchFamily="34" charset="-120"/>
                </a:rPr>
                <a:t>24.62</a:t>
              </a:r>
              <a:endParaRPr lang="en-US" sz="2000">
                <a:solidFill>
                  <a:schemeClr val="bg1"/>
                </a:solidFill>
                <a:latin typeface="Gill Sans Nova Light" panose="020B0302020104020203" pitchFamily="34" charset="0"/>
              </a:endParaRPr>
            </a:p>
          </p:txBody>
        </p:sp>
        <p:sp>
          <p:nvSpPr>
            <p:cNvPr id="28" name="Text 25">
              <a:extLst>
                <a:ext uri="{FF2B5EF4-FFF2-40B4-BE49-F238E27FC236}">
                  <a16:creationId xmlns:a16="http://schemas.microsoft.com/office/drawing/2014/main" id="{BDF380DD-ED8F-07DD-2505-E28F5823BA52}"/>
                </a:ext>
              </a:extLst>
            </p:cNvPr>
            <p:cNvSpPr/>
            <p:nvPr/>
          </p:nvSpPr>
          <p:spPr>
            <a:xfrm>
              <a:off x="7584031" y="2827753"/>
              <a:ext cx="1106810" cy="265634"/>
            </a:xfrm>
            <a:prstGeom prst="rect">
              <a:avLst/>
            </a:prstGeom>
            <a:noFill/>
            <a:ln/>
          </p:spPr>
          <p:txBody>
            <a:bodyPr wrap="square" rtlCol="0" anchor="ctr"/>
            <a:lstStyle/>
            <a:p>
              <a:pPr marL="0" indent="0" algn="ctr">
                <a:buNone/>
              </a:pPr>
              <a:r>
                <a:rPr lang="en-US" sz="950">
                  <a:solidFill>
                    <a:srgbClr val="FFFFFF"/>
                  </a:solidFill>
                  <a:latin typeface="Gill Sans Nova Light" panose="020B0302020104020203" pitchFamily="34" charset="0"/>
                  <a:ea typeface="Calibri" pitchFamily="34" charset="-122"/>
                  <a:cs typeface="Calibri" pitchFamily="34" charset="-120"/>
                </a:rPr>
                <a:t>Max</a:t>
              </a:r>
              <a:endParaRPr lang="en-US" sz="950">
                <a:latin typeface="Gill Sans Nova Light" panose="020B0302020104020203" pitchFamily="34" charset="0"/>
              </a:endParaRPr>
            </a:p>
          </p:txBody>
        </p:sp>
        <p:sp>
          <p:nvSpPr>
            <p:cNvPr id="29" name="Shape 26">
              <a:extLst>
                <a:ext uri="{FF2B5EF4-FFF2-40B4-BE49-F238E27FC236}">
                  <a16:creationId xmlns:a16="http://schemas.microsoft.com/office/drawing/2014/main" id="{D0F90482-6F44-9FB5-077A-40CCA1156292}"/>
                </a:ext>
              </a:extLst>
            </p:cNvPr>
            <p:cNvSpPr/>
            <p:nvPr/>
          </p:nvSpPr>
          <p:spPr>
            <a:xfrm>
              <a:off x="358775" y="3347953"/>
              <a:ext cx="8323212" cy="438297"/>
            </a:xfrm>
            <a:prstGeom prst="rect">
              <a:avLst/>
            </a:prstGeom>
            <a:solidFill>
              <a:srgbClr val="FFFFFF"/>
            </a:solidFill>
            <a:ln w="12700">
              <a:solidFill>
                <a:srgbClr val="00802F"/>
              </a:solidFill>
              <a:prstDash val="solid"/>
            </a:ln>
          </p:spPr>
          <p:txBody>
            <a:bodyPr/>
            <a:lstStyle/>
            <a:p>
              <a:endParaRPr lang="en-CH">
                <a:latin typeface="Gill Sans Nova Light" panose="020B0302020104020203" pitchFamily="34" charset="0"/>
              </a:endParaRPr>
            </a:p>
          </p:txBody>
        </p:sp>
        <p:sp>
          <p:nvSpPr>
            <p:cNvPr id="30" name="Text 27">
              <a:extLst>
                <a:ext uri="{FF2B5EF4-FFF2-40B4-BE49-F238E27FC236}">
                  <a16:creationId xmlns:a16="http://schemas.microsoft.com/office/drawing/2014/main" id="{FCC91714-AC93-F198-9159-E59F89C26EEC}"/>
                </a:ext>
              </a:extLst>
            </p:cNvPr>
            <p:cNvSpPr/>
            <p:nvPr/>
          </p:nvSpPr>
          <p:spPr>
            <a:xfrm>
              <a:off x="491592" y="3347953"/>
              <a:ext cx="8057577" cy="438297"/>
            </a:xfrm>
            <a:prstGeom prst="rect">
              <a:avLst/>
            </a:prstGeom>
            <a:noFill/>
            <a:ln/>
          </p:spPr>
          <p:txBody>
            <a:bodyPr wrap="square" rtlCol="0" anchor="ctr"/>
            <a:lstStyle/>
            <a:p>
              <a:pPr marL="0" indent="0">
                <a:buNone/>
              </a:pPr>
              <a:r>
                <a:rPr lang="en-US" sz="1100" b="1">
                  <a:solidFill>
                    <a:schemeClr val="bg1">
                      <a:lumMod val="50000"/>
                    </a:schemeClr>
                  </a:solidFill>
                  <a:latin typeface="Gill Sans Nova Light" panose="020B0302020104020203" pitchFamily="34" charset="0"/>
                  <a:ea typeface="Calibri" pitchFamily="34" charset="-122"/>
                  <a:cs typeface="Calibri" pitchFamily="34" charset="-120"/>
                </a:rPr>
                <a:t>Coverage: </a:t>
              </a:r>
              <a:r>
                <a:rPr lang="en-US" sz="1100">
                  <a:solidFill>
                    <a:schemeClr val="bg1">
                      <a:lumMod val="50000"/>
                    </a:schemeClr>
                  </a:solidFill>
                  <a:latin typeface="Gill Sans Nova Light" panose="020B0302020104020203" pitchFamily="34" charset="0"/>
                  <a:ea typeface="Calibri" pitchFamily="34" charset="-122"/>
                  <a:cs typeface="Calibri" pitchFamily="34" charset="-120"/>
                </a:rPr>
                <a:t>All 28 countries (EU27 + CH) have exactly 15 valid observations (2010–2024). 2025 missing for all countries — not yet reported by World Bank.</a:t>
              </a:r>
              <a:endParaRPr lang="en-US" sz="1100">
                <a:solidFill>
                  <a:schemeClr val="bg1">
                    <a:lumMod val="50000"/>
                  </a:schemeClr>
                </a:solidFill>
                <a:latin typeface="Gill Sans Nova Light" panose="020B0302020104020203" pitchFamily="34" charset="0"/>
              </a:endParaRPr>
            </a:p>
          </p:txBody>
        </p:sp>
      </p:grpSp>
      <p:sp>
        <p:nvSpPr>
          <p:cNvPr id="32" name="Text 85">
            <a:extLst>
              <a:ext uri="{FF2B5EF4-FFF2-40B4-BE49-F238E27FC236}">
                <a16:creationId xmlns:a16="http://schemas.microsoft.com/office/drawing/2014/main" id="{CEA9F854-8366-8084-9108-54EF926D6A4C}"/>
              </a:ext>
            </a:extLst>
          </p:cNvPr>
          <p:cNvSpPr/>
          <p:nvPr/>
        </p:nvSpPr>
        <p:spPr>
          <a:xfrm>
            <a:off x="274320" y="4919472"/>
            <a:ext cx="8595360" cy="164592"/>
          </a:xfrm>
          <a:prstGeom prst="rect">
            <a:avLst/>
          </a:prstGeom>
          <a:noFill/>
          <a:ln/>
        </p:spPr>
        <p:txBody>
          <a:bodyPr wrap="square" rtlCol="0" anchor="ctr"/>
          <a:lstStyle/>
          <a:p>
            <a:pPr marL="0" indent="0">
              <a:buNone/>
            </a:pPr>
            <a:r>
              <a:rPr lang="en-US" sz="750" i="1">
                <a:solidFill>
                  <a:srgbClr val="64748B"/>
                </a:solidFill>
                <a:latin typeface="Gill Sans Nova Light" panose="020B0302020104020203" pitchFamily="34" charset="0"/>
                <a:ea typeface="Calibri" pitchFamily="34" charset="-122"/>
                <a:cs typeface="Calibri" pitchFamily="34" charset="-120"/>
              </a:rPr>
              <a:t>Source: World Bank WDI (SP.POP.65UP.TO.ZS) | Period: 2010–2024 | EU-27 + Switzerland</a:t>
            </a:r>
            <a:endParaRPr lang="en-US" sz="750">
              <a:latin typeface="Gill Sans Nova Light" panose="020B0302020104020203" pitchFamily="34" charset="0"/>
            </a:endParaRPr>
          </a:p>
        </p:txBody>
      </p:sp>
    </p:spTree>
    <p:extLst>
      <p:ext uri="{BB962C8B-B14F-4D97-AF65-F5344CB8AC3E}">
        <p14:creationId xmlns:p14="http://schemas.microsoft.com/office/powerpoint/2010/main" val="26987587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A85B-AF59-B902-F8FC-251693C92FE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9311B49-906F-6C3C-31AB-5400EA5B5D82}"/>
              </a:ext>
            </a:extLst>
          </p:cNvPr>
          <p:cNvGraphicFramePr>
            <a:graphicFrameLocks/>
          </p:cNvGraphicFramePr>
          <p:nvPr>
            <p:custDataLst>
              <p:tags r:id="rId3"/>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4" progId="TCLayout.ActiveDocument.1">
                  <p:embed/>
                </p:oleObj>
              </mc:Choice>
              <mc:Fallback>
                <p:oleObj name="think-cell Slide" r:id="rId5" imgW="425" imgH="424" progId="TCLayout.ActiveDocument.1">
                  <p:embed/>
                  <p:pic>
                    <p:nvPicPr>
                      <p:cNvPr id="4" name="think-cell data - do not delete" hidden="1">
                        <a:extLst>
                          <a:ext uri="{FF2B5EF4-FFF2-40B4-BE49-F238E27FC236}">
                            <a16:creationId xmlns:a16="http://schemas.microsoft.com/office/drawing/2014/main" id="{99311B49-906F-6C3C-31AB-5400EA5B5D8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B5DF644-D1ED-17B0-6CD8-F87D09913094}"/>
              </a:ext>
            </a:extLst>
          </p:cNvPr>
          <p:cNvSpPr>
            <a:spLocks noGrp="1"/>
          </p:cNvSpPr>
          <p:nvPr>
            <p:ph type="title"/>
          </p:nvPr>
        </p:nvSpPr>
        <p:spPr>
          <a:xfrm>
            <a:off x="827015" y="1098178"/>
            <a:ext cx="7958210" cy="1792800"/>
          </a:xfrm>
        </p:spPr>
        <p:txBody>
          <a:bodyPr vert="horz" rIns="0"/>
          <a:lstStyle/>
          <a:p>
            <a:pPr algn="ctr"/>
            <a:r>
              <a:rPr lang="de-LI">
                <a:latin typeface="Gill Sans Nova Light"/>
              </a:rPr>
              <a:t>Research Seminar Financial </a:t>
            </a:r>
            <a:r>
              <a:rPr lang="de-LI" err="1">
                <a:latin typeface="Gill Sans Nova Light"/>
              </a:rPr>
              <a:t>Institutions</a:t>
            </a:r>
            <a:r>
              <a:rPr lang="de-LI">
                <a:latin typeface="Gill Sans Nova Light"/>
              </a:rPr>
              <a:t>  </a:t>
            </a:r>
            <a:br>
              <a:rPr lang="de-LI">
                <a:latin typeface="Gill Sans Nova Light"/>
              </a:rPr>
            </a:br>
            <a:r>
              <a:rPr lang="de-LI" err="1">
                <a:latin typeface="Gill Sans Nova Light"/>
              </a:rPr>
              <a:t>Descriptive</a:t>
            </a:r>
            <a:r>
              <a:rPr lang="de-LI">
                <a:latin typeface="Gill Sans Nova Light"/>
              </a:rPr>
              <a:t> </a:t>
            </a:r>
            <a:r>
              <a:rPr lang="de-LI" err="1">
                <a:latin typeface="Gill Sans Nova Light"/>
              </a:rPr>
              <a:t>Statistics</a:t>
            </a:r>
            <a:endParaRPr lang="de-LI"/>
          </a:p>
        </p:txBody>
      </p:sp>
      <p:sp>
        <p:nvSpPr>
          <p:cNvPr id="3" name="Text Placeholder 2">
            <a:extLst>
              <a:ext uri="{FF2B5EF4-FFF2-40B4-BE49-F238E27FC236}">
                <a16:creationId xmlns:a16="http://schemas.microsoft.com/office/drawing/2014/main" id="{0B22D5BA-309A-CF58-DA4A-4FFDDD8B59C5}"/>
              </a:ext>
            </a:extLst>
          </p:cNvPr>
          <p:cNvSpPr>
            <a:spLocks noGrp="1"/>
          </p:cNvSpPr>
          <p:nvPr>
            <p:ph type="body" sz="quarter" idx="10"/>
          </p:nvPr>
        </p:nvSpPr>
        <p:spPr>
          <a:xfrm>
            <a:off x="831027" y="3123868"/>
            <a:ext cx="3650486" cy="1356057"/>
          </a:xfrm>
        </p:spPr>
        <p:txBody>
          <a:bodyPr vert="horz" lIns="0" tIns="0" rIns="0" bIns="0" rtlCol="0" anchor="t">
            <a:normAutofit/>
          </a:bodyPr>
          <a:lstStyle/>
          <a:p>
            <a:r>
              <a:rPr lang="en-GB" err="1"/>
              <a:t>St.Gallen</a:t>
            </a:r>
            <a:r>
              <a:rPr lang="en-GB"/>
              <a:t>, </a:t>
            </a:r>
            <a:r>
              <a:rPr lang="de-LI"/>
              <a:t>18th March 2026</a:t>
            </a:r>
            <a:endParaRPr lang="en-GB"/>
          </a:p>
        </p:txBody>
      </p:sp>
    </p:spTree>
    <p:custDataLst>
      <p:custData r:id="rId1"/>
      <p:custData r:id="rId2"/>
    </p:custDataLst>
    <p:extLst>
      <p:ext uri="{BB962C8B-B14F-4D97-AF65-F5344CB8AC3E}">
        <p14:creationId xmlns:p14="http://schemas.microsoft.com/office/powerpoint/2010/main" val="3746553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a:extLst>
              <a:ext uri="{FF2B5EF4-FFF2-40B4-BE49-F238E27FC236}">
                <a16:creationId xmlns:a16="http://schemas.microsoft.com/office/drawing/2014/main" id="{2EDCDF1F-D702-86A0-FC1C-30322BD98C47}"/>
              </a:ext>
            </a:extLst>
          </p:cNvPr>
          <p:cNvSpPr/>
          <p:nvPr/>
        </p:nvSpPr>
        <p:spPr>
          <a:xfrm>
            <a:off x="358775" y="978189"/>
            <a:ext cx="2643850" cy="3615075"/>
          </a:xfrm>
          <a:prstGeom prst="rect">
            <a:avLst/>
          </a:prstGeom>
          <a:solidFill>
            <a:schemeClr val="bg1">
              <a:lumMod val="95000"/>
            </a:schemeClr>
          </a:solidFill>
          <a:ln>
            <a:solidFill>
              <a:srgbClr val="0080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latin typeface="Gill Sans Nova Light" panose="020B0302020104020203" pitchFamily="34" charset="0"/>
            </a:endParaRPr>
          </a:p>
        </p:txBody>
      </p:sp>
      <p:sp>
        <p:nvSpPr>
          <p:cNvPr id="119" name="Rectangle 118">
            <a:extLst>
              <a:ext uri="{FF2B5EF4-FFF2-40B4-BE49-F238E27FC236}">
                <a16:creationId xmlns:a16="http://schemas.microsoft.com/office/drawing/2014/main" id="{0779A04F-53A6-EE6D-EB9B-4154B2B6912A}"/>
              </a:ext>
            </a:extLst>
          </p:cNvPr>
          <p:cNvSpPr/>
          <p:nvPr/>
        </p:nvSpPr>
        <p:spPr>
          <a:xfrm>
            <a:off x="6153517" y="978189"/>
            <a:ext cx="2643850" cy="3615075"/>
          </a:xfrm>
          <a:prstGeom prst="rect">
            <a:avLst/>
          </a:prstGeom>
          <a:solidFill>
            <a:schemeClr val="bg1">
              <a:lumMod val="95000"/>
            </a:schemeClr>
          </a:solidFill>
          <a:ln>
            <a:solidFill>
              <a:srgbClr val="0080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latin typeface="Gill Sans Nova Light" panose="020B0302020104020203" pitchFamily="34" charset="0"/>
            </a:endParaRPr>
          </a:p>
        </p:txBody>
      </p:sp>
      <p:sp>
        <p:nvSpPr>
          <p:cNvPr id="2" name="Title 1">
            <a:extLst>
              <a:ext uri="{FF2B5EF4-FFF2-40B4-BE49-F238E27FC236}">
                <a16:creationId xmlns:a16="http://schemas.microsoft.com/office/drawing/2014/main" id="{DFC6161D-8B62-FA07-8B0A-715F549FF8E3}"/>
              </a:ext>
            </a:extLst>
          </p:cNvPr>
          <p:cNvSpPr>
            <a:spLocks noGrp="1"/>
          </p:cNvSpPr>
          <p:nvPr>
            <p:ph type="title"/>
          </p:nvPr>
        </p:nvSpPr>
        <p:spPr>
          <a:xfrm>
            <a:off x="370917" y="376238"/>
            <a:ext cx="8426450" cy="609662"/>
          </a:xfrm>
        </p:spPr>
        <p:txBody>
          <a:bodyPr/>
          <a:lstStyle/>
          <a:p>
            <a:r>
              <a:rPr lang="en-GB"/>
              <a:t>Step 1 - SNL Dataset: banks for EU27 + CH</a:t>
            </a:r>
            <a:endParaRPr lang="en-CH"/>
          </a:p>
        </p:txBody>
      </p:sp>
      <p:sp>
        <p:nvSpPr>
          <p:cNvPr id="72" name="Text 16">
            <a:extLst>
              <a:ext uri="{FF2B5EF4-FFF2-40B4-BE49-F238E27FC236}">
                <a16:creationId xmlns:a16="http://schemas.microsoft.com/office/drawing/2014/main" id="{D78B646C-94B4-C709-CCE8-1A29D4286A45}"/>
              </a:ext>
            </a:extLst>
          </p:cNvPr>
          <p:cNvSpPr/>
          <p:nvPr/>
        </p:nvSpPr>
        <p:spPr>
          <a:xfrm>
            <a:off x="3056310" y="2664814"/>
            <a:ext cx="146151" cy="241824"/>
          </a:xfrm>
          <a:prstGeom prst="rect">
            <a:avLst/>
          </a:prstGeom>
          <a:noFill/>
          <a:ln/>
        </p:spPr>
        <p:txBody>
          <a:bodyPr wrap="square" lIns="0" tIns="0" rIns="0" bIns="0" rtlCol="0" anchor="ctr"/>
          <a:lstStyle/>
          <a:p>
            <a:pPr marL="0" indent="0" algn="ctr">
              <a:buNone/>
            </a:pPr>
            <a:r>
              <a:rPr lang="en-US" sz="4500">
                <a:latin typeface="Gill Sans Nova Light" panose="020B0302020104020203" pitchFamily="34" charset="0"/>
                <a:ea typeface="Calibri" pitchFamily="34" charset="-122"/>
                <a:cs typeface="Calibri" pitchFamily="34" charset="-120"/>
              </a:rPr>
              <a:t>›</a:t>
            </a:r>
            <a:endParaRPr lang="en-US" sz="4500">
              <a:latin typeface="Gill Sans Nova Light" panose="020B0302020104020203" pitchFamily="34" charset="0"/>
            </a:endParaRPr>
          </a:p>
        </p:txBody>
      </p:sp>
      <p:grpSp>
        <p:nvGrpSpPr>
          <p:cNvPr id="117" name="Group 116">
            <a:extLst>
              <a:ext uri="{FF2B5EF4-FFF2-40B4-BE49-F238E27FC236}">
                <a16:creationId xmlns:a16="http://schemas.microsoft.com/office/drawing/2014/main" id="{363ECF4E-4F6D-2C3A-D560-032A56E85E96}"/>
              </a:ext>
            </a:extLst>
          </p:cNvPr>
          <p:cNvGrpSpPr/>
          <p:nvPr/>
        </p:nvGrpSpPr>
        <p:grpSpPr>
          <a:xfrm>
            <a:off x="473994" y="1078639"/>
            <a:ext cx="2267108" cy="2743201"/>
            <a:chOff x="358775" y="1202700"/>
            <a:chExt cx="2267108" cy="2743201"/>
          </a:xfrm>
        </p:grpSpPr>
        <p:sp>
          <p:nvSpPr>
            <p:cNvPr id="59" name="Shape 3">
              <a:extLst>
                <a:ext uri="{FF2B5EF4-FFF2-40B4-BE49-F238E27FC236}">
                  <a16:creationId xmlns:a16="http://schemas.microsoft.com/office/drawing/2014/main" id="{551C7F5C-788B-587F-A5E6-A3E2D0E41734}"/>
                </a:ext>
              </a:extLst>
            </p:cNvPr>
            <p:cNvSpPr/>
            <p:nvPr/>
          </p:nvSpPr>
          <p:spPr>
            <a:xfrm>
              <a:off x="358775" y="1202700"/>
              <a:ext cx="241825" cy="241825"/>
            </a:xfrm>
            <a:prstGeom prst="ellipse">
              <a:avLst/>
            </a:prstGeom>
            <a:solidFill>
              <a:srgbClr val="00802F"/>
            </a:solidFill>
            <a:ln w="12700">
              <a:noFill/>
              <a:prstDash val="solid"/>
            </a:ln>
          </p:spPr>
          <p:txBody>
            <a:bodyPr/>
            <a:lstStyle/>
            <a:p>
              <a:endParaRPr lang="en-CH">
                <a:latin typeface="Gill Sans Nova Light" panose="020B0302020104020203" pitchFamily="34" charset="0"/>
              </a:endParaRPr>
            </a:p>
          </p:txBody>
        </p:sp>
        <p:sp>
          <p:nvSpPr>
            <p:cNvPr id="60" name="Text 4">
              <a:extLst>
                <a:ext uri="{FF2B5EF4-FFF2-40B4-BE49-F238E27FC236}">
                  <a16:creationId xmlns:a16="http://schemas.microsoft.com/office/drawing/2014/main" id="{20E3E87B-8A40-074D-DF5E-1D4618893911}"/>
                </a:ext>
              </a:extLst>
            </p:cNvPr>
            <p:cNvSpPr/>
            <p:nvPr/>
          </p:nvSpPr>
          <p:spPr>
            <a:xfrm>
              <a:off x="358775" y="1202700"/>
              <a:ext cx="241825" cy="241825"/>
            </a:xfrm>
            <a:prstGeom prst="rect">
              <a:avLst/>
            </a:prstGeom>
            <a:noFill/>
            <a:ln/>
          </p:spPr>
          <p:txBody>
            <a:bodyPr wrap="square" lIns="0" tIns="0" rIns="0" bIns="0" rtlCol="0" anchor="ctr"/>
            <a:lstStyle/>
            <a:p>
              <a:pPr marL="0" indent="0" algn="ctr">
                <a:buNone/>
              </a:pPr>
              <a:r>
                <a:rPr lang="en-US" sz="1100" b="1">
                  <a:solidFill>
                    <a:srgbClr val="FFFFFF"/>
                  </a:solidFill>
                  <a:latin typeface="Gill Sans Nova Light" panose="020B0302020104020203" pitchFamily="34" charset="0"/>
                  <a:ea typeface="Calibri" pitchFamily="34" charset="-122"/>
                  <a:cs typeface="Calibri" pitchFamily="34" charset="-120"/>
                </a:rPr>
                <a:t>1</a:t>
              </a:r>
              <a:endParaRPr lang="en-US" sz="1100">
                <a:latin typeface="Gill Sans Nova Light" panose="020B0302020104020203" pitchFamily="34" charset="0"/>
              </a:endParaRPr>
            </a:p>
          </p:txBody>
        </p:sp>
        <p:sp>
          <p:nvSpPr>
            <p:cNvPr id="61" name="Text 5">
              <a:extLst>
                <a:ext uri="{FF2B5EF4-FFF2-40B4-BE49-F238E27FC236}">
                  <a16:creationId xmlns:a16="http://schemas.microsoft.com/office/drawing/2014/main" id="{42DA8C6F-998D-DE45-AEA7-61FCCEB6D9D6}"/>
                </a:ext>
              </a:extLst>
            </p:cNvPr>
            <p:cNvSpPr/>
            <p:nvPr/>
          </p:nvSpPr>
          <p:spPr>
            <a:xfrm>
              <a:off x="661056" y="1202700"/>
              <a:ext cx="1964827" cy="143583"/>
            </a:xfrm>
            <a:prstGeom prst="rect">
              <a:avLst/>
            </a:prstGeom>
            <a:noFill/>
            <a:ln/>
          </p:spPr>
          <p:txBody>
            <a:bodyPr wrap="square" lIns="0" tIns="0" rIns="0" bIns="0" rtlCol="0" anchor="ctr"/>
            <a:lstStyle/>
            <a:p>
              <a:pPr marL="0" indent="0">
                <a:buNone/>
              </a:pPr>
              <a:r>
                <a:rPr lang="en-US" sz="1150" b="1">
                  <a:solidFill>
                    <a:srgbClr val="1A1A1A"/>
                  </a:solidFill>
                  <a:latin typeface="Gill Sans Nova Light" panose="020B0302020104020203" pitchFamily="34" charset="0"/>
                  <a:ea typeface="Calibri" pitchFamily="34" charset="-122"/>
                  <a:cs typeface="Calibri" pitchFamily="34" charset="-120"/>
                </a:rPr>
                <a:t>Full Dataset</a:t>
              </a:r>
              <a:endParaRPr lang="en-US" sz="1150">
                <a:latin typeface="Gill Sans Nova Light" panose="020B0302020104020203" pitchFamily="34" charset="0"/>
              </a:endParaRPr>
            </a:p>
          </p:txBody>
        </p:sp>
        <p:sp>
          <p:nvSpPr>
            <p:cNvPr id="62" name="Text 6">
              <a:extLst>
                <a:ext uri="{FF2B5EF4-FFF2-40B4-BE49-F238E27FC236}">
                  <a16:creationId xmlns:a16="http://schemas.microsoft.com/office/drawing/2014/main" id="{7907B2F1-DDC1-758C-3B73-4E82E6DFDE43}"/>
                </a:ext>
              </a:extLst>
            </p:cNvPr>
            <p:cNvSpPr/>
            <p:nvPr/>
          </p:nvSpPr>
          <p:spPr>
            <a:xfrm>
              <a:off x="661056" y="1338727"/>
              <a:ext cx="1964827" cy="128469"/>
            </a:xfrm>
            <a:prstGeom prst="rect">
              <a:avLst/>
            </a:prstGeom>
            <a:noFill/>
            <a:ln/>
          </p:spPr>
          <p:txBody>
            <a:bodyPr wrap="square" lIns="0" tIns="0" rIns="0" bIns="0" rtlCol="0" anchor="ctr"/>
            <a:lstStyle/>
            <a:p>
              <a:pPr marL="0" indent="0">
                <a:buNone/>
              </a:pPr>
              <a:r>
                <a:rPr lang="en-US" sz="900">
                  <a:solidFill>
                    <a:srgbClr val="6B7280"/>
                  </a:solidFill>
                  <a:latin typeface="Gill Sans Nova Light" panose="020B0302020104020203" pitchFamily="34" charset="0"/>
                  <a:ea typeface="Calibri" pitchFamily="34" charset="-122"/>
                  <a:cs typeface="Calibri" pitchFamily="34" charset="-120"/>
                </a:rPr>
                <a:t>All bank types · 28 countries</a:t>
              </a:r>
              <a:endParaRPr lang="en-US" sz="900">
                <a:latin typeface="Gill Sans Nova Light" panose="020B0302020104020203" pitchFamily="34" charset="0"/>
              </a:endParaRPr>
            </a:p>
          </p:txBody>
        </p:sp>
        <p:sp>
          <p:nvSpPr>
            <p:cNvPr id="77" name="Text 21">
              <a:extLst>
                <a:ext uri="{FF2B5EF4-FFF2-40B4-BE49-F238E27FC236}">
                  <a16:creationId xmlns:a16="http://schemas.microsoft.com/office/drawing/2014/main" id="{0616E53F-A4AE-BFB0-EC9C-85565D34463F}"/>
                </a:ext>
              </a:extLst>
            </p:cNvPr>
            <p:cNvSpPr/>
            <p:nvPr/>
          </p:nvSpPr>
          <p:spPr>
            <a:xfrm>
              <a:off x="396560" y="1618337"/>
              <a:ext cx="2040397" cy="317395"/>
            </a:xfrm>
            <a:prstGeom prst="rect">
              <a:avLst/>
            </a:prstGeom>
            <a:noFill/>
            <a:ln/>
          </p:spPr>
          <p:txBody>
            <a:bodyPr wrap="square" lIns="0" tIns="0" rIns="0" bIns="0" rtlCol="0" anchor="ctr"/>
            <a:lstStyle/>
            <a:p>
              <a:pPr marL="0" indent="0" algn="l">
                <a:buNone/>
              </a:pPr>
              <a:r>
                <a:rPr lang="en-US" sz="1800" b="1">
                  <a:solidFill>
                    <a:srgbClr val="00802F"/>
                  </a:solidFill>
                  <a:latin typeface="Gill Sans Nova Light" panose="020B0302020104020203" pitchFamily="34" charset="0"/>
                  <a:ea typeface="Calibri" pitchFamily="34" charset="-122"/>
                  <a:cs typeface="Calibri" pitchFamily="34" charset="-120"/>
                </a:rPr>
                <a:t>5,218</a:t>
              </a:r>
              <a:endParaRPr lang="en-US" sz="1800">
                <a:solidFill>
                  <a:srgbClr val="00802F"/>
                </a:solidFill>
                <a:latin typeface="Gill Sans Nova Light" panose="020B0302020104020203" pitchFamily="34" charset="0"/>
              </a:endParaRPr>
            </a:p>
          </p:txBody>
        </p:sp>
        <p:sp>
          <p:nvSpPr>
            <p:cNvPr id="78" name="Text 22">
              <a:extLst>
                <a:ext uri="{FF2B5EF4-FFF2-40B4-BE49-F238E27FC236}">
                  <a16:creationId xmlns:a16="http://schemas.microsoft.com/office/drawing/2014/main" id="{C50BE7C5-2461-275C-2F1A-3F08D48C5427}"/>
                </a:ext>
              </a:extLst>
            </p:cNvPr>
            <p:cNvSpPr/>
            <p:nvPr/>
          </p:nvSpPr>
          <p:spPr>
            <a:xfrm>
              <a:off x="396560" y="1920618"/>
              <a:ext cx="2040397" cy="166255"/>
            </a:xfrm>
            <a:prstGeom prst="rect">
              <a:avLst/>
            </a:prstGeom>
            <a:noFill/>
            <a:ln/>
          </p:spPr>
          <p:txBody>
            <a:bodyPr wrap="square" lIns="0" tIns="0" rIns="0" bIns="0" rtlCol="0" anchor="ctr"/>
            <a:lstStyle/>
            <a:p>
              <a:pPr marL="0" indent="0" algn="l">
                <a:buNone/>
              </a:pPr>
              <a:r>
                <a:rPr lang="en-US" sz="1000">
                  <a:latin typeface="Gill Sans Nova Light" panose="020B0302020104020203" pitchFamily="34" charset="0"/>
                  <a:ea typeface="Calibri" pitchFamily="34" charset="-122"/>
                  <a:cs typeface="Calibri" pitchFamily="34" charset="-120"/>
                </a:rPr>
                <a:t>Banks</a:t>
              </a:r>
              <a:endParaRPr lang="en-US" sz="1000">
                <a:latin typeface="Gill Sans Nova Light" panose="020B0302020104020203" pitchFamily="34" charset="0"/>
              </a:endParaRPr>
            </a:p>
          </p:txBody>
        </p:sp>
        <p:sp>
          <p:nvSpPr>
            <p:cNvPr id="79" name="Text 23">
              <a:extLst>
                <a:ext uri="{FF2B5EF4-FFF2-40B4-BE49-F238E27FC236}">
                  <a16:creationId xmlns:a16="http://schemas.microsoft.com/office/drawing/2014/main" id="{088AF873-957B-2535-1427-E1DF44A1093F}"/>
                </a:ext>
              </a:extLst>
            </p:cNvPr>
            <p:cNvSpPr/>
            <p:nvPr/>
          </p:nvSpPr>
          <p:spPr>
            <a:xfrm>
              <a:off x="396560" y="2238013"/>
              <a:ext cx="2040397" cy="317395"/>
            </a:xfrm>
            <a:prstGeom prst="rect">
              <a:avLst/>
            </a:prstGeom>
            <a:noFill/>
            <a:ln/>
          </p:spPr>
          <p:txBody>
            <a:bodyPr wrap="square" lIns="0" tIns="0" rIns="0" bIns="0" rtlCol="0" anchor="ctr"/>
            <a:lstStyle/>
            <a:p>
              <a:pPr marL="0" indent="0" algn="l">
                <a:buNone/>
              </a:pPr>
              <a:r>
                <a:rPr lang="en-US" sz="1800" b="1">
                  <a:solidFill>
                    <a:srgbClr val="00802F"/>
                  </a:solidFill>
                  <a:latin typeface="Gill Sans Nova Light" panose="020B0302020104020203" pitchFamily="34" charset="0"/>
                  <a:ea typeface="Calibri" pitchFamily="34" charset="-122"/>
                  <a:cs typeface="Calibri" pitchFamily="34" charset="-120"/>
                </a:rPr>
                <a:t>83,488</a:t>
              </a:r>
              <a:endParaRPr lang="en-US" sz="1800">
                <a:solidFill>
                  <a:srgbClr val="00802F"/>
                </a:solidFill>
                <a:latin typeface="Gill Sans Nova Light" panose="020B0302020104020203" pitchFamily="34" charset="0"/>
              </a:endParaRPr>
            </a:p>
          </p:txBody>
        </p:sp>
        <p:sp>
          <p:nvSpPr>
            <p:cNvPr id="80" name="Text 24">
              <a:extLst>
                <a:ext uri="{FF2B5EF4-FFF2-40B4-BE49-F238E27FC236}">
                  <a16:creationId xmlns:a16="http://schemas.microsoft.com/office/drawing/2014/main" id="{1F90DFF8-854E-7EAA-43ED-566EC753346A}"/>
                </a:ext>
              </a:extLst>
            </p:cNvPr>
            <p:cNvSpPr/>
            <p:nvPr/>
          </p:nvSpPr>
          <p:spPr>
            <a:xfrm>
              <a:off x="396560" y="2540294"/>
              <a:ext cx="2040397" cy="166255"/>
            </a:xfrm>
            <a:prstGeom prst="rect">
              <a:avLst/>
            </a:prstGeom>
            <a:noFill/>
            <a:ln/>
          </p:spPr>
          <p:txBody>
            <a:bodyPr wrap="square" lIns="0" tIns="0" rIns="0" bIns="0" rtlCol="0" anchor="ctr"/>
            <a:lstStyle/>
            <a:p>
              <a:pPr marL="0" indent="0" algn="l">
                <a:buNone/>
              </a:pPr>
              <a:r>
                <a:rPr lang="en-US" sz="1000">
                  <a:latin typeface="Gill Sans Nova Light" panose="020B0302020104020203" pitchFamily="34" charset="0"/>
                  <a:ea typeface="Calibri" pitchFamily="34" charset="-122"/>
                  <a:cs typeface="Calibri" pitchFamily="34" charset="-120"/>
                </a:rPr>
                <a:t>Observations</a:t>
              </a:r>
              <a:endParaRPr lang="en-US" sz="1000">
                <a:latin typeface="Gill Sans Nova Light" panose="020B0302020104020203" pitchFamily="34" charset="0"/>
              </a:endParaRPr>
            </a:p>
          </p:txBody>
        </p:sp>
        <p:sp>
          <p:nvSpPr>
            <p:cNvPr id="81" name="Text 25">
              <a:extLst>
                <a:ext uri="{FF2B5EF4-FFF2-40B4-BE49-F238E27FC236}">
                  <a16:creationId xmlns:a16="http://schemas.microsoft.com/office/drawing/2014/main" id="{AF04781B-39F3-C9C0-1B3D-7A9450E409BC}"/>
                </a:ext>
              </a:extLst>
            </p:cNvPr>
            <p:cNvSpPr/>
            <p:nvPr/>
          </p:nvSpPr>
          <p:spPr>
            <a:xfrm>
              <a:off x="396560" y="2857689"/>
              <a:ext cx="2040397" cy="317395"/>
            </a:xfrm>
            <a:prstGeom prst="rect">
              <a:avLst/>
            </a:prstGeom>
            <a:noFill/>
            <a:ln/>
          </p:spPr>
          <p:txBody>
            <a:bodyPr wrap="square" lIns="0" tIns="0" rIns="0" bIns="0" rtlCol="0" anchor="ctr"/>
            <a:lstStyle/>
            <a:p>
              <a:pPr marL="0" indent="0" algn="l">
                <a:buNone/>
              </a:pPr>
              <a:r>
                <a:rPr lang="en-US" sz="1800" b="1">
                  <a:solidFill>
                    <a:srgbClr val="00802F"/>
                  </a:solidFill>
                  <a:latin typeface="Gill Sans Nova Light" panose="020B0302020104020203" pitchFamily="34" charset="0"/>
                  <a:ea typeface="Calibri" pitchFamily="34" charset="-122"/>
                  <a:cs typeface="Calibri" pitchFamily="34" charset="-120"/>
                </a:rPr>
                <a:t>16 yrs</a:t>
              </a:r>
              <a:endParaRPr lang="en-US" sz="1800">
                <a:solidFill>
                  <a:srgbClr val="00802F"/>
                </a:solidFill>
                <a:latin typeface="Gill Sans Nova Light" panose="020B0302020104020203" pitchFamily="34" charset="0"/>
              </a:endParaRPr>
            </a:p>
          </p:txBody>
        </p:sp>
        <p:sp>
          <p:nvSpPr>
            <p:cNvPr id="82" name="Text 26">
              <a:extLst>
                <a:ext uri="{FF2B5EF4-FFF2-40B4-BE49-F238E27FC236}">
                  <a16:creationId xmlns:a16="http://schemas.microsoft.com/office/drawing/2014/main" id="{8C99A694-D5DA-2D3E-36C7-47E7B33F3BF2}"/>
                </a:ext>
              </a:extLst>
            </p:cNvPr>
            <p:cNvSpPr/>
            <p:nvPr/>
          </p:nvSpPr>
          <p:spPr>
            <a:xfrm>
              <a:off x="396560" y="3159970"/>
              <a:ext cx="2040397" cy="166255"/>
            </a:xfrm>
            <a:prstGeom prst="rect">
              <a:avLst/>
            </a:prstGeom>
            <a:noFill/>
            <a:ln/>
          </p:spPr>
          <p:txBody>
            <a:bodyPr wrap="square" lIns="0" tIns="0" rIns="0" bIns="0" rtlCol="0" anchor="ctr"/>
            <a:lstStyle/>
            <a:p>
              <a:pPr marL="0" indent="0" algn="l">
                <a:buNone/>
              </a:pPr>
              <a:r>
                <a:rPr lang="en-US" sz="1000">
                  <a:latin typeface="Gill Sans Nova Light" panose="020B0302020104020203" pitchFamily="34" charset="0"/>
                  <a:ea typeface="Calibri" pitchFamily="34" charset="-122"/>
                  <a:cs typeface="Calibri" pitchFamily="34" charset="-120"/>
                </a:rPr>
                <a:t>Time span</a:t>
              </a:r>
              <a:endParaRPr lang="en-US" sz="1000">
                <a:latin typeface="Gill Sans Nova Light" panose="020B0302020104020203" pitchFamily="34" charset="0"/>
              </a:endParaRPr>
            </a:p>
          </p:txBody>
        </p:sp>
        <p:sp>
          <p:nvSpPr>
            <p:cNvPr id="83" name="Text 27">
              <a:extLst>
                <a:ext uri="{FF2B5EF4-FFF2-40B4-BE49-F238E27FC236}">
                  <a16:creationId xmlns:a16="http://schemas.microsoft.com/office/drawing/2014/main" id="{71C41E46-9C01-9D82-404C-0752ACFADF1F}"/>
                </a:ext>
              </a:extLst>
            </p:cNvPr>
            <p:cNvSpPr/>
            <p:nvPr/>
          </p:nvSpPr>
          <p:spPr>
            <a:xfrm>
              <a:off x="396560" y="3477365"/>
              <a:ext cx="2040397" cy="317395"/>
            </a:xfrm>
            <a:prstGeom prst="rect">
              <a:avLst/>
            </a:prstGeom>
            <a:noFill/>
            <a:ln/>
          </p:spPr>
          <p:txBody>
            <a:bodyPr wrap="square" lIns="0" tIns="0" rIns="0" bIns="0" rtlCol="0" anchor="ctr"/>
            <a:lstStyle/>
            <a:p>
              <a:pPr marL="0" indent="0" algn="l">
                <a:buNone/>
              </a:pPr>
              <a:r>
                <a:rPr lang="en-US" sz="1800" b="1">
                  <a:solidFill>
                    <a:srgbClr val="00802F"/>
                  </a:solidFill>
                  <a:latin typeface="Gill Sans Nova Light" panose="020B0302020104020203" pitchFamily="34" charset="0"/>
                  <a:ea typeface="Calibri" pitchFamily="34" charset="-122"/>
                  <a:cs typeface="Calibri" pitchFamily="34" charset="-120"/>
                </a:rPr>
                <a:t>28</a:t>
              </a:r>
              <a:endParaRPr lang="en-US" sz="1800">
                <a:solidFill>
                  <a:srgbClr val="00802F"/>
                </a:solidFill>
                <a:latin typeface="Gill Sans Nova Light" panose="020B0302020104020203" pitchFamily="34" charset="0"/>
              </a:endParaRPr>
            </a:p>
          </p:txBody>
        </p:sp>
        <p:sp>
          <p:nvSpPr>
            <p:cNvPr id="84" name="Text 28">
              <a:extLst>
                <a:ext uri="{FF2B5EF4-FFF2-40B4-BE49-F238E27FC236}">
                  <a16:creationId xmlns:a16="http://schemas.microsoft.com/office/drawing/2014/main" id="{B04D0C8D-84B5-FFDA-72FA-BC429FD7CF91}"/>
                </a:ext>
              </a:extLst>
            </p:cNvPr>
            <p:cNvSpPr/>
            <p:nvPr/>
          </p:nvSpPr>
          <p:spPr>
            <a:xfrm>
              <a:off x="396560" y="3779646"/>
              <a:ext cx="2040397" cy="166255"/>
            </a:xfrm>
            <a:prstGeom prst="rect">
              <a:avLst/>
            </a:prstGeom>
            <a:noFill/>
            <a:ln/>
          </p:spPr>
          <p:txBody>
            <a:bodyPr wrap="square" lIns="0" tIns="0" rIns="0" bIns="0" rtlCol="0" anchor="ctr"/>
            <a:lstStyle/>
            <a:p>
              <a:pPr marL="0" indent="0" algn="l">
                <a:buNone/>
              </a:pPr>
              <a:r>
                <a:rPr lang="en-US" sz="1000">
                  <a:latin typeface="Gill Sans Nova Light" panose="020B0302020104020203" pitchFamily="34" charset="0"/>
                  <a:ea typeface="Calibri" pitchFamily="34" charset="-122"/>
                  <a:cs typeface="Calibri" pitchFamily="34" charset="-120"/>
                </a:rPr>
                <a:t>Countries</a:t>
              </a:r>
              <a:endParaRPr lang="en-US" sz="1000">
                <a:latin typeface="Gill Sans Nova Light" panose="020B0302020104020203" pitchFamily="34" charset="0"/>
              </a:endParaRPr>
            </a:p>
          </p:txBody>
        </p:sp>
      </p:grpSp>
      <p:sp>
        <p:nvSpPr>
          <p:cNvPr id="118" name="Rectangle 117">
            <a:extLst>
              <a:ext uri="{FF2B5EF4-FFF2-40B4-BE49-F238E27FC236}">
                <a16:creationId xmlns:a16="http://schemas.microsoft.com/office/drawing/2014/main" id="{F9E94056-B340-C738-586E-6ABB6633D6E5}"/>
              </a:ext>
            </a:extLst>
          </p:cNvPr>
          <p:cNvSpPr/>
          <p:nvPr/>
        </p:nvSpPr>
        <p:spPr>
          <a:xfrm>
            <a:off x="3256146" y="978189"/>
            <a:ext cx="2643850" cy="3615075"/>
          </a:xfrm>
          <a:prstGeom prst="rect">
            <a:avLst/>
          </a:prstGeom>
          <a:solidFill>
            <a:schemeClr val="bg1">
              <a:lumMod val="95000"/>
            </a:schemeClr>
          </a:solidFill>
          <a:ln>
            <a:solidFill>
              <a:srgbClr val="0080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latin typeface="Gill Sans Nova Light" panose="020B0302020104020203" pitchFamily="34" charset="0"/>
            </a:endParaRPr>
          </a:p>
        </p:txBody>
      </p:sp>
      <p:grpSp>
        <p:nvGrpSpPr>
          <p:cNvPr id="5" name="Group 4">
            <a:extLst>
              <a:ext uri="{FF2B5EF4-FFF2-40B4-BE49-F238E27FC236}">
                <a16:creationId xmlns:a16="http://schemas.microsoft.com/office/drawing/2014/main" id="{3C369873-6AB2-64F6-7CEC-FC5359F68DA6}"/>
              </a:ext>
            </a:extLst>
          </p:cNvPr>
          <p:cNvGrpSpPr/>
          <p:nvPr/>
        </p:nvGrpSpPr>
        <p:grpSpPr>
          <a:xfrm>
            <a:off x="3369228" y="1078639"/>
            <a:ext cx="2362783" cy="3000140"/>
            <a:chOff x="3369221" y="1064471"/>
            <a:chExt cx="2362783" cy="3000140"/>
          </a:xfrm>
        </p:grpSpPr>
        <p:sp>
          <p:nvSpPr>
            <p:cNvPr id="63" name="Shape 7">
              <a:extLst>
                <a:ext uri="{FF2B5EF4-FFF2-40B4-BE49-F238E27FC236}">
                  <a16:creationId xmlns:a16="http://schemas.microsoft.com/office/drawing/2014/main" id="{E94BBE0F-A9EA-B330-F5AF-3A6481B4B67D}"/>
                </a:ext>
              </a:extLst>
            </p:cNvPr>
            <p:cNvSpPr/>
            <p:nvPr/>
          </p:nvSpPr>
          <p:spPr>
            <a:xfrm>
              <a:off x="3369221" y="1064471"/>
              <a:ext cx="241825" cy="241825"/>
            </a:xfrm>
            <a:prstGeom prst="ellipse">
              <a:avLst/>
            </a:prstGeom>
            <a:solidFill>
              <a:srgbClr val="00802F"/>
            </a:solidFill>
            <a:ln w="12700">
              <a:noFill/>
              <a:prstDash val="solid"/>
            </a:ln>
          </p:spPr>
          <p:txBody>
            <a:bodyPr/>
            <a:lstStyle/>
            <a:p>
              <a:endParaRPr lang="en-CH">
                <a:latin typeface="Gill Sans Nova Light" panose="020B0302020104020203" pitchFamily="34" charset="0"/>
              </a:endParaRPr>
            </a:p>
          </p:txBody>
        </p:sp>
        <p:sp>
          <p:nvSpPr>
            <p:cNvPr id="64" name="Text 8">
              <a:extLst>
                <a:ext uri="{FF2B5EF4-FFF2-40B4-BE49-F238E27FC236}">
                  <a16:creationId xmlns:a16="http://schemas.microsoft.com/office/drawing/2014/main" id="{90F75020-D34E-2944-9093-0B23C7D48F64}"/>
                </a:ext>
              </a:extLst>
            </p:cNvPr>
            <p:cNvSpPr/>
            <p:nvPr/>
          </p:nvSpPr>
          <p:spPr>
            <a:xfrm>
              <a:off x="3369221" y="1064471"/>
              <a:ext cx="241825" cy="241825"/>
            </a:xfrm>
            <a:prstGeom prst="rect">
              <a:avLst/>
            </a:prstGeom>
            <a:noFill/>
            <a:ln/>
          </p:spPr>
          <p:txBody>
            <a:bodyPr wrap="square" lIns="0" tIns="0" rIns="0" bIns="0" rtlCol="0" anchor="ctr"/>
            <a:lstStyle/>
            <a:p>
              <a:pPr marL="0" indent="0" algn="ctr">
                <a:buNone/>
              </a:pPr>
              <a:r>
                <a:rPr lang="en-US" sz="1100" b="1">
                  <a:solidFill>
                    <a:srgbClr val="FFFFFF"/>
                  </a:solidFill>
                  <a:latin typeface="Gill Sans Nova Light" panose="020B0302020104020203" pitchFamily="34" charset="0"/>
                  <a:ea typeface="Calibri" pitchFamily="34" charset="-122"/>
                  <a:cs typeface="Calibri" pitchFamily="34" charset="-120"/>
                </a:rPr>
                <a:t>2</a:t>
              </a:r>
              <a:endParaRPr lang="en-US" sz="1100">
                <a:latin typeface="Gill Sans Nova Light" panose="020B0302020104020203" pitchFamily="34" charset="0"/>
              </a:endParaRPr>
            </a:p>
          </p:txBody>
        </p:sp>
        <p:sp>
          <p:nvSpPr>
            <p:cNvPr id="65" name="Text 9">
              <a:extLst>
                <a:ext uri="{FF2B5EF4-FFF2-40B4-BE49-F238E27FC236}">
                  <a16:creationId xmlns:a16="http://schemas.microsoft.com/office/drawing/2014/main" id="{1A8A616A-C5DB-BFC1-E2D7-9B366810A4DB}"/>
                </a:ext>
              </a:extLst>
            </p:cNvPr>
            <p:cNvSpPr/>
            <p:nvPr/>
          </p:nvSpPr>
          <p:spPr>
            <a:xfrm>
              <a:off x="3767177" y="1064471"/>
              <a:ext cx="1964827" cy="143583"/>
            </a:xfrm>
            <a:prstGeom prst="rect">
              <a:avLst/>
            </a:prstGeom>
            <a:noFill/>
            <a:ln/>
          </p:spPr>
          <p:txBody>
            <a:bodyPr wrap="square" lIns="0" tIns="0" rIns="0" bIns="0" rtlCol="0" anchor="ctr"/>
            <a:lstStyle/>
            <a:p>
              <a:pPr marL="0" indent="0">
                <a:buNone/>
              </a:pPr>
              <a:r>
                <a:rPr lang="en-US" sz="1150" b="1">
                  <a:solidFill>
                    <a:srgbClr val="1A1A1A"/>
                  </a:solidFill>
                  <a:latin typeface="Gill Sans Nova Light" panose="020B0302020104020203" pitchFamily="34" charset="0"/>
                  <a:ea typeface="Calibri" pitchFamily="34" charset="-122"/>
                  <a:cs typeface="Calibri" pitchFamily="34" charset="-120"/>
                </a:rPr>
                <a:t>By Bank Type</a:t>
              </a:r>
              <a:endParaRPr lang="en-US" sz="1150">
                <a:latin typeface="Gill Sans Nova Light" panose="020B0302020104020203" pitchFamily="34" charset="0"/>
              </a:endParaRPr>
            </a:p>
          </p:txBody>
        </p:sp>
        <p:sp>
          <p:nvSpPr>
            <p:cNvPr id="66" name="Text 10">
              <a:extLst>
                <a:ext uri="{FF2B5EF4-FFF2-40B4-BE49-F238E27FC236}">
                  <a16:creationId xmlns:a16="http://schemas.microsoft.com/office/drawing/2014/main" id="{E0D3BDA2-574B-BAAE-4549-079D332CB232}"/>
                </a:ext>
              </a:extLst>
            </p:cNvPr>
            <p:cNvSpPr/>
            <p:nvPr/>
          </p:nvSpPr>
          <p:spPr>
            <a:xfrm>
              <a:off x="3767177" y="1200498"/>
              <a:ext cx="1964827" cy="128469"/>
            </a:xfrm>
            <a:prstGeom prst="rect">
              <a:avLst/>
            </a:prstGeom>
            <a:noFill/>
            <a:ln/>
          </p:spPr>
          <p:txBody>
            <a:bodyPr wrap="square" lIns="0" tIns="0" rIns="0" bIns="0" rtlCol="0" anchor="ctr"/>
            <a:lstStyle/>
            <a:p>
              <a:pPr marL="0" indent="0">
                <a:buNone/>
              </a:pPr>
              <a:r>
                <a:rPr lang="en-US" sz="900">
                  <a:solidFill>
                    <a:srgbClr val="6B7280"/>
                  </a:solidFill>
                  <a:latin typeface="Gill Sans Nova Light" panose="020B0302020104020203" pitchFamily="34" charset="0"/>
                  <a:ea typeface="Calibri" pitchFamily="34" charset="-122"/>
                  <a:cs typeface="Calibri" pitchFamily="34" charset="-120"/>
                </a:rPr>
                <a:t>3 categories breakdown</a:t>
              </a:r>
              <a:endParaRPr lang="en-US" sz="900">
                <a:latin typeface="Gill Sans Nova Light" panose="020B0302020104020203" pitchFamily="34" charset="0"/>
              </a:endParaRPr>
            </a:p>
          </p:txBody>
        </p:sp>
        <p:graphicFrame>
          <p:nvGraphicFramePr>
            <p:cNvPr id="85" name="Chart 0">
              <a:extLst>
                <a:ext uri="{FF2B5EF4-FFF2-40B4-BE49-F238E27FC236}">
                  <a16:creationId xmlns:a16="http://schemas.microsoft.com/office/drawing/2014/main" id="{117EA1DB-4304-2C73-BADB-ECC651C85274}"/>
                </a:ext>
              </a:extLst>
            </p:cNvPr>
            <p:cNvGraphicFramePr/>
            <p:nvPr>
              <p:extLst>
                <p:ext uri="{D42A27DB-BD31-4B8C-83A1-F6EECF244321}">
                  <p14:modId xmlns:p14="http://schemas.microsoft.com/office/powerpoint/2010/main" val="2297084109"/>
                </p:ext>
              </p:extLst>
            </p:nvPr>
          </p:nvGraphicFramePr>
          <p:xfrm>
            <a:off x="3464896" y="1404537"/>
            <a:ext cx="2078182" cy="1964827"/>
          </p:xfrm>
          <a:graphic>
            <a:graphicData uri="http://schemas.openxmlformats.org/drawingml/2006/chart">
              <c:chart xmlns:c="http://schemas.openxmlformats.org/drawingml/2006/chart" xmlns:r="http://schemas.openxmlformats.org/officeDocument/2006/relationships" r:id="rId2"/>
            </a:graphicData>
          </a:graphic>
        </p:graphicFrame>
        <p:sp>
          <p:nvSpPr>
            <p:cNvPr id="86" name="Text 29">
              <a:extLst>
                <a:ext uri="{FF2B5EF4-FFF2-40B4-BE49-F238E27FC236}">
                  <a16:creationId xmlns:a16="http://schemas.microsoft.com/office/drawing/2014/main" id="{45B2F735-3A62-72B9-42B1-CE73C49562AB}"/>
                </a:ext>
              </a:extLst>
            </p:cNvPr>
            <p:cNvSpPr/>
            <p:nvPr/>
          </p:nvSpPr>
          <p:spPr>
            <a:xfrm>
              <a:off x="3464896" y="3414706"/>
              <a:ext cx="2078182" cy="166255"/>
            </a:xfrm>
            <a:prstGeom prst="rect">
              <a:avLst/>
            </a:prstGeom>
            <a:noFill/>
            <a:ln/>
          </p:spPr>
          <p:txBody>
            <a:bodyPr wrap="square" lIns="0" tIns="0" rIns="0" bIns="0" rtlCol="0" anchor="ctr"/>
            <a:lstStyle/>
            <a:p>
              <a:pPr marL="0" indent="0" algn="l">
                <a:buNone/>
              </a:pPr>
              <a:r>
                <a:rPr lang="en-US" sz="900" b="1" u="sng">
                  <a:latin typeface="Gill Sans Nova Light" panose="020B0302020104020203" pitchFamily="34" charset="0"/>
                  <a:ea typeface="Calibri" pitchFamily="34" charset="-122"/>
                  <a:cs typeface="Calibri" pitchFamily="34" charset="-120"/>
                </a:rPr>
                <a:t>Share of total obs:</a:t>
              </a:r>
              <a:endParaRPr lang="en-US" sz="900" b="1" u="sng">
                <a:latin typeface="Gill Sans Nova Light" panose="020B0302020104020203" pitchFamily="34" charset="0"/>
              </a:endParaRPr>
            </a:p>
          </p:txBody>
        </p:sp>
        <p:sp>
          <p:nvSpPr>
            <p:cNvPr id="87" name="Text 30">
              <a:extLst>
                <a:ext uri="{FF2B5EF4-FFF2-40B4-BE49-F238E27FC236}">
                  <a16:creationId xmlns:a16="http://schemas.microsoft.com/office/drawing/2014/main" id="{9FB39751-D466-5E8F-E70D-6F7CB73AFE1E}"/>
                </a:ext>
              </a:extLst>
            </p:cNvPr>
            <p:cNvSpPr/>
            <p:nvPr/>
          </p:nvSpPr>
          <p:spPr>
            <a:xfrm>
              <a:off x="3464896" y="3565847"/>
              <a:ext cx="2078182" cy="166255"/>
            </a:xfrm>
            <a:prstGeom prst="rect">
              <a:avLst/>
            </a:prstGeom>
            <a:noFill/>
            <a:ln/>
          </p:spPr>
          <p:txBody>
            <a:bodyPr wrap="square" lIns="0" tIns="0" rIns="0" bIns="0" rtlCol="0" anchor="ctr"/>
            <a:lstStyle/>
            <a:p>
              <a:pPr marL="0" indent="0">
                <a:buNone/>
              </a:pPr>
              <a:r>
                <a:rPr lang="en-US" sz="950" b="1">
                  <a:latin typeface="Gill Sans Nova Light" panose="020B0302020104020203" pitchFamily="34" charset="0"/>
                  <a:ea typeface="Calibri" pitchFamily="34" charset="-122"/>
                  <a:cs typeface="Calibri" pitchFamily="34" charset="-120"/>
                </a:rPr>
                <a:t>19.6%  </a:t>
              </a:r>
              <a:r>
                <a:rPr lang="en-US" sz="950">
                  <a:latin typeface="Gill Sans Nova Light" panose="020B0302020104020203" pitchFamily="34" charset="0"/>
                  <a:ea typeface="Calibri" pitchFamily="34" charset="-122"/>
                  <a:cs typeface="Calibri" pitchFamily="34" charset="-120"/>
                </a:rPr>
                <a:t>Other Banking</a:t>
              </a:r>
              <a:endParaRPr lang="en-US" sz="950">
                <a:latin typeface="Gill Sans Nova Light" panose="020B0302020104020203" pitchFamily="34" charset="0"/>
              </a:endParaRPr>
            </a:p>
          </p:txBody>
        </p:sp>
        <p:sp>
          <p:nvSpPr>
            <p:cNvPr id="88" name="Text 31">
              <a:extLst>
                <a:ext uri="{FF2B5EF4-FFF2-40B4-BE49-F238E27FC236}">
                  <a16:creationId xmlns:a16="http://schemas.microsoft.com/office/drawing/2014/main" id="{755A93E2-A29C-EBD9-13C1-C016321A5303}"/>
                </a:ext>
              </a:extLst>
            </p:cNvPr>
            <p:cNvSpPr/>
            <p:nvPr/>
          </p:nvSpPr>
          <p:spPr>
            <a:xfrm>
              <a:off x="3464896" y="3732101"/>
              <a:ext cx="2078182" cy="166255"/>
            </a:xfrm>
            <a:prstGeom prst="rect">
              <a:avLst/>
            </a:prstGeom>
            <a:noFill/>
            <a:ln/>
          </p:spPr>
          <p:txBody>
            <a:bodyPr wrap="square" lIns="0" tIns="0" rIns="0" bIns="0" rtlCol="0" anchor="ctr"/>
            <a:lstStyle/>
            <a:p>
              <a:pPr marL="0" indent="0">
                <a:buNone/>
              </a:pPr>
              <a:r>
                <a:rPr lang="en-US" sz="950" b="1">
                  <a:latin typeface="Gill Sans Nova Light" panose="020B0302020104020203" pitchFamily="34" charset="0"/>
                  <a:ea typeface="Calibri" pitchFamily="34" charset="-122"/>
                  <a:cs typeface="Calibri" pitchFamily="34" charset="-120"/>
                </a:rPr>
                <a:t>31.2%  </a:t>
              </a:r>
              <a:r>
                <a:rPr lang="en-US" sz="950">
                  <a:latin typeface="Gill Sans Nova Light" panose="020B0302020104020203" pitchFamily="34" charset="0"/>
                  <a:ea typeface="Calibri" pitchFamily="34" charset="-122"/>
                  <a:cs typeface="Calibri" pitchFamily="34" charset="-120"/>
                </a:rPr>
                <a:t>Bank</a:t>
              </a:r>
              <a:endParaRPr lang="en-US" sz="950">
                <a:latin typeface="Gill Sans Nova Light" panose="020B0302020104020203" pitchFamily="34" charset="0"/>
              </a:endParaRPr>
            </a:p>
          </p:txBody>
        </p:sp>
        <p:sp>
          <p:nvSpPr>
            <p:cNvPr id="89" name="Text 32">
              <a:extLst>
                <a:ext uri="{FF2B5EF4-FFF2-40B4-BE49-F238E27FC236}">
                  <a16:creationId xmlns:a16="http://schemas.microsoft.com/office/drawing/2014/main" id="{1340FCC7-8472-D533-9F7B-C5823AAE3EBA}"/>
                </a:ext>
              </a:extLst>
            </p:cNvPr>
            <p:cNvSpPr/>
            <p:nvPr/>
          </p:nvSpPr>
          <p:spPr>
            <a:xfrm>
              <a:off x="3464896" y="3898356"/>
              <a:ext cx="2078182" cy="166255"/>
            </a:xfrm>
            <a:prstGeom prst="rect">
              <a:avLst/>
            </a:prstGeom>
            <a:noFill/>
            <a:ln/>
          </p:spPr>
          <p:txBody>
            <a:bodyPr wrap="square" lIns="0" tIns="0" rIns="0" bIns="0" rtlCol="0" anchor="ctr"/>
            <a:lstStyle/>
            <a:p>
              <a:pPr marL="0" indent="0">
                <a:buNone/>
              </a:pPr>
              <a:r>
                <a:rPr lang="en-US" sz="950" b="1">
                  <a:solidFill>
                    <a:srgbClr val="1B7A4A"/>
                  </a:solidFill>
                  <a:latin typeface="Gill Sans Nova Light" panose="020B0302020104020203" pitchFamily="34" charset="0"/>
                  <a:ea typeface="Calibri" pitchFamily="34" charset="-122"/>
                  <a:cs typeface="Calibri" pitchFamily="34" charset="-120"/>
                </a:rPr>
                <a:t>49.2%  </a:t>
              </a:r>
              <a:r>
                <a:rPr lang="en-US" sz="950">
                  <a:latin typeface="Gill Sans Nova Light" panose="020B0302020104020203" pitchFamily="34" charset="0"/>
                  <a:ea typeface="Calibri" pitchFamily="34" charset="-122"/>
                  <a:cs typeface="Calibri" pitchFamily="34" charset="-120"/>
                </a:rPr>
                <a:t>Savings Bank</a:t>
              </a:r>
              <a:endParaRPr lang="en-US" sz="950">
                <a:latin typeface="Gill Sans Nova Light" panose="020B0302020104020203" pitchFamily="34" charset="0"/>
              </a:endParaRPr>
            </a:p>
          </p:txBody>
        </p:sp>
      </p:grpSp>
      <p:grpSp>
        <p:nvGrpSpPr>
          <p:cNvPr id="3" name="Group 2">
            <a:extLst>
              <a:ext uri="{FF2B5EF4-FFF2-40B4-BE49-F238E27FC236}">
                <a16:creationId xmlns:a16="http://schemas.microsoft.com/office/drawing/2014/main" id="{29F98965-ADDF-2FC6-B9D9-567BB743F2C0}"/>
              </a:ext>
            </a:extLst>
          </p:cNvPr>
          <p:cNvGrpSpPr/>
          <p:nvPr/>
        </p:nvGrpSpPr>
        <p:grpSpPr>
          <a:xfrm>
            <a:off x="6195545" y="1078639"/>
            <a:ext cx="2523219" cy="3450751"/>
            <a:chOff x="6262006" y="1064471"/>
            <a:chExt cx="2523219" cy="3450751"/>
          </a:xfrm>
        </p:grpSpPr>
        <p:sp>
          <p:nvSpPr>
            <p:cNvPr id="108" name="Shape 50">
              <a:extLst>
                <a:ext uri="{FF2B5EF4-FFF2-40B4-BE49-F238E27FC236}">
                  <a16:creationId xmlns:a16="http://schemas.microsoft.com/office/drawing/2014/main" id="{C2AB6676-2E33-0809-29DD-657CB0D5996D}"/>
                </a:ext>
              </a:extLst>
            </p:cNvPr>
            <p:cNvSpPr/>
            <p:nvPr/>
          </p:nvSpPr>
          <p:spPr>
            <a:xfrm>
              <a:off x="6262006" y="4348967"/>
              <a:ext cx="37785" cy="166255"/>
            </a:xfrm>
            <a:prstGeom prst="rect">
              <a:avLst/>
            </a:prstGeom>
            <a:solidFill>
              <a:srgbClr val="F59E0B"/>
            </a:solidFill>
            <a:ln w="12700">
              <a:solidFill>
                <a:srgbClr val="F59E0B"/>
              </a:solidFill>
              <a:prstDash val="solid"/>
            </a:ln>
          </p:spPr>
          <p:txBody>
            <a:bodyPr/>
            <a:lstStyle/>
            <a:p>
              <a:endParaRPr lang="en-CH">
                <a:latin typeface="Gill Sans Nova Light" panose="020B0302020104020203" pitchFamily="34" charset="0"/>
              </a:endParaRPr>
            </a:p>
          </p:txBody>
        </p:sp>
        <p:sp>
          <p:nvSpPr>
            <p:cNvPr id="67" name="Shape 11">
              <a:extLst>
                <a:ext uri="{FF2B5EF4-FFF2-40B4-BE49-F238E27FC236}">
                  <a16:creationId xmlns:a16="http://schemas.microsoft.com/office/drawing/2014/main" id="{5BDEFDF8-3F3A-DD16-ED7C-D49EAB37EA57}"/>
                </a:ext>
              </a:extLst>
            </p:cNvPr>
            <p:cNvSpPr/>
            <p:nvPr/>
          </p:nvSpPr>
          <p:spPr>
            <a:xfrm>
              <a:off x="6366976" y="1064471"/>
              <a:ext cx="241825" cy="241825"/>
            </a:xfrm>
            <a:prstGeom prst="ellipse">
              <a:avLst/>
            </a:prstGeom>
            <a:solidFill>
              <a:srgbClr val="00802F"/>
            </a:solidFill>
            <a:ln w="12700">
              <a:noFill/>
              <a:prstDash val="solid"/>
            </a:ln>
          </p:spPr>
          <p:txBody>
            <a:bodyPr/>
            <a:lstStyle/>
            <a:p>
              <a:endParaRPr lang="en-CH">
                <a:latin typeface="Gill Sans Nova Light" panose="020B0302020104020203" pitchFamily="34" charset="0"/>
              </a:endParaRPr>
            </a:p>
          </p:txBody>
        </p:sp>
        <p:sp>
          <p:nvSpPr>
            <p:cNvPr id="68" name="Text 12">
              <a:extLst>
                <a:ext uri="{FF2B5EF4-FFF2-40B4-BE49-F238E27FC236}">
                  <a16:creationId xmlns:a16="http://schemas.microsoft.com/office/drawing/2014/main" id="{4A484A1D-E27C-53BF-D54D-5C66B4281900}"/>
                </a:ext>
              </a:extLst>
            </p:cNvPr>
            <p:cNvSpPr/>
            <p:nvPr/>
          </p:nvSpPr>
          <p:spPr>
            <a:xfrm>
              <a:off x="6366976" y="1064471"/>
              <a:ext cx="241825" cy="241825"/>
            </a:xfrm>
            <a:prstGeom prst="rect">
              <a:avLst/>
            </a:prstGeom>
            <a:noFill/>
            <a:ln/>
          </p:spPr>
          <p:txBody>
            <a:bodyPr wrap="square" lIns="0" tIns="0" rIns="0" bIns="0" rtlCol="0" anchor="ctr"/>
            <a:lstStyle/>
            <a:p>
              <a:pPr marL="0" indent="0" algn="ctr">
                <a:buNone/>
              </a:pPr>
              <a:r>
                <a:rPr lang="en-US" sz="1100" b="1">
                  <a:solidFill>
                    <a:srgbClr val="FFFFFF"/>
                  </a:solidFill>
                  <a:latin typeface="Gill Sans Nova Light" panose="020B0302020104020203" pitchFamily="34" charset="0"/>
                  <a:ea typeface="Calibri" pitchFamily="34" charset="-122"/>
                  <a:cs typeface="Calibri" pitchFamily="34" charset="-120"/>
                </a:rPr>
                <a:t>3</a:t>
              </a:r>
              <a:endParaRPr lang="en-US" sz="1100">
                <a:latin typeface="Gill Sans Nova Light" panose="020B0302020104020203" pitchFamily="34" charset="0"/>
              </a:endParaRPr>
            </a:p>
          </p:txBody>
        </p:sp>
        <p:sp>
          <p:nvSpPr>
            <p:cNvPr id="69" name="Text 13">
              <a:extLst>
                <a:ext uri="{FF2B5EF4-FFF2-40B4-BE49-F238E27FC236}">
                  <a16:creationId xmlns:a16="http://schemas.microsoft.com/office/drawing/2014/main" id="{2E59A796-A04F-F166-7946-DBEBC293B8D6}"/>
                </a:ext>
              </a:extLst>
            </p:cNvPr>
            <p:cNvSpPr/>
            <p:nvPr/>
          </p:nvSpPr>
          <p:spPr>
            <a:xfrm>
              <a:off x="6669257" y="1064471"/>
              <a:ext cx="1964827" cy="143583"/>
            </a:xfrm>
            <a:prstGeom prst="rect">
              <a:avLst/>
            </a:prstGeom>
            <a:noFill/>
            <a:ln/>
          </p:spPr>
          <p:txBody>
            <a:bodyPr wrap="square" lIns="0" tIns="0" rIns="0" bIns="0" rtlCol="0" anchor="ctr"/>
            <a:lstStyle/>
            <a:p>
              <a:pPr marL="0" indent="0">
                <a:buNone/>
              </a:pPr>
              <a:r>
                <a:rPr lang="en-US" sz="1150" b="1">
                  <a:solidFill>
                    <a:srgbClr val="1A1A1A"/>
                  </a:solidFill>
                  <a:latin typeface="Gill Sans Nova Light" panose="020B0302020104020203" pitchFamily="34" charset="0"/>
                  <a:ea typeface="Calibri" pitchFamily="34" charset="-122"/>
                  <a:cs typeface="Calibri" pitchFamily="34" charset="-120"/>
                </a:rPr>
                <a:t>Savings Banks</a:t>
              </a:r>
              <a:endParaRPr lang="en-US" sz="1150">
                <a:latin typeface="Gill Sans Nova Light" panose="020B0302020104020203" pitchFamily="34" charset="0"/>
              </a:endParaRPr>
            </a:p>
          </p:txBody>
        </p:sp>
        <p:sp>
          <p:nvSpPr>
            <p:cNvPr id="70" name="Text 14">
              <a:extLst>
                <a:ext uri="{FF2B5EF4-FFF2-40B4-BE49-F238E27FC236}">
                  <a16:creationId xmlns:a16="http://schemas.microsoft.com/office/drawing/2014/main" id="{399F2023-F7AF-710D-8F19-FFB67C9D9FF3}"/>
                </a:ext>
              </a:extLst>
            </p:cNvPr>
            <p:cNvSpPr/>
            <p:nvPr/>
          </p:nvSpPr>
          <p:spPr>
            <a:xfrm>
              <a:off x="6669257" y="1200498"/>
              <a:ext cx="1964827" cy="128469"/>
            </a:xfrm>
            <a:prstGeom prst="rect">
              <a:avLst/>
            </a:prstGeom>
            <a:noFill/>
            <a:ln/>
          </p:spPr>
          <p:txBody>
            <a:bodyPr wrap="square" lIns="0" tIns="0" rIns="0" bIns="0" rtlCol="0" anchor="ctr"/>
            <a:lstStyle/>
            <a:p>
              <a:pPr marL="0" indent="0">
                <a:buNone/>
              </a:pPr>
              <a:r>
                <a:rPr lang="en-US" sz="900">
                  <a:solidFill>
                    <a:srgbClr val="6B7280"/>
                  </a:solidFill>
                  <a:latin typeface="Gill Sans Nova Light" panose="020B0302020104020203" pitchFamily="34" charset="0"/>
                  <a:ea typeface="Calibri" pitchFamily="34" charset="-122"/>
                  <a:cs typeface="Calibri" pitchFamily="34" charset="-120"/>
                </a:rPr>
                <a:t>Deep-dive · 26 countries</a:t>
              </a:r>
              <a:endParaRPr lang="en-US" sz="900">
                <a:latin typeface="Gill Sans Nova Light" panose="020B0302020104020203" pitchFamily="34" charset="0"/>
              </a:endParaRPr>
            </a:p>
          </p:txBody>
        </p:sp>
        <p:sp>
          <p:nvSpPr>
            <p:cNvPr id="90" name="Shape 33">
              <a:extLst>
                <a:ext uri="{FF2B5EF4-FFF2-40B4-BE49-F238E27FC236}">
                  <a16:creationId xmlns:a16="http://schemas.microsoft.com/office/drawing/2014/main" id="{910760B1-4551-6CB0-48FB-7F49E4CA4DEB}"/>
                </a:ext>
              </a:extLst>
            </p:cNvPr>
            <p:cNvSpPr/>
            <p:nvPr/>
          </p:nvSpPr>
          <p:spPr>
            <a:xfrm>
              <a:off x="6366976" y="1404537"/>
              <a:ext cx="740589" cy="649904"/>
            </a:xfrm>
            <a:prstGeom prst="rect">
              <a:avLst/>
            </a:prstGeom>
            <a:solidFill>
              <a:srgbClr val="D4EDE1"/>
            </a:solidFill>
            <a:ln w="12700">
              <a:noFill/>
              <a:prstDash val="solid"/>
            </a:ln>
          </p:spPr>
          <p:txBody>
            <a:bodyPr/>
            <a:lstStyle/>
            <a:p>
              <a:endParaRPr lang="en-CH">
                <a:latin typeface="Gill Sans Nova Light" panose="020B0302020104020203" pitchFamily="34" charset="0"/>
              </a:endParaRPr>
            </a:p>
          </p:txBody>
        </p:sp>
        <p:sp>
          <p:nvSpPr>
            <p:cNvPr id="91" name="Shape 34">
              <a:extLst>
                <a:ext uri="{FF2B5EF4-FFF2-40B4-BE49-F238E27FC236}">
                  <a16:creationId xmlns:a16="http://schemas.microsoft.com/office/drawing/2014/main" id="{744EDBF7-82D6-F590-837A-61C048BE8C92}"/>
                </a:ext>
              </a:extLst>
            </p:cNvPr>
            <p:cNvSpPr/>
            <p:nvPr/>
          </p:nvSpPr>
          <p:spPr>
            <a:xfrm>
              <a:off x="6366976" y="1404537"/>
              <a:ext cx="740589" cy="45342"/>
            </a:xfrm>
            <a:prstGeom prst="rect">
              <a:avLst/>
            </a:prstGeom>
            <a:solidFill>
              <a:srgbClr val="1B7A4A"/>
            </a:solidFill>
            <a:ln w="12700">
              <a:noFill/>
              <a:prstDash val="solid"/>
            </a:ln>
          </p:spPr>
          <p:txBody>
            <a:bodyPr/>
            <a:lstStyle/>
            <a:p>
              <a:endParaRPr lang="en-CH">
                <a:latin typeface="Gill Sans Nova Light" panose="020B0302020104020203" pitchFamily="34" charset="0"/>
              </a:endParaRPr>
            </a:p>
          </p:txBody>
        </p:sp>
        <p:sp>
          <p:nvSpPr>
            <p:cNvPr id="92" name="Text 35">
              <a:extLst>
                <a:ext uri="{FF2B5EF4-FFF2-40B4-BE49-F238E27FC236}">
                  <a16:creationId xmlns:a16="http://schemas.microsoft.com/office/drawing/2014/main" id="{3CECBA8C-A7CF-D414-023C-C19B990AA372}"/>
                </a:ext>
              </a:extLst>
            </p:cNvPr>
            <p:cNvSpPr/>
            <p:nvPr/>
          </p:nvSpPr>
          <p:spPr>
            <a:xfrm>
              <a:off x="6366976" y="1464994"/>
              <a:ext cx="740589" cy="256939"/>
            </a:xfrm>
            <a:prstGeom prst="rect">
              <a:avLst/>
            </a:prstGeom>
            <a:noFill/>
            <a:ln/>
          </p:spPr>
          <p:txBody>
            <a:bodyPr wrap="square" lIns="0" tIns="0" rIns="0" bIns="0" rtlCol="0" anchor="ctr"/>
            <a:lstStyle/>
            <a:p>
              <a:pPr marL="0" indent="0" algn="ctr">
                <a:buNone/>
              </a:pPr>
              <a:r>
                <a:rPr lang="en-US" sz="1400" b="1">
                  <a:solidFill>
                    <a:srgbClr val="1B7A4A"/>
                  </a:solidFill>
                  <a:latin typeface="Gill Sans Nova Light" panose="020B0302020104020203" pitchFamily="34" charset="0"/>
                  <a:ea typeface="Calibri" pitchFamily="34" charset="-122"/>
                  <a:cs typeface="Calibri" pitchFamily="34" charset="-120"/>
                </a:rPr>
                <a:t>2,569</a:t>
              </a:r>
              <a:endParaRPr lang="en-US" sz="1400">
                <a:latin typeface="Gill Sans Nova Light" panose="020B0302020104020203" pitchFamily="34" charset="0"/>
              </a:endParaRPr>
            </a:p>
          </p:txBody>
        </p:sp>
        <p:sp>
          <p:nvSpPr>
            <p:cNvPr id="93" name="Text 36">
              <a:extLst>
                <a:ext uri="{FF2B5EF4-FFF2-40B4-BE49-F238E27FC236}">
                  <a16:creationId xmlns:a16="http://schemas.microsoft.com/office/drawing/2014/main" id="{F2168192-50C2-036C-39BD-0E65B89A2603}"/>
                </a:ext>
              </a:extLst>
            </p:cNvPr>
            <p:cNvSpPr/>
            <p:nvPr/>
          </p:nvSpPr>
          <p:spPr>
            <a:xfrm>
              <a:off x="6366976" y="1721933"/>
              <a:ext cx="740589" cy="136026"/>
            </a:xfrm>
            <a:prstGeom prst="rect">
              <a:avLst/>
            </a:prstGeom>
            <a:noFill/>
            <a:ln/>
          </p:spPr>
          <p:txBody>
            <a:bodyPr wrap="square" lIns="0" tIns="0" rIns="0" bIns="0" rtlCol="0" anchor="ctr"/>
            <a:lstStyle/>
            <a:p>
              <a:pPr marL="0" indent="0" algn="ctr">
                <a:buNone/>
              </a:pPr>
              <a:r>
                <a:rPr lang="en-US" sz="800" b="1">
                  <a:latin typeface="Gill Sans Nova Light" panose="020B0302020104020203" pitchFamily="34" charset="0"/>
                  <a:ea typeface="Calibri" pitchFamily="34" charset="-122"/>
                  <a:cs typeface="Calibri" pitchFamily="34" charset="-120"/>
                </a:rPr>
                <a:t>Unique banks</a:t>
              </a:r>
              <a:endParaRPr lang="en-US" sz="800">
                <a:latin typeface="Gill Sans Nova Light" panose="020B0302020104020203" pitchFamily="34" charset="0"/>
              </a:endParaRPr>
            </a:p>
          </p:txBody>
        </p:sp>
        <p:sp>
          <p:nvSpPr>
            <p:cNvPr id="94" name="Text 37">
              <a:extLst>
                <a:ext uri="{FF2B5EF4-FFF2-40B4-BE49-F238E27FC236}">
                  <a16:creationId xmlns:a16="http://schemas.microsoft.com/office/drawing/2014/main" id="{B527641A-B3A0-C6E8-F963-23A23EE3D499}"/>
                </a:ext>
              </a:extLst>
            </p:cNvPr>
            <p:cNvSpPr/>
            <p:nvPr/>
          </p:nvSpPr>
          <p:spPr>
            <a:xfrm>
              <a:off x="6366976" y="1842845"/>
              <a:ext cx="740589" cy="120912"/>
            </a:xfrm>
            <a:prstGeom prst="rect">
              <a:avLst/>
            </a:prstGeom>
            <a:noFill/>
            <a:ln/>
          </p:spPr>
          <p:txBody>
            <a:bodyPr wrap="square" lIns="0" tIns="0" rIns="0" bIns="0" rtlCol="0" anchor="ctr"/>
            <a:lstStyle/>
            <a:p>
              <a:pPr marL="0" indent="0" algn="ctr">
                <a:buNone/>
              </a:pPr>
              <a:r>
                <a:rPr lang="en-US" sz="750">
                  <a:latin typeface="Gill Sans Nova Light" panose="020B0302020104020203" pitchFamily="34" charset="0"/>
                  <a:ea typeface="Calibri" pitchFamily="34" charset="-122"/>
                  <a:cs typeface="Calibri" pitchFamily="34" charset="-120"/>
                </a:rPr>
                <a:t>Entity IDs</a:t>
              </a:r>
              <a:endParaRPr lang="en-US" sz="750">
                <a:latin typeface="Gill Sans Nova Light" panose="020B0302020104020203" pitchFamily="34" charset="0"/>
              </a:endParaRPr>
            </a:p>
          </p:txBody>
        </p:sp>
        <p:sp>
          <p:nvSpPr>
            <p:cNvPr id="95" name="Shape 38">
              <a:extLst>
                <a:ext uri="{FF2B5EF4-FFF2-40B4-BE49-F238E27FC236}">
                  <a16:creationId xmlns:a16="http://schemas.microsoft.com/office/drawing/2014/main" id="{C2AE75F8-71C2-3EB6-BB60-E3339AF1E366}"/>
                </a:ext>
              </a:extLst>
            </p:cNvPr>
            <p:cNvSpPr/>
            <p:nvPr/>
          </p:nvSpPr>
          <p:spPr>
            <a:xfrm>
              <a:off x="7160465" y="1404537"/>
              <a:ext cx="740589" cy="649904"/>
            </a:xfrm>
            <a:prstGeom prst="rect">
              <a:avLst/>
            </a:prstGeom>
            <a:solidFill>
              <a:srgbClr val="D4EDE1"/>
            </a:solidFill>
            <a:ln w="12700">
              <a:noFill/>
              <a:prstDash val="solid"/>
            </a:ln>
          </p:spPr>
          <p:txBody>
            <a:bodyPr/>
            <a:lstStyle/>
            <a:p>
              <a:endParaRPr lang="en-CH">
                <a:latin typeface="Gill Sans Nova Light" panose="020B0302020104020203" pitchFamily="34" charset="0"/>
              </a:endParaRPr>
            </a:p>
          </p:txBody>
        </p:sp>
        <p:sp>
          <p:nvSpPr>
            <p:cNvPr id="96" name="Shape 39">
              <a:extLst>
                <a:ext uri="{FF2B5EF4-FFF2-40B4-BE49-F238E27FC236}">
                  <a16:creationId xmlns:a16="http://schemas.microsoft.com/office/drawing/2014/main" id="{167C3ABE-F295-BAE3-C3EE-D337725C53DF}"/>
                </a:ext>
              </a:extLst>
            </p:cNvPr>
            <p:cNvSpPr/>
            <p:nvPr/>
          </p:nvSpPr>
          <p:spPr>
            <a:xfrm>
              <a:off x="7160465" y="1404537"/>
              <a:ext cx="740589" cy="45342"/>
            </a:xfrm>
            <a:prstGeom prst="rect">
              <a:avLst/>
            </a:prstGeom>
            <a:solidFill>
              <a:srgbClr val="1B7A4A"/>
            </a:solidFill>
            <a:ln w="12700">
              <a:noFill/>
              <a:prstDash val="solid"/>
            </a:ln>
          </p:spPr>
          <p:txBody>
            <a:bodyPr/>
            <a:lstStyle/>
            <a:p>
              <a:endParaRPr lang="en-CH">
                <a:latin typeface="Gill Sans Nova Light" panose="020B0302020104020203" pitchFamily="34" charset="0"/>
              </a:endParaRPr>
            </a:p>
          </p:txBody>
        </p:sp>
        <p:sp>
          <p:nvSpPr>
            <p:cNvPr id="97" name="Text 40">
              <a:extLst>
                <a:ext uri="{FF2B5EF4-FFF2-40B4-BE49-F238E27FC236}">
                  <a16:creationId xmlns:a16="http://schemas.microsoft.com/office/drawing/2014/main" id="{3C426936-AA50-96B9-B9C3-0725F06B9243}"/>
                </a:ext>
              </a:extLst>
            </p:cNvPr>
            <p:cNvSpPr/>
            <p:nvPr/>
          </p:nvSpPr>
          <p:spPr>
            <a:xfrm>
              <a:off x="7160465" y="1464994"/>
              <a:ext cx="740589" cy="256939"/>
            </a:xfrm>
            <a:prstGeom prst="rect">
              <a:avLst/>
            </a:prstGeom>
            <a:noFill/>
            <a:ln/>
          </p:spPr>
          <p:txBody>
            <a:bodyPr wrap="square" lIns="0" tIns="0" rIns="0" bIns="0" rtlCol="0" anchor="ctr"/>
            <a:lstStyle/>
            <a:p>
              <a:pPr marL="0" indent="0" algn="ctr">
                <a:buNone/>
              </a:pPr>
              <a:r>
                <a:rPr lang="en-US" sz="1400" b="1">
                  <a:solidFill>
                    <a:srgbClr val="1B7A4A"/>
                  </a:solidFill>
                  <a:latin typeface="Gill Sans Nova Light" panose="020B0302020104020203" pitchFamily="34" charset="0"/>
                  <a:ea typeface="Calibri" pitchFamily="34" charset="-122"/>
                  <a:cs typeface="Calibri" pitchFamily="34" charset="-120"/>
                </a:rPr>
                <a:t>41,104</a:t>
              </a:r>
              <a:endParaRPr lang="en-US" sz="1400">
                <a:latin typeface="Gill Sans Nova Light" panose="020B0302020104020203" pitchFamily="34" charset="0"/>
              </a:endParaRPr>
            </a:p>
          </p:txBody>
        </p:sp>
        <p:sp>
          <p:nvSpPr>
            <p:cNvPr id="98" name="Text 41">
              <a:extLst>
                <a:ext uri="{FF2B5EF4-FFF2-40B4-BE49-F238E27FC236}">
                  <a16:creationId xmlns:a16="http://schemas.microsoft.com/office/drawing/2014/main" id="{0E5A90ED-9C37-4C5A-3E7B-343CB20BFDC5}"/>
                </a:ext>
              </a:extLst>
            </p:cNvPr>
            <p:cNvSpPr/>
            <p:nvPr/>
          </p:nvSpPr>
          <p:spPr>
            <a:xfrm>
              <a:off x="7160465" y="1721933"/>
              <a:ext cx="740589" cy="136026"/>
            </a:xfrm>
            <a:prstGeom prst="rect">
              <a:avLst/>
            </a:prstGeom>
            <a:noFill/>
            <a:ln/>
          </p:spPr>
          <p:txBody>
            <a:bodyPr wrap="square" lIns="0" tIns="0" rIns="0" bIns="0" rtlCol="0" anchor="ctr"/>
            <a:lstStyle/>
            <a:p>
              <a:pPr marL="0" indent="0" algn="ctr">
                <a:buNone/>
              </a:pPr>
              <a:r>
                <a:rPr lang="en-US" sz="800" b="1">
                  <a:latin typeface="Gill Sans Nova Light" panose="020B0302020104020203" pitchFamily="34" charset="0"/>
                  <a:ea typeface="Calibri" pitchFamily="34" charset="-122"/>
                  <a:cs typeface="Calibri" pitchFamily="34" charset="-120"/>
                </a:rPr>
                <a:t>Observations</a:t>
              </a:r>
              <a:endParaRPr lang="en-US" sz="800">
                <a:latin typeface="Gill Sans Nova Light" panose="020B0302020104020203" pitchFamily="34" charset="0"/>
              </a:endParaRPr>
            </a:p>
          </p:txBody>
        </p:sp>
        <p:sp>
          <p:nvSpPr>
            <p:cNvPr id="99" name="Text 42">
              <a:extLst>
                <a:ext uri="{FF2B5EF4-FFF2-40B4-BE49-F238E27FC236}">
                  <a16:creationId xmlns:a16="http://schemas.microsoft.com/office/drawing/2014/main" id="{5B2A8EF7-8E83-DC7A-447B-7C3D95E01F05}"/>
                </a:ext>
              </a:extLst>
            </p:cNvPr>
            <p:cNvSpPr/>
            <p:nvPr/>
          </p:nvSpPr>
          <p:spPr>
            <a:xfrm>
              <a:off x="7160465" y="1842845"/>
              <a:ext cx="740589" cy="120912"/>
            </a:xfrm>
            <a:prstGeom prst="rect">
              <a:avLst/>
            </a:prstGeom>
            <a:noFill/>
            <a:ln/>
          </p:spPr>
          <p:txBody>
            <a:bodyPr wrap="square" lIns="0" tIns="0" rIns="0" bIns="0" rtlCol="0" anchor="ctr"/>
            <a:lstStyle/>
            <a:p>
              <a:pPr marL="0" indent="0" algn="ctr">
                <a:buNone/>
              </a:pPr>
              <a:r>
                <a:rPr lang="en-US" sz="750">
                  <a:latin typeface="Gill Sans Nova Light" panose="020B0302020104020203" pitchFamily="34" charset="0"/>
                  <a:ea typeface="Calibri" pitchFamily="34" charset="-122"/>
                  <a:cs typeface="Calibri" pitchFamily="34" charset="-120"/>
                </a:rPr>
                <a:t>16.0 obs / bank</a:t>
              </a:r>
              <a:endParaRPr lang="en-US" sz="750">
                <a:latin typeface="Gill Sans Nova Light" panose="020B0302020104020203" pitchFamily="34" charset="0"/>
              </a:endParaRPr>
            </a:p>
          </p:txBody>
        </p:sp>
        <p:sp>
          <p:nvSpPr>
            <p:cNvPr id="100" name="Shape 43">
              <a:extLst>
                <a:ext uri="{FF2B5EF4-FFF2-40B4-BE49-F238E27FC236}">
                  <a16:creationId xmlns:a16="http://schemas.microsoft.com/office/drawing/2014/main" id="{19CD1AAD-8F3A-FE57-0D21-8B04F64DF71A}"/>
                </a:ext>
              </a:extLst>
            </p:cNvPr>
            <p:cNvSpPr/>
            <p:nvPr/>
          </p:nvSpPr>
          <p:spPr>
            <a:xfrm>
              <a:off x="7953951" y="1404537"/>
              <a:ext cx="740589" cy="649904"/>
            </a:xfrm>
            <a:prstGeom prst="rect">
              <a:avLst/>
            </a:prstGeom>
            <a:solidFill>
              <a:srgbClr val="D4EDE1"/>
            </a:solidFill>
            <a:ln w="12700">
              <a:noFill/>
              <a:prstDash val="solid"/>
            </a:ln>
          </p:spPr>
          <p:txBody>
            <a:bodyPr/>
            <a:lstStyle/>
            <a:p>
              <a:endParaRPr lang="en-CH">
                <a:latin typeface="Gill Sans Nova Light" panose="020B0302020104020203" pitchFamily="34" charset="0"/>
              </a:endParaRPr>
            </a:p>
          </p:txBody>
        </p:sp>
        <p:sp>
          <p:nvSpPr>
            <p:cNvPr id="101" name="Shape 44">
              <a:extLst>
                <a:ext uri="{FF2B5EF4-FFF2-40B4-BE49-F238E27FC236}">
                  <a16:creationId xmlns:a16="http://schemas.microsoft.com/office/drawing/2014/main" id="{8B046EE3-07E7-0234-1CC4-3C041F6CB3FE}"/>
                </a:ext>
              </a:extLst>
            </p:cNvPr>
            <p:cNvSpPr/>
            <p:nvPr/>
          </p:nvSpPr>
          <p:spPr>
            <a:xfrm>
              <a:off x="7953951" y="1404537"/>
              <a:ext cx="740589" cy="45342"/>
            </a:xfrm>
            <a:prstGeom prst="rect">
              <a:avLst/>
            </a:prstGeom>
            <a:solidFill>
              <a:srgbClr val="1B7A4A"/>
            </a:solidFill>
            <a:ln w="12700">
              <a:noFill/>
              <a:prstDash val="solid"/>
            </a:ln>
          </p:spPr>
          <p:txBody>
            <a:bodyPr/>
            <a:lstStyle/>
            <a:p>
              <a:endParaRPr lang="en-CH">
                <a:latin typeface="Gill Sans Nova Light" panose="020B0302020104020203" pitchFamily="34" charset="0"/>
              </a:endParaRPr>
            </a:p>
          </p:txBody>
        </p:sp>
        <p:sp>
          <p:nvSpPr>
            <p:cNvPr id="102" name="Text 45">
              <a:extLst>
                <a:ext uri="{FF2B5EF4-FFF2-40B4-BE49-F238E27FC236}">
                  <a16:creationId xmlns:a16="http://schemas.microsoft.com/office/drawing/2014/main" id="{BD3E62E8-3FDB-5F3E-3BCC-C49330547CF7}"/>
                </a:ext>
              </a:extLst>
            </p:cNvPr>
            <p:cNvSpPr/>
            <p:nvPr/>
          </p:nvSpPr>
          <p:spPr>
            <a:xfrm>
              <a:off x="7953951" y="1464994"/>
              <a:ext cx="740589" cy="256939"/>
            </a:xfrm>
            <a:prstGeom prst="rect">
              <a:avLst/>
            </a:prstGeom>
            <a:noFill/>
            <a:ln/>
          </p:spPr>
          <p:txBody>
            <a:bodyPr wrap="square" lIns="0" tIns="0" rIns="0" bIns="0" rtlCol="0" anchor="ctr"/>
            <a:lstStyle/>
            <a:p>
              <a:pPr marL="0" indent="0" algn="ctr">
                <a:buNone/>
              </a:pPr>
              <a:r>
                <a:rPr lang="en-US" sz="1400" b="1">
                  <a:solidFill>
                    <a:srgbClr val="1B7A4A"/>
                  </a:solidFill>
                  <a:latin typeface="Gill Sans Nova Light" panose="020B0302020104020203" pitchFamily="34" charset="0"/>
                  <a:ea typeface="Calibri" pitchFamily="34" charset="-122"/>
                  <a:cs typeface="Calibri" pitchFamily="34" charset="-120"/>
                </a:rPr>
                <a:t>26/28</a:t>
              </a:r>
              <a:endParaRPr lang="en-US" sz="1400">
                <a:latin typeface="Gill Sans Nova Light" panose="020B0302020104020203" pitchFamily="34" charset="0"/>
              </a:endParaRPr>
            </a:p>
          </p:txBody>
        </p:sp>
        <p:sp>
          <p:nvSpPr>
            <p:cNvPr id="103" name="Text 46">
              <a:extLst>
                <a:ext uri="{FF2B5EF4-FFF2-40B4-BE49-F238E27FC236}">
                  <a16:creationId xmlns:a16="http://schemas.microsoft.com/office/drawing/2014/main" id="{B6DEE64E-9DD5-41B9-8972-C0BFF7F3622A}"/>
                </a:ext>
              </a:extLst>
            </p:cNvPr>
            <p:cNvSpPr/>
            <p:nvPr/>
          </p:nvSpPr>
          <p:spPr>
            <a:xfrm>
              <a:off x="7953951" y="1721933"/>
              <a:ext cx="740589" cy="136026"/>
            </a:xfrm>
            <a:prstGeom prst="rect">
              <a:avLst/>
            </a:prstGeom>
            <a:noFill/>
            <a:ln/>
          </p:spPr>
          <p:txBody>
            <a:bodyPr wrap="square" lIns="0" tIns="0" rIns="0" bIns="0" rtlCol="0" anchor="ctr"/>
            <a:lstStyle/>
            <a:p>
              <a:pPr marL="0" indent="0" algn="ctr">
                <a:buNone/>
              </a:pPr>
              <a:r>
                <a:rPr lang="en-US" sz="800" b="1">
                  <a:latin typeface="Gill Sans Nova Light" panose="020B0302020104020203" pitchFamily="34" charset="0"/>
                  <a:ea typeface="Calibri" pitchFamily="34" charset="-122"/>
                  <a:cs typeface="Calibri" pitchFamily="34" charset="-120"/>
                </a:rPr>
                <a:t>Countries</a:t>
              </a:r>
              <a:endParaRPr lang="en-US" sz="800">
                <a:latin typeface="Gill Sans Nova Light" panose="020B0302020104020203" pitchFamily="34" charset="0"/>
              </a:endParaRPr>
            </a:p>
          </p:txBody>
        </p:sp>
        <p:sp>
          <p:nvSpPr>
            <p:cNvPr id="104" name="Text 47">
              <a:extLst>
                <a:ext uri="{FF2B5EF4-FFF2-40B4-BE49-F238E27FC236}">
                  <a16:creationId xmlns:a16="http://schemas.microsoft.com/office/drawing/2014/main" id="{9AD90FAD-4172-CBB3-2825-1EBD4CEB5860}"/>
                </a:ext>
              </a:extLst>
            </p:cNvPr>
            <p:cNvSpPr/>
            <p:nvPr/>
          </p:nvSpPr>
          <p:spPr>
            <a:xfrm>
              <a:off x="7953951" y="1842845"/>
              <a:ext cx="740589" cy="120912"/>
            </a:xfrm>
            <a:prstGeom prst="rect">
              <a:avLst/>
            </a:prstGeom>
            <a:noFill/>
            <a:ln/>
          </p:spPr>
          <p:txBody>
            <a:bodyPr wrap="square" lIns="0" tIns="0" rIns="0" bIns="0" rtlCol="0" anchor="ctr"/>
            <a:lstStyle/>
            <a:p>
              <a:pPr marL="0" indent="0" algn="ctr">
                <a:buNone/>
              </a:pPr>
              <a:r>
                <a:rPr lang="en-US" sz="750">
                  <a:latin typeface="Gill Sans Nova Light" panose="020B0302020104020203" pitchFamily="34" charset="0"/>
                  <a:ea typeface="Calibri" pitchFamily="34" charset="-122"/>
                  <a:cs typeface="Calibri" pitchFamily="34" charset="-120"/>
                </a:rPr>
                <a:t>LT, RO absent</a:t>
              </a:r>
              <a:endParaRPr lang="en-US" sz="750">
                <a:latin typeface="Gill Sans Nova Light" panose="020B0302020104020203" pitchFamily="34" charset="0"/>
              </a:endParaRPr>
            </a:p>
          </p:txBody>
        </p:sp>
        <p:sp>
          <p:nvSpPr>
            <p:cNvPr id="105" name="Text 48">
              <a:extLst>
                <a:ext uri="{FF2B5EF4-FFF2-40B4-BE49-F238E27FC236}">
                  <a16:creationId xmlns:a16="http://schemas.microsoft.com/office/drawing/2014/main" id="{3817DB42-33C4-C928-8079-7607D4015C6A}"/>
                </a:ext>
              </a:extLst>
            </p:cNvPr>
            <p:cNvSpPr/>
            <p:nvPr/>
          </p:nvSpPr>
          <p:spPr>
            <a:xfrm>
              <a:off x="6366977" y="2255937"/>
              <a:ext cx="2418248" cy="166255"/>
            </a:xfrm>
            <a:prstGeom prst="rect">
              <a:avLst/>
            </a:prstGeom>
            <a:noFill/>
            <a:ln/>
          </p:spPr>
          <p:txBody>
            <a:bodyPr wrap="square" lIns="0" tIns="0" rIns="0" bIns="0" rtlCol="0" anchor="ctr"/>
            <a:lstStyle/>
            <a:p>
              <a:pPr marL="0" indent="0">
                <a:buNone/>
              </a:pPr>
              <a:r>
                <a:rPr lang="en-US" sz="900" b="1" u="sng">
                  <a:latin typeface="Gill Sans Nova Light" panose="020B0302020104020203" pitchFamily="34" charset="0"/>
                  <a:ea typeface="Calibri" pitchFamily="34" charset="-122"/>
                  <a:cs typeface="Calibri" pitchFamily="34" charset="-120"/>
                </a:rPr>
                <a:t>Observations by country  (top 10 of 26)</a:t>
              </a:r>
              <a:endParaRPr lang="en-US" sz="900" u="sng">
                <a:latin typeface="Gill Sans Nova Light" panose="020B0302020104020203" pitchFamily="34" charset="0"/>
              </a:endParaRPr>
            </a:p>
          </p:txBody>
        </p:sp>
        <p:graphicFrame>
          <p:nvGraphicFramePr>
            <p:cNvPr id="106" name="Chart 1">
              <a:extLst>
                <a:ext uri="{FF2B5EF4-FFF2-40B4-BE49-F238E27FC236}">
                  <a16:creationId xmlns:a16="http://schemas.microsoft.com/office/drawing/2014/main" id="{8CB847B7-3C34-725A-3544-246E162F9110}"/>
                </a:ext>
              </a:extLst>
            </p:cNvPr>
            <p:cNvGraphicFramePr/>
            <p:nvPr>
              <p:extLst>
                <p:ext uri="{D42A27DB-BD31-4B8C-83A1-F6EECF244321}">
                  <p14:modId xmlns:p14="http://schemas.microsoft.com/office/powerpoint/2010/main" val="1556197089"/>
                </p:ext>
              </p:extLst>
            </p:nvPr>
          </p:nvGraphicFramePr>
          <p:xfrm>
            <a:off x="6366977" y="2364546"/>
            <a:ext cx="2418248" cy="1979941"/>
          </p:xfrm>
          <a:graphic>
            <a:graphicData uri="http://schemas.openxmlformats.org/drawingml/2006/chart">
              <c:chart xmlns:c="http://schemas.openxmlformats.org/drawingml/2006/chart" xmlns:r="http://schemas.openxmlformats.org/officeDocument/2006/relationships" r:id="rId3"/>
            </a:graphicData>
          </a:graphic>
        </p:graphicFrame>
        <p:sp>
          <p:nvSpPr>
            <p:cNvPr id="107" name="Shape 49">
              <a:extLst>
                <a:ext uri="{FF2B5EF4-FFF2-40B4-BE49-F238E27FC236}">
                  <a16:creationId xmlns:a16="http://schemas.microsoft.com/office/drawing/2014/main" id="{2F66010F-0155-A4F9-FFE1-6B1050E3F355}"/>
                </a:ext>
              </a:extLst>
            </p:cNvPr>
            <p:cNvSpPr/>
            <p:nvPr/>
          </p:nvSpPr>
          <p:spPr>
            <a:xfrm>
              <a:off x="6281913" y="4348967"/>
              <a:ext cx="2418248" cy="166255"/>
            </a:xfrm>
            <a:prstGeom prst="rect">
              <a:avLst/>
            </a:prstGeom>
            <a:solidFill>
              <a:srgbClr val="FEF3C7"/>
            </a:solidFill>
            <a:ln w="12700">
              <a:solidFill>
                <a:srgbClr val="F59E0B"/>
              </a:solidFill>
              <a:prstDash val="solid"/>
            </a:ln>
          </p:spPr>
          <p:txBody>
            <a:bodyPr/>
            <a:lstStyle/>
            <a:p>
              <a:endParaRPr lang="en-CH">
                <a:latin typeface="Gill Sans Nova Light" panose="020B0302020104020203" pitchFamily="34" charset="0"/>
              </a:endParaRPr>
            </a:p>
          </p:txBody>
        </p:sp>
        <p:sp>
          <p:nvSpPr>
            <p:cNvPr id="109" name="Text 51">
              <a:extLst>
                <a:ext uri="{FF2B5EF4-FFF2-40B4-BE49-F238E27FC236}">
                  <a16:creationId xmlns:a16="http://schemas.microsoft.com/office/drawing/2014/main" id="{00BD653E-9257-6F30-5EB5-AAE75ADCABF0}"/>
                </a:ext>
              </a:extLst>
            </p:cNvPr>
            <p:cNvSpPr/>
            <p:nvPr/>
          </p:nvSpPr>
          <p:spPr>
            <a:xfrm>
              <a:off x="6334812" y="4348967"/>
              <a:ext cx="2342678" cy="166255"/>
            </a:xfrm>
            <a:prstGeom prst="rect">
              <a:avLst/>
            </a:prstGeom>
            <a:noFill/>
            <a:ln/>
          </p:spPr>
          <p:txBody>
            <a:bodyPr wrap="square" lIns="0" tIns="0" rIns="0" bIns="0" rtlCol="0" anchor="ctr"/>
            <a:lstStyle/>
            <a:p>
              <a:pPr marL="0" indent="0">
                <a:buNone/>
              </a:pPr>
              <a:r>
                <a:rPr lang="en-US" sz="600">
                  <a:solidFill>
                    <a:srgbClr val="92400E"/>
                  </a:solidFill>
                  <a:latin typeface="Gill Sans Nova Light" panose="020B0302020104020203" pitchFamily="34" charset="0"/>
                  <a:ea typeface="Calibri" pitchFamily="34" charset="-122"/>
                  <a:cs typeface="Calibri" pitchFamily="34" charset="-120"/>
                </a:rPr>
                <a:t>⚠  Germany = 46% of obs  ·  robustness check planned (excl. DE)</a:t>
              </a:r>
              <a:endParaRPr lang="en-US" sz="600">
                <a:latin typeface="Gill Sans Nova Light" panose="020B0302020104020203" pitchFamily="34" charset="0"/>
              </a:endParaRPr>
            </a:p>
          </p:txBody>
        </p:sp>
      </p:grpSp>
      <p:sp>
        <p:nvSpPr>
          <p:cNvPr id="115" name="Text 16">
            <a:extLst>
              <a:ext uri="{FF2B5EF4-FFF2-40B4-BE49-F238E27FC236}">
                <a16:creationId xmlns:a16="http://schemas.microsoft.com/office/drawing/2014/main" id="{0C84E9F0-9961-7A59-411E-083D73F51F0A}"/>
              </a:ext>
            </a:extLst>
          </p:cNvPr>
          <p:cNvSpPr/>
          <p:nvPr/>
        </p:nvSpPr>
        <p:spPr>
          <a:xfrm>
            <a:off x="5953681" y="2664814"/>
            <a:ext cx="146151" cy="241824"/>
          </a:xfrm>
          <a:prstGeom prst="rect">
            <a:avLst/>
          </a:prstGeom>
          <a:noFill/>
          <a:ln/>
        </p:spPr>
        <p:txBody>
          <a:bodyPr wrap="square" lIns="0" tIns="0" rIns="0" bIns="0" rtlCol="0" anchor="ctr"/>
          <a:lstStyle/>
          <a:p>
            <a:pPr marL="0" indent="0" algn="ctr">
              <a:buNone/>
            </a:pPr>
            <a:r>
              <a:rPr lang="en-US" sz="4500">
                <a:latin typeface="Gill Sans Nova Light" panose="020B0302020104020203" pitchFamily="34" charset="0"/>
                <a:ea typeface="Calibri" pitchFamily="34" charset="-122"/>
                <a:cs typeface="Calibri" pitchFamily="34" charset="-120"/>
              </a:rPr>
              <a:t>›</a:t>
            </a:r>
            <a:endParaRPr lang="en-US" sz="4500">
              <a:latin typeface="Gill Sans Nova Light" panose="020B0302020104020203" pitchFamily="34" charset="0"/>
            </a:endParaRPr>
          </a:p>
        </p:txBody>
      </p:sp>
    </p:spTree>
    <p:extLst>
      <p:ext uri="{BB962C8B-B14F-4D97-AF65-F5344CB8AC3E}">
        <p14:creationId xmlns:p14="http://schemas.microsoft.com/office/powerpoint/2010/main" val="3984344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6C838-319D-6F18-1EB3-CD16B19D28C1}"/>
              </a:ext>
            </a:extLst>
          </p:cNvPr>
          <p:cNvSpPr>
            <a:spLocks noGrp="1"/>
          </p:cNvSpPr>
          <p:nvPr>
            <p:ph type="title"/>
          </p:nvPr>
        </p:nvSpPr>
        <p:spPr/>
        <p:txBody>
          <a:bodyPr/>
          <a:lstStyle/>
          <a:p>
            <a:r>
              <a:rPr lang="en-GB"/>
              <a:t>Step 2 - Dataset: data filtering &amp; missingness</a:t>
            </a:r>
          </a:p>
        </p:txBody>
      </p:sp>
      <p:sp>
        <p:nvSpPr>
          <p:cNvPr id="4" name="Slide Number Placeholder 3">
            <a:extLst>
              <a:ext uri="{FF2B5EF4-FFF2-40B4-BE49-F238E27FC236}">
                <a16:creationId xmlns:a16="http://schemas.microsoft.com/office/drawing/2014/main" id="{14979EDE-EA2A-27FB-94A8-85B8E9016E3E}"/>
              </a:ext>
            </a:extLst>
          </p:cNvPr>
          <p:cNvSpPr>
            <a:spLocks noGrp="1"/>
          </p:cNvSpPr>
          <p:nvPr>
            <p:ph type="sldNum" sz="quarter" idx="12"/>
          </p:nvPr>
        </p:nvSpPr>
        <p:spPr/>
        <p:txBody>
          <a:bodyPr/>
          <a:lstStyle/>
          <a:p>
            <a:fld id="{7559FC98-AF75-4A00-A03C-DF9FEBF6BCB9}" type="slidenum">
              <a:rPr lang="en-GB" smtClean="0"/>
              <a:t>34</a:t>
            </a:fld>
            <a:endParaRPr lang="en-GB"/>
          </a:p>
        </p:txBody>
      </p:sp>
      <p:grpSp>
        <p:nvGrpSpPr>
          <p:cNvPr id="62" name="Group 61">
            <a:extLst>
              <a:ext uri="{FF2B5EF4-FFF2-40B4-BE49-F238E27FC236}">
                <a16:creationId xmlns:a16="http://schemas.microsoft.com/office/drawing/2014/main" id="{C9A3482D-563A-F4E1-683A-E0E4A9B60CDC}"/>
              </a:ext>
            </a:extLst>
          </p:cNvPr>
          <p:cNvGrpSpPr/>
          <p:nvPr/>
        </p:nvGrpSpPr>
        <p:grpSpPr>
          <a:xfrm>
            <a:off x="457200" y="969264"/>
            <a:ext cx="8229600" cy="3730752"/>
            <a:chOff x="457200" y="749808"/>
            <a:chExt cx="8229600" cy="3730752"/>
          </a:xfrm>
        </p:grpSpPr>
        <p:sp>
          <p:nvSpPr>
            <p:cNvPr id="3" name="Text 2">
              <a:extLst>
                <a:ext uri="{FF2B5EF4-FFF2-40B4-BE49-F238E27FC236}">
                  <a16:creationId xmlns:a16="http://schemas.microsoft.com/office/drawing/2014/main" id="{C74B9643-9977-6106-38D6-000E1192D753}"/>
                </a:ext>
              </a:extLst>
            </p:cNvPr>
            <p:cNvSpPr/>
            <p:nvPr/>
          </p:nvSpPr>
          <p:spPr>
            <a:xfrm>
              <a:off x="457200" y="749808"/>
              <a:ext cx="3840480" cy="237744"/>
            </a:xfrm>
            <a:prstGeom prst="rect">
              <a:avLst/>
            </a:prstGeom>
            <a:noFill/>
            <a:ln/>
          </p:spPr>
          <p:txBody>
            <a:bodyPr wrap="square" lIns="0" tIns="0" rIns="0" bIns="0" rtlCol="0" anchor="ctr"/>
            <a:lstStyle/>
            <a:p>
              <a:pPr marL="0" indent="0">
                <a:buNone/>
              </a:pPr>
              <a:r>
                <a:rPr lang="en-US" sz="1100" b="1">
                  <a:solidFill>
                    <a:srgbClr val="1B3A6B"/>
                  </a:solidFill>
                  <a:latin typeface="Gill Sans Nova Light" panose="020B0302020104020203" pitchFamily="34" charset="0"/>
                  <a:ea typeface="Calibri" pitchFamily="34" charset="-122"/>
                  <a:cs typeface="Calibri" pitchFamily="34" charset="-120"/>
                </a:rPr>
                <a:t>Sample Construction</a:t>
              </a:r>
              <a:endParaRPr lang="en-US" sz="1100">
                <a:latin typeface="Gill Sans Nova Light" panose="020B0302020104020203" pitchFamily="34" charset="0"/>
              </a:endParaRPr>
            </a:p>
          </p:txBody>
        </p:sp>
        <p:sp>
          <p:nvSpPr>
            <p:cNvPr id="5" name="Shape 3">
              <a:extLst>
                <a:ext uri="{FF2B5EF4-FFF2-40B4-BE49-F238E27FC236}">
                  <a16:creationId xmlns:a16="http://schemas.microsoft.com/office/drawing/2014/main" id="{8BD221A8-50D7-50A6-6724-C72B2FC2810F}"/>
                </a:ext>
              </a:extLst>
            </p:cNvPr>
            <p:cNvSpPr/>
            <p:nvPr/>
          </p:nvSpPr>
          <p:spPr>
            <a:xfrm>
              <a:off x="457200" y="1042416"/>
              <a:ext cx="3840480" cy="749808"/>
            </a:xfrm>
            <a:prstGeom prst="rect">
              <a:avLst/>
            </a:prstGeom>
            <a:solidFill>
              <a:srgbClr val="EBF2FC"/>
            </a:solidFill>
            <a:ln w="12700">
              <a:solidFill>
                <a:srgbClr val="2E5FA3"/>
              </a:solidFill>
              <a:prstDash val="solid"/>
            </a:ln>
          </p:spPr>
          <p:txBody>
            <a:bodyPr/>
            <a:lstStyle/>
            <a:p>
              <a:endParaRPr lang="en-CH">
                <a:latin typeface="Gill Sans Nova Light" panose="020B0302020104020203" pitchFamily="34" charset="0"/>
              </a:endParaRPr>
            </a:p>
          </p:txBody>
        </p:sp>
        <p:sp>
          <p:nvSpPr>
            <p:cNvPr id="6" name="Shape 4">
              <a:extLst>
                <a:ext uri="{FF2B5EF4-FFF2-40B4-BE49-F238E27FC236}">
                  <a16:creationId xmlns:a16="http://schemas.microsoft.com/office/drawing/2014/main" id="{E4EB9163-3413-B9E2-8A29-CE9139609EA6}"/>
                </a:ext>
              </a:extLst>
            </p:cNvPr>
            <p:cNvSpPr/>
            <p:nvPr/>
          </p:nvSpPr>
          <p:spPr>
            <a:xfrm>
              <a:off x="457200" y="1042416"/>
              <a:ext cx="54864" cy="749808"/>
            </a:xfrm>
            <a:prstGeom prst="rect">
              <a:avLst/>
            </a:prstGeom>
            <a:solidFill>
              <a:srgbClr val="2E5FA3"/>
            </a:solidFill>
            <a:ln w="12700">
              <a:solidFill>
                <a:srgbClr val="2E5FA3"/>
              </a:solidFill>
              <a:prstDash val="solid"/>
            </a:ln>
          </p:spPr>
          <p:txBody>
            <a:bodyPr/>
            <a:lstStyle/>
            <a:p>
              <a:endParaRPr lang="en-CH">
                <a:latin typeface="Gill Sans Nova Light" panose="020B0302020104020203" pitchFamily="34" charset="0"/>
              </a:endParaRPr>
            </a:p>
          </p:txBody>
        </p:sp>
        <p:sp>
          <p:nvSpPr>
            <p:cNvPr id="7" name="Text 5">
              <a:extLst>
                <a:ext uri="{FF2B5EF4-FFF2-40B4-BE49-F238E27FC236}">
                  <a16:creationId xmlns:a16="http://schemas.microsoft.com/office/drawing/2014/main" id="{5E26F479-8E12-A033-5136-B733095AE0E5}"/>
                </a:ext>
              </a:extLst>
            </p:cNvPr>
            <p:cNvSpPr/>
            <p:nvPr/>
          </p:nvSpPr>
          <p:spPr>
            <a:xfrm>
              <a:off x="585216" y="1115568"/>
              <a:ext cx="201168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Full dataset</a:t>
              </a:r>
              <a:endParaRPr lang="en-US" sz="1000">
                <a:latin typeface="Gill Sans Nova Light" panose="020B0302020104020203" pitchFamily="34" charset="0"/>
              </a:endParaRPr>
            </a:p>
          </p:txBody>
        </p:sp>
        <p:sp>
          <p:nvSpPr>
            <p:cNvPr id="8" name="Text 6">
              <a:extLst>
                <a:ext uri="{FF2B5EF4-FFF2-40B4-BE49-F238E27FC236}">
                  <a16:creationId xmlns:a16="http://schemas.microsoft.com/office/drawing/2014/main" id="{6CF43C5B-D2D4-218E-062B-0AC6217C797C}"/>
                </a:ext>
              </a:extLst>
            </p:cNvPr>
            <p:cNvSpPr/>
            <p:nvPr/>
          </p:nvSpPr>
          <p:spPr>
            <a:xfrm>
              <a:off x="2651760" y="1097280"/>
              <a:ext cx="1600200" cy="310896"/>
            </a:xfrm>
            <a:prstGeom prst="rect">
              <a:avLst/>
            </a:prstGeom>
            <a:noFill/>
            <a:ln/>
          </p:spPr>
          <p:txBody>
            <a:bodyPr wrap="square" lIns="0" tIns="0" rIns="0" bIns="0" rtlCol="0" anchor="ctr"/>
            <a:lstStyle/>
            <a:p>
              <a:pPr marL="0" indent="0" algn="r">
                <a:buNone/>
              </a:pPr>
              <a:r>
                <a:rPr lang="en-US" sz="2000" b="1">
                  <a:solidFill>
                    <a:srgbClr val="2E5FA3"/>
                  </a:solidFill>
                  <a:latin typeface="Gill Sans Nova Light" panose="020B0302020104020203" pitchFamily="34" charset="0"/>
                  <a:ea typeface="Calibri" pitchFamily="34" charset="-122"/>
                  <a:cs typeface="Calibri" pitchFamily="34" charset="-120"/>
                </a:rPr>
                <a:t>83,488</a:t>
              </a:r>
              <a:endParaRPr lang="en-US" sz="2000">
                <a:latin typeface="Gill Sans Nova Light" panose="020B0302020104020203" pitchFamily="34" charset="0"/>
              </a:endParaRPr>
            </a:p>
          </p:txBody>
        </p:sp>
        <p:sp>
          <p:nvSpPr>
            <p:cNvPr id="9" name="Text 7">
              <a:extLst>
                <a:ext uri="{FF2B5EF4-FFF2-40B4-BE49-F238E27FC236}">
                  <a16:creationId xmlns:a16="http://schemas.microsoft.com/office/drawing/2014/main" id="{78652ECE-AE7B-EA0B-FA5C-62CD03ADC3FB}"/>
                </a:ext>
              </a:extLst>
            </p:cNvPr>
            <p:cNvSpPr/>
            <p:nvPr/>
          </p:nvSpPr>
          <p:spPr>
            <a:xfrm>
              <a:off x="585216" y="1499616"/>
              <a:ext cx="3200400" cy="201168"/>
            </a:xfrm>
            <a:prstGeom prst="rect">
              <a:avLst/>
            </a:prstGeom>
            <a:noFill/>
            <a:ln/>
          </p:spPr>
          <p:txBody>
            <a:bodyPr wrap="square" lIns="0" tIns="0" rIns="0" bIns="0" rtlCol="0" anchor="ctr"/>
            <a:lstStyle/>
            <a:p>
              <a:pPr marL="0" indent="0">
                <a:buNone/>
              </a:pPr>
              <a:r>
                <a:rPr lang="en-US" sz="900">
                  <a:solidFill>
                    <a:srgbClr val="6B7280"/>
                  </a:solidFill>
                  <a:latin typeface="Gill Sans Nova Light" panose="020B0302020104020203" pitchFamily="34" charset="0"/>
                  <a:ea typeface="Calibri" pitchFamily="34" charset="-122"/>
                  <a:cs typeface="Calibri" pitchFamily="34" charset="-120"/>
                </a:rPr>
                <a:t>5,218 banks · 28 countries</a:t>
              </a:r>
              <a:endParaRPr lang="en-US" sz="900">
                <a:latin typeface="Gill Sans Nova Light" panose="020B0302020104020203" pitchFamily="34" charset="0"/>
              </a:endParaRPr>
            </a:p>
          </p:txBody>
        </p:sp>
        <p:sp>
          <p:nvSpPr>
            <p:cNvPr id="10" name="Text 8">
              <a:extLst>
                <a:ext uri="{FF2B5EF4-FFF2-40B4-BE49-F238E27FC236}">
                  <a16:creationId xmlns:a16="http://schemas.microsoft.com/office/drawing/2014/main" id="{45B825EC-DBC8-D4A2-17A8-6A90D7161A34}"/>
                </a:ext>
              </a:extLst>
            </p:cNvPr>
            <p:cNvSpPr/>
            <p:nvPr/>
          </p:nvSpPr>
          <p:spPr>
            <a:xfrm>
              <a:off x="2304288" y="1819656"/>
              <a:ext cx="274320" cy="182880"/>
            </a:xfrm>
            <a:prstGeom prst="rect">
              <a:avLst/>
            </a:prstGeom>
            <a:noFill/>
            <a:ln/>
          </p:spPr>
          <p:txBody>
            <a:bodyPr wrap="square" lIns="0" tIns="0" rIns="0" bIns="0" rtlCol="0" anchor="ctr"/>
            <a:lstStyle/>
            <a:p>
              <a:pPr marL="0" indent="0" algn="ctr">
                <a:buNone/>
              </a:pPr>
              <a:r>
                <a:rPr lang="en-US" sz="1000">
                  <a:solidFill>
                    <a:srgbClr val="D0D7E3"/>
                  </a:solidFill>
                  <a:latin typeface="Gill Sans Nova Light" panose="020B0302020104020203" pitchFamily="34" charset="0"/>
                  <a:ea typeface="Calibri" pitchFamily="34" charset="-122"/>
                  <a:cs typeface="Calibri" pitchFamily="34" charset="-120"/>
                </a:rPr>
                <a:t>▼</a:t>
              </a:r>
              <a:endParaRPr lang="en-US" sz="1000">
                <a:latin typeface="Gill Sans Nova Light" panose="020B0302020104020203" pitchFamily="34" charset="0"/>
              </a:endParaRPr>
            </a:p>
          </p:txBody>
        </p:sp>
        <p:sp>
          <p:nvSpPr>
            <p:cNvPr id="11" name="Shape 9">
              <a:extLst>
                <a:ext uri="{FF2B5EF4-FFF2-40B4-BE49-F238E27FC236}">
                  <a16:creationId xmlns:a16="http://schemas.microsoft.com/office/drawing/2014/main" id="{B333953C-EEC0-7BA5-DC98-B59DBE642960}"/>
                </a:ext>
              </a:extLst>
            </p:cNvPr>
            <p:cNvSpPr/>
            <p:nvPr/>
          </p:nvSpPr>
          <p:spPr>
            <a:xfrm>
              <a:off x="457200" y="2029968"/>
              <a:ext cx="3840480" cy="749808"/>
            </a:xfrm>
            <a:prstGeom prst="rect">
              <a:avLst/>
            </a:prstGeom>
            <a:solidFill>
              <a:srgbClr val="DDF0E6"/>
            </a:solidFill>
            <a:ln w="12700">
              <a:solidFill>
                <a:srgbClr val="2E7D52"/>
              </a:solidFill>
              <a:prstDash val="solid"/>
            </a:ln>
          </p:spPr>
          <p:txBody>
            <a:bodyPr/>
            <a:lstStyle/>
            <a:p>
              <a:endParaRPr lang="en-CH">
                <a:latin typeface="Gill Sans Nova Light" panose="020B0302020104020203" pitchFamily="34" charset="0"/>
              </a:endParaRPr>
            </a:p>
          </p:txBody>
        </p:sp>
        <p:sp>
          <p:nvSpPr>
            <p:cNvPr id="12" name="Shape 10">
              <a:extLst>
                <a:ext uri="{FF2B5EF4-FFF2-40B4-BE49-F238E27FC236}">
                  <a16:creationId xmlns:a16="http://schemas.microsoft.com/office/drawing/2014/main" id="{0882F3E0-C13C-2248-6ADE-B54F8EDDC78F}"/>
                </a:ext>
              </a:extLst>
            </p:cNvPr>
            <p:cNvSpPr/>
            <p:nvPr/>
          </p:nvSpPr>
          <p:spPr>
            <a:xfrm>
              <a:off x="457200" y="2029968"/>
              <a:ext cx="54864" cy="749808"/>
            </a:xfrm>
            <a:prstGeom prst="rect">
              <a:avLst/>
            </a:prstGeom>
            <a:solidFill>
              <a:srgbClr val="2E7D52"/>
            </a:solidFill>
            <a:ln w="12700">
              <a:solidFill>
                <a:srgbClr val="2E7D52"/>
              </a:solidFill>
              <a:prstDash val="solid"/>
            </a:ln>
          </p:spPr>
          <p:txBody>
            <a:bodyPr/>
            <a:lstStyle/>
            <a:p>
              <a:endParaRPr lang="en-CH">
                <a:latin typeface="Gill Sans Nova Light" panose="020B0302020104020203" pitchFamily="34" charset="0"/>
              </a:endParaRPr>
            </a:p>
          </p:txBody>
        </p:sp>
        <p:sp>
          <p:nvSpPr>
            <p:cNvPr id="13" name="Text 11">
              <a:extLst>
                <a:ext uri="{FF2B5EF4-FFF2-40B4-BE49-F238E27FC236}">
                  <a16:creationId xmlns:a16="http://schemas.microsoft.com/office/drawing/2014/main" id="{E91347AE-FA60-9924-C76C-FF3214B483B5}"/>
                </a:ext>
              </a:extLst>
            </p:cNvPr>
            <p:cNvSpPr/>
            <p:nvPr/>
          </p:nvSpPr>
          <p:spPr>
            <a:xfrm>
              <a:off x="585216" y="2103120"/>
              <a:ext cx="201168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Savings banks only</a:t>
              </a:r>
              <a:endParaRPr lang="en-US" sz="1000">
                <a:latin typeface="Gill Sans Nova Light" panose="020B0302020104020203" pitchFamily="34" charset="0"/>
              </a:endParaRPr>
            </a:p>
          </p:txBody>
        </p:sp>
        <p:sp>
          <p:nvSpPr>
            <p:cNvPr id="14" name="Text 12">
              <a:extLst>
                <a:ext uri="{FF2B5EF4-FFF2-40B4-BE49-F238E27FC236}">
                  <a16:creationId xmlns:a16="http://schemas.microsoft.com/office/drawing/2014/main" id="{4C03CD1A-6571-6276-77EB-BB8EDBD7F704}"/>
                </a:ext>
              </a:extLst>
            </p:cNvPr>
            <p:cNvSpPr/>
            <p:nvPr/>
          </p:nvSpPr>
          <p:spPr>
            <a:xfrm>
              <a:off x="2651760" y="2084832"/>
              <a:ext cx="1600200" cy="310896"/>
            </a:xfrm>
            <a:prstGeom prst="rect">
              <a:avLst/>
            </a:prstGeom>
            <a:noFill/>
            <a:ln/>
          </p:spPr>
          <p:txBody>
            <a:bodyPr wrap="square" lIns="0" tIns="0" rIns="0" bIns="0" rtlCol="0" anchor="ctr"/>
            <a:lstStyle/>
            <a:p>
              <a:pPr marL="0" indent="0" algn="r">
                <a:buNone/>
              </a:pPr>
              <a:r>
                <a:rPr lang="en-US" sz="2000" b="1">
                  <a:solidFill>
                    <a:srgbClr val="2E7D52"/>
                  </a:solidFill>
                  <a:latin typeface="Gill Sans Nova Light" panose="020B0302020104020203" pitchFamily="34" charset="0"/>
                  <a:ea typeface="Calibri" pitchFamily="34" charset="-122"/>
                  <a:cs typeface="Calibri" pitchFamily="34" charset="-120"/>
                </a:rPr>
                <a:t>41,104</a:t>
              </a:r>
              <a:endParaRPr lang="en-US" sz="2000">
                <a:latin typeface="Gill Sans Nova Light" panose="020B0302020104020203" pitchFamily="34" charset="0"/>
              </a:endParaRPr>
            </a:p>
          </p:txBody>
        </p:sp>
        <p:sp>
          <p:nvSpPr>
            <p:cNvPr id="15" name="Text 13">
              <a:extLst>
                <a:ext uri="{FF2B5EF4-FFF2-40B4-BE49-F238E27FC236}">
                  <a16:creationId xmlns:a16="http://schemas.microsoft.com/office/drawing/2014/main" id="{E466D5A0-CA6F-F9A4-DC3F-E318AA40EAA6}"/>
                </a:ext>
              </a:extLst>
            </p:cNvPr>
            <p:cNvSpPr/>
            <p:nvPr/>
          </p:nvSpPr>
          <p:spPr>
            <a:xfrm>
              <a:off x="585216" y="2487168"/>
              <a:ext cx="3200400" cy="201168"/>
            </a:xfrm>
            <a:prstGeom prst="rect">
              <a:avLst/>
            </a:prstGeom>
            <a:noFill/>
            <a:ln/>
          </p:spPr>
          <p:txBody>
            <a:bodyPr wrap="square" lIns="0" tIns="0" rIns="0" bIns="0" rtlCol="0" anchor="ctr"/>
            <a:lstStyle/>
            <a:p>
              <a:pPr marL="0" indent="0">
                <a:buNone/>
              </a:pPr>
              <a:r>
                <a:rPr lang="en-US" sz="900">
                  <a:solidFill>
                    <a:srgbClr val="6B7280"/>
                  </a:solidFill>
                  <a:latin typeface="Gill Sans Nova Light" panose="020B0302020104020203" pitchFamily="34" charset="0"/>
                  <a:ea typeface="Calibri" pitchFamily="34" charset="-122"/>
                  <a:cs typeface="Calibri" pitchFamily="34" charset="-120"/>
                </a:rPr>
                <a:t>2,569 banks · 26 countries</a:t>
              </a:r>
              <a:endParaRPr lang="en-US" sz="900">
                <a:latin typeface="Gill Sans Nova Light" panose="020B0302020104020203" pitchFamily="34" charset="0"/>
              </a:endParaRPr>
            </a:p>
          </p:txBody>
        </p:sp>
        <p:sp>
          <p:nvSpPr>
            <p:cNvPr id="16" name="Text 14">
              <a:extLst>
                <a:ext uri="{FF2B5EF4-FFF2-40B4-BE49-F238E27FC236}">
                  <a16:creationId xmlns:a16="http://schemas.microsoft.com/office/drawing/2014/main" id="{A93BC2EB-7B98-E115-CB8A-4D9B225E7E18}"/>
                </a:ext>
              </a:extLst>
            </p:cNvPr>
            <p:cNvSpPr/>
            <p:nvPr/>
          </p:nvSpPr>
          <p:spPr>
            <a:xfrm>
              <a:off x="2304288" y="2807208"/>
              <a:ext cx="274320" cy="182880"/>
            </a:xfrm>
            <a:prstGeom prst="rect">
              <a:avLst/>
            </a:prstGeom>
            <a:noFill/>
            <a:ln/>
          </p:spPr>
          <p:txBody>
            <a:bodyPr wrap="square" lIns="0" tIns="0" rIns="0" bIns="0" rtlCol="0" anchor="ctr"/>
            <a:lstStyle/>
            <a:p>
              <a:pPr marL="0" indent="0" algn="ctr">
                <a:buNone/>
              </a:pPr>
              <a:r>
                <a:rPr lang="en-US" sz="1000">
                  <a:solidFill>
                    <a:srgbClr val="D0D7E3"/>
                  </a:solidFill>
                  <a:latin typeface="Gill Sans Nova Light" panose="020B0302020104020203" pitchFamily="34" charset="0"/>
                  <a:ea typeface="Calibri" pitchFamily="34" charset="-122"/>
                  <a:cs typeface="Calibri" pitchFamily="34" charset="-120"/>
                </a:rPr>
                <a:t>▼</a:t>
              </a:r>
              <a:endParaRPr lang="en-US" sz="1000">
                <a:latin typeface="Gill Sans Nova Light" panose="020B0302020104020203" pitchFamily="34" charset="0"/>
              </a:endParaRPr>
            </a:p>
          </p:txBody>
        </p:sp>
        <p:sp>
          <p:nvSpPr>
            <p:cNvPr id="17" name="Shape 15">
              <a:extLst>
                <a:ext uri="{FF2B5EF4-FFF2-40B4-BE49-F238E27FC236}">
                  <a16:creationId xmlns:a16="http://schemas.microsoft.com/office/drawing/2014/main" id="{D22567A4-BDDA-D4D9-0A38-4318C7FB8543}"/>
                </a:ext>
              </a:extLst>
            </p:cNvPr>
            <p:cNvSpPr/>
            <p:nvPr/>
          </p:nvSpPr>
          <p:spPr>
            <a:xfrm>
              <a:off x="457200" y="3017520"/>
              <a:ext cx="3840480" cy="749808"/>
            </a:xfrm>
            <a:prstGeom prst="rect">
              <a:avLst/>
            </a:prstGeom>
            <a:solidFill>
              <a:srgbClr val="D4EDE1"/>
            </a:solidFill>
            <a:ln w="12700">
              <a:solidFill>
                <a:srgbClr val="1B7A4A"/>
              </a:solidFill>
              <a:prstDash val="solid"/>
            </a:ln>
          </p:spPr>
          <p:txBody>
            <a:bodyPr/>
            <a:lstStyle/>
            <a:p>
              <a:endParaRPr lang="en-CH">
                <a:latin typeface="Gill Sans Nova Light" panose="020B0302020104020203" pitchFamily="34" charset="0"/>
              </a:endParaRPr>
            </a:p>
          </p:txBody>
        </p:sp>
        <p:sp>
          <p:nvSpPr>
            <p:cNvPr id="18" name="Shape 16">
              <a:extLst>
                <a:ext uri="{FF2B5EF4-FFF2-40B4-BE49-F238E27FC236}">
                  <a16:creationId xmlns:a16="http://schemas.microsoft.com/office/drawing/2014/main" id="{7B2C11DB-8885-3CC6-D64D-3629294EBF43}"/>
                </a:ext>
              </a:extLst>
            </p:cNvPr>
            <p:cNvSpPr/>
            <p:nvPr/>
          </p:nvSpPr>
          <p:spPr>
            <a:xfrm>
              <a:off x="457200" y="3017520"/>
              <a:ext cx="54864" cy="749808"/>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19" name="Text 17">
              <a:extLst>
                <a:ext uri="{FF2B5EF4-FFF2-40B4-BE49-F238E27FC236}">
                  <a16:creationId xmlns:a16="http://schemas.microsoft.com/office/drawing/2014/main" id="{A66D64AD-214D-DC64-CA80-4110A8B16364}"/>
                </a:ext>
              </a:extLst>
            </p:cNvPr>
            <p:cNvSpPr/>
            <p:nvPr/>
          </p:nvSpPr>
          <p:spPr>
            <a:xfrm>
              <a:off x="585216" y="3090672"/>
              <a:ext cx="201168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Deposit Ratio filtered</a:t>
              </a:r>
              <a:endParaRPr lang="en-US" sz="1000">
                <a:latin typeface="Gill Sans Nova Light" panose="020B0302020104020203" pitchFamily="34" charset="0"/>
              </a:endParaRPr>
            </a:p>
          </p:txBody>
        </p:sp>
        <p:sp>
          <p:nvSpPr>
            <p:cNvPr id="20" name="Text 18">
              <a:extLst>
                <a:ext uri="{FF2B5EF4-FFF2-40B4-BE49-F238E27FC236}">
                  <a16:creationId xmlns:a16="http://schemas.microsoft.com/office/drawing/2014/main" id="{74DBCC19-CD8C-EC94-B90D-67AFFB231383}"/>
                </a:ext>
              </a:extLst>
            </p:cNvPr>
            <p:cNvSpPr/>
            <p:nvPr/>
          </p:nvSpPr>
          <p:spPr>
            <a:xfrm>
              <a:off x="2651760" y="3072384"/>
              <a:ext cx="1600200" cy="310896"/>
            </a:xfrm>
            <a:prstGeom prst="rect">
              <a:avLst/>
            </a:prstGeom>
            <a:noFill/>
            <a:ln/>
          </p:spPr>
          <p:txBody>
            <a:bodyPr wrap="square" lIns="0" tIns="0" rIns="0" bIns="0" rtlCol="0" anchor="ctr"/>
            <a:lstStyle/>
            <a:p>
              <a:pPr marL="0" indent="0" algn="r">
                <a:buNone/>
              </a:pPr>
              <a:r>
                <a:rPr lang="en-US" sz="2000" b="1">
                  <a:solidFill>
                    <a:srgbClr val="1B7A4A"/>
                  </a:solidFill>
                  <a:latin typeface="Gill Sans Nova Light" panose="020B0302020104020203" pitchFamily="34" charset="0"/>
                  <a:ea typeface="Calibri" pitchFamily="34" charset="-122"/>
                  <a:cs typeface="Calibri" pitchFamily="34" charset="-120"/>
                </a:rPr>
                <a:t>31,439</a:t>
              </a:r>
              <a:endParaRPr lang="en-US" sz="2000">
                <a:latin typeface="Gill Sans Nova Light" panose="020B0302020104020203" pitchFamily="34" charset="0"/>
              </a:endParaRPr>
            </a:p>
          </p:txBody>
        </p:sp>
        <p:sp>
          <p:nvSpPr>
            <p:cNvPr id="21" name="Text 19">
              <a:extLst>
                <a:ext uri="{FF2B5EF4-FFF2-40B4-BE49-F238E27FC236}">
                  <a16:creationId xmlns:a16="http://schemas.microsoft.com/office/drawing/2014/main" id="{149ADF0F-E8EA-1D41-68AF-8AE73F3C8ADE}"/>
                </a:ext>
              </a:extLst>
            </p:cNvPr>
            <p:cNvSpPr/>
            <p:nvPr/>
          </p:nvSpPr>
          <p:spPr>
            <a:xfrm>
              <a:off x="585216" y="3474720"/>
              <a:ext cx="3200400" cy="201168"/>
            </a:xfrm>
            <a:prstGeom prst="rect">
              <a:avLst/>
            </a:prstGeom>
            <a:noFill/>
            <a:ln/>
          </p:spPr>
          <p:txBody>
            <a:bodyPr wrap="square" lIns="0" tIns="0" rIns="0" bIns="0" rtlCol="0" anchor="ctr"/>
            <a:lstStyle/>
            <a:p>
              <a:pPr marL="0" indent="0">
                <a:buNone/>
              </a:pPr>
              <a:r>
                <a:rPr lang="en-US" sz="900">
                  <a:solidFill>
                    <a:srgbClr val="6B7280"/>
                  </a:solidFill>
                  <a:latin typeface="Gill Sans Nova Light" panose="020B0302020104020203" pitchFamily="34" charset="0"/>
                  <a:ea typeface="Calibri" pitchFamily="34" charset="-122"/>
                  <a:cs typeface="Calibri" pitchFamily="34" charset="-120"/>
                </a:rPr>
                <a:t>2,569 banks · 26 countries</a:t>
              </a:r>
              <a:endParaRPr lang="en-US" sz="900">
                <a:latin typeface="Gill Sans Nova Light" panose="020B0302020104020203" pitchFamily="34" charset="0"/>
              </a:endParaRPr>
            </a:p>
          </p:txBody>
        </p:sp>
        <p:sp>
          <p:nvSpPr>
            <p:cNvPr id="22" name="Text 20">
              <a:extLst>
                <a:ext uri="{FF2B5EF4-FFF2-40B4-BE49-F238E27FC236}">
                  <a16:creationId xmlns:a16="http://schemas.microsoft.com/office/drawing/2014/main" id="{ABB93C4F-36D5-7803-48C2-673EBD86CA27}"/>
                </a:ext>
              </a:extLst>
            </p:cNvPr>
            <p:cNvSpPr/>
            <p:nvPr/>
          </p:nvSpPr>
          <p:spPr>
            <a:xfrm>
              <a:off x="4663440" y="749808"/>
              <a:ext cx="4023360" cy="237744"/>
            </a:xfrm>
            <a:prstGeom prst="rect">
              <a:avLst/>
            </a:prstGeom>
            <a:noFill/>
            <a:ln/>
          </p:spPr>
          <p:txBody>
            <a:bodyPr wrap="square" lIns="0" tIns="0" rIns="0" bIns="0" rtlCol="0" anchor="ctr"/>
            <a:lstStyle/>
            <a:p>
              <a:pPr marL="0" indent="0">
                <a:buNone/>
              </a:pPr>
              <a:r>
                <a:rPr lang="en-US" sz="1100" b="1">
                  <a:solidFill>
                    <a:srgbClr val="1B3A6B"/>
                  </a:solidFill>
                  <a:latin typeface="Gill Sans Nova Light" panose="020B0302020104020203" pitchFamily="34" charset="0"/>
                  <a:ea typeface="Calibri" pitchFamily="34" charset="-122"/>
                  <a:cs typeface="Calibri" pitchFamily="34" charset="-120"/>
                </a:rPr>
                <a:t>Missingness Assessment</a:t>
              </a:r>
              <a:endParaRPr lang="en-US" sz="1100">
                <a:latin typeface="Gill Sans Nova Light" panose="020B0302020104020203" pitchFamily="34" charset="0"/>
              </a:endParaRPr>
            </a:p>
          </p:txBody>
        </p:sp>
        <p:sp>
          <p:nvSpPr>
            <p:cNvPr id="23" name="Shape 21">
              <a:extLst>
                <a:ext uri="{FF2B5EF4-FFF2-40B4-BE49-F238E27FC236}">
                  <a16:creationId xmlns:a16="http://schemas.microsoft.com/office/drawing/2014/main" id="{7A6B8023-B732-C885-8947-4BCDF7CAB2F2}"/>
                </a:ext>
              </a:extLst>
            </p:cNvPr>
            <p:cNvSpPr/>
            <p:nvPr/>
          </p:nvSpPr>
          <p:spPr>
            <a:xfrm>
              <a:off x="4663440" y="1042416"/>
              <a:ext cx="4023360" cy="640080"/>
            </a:xfrm>
            <a:prstGeom prst="rect">
              <a:avLst/>
            </a:prstGeom>
            <a:solidFill>
              <a:srgbClr val="D4EDE1"/>
            </a:solidFill>
            <a:ln w="12700">
              <a:solidFill>
                <a:srgbClr val="A8D5BE"/>
              </a:solidFill>
              <a:prstDash val="solid"/>
            </a:ln>
          </p:spPr>
          <p:txBody>
            <a:bodyPr/>
            <a:lstStyle/>
            <a:p>
              <a:endParaRPr lang="en-CH">
                <a:latin typeface="Gill Sans Nova Light" panose="020B0302020104020203" pitchFamily="34" charset="0"/>
              </a:endParaRPr>
            </a:p>
          </p:txBody>
        </p:sp>
        <p:sp>
          <p:nvSpPr>
            <p:cNvPr id="24" name="Shape 22">
              <a:extLst>
                <a:ext uri="{FF2B5EF4-FFF2-40B4-BE49-F238E27FC236}">
                  <a16:creationId xmlns:a16="http://schemas.microsoft.com/office/drawing/2014/main" id="{0DE4A310-2A89-8674-88C3-E1668C7EF203}"/>
                </a:ext>
              </a:extLst>
            </p:cNvPr>
            <p:cNvSpPr/>
            <p:nvPr/>
          </p:nvSpPr>
          <p:spPr>
            <a:xfrm>
              <a:off x="4663440" y="1042416"/>
              <a:ext cx="54864" cy="640080"/>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25" name="Text 23">
              <a:extLst>
                <a:ext uri="{FF2B5EF4-FFF2-40B4-BE49-F238E27FC236}">
                  <a16:creationId xmlns:a16="http://schemas.microsoft.com/office/drawing/2014/main" id="{55349778-183F-4AD1-2925-3B2B06670698}"/>
                </a:ext>
              </a:extLst>
            </p:cNvPr>
            <p:cNvSpPr/>
            <p:nvPr/>
          </p:nvSpPr>
          <p:spPr>
            <a:xfrm>
              <a:off x="4773168" y="1097280"/>
              <a:ext cx="3840480" cy="219456"/>
            </a:xfrm>
            <a:prstGeom prst="rect">
              <a:avLst/>
            </a:prstGeom>
            <a:noFill/>
            <a:ln/>
          </p:spPr>
          <p:txBody>
            <a:bodyPr wrap="square" lIns="0" tIns="0" rIns="0" bIns="0" rtlCol="0" anchor="ctr"/>
            <a:lstStyle/>
            <a:p>
              <a:pPr marL="0" indent="0">
                <a:buNone/>
              </a:pPr>
              <a:r>
                <a:rPr lang="en-US" sz="1000" b="1">
                  <a:solidFill>
                    <a:srgbClr val="1B7A4A"/>
                  </a:solidFill>
                  <a:latin typeface="Gill Sans Nova Light" panose="020B0302020104020203" pitchFamily="34" charset="0"/>
                  <a:ea typeface="Calibri" pitchFamily="34" charset="-122"/>
                  <a:cs typeface="Calibri" pitchFamily="34" charset="-120"/>
                </a:rPr>
                <a:t>✓  Zero missingness in all core variables</a:t>
              </a:r>
              <a:endParaRPr lang="en-US" sz="1000">
                <a:latin typeface="Gill Sans Nova Light" panose="020B0302020104020203" pitchFamily="34" charset="0"/>
              </a:endParaRPr>
            </a:p>
          </p:txBody>
        </p:sp>
        <p:sp>
          <p:nvSpPr>
            <p:cNvPr id="26" name="Text 24">
              <a:extLst>
                <a:ext uri="{FF2B5EF4-FFF2-40B4-BE49-F238E27FC236}">
                  <a16:creationId xmlns:a16="http://schemas.microsoft.com/office/drawing/2014/main" id="{E241E7E1-DA89-B3F6-0CE6-503CEAD19D1B}"/>
                </a:ext>
              </a:extLst>
            </p:cNvPr>
            <p:cNvSpPr/>
            <p:nvPr/>
          </p:nvSpPr>
          <p:spPr>
            <a:xfrm>
              <a:off x="4773168" y="1316736"/>
              <a:ext cx="3840480" cy="310896"/>
            </a:xfrm>
            <a:prstGeom prst="rect">
              <a:avLst/>
            </a:prstGeom>
            <a:noFill/>
            <a:ln/>
          </p:spPr>
          <p:txBody>
            <a:bodyPr wrap="square" lIns="0" tIns="0" rIns="0" bIns="0" rtlCol="0" anchor="ctr"/>
            <a:lstStyle/>
            <a:p>
              <a:pPr marL="0" indent="0">
                <a:buNone/>
              </a:pPr>
              <a:r>
                <a:rPr lang="en-US" sz="850">
                  <a:solidFill>
                    <a:srgbClr val="1A1A1A"/>
                  </a:solidFill>
                  <a:latin typeface="Gill Sans Nova Light" panose="020B0302020104020203" pitchFamily="34" charset="0"/>
                  <a:ea typeface="Calibri" pitchFamily="34" charset="-122"/>
                  <a:cs typeface="Calibri" pitchFamily="34" charset="-120"/>
                </a:rPr>
                <a:t>Deposit Ratio  ·  Total Deposits  ·  Total Assets  ·  Age65  ·  Pension dummies  ·  ARR (4 missing, negligible)</a:t>
              </a:r>
              <a:endParaRPr lang="en-US" sz="850">
                <a:latin typeface="Gill Sans Nova Light" panose="020B0302020104020203" pitchFamily="34" charset="0"/>
              </a:endParaRPr>
            </a:p>
          </p:txBody>
        </p:sp>
        <p:sp>
          <p:nvSpPr>
            <p:cNvPr id="27" name="Text 25">
              <a:extLst>
                <a:ext uri="{FF2B5EF4-FFF2-40B4-BE49-F238E27FC236}">
                  <a16:creationId xmlns:a16="http://schemas.microsoft.com/office/drawing/2014/main" id="{F62910FC-B6B8-E75A-1AE9-1AA90FD562D3}"/>
                </a:ext>
              </a:extLst>
            </p:cNvPr>
            <p:cNvSpPr/>
            <p:nvPr/>
          </p:nvSpPr>
          <p:spPr>
            <a:xfrm>
              <a:off x="4663440" y="1792224"/>
              <a:ext cx="4023360" cy="237744"/>
            </a:xfrm>
            <a:prstGeom prst="rect">
              <a:avLst/>
            </a:prstGeom>
            <a:noFill/>
            <a:ln/>
          </p:spPr>
          <p:txBody>
            <a:bodyPr wrap="square" lIns="0" tIns="0" rIns="0" bIns="0" rtlCol="0" anchor="ctr"/>
            <a:lstStyle/>
            <a:p>
              <a:pPr marL="0" indent="0">
                <a:buNone/>
              </a:pPr>
              <a:r>
                <a:rPr lang="en-US" sz="1000" b="1">
                  <a:solidFill>
                    <a:srgbClr val="1B3A6B"/>
                  </a:solidFill>
                  <a:latin typeface="Gill Sans Nova Light" panose="020B0302020104020203" pitchFamily="34" charset="0"/>
                  <a:ea typeface="Calibri" pitchFamily="34" charset="-122"/>
                  <a:cs typeface="Calibri" pitchFamily="34" charset="-120"/>
                </a:rPr>
                <a:t>FinStructure  —  only meaningful gaps</a:t>
              </a:r>
              <a:endParaRPr lang="en-US" sz="1000">
                <a:latin typeface="Gill Sans Nova Light" panose="020B0302020104020203" pitchFamily="34" charset="0"/>
              </a:endParaRPr>
            </a:p>
          </p:txBody>
        </p:sp>
        <p:sp>
          <p:nvSpPr>
            <p:cNvPr id="28" name="Text 26">
              <a:extLst>
                <a:ext uri="{FF2B5EF4-FFF2-40B4-BE49-F238E27FC236}">
                  <a16:creationId xmlns:a16="http://schemas.microsoft.com/office/drawing/2014/main" id="{59D44D40-08CF-83C3-DF0E-7F8C53A9EAC6}"/>
                </a:ext>
              </a:extLst>
            </p:cNvPr>
            <p:cNvSpPr/>
            <p:nvPr/>
          </p:nvSpPr>
          <p:spPr>
            <a:xfrm>
              <a:off x="4663440" y="2084832"/>
              <a:ext cx="1645920" cy="237744"/>
            </a:xfrm>
            <a:prstGeom prst="rect">
              <a:avLst/>
            </a:prstGeom>
            <a:noFill/>
            <a:ln/>
          </p:spPr>
          <p:txBody>
            <a:bodyPr wrap="square" lIns="0" tIns="0" rIns="0" bIns="0" rtlCol="0" anchor="ctr"/>
            <a:lstStyle/>
            <a:p>
              <a:pPr marL="0" indent="0">
                <a:buNone/>
              </a:pPr>
              <a:r>
                <a:rPr lang="en-US" sz="950">
                  <a:solidFill>
                    <a:srgbClr val="1A1A1A"/>
                  </a:solidFill>
                  <a:latin typeface="Gill Sans Nova Light" panose="020B0302020104020203" pitchFamily="34" charset="0"/>
                  <a:ea typeface="Calibri" pitchFamily="34" charset="-122"/>
                  <a:cs typeface="Calibri" pitchFamily="34" charset="-120"/>
                </a:rPr>
                <a:t>FinStructure</a:t>
              </a:r>
              <a:endParaRPr lang="en-US" sz="950">
                <a:latin typeface="Gill Sans Nova Light" panose="020B0302020104020203" pitchFamily="34" charset="0"/>
              </a:endParaRPr>
            </a:p>
          </p:txBody>
        </p:sp>
        <p:sp>
          <p:nvSpPr>
            <p:cNvPr id="29" name="Shape 27">
              <a:extLst>
                <a:ext uri="{FF2B5EF4-FFF2-40B4-BE49-F238E27FC236}">
                  <a16:creationId xmlns:a16="http://schemas.microsoft.com/office/drawing/2014/main" id="{6D20CC10-440D-AE89-27CC-AD19A82683CD}"/>
                </a:ext>
              </a:extLst>
            </p:cNvPr>
            <p:cNvSpPr/>
            <p:nvPr/>
          </p:nvSpPr>
          <p:spPr>
            <a:xfrm>
              <a:off x="6400800" y="2121408"/>
              <a:ext cx="2286000" cy="182880"/>
            </a:xfrm>
            <a:prstGeom prst="rect">
              <a:avLst/>
            </a:prstGeom>
            <a:solidFill>
              <a:srgbClr val="E5E7EB"/>
            </a:solidFill>
            <a:ln w="12700">
              <a:solidFill>
                <a:srgbClr val="E5E7EB"/>
              </a:solidFill>
              <a:prstDash val="solid"/>
            </a:ln>
          </p:spPr>
          <p:txBody>
            <a:bodyPr/>
            <a:lstStyle/>
            <a:p>
              <a:endParaRPr lang="en-CH">
                <a:latin typeface="Gill Sans Nova Light" panose="020B0302020104020203" pitchFamily="34" charset="0"/>
              </a:endParaRPr>
            </a:p>
          </p:txBody>
        </p:sp>
        <p:sp>
          <p:nvSpPr>
            <p:cNvPr id="30" name="Shape 28">
              <a:extLst>
                <a:ext uri="{FF2B5EF4-FFF2-40B4-BE49-F238E27FC236}">
                  <a16:creationId xmlns:a16="http://schemas.microsoft.com/office/drawing/2014/main" id="{2EDB41BD-45FC-2785-61A0-7DFF4CCB35B9}"/>
                </a:ext>
              </a:extLst>
            </p:cNvPr>
            <p:cNvSpPr/>
            <p:nvPr/>
          </p:nvSpPr>
          <p:spPr>
            <a:xfrm>
              <a:off x="6400800" y="2121408"/>
              <a:ext cx="1866900" cy="182880"/>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31" name="Text 29">
              <a:extLst>
                <a:ext uri="{FF2B5EF4-FFF2-40B4-BE49-F238E27FC236}">
                  <a16:creationId xmlns:a16="http://schemas.microsoft.com/office/drawing/2014/main" id="{006EF176-804B-F08C-3054-6AAEFFFF1E23}"/>
                </a:ext>
              </a:extLst>
            </p:cNvPr>
            <p:cNvSpPr/>
            <p:nvPr/>
          </p:nvSpPr>
          <p:spPr>
            <a:xfrm>
              <a:off x="6419088" y="2121408"/>
              <a:ext cx="2249424" cy="182880"/>
            </a:xfrm>
            <a:prstGeom prst="rect">
              <a:avLst/>
            </a:prstGeom>
            <a:noFill/>
            <a:ln/>
          </p:spPr>
          <p:txBody>
            <a:bodyPr wrap="square" lIns="0" tIns="0" rIns="0" bIns="0" rtlCol="0" anchor="ctr"/>
            <a:lstStyle/>
            <a:p>
              <a:pPr marL="0" indent="0">
                <a:buNone/>
              </a:pPr>
              <a:r>
                <a:rPr lang="en-US" sz="850" b="1">
                  <a:solidFill>
                    <a:srgbClr val="FFFFFF"/>
                  </a:solidFill>
                  <a:latin typeface="Gill Sans Nova Light" panose="020B0302020104020203" pitchFamily="34" charset="0"/>
                  <a:ea typeface="Calibri" pitchFamily="34" charset="-122"/>
                  <a:cs typeface="Calibri" pitchFamily="34" charset="-120"/>
                </a:rPr>
                <a:t>1,533 obs  (4.9%)</a:t>
              </a:r>
              <a:endParaRPr lang="en-US" sz="850">
                <a:latin typeface="Gill Sans Nova Light" panose="020B0302020104020203" pitchFamily="34" charset="0"/>
              </a:endParaRPr>
            </a:p>
          </p:txBody>
        </p:sp>
        <p:sp>
          <p:nvSpPr>
            <p:cNvPr id="32" name="Text 30">
              <a:extLst>
                <a:ext uri="{FF2B5EF4-FFF2-40B4-BE49-F238E27FC236}">
                  <a16:creationId xmlns:a16="http://schemas.microsoft.com/office/drawing/2014/main" id="{EBFDB0E1-5514-AC49-FB0A-DE6BA8B46278}"/>
                </a:ext>
              </a:extLst>
            </p:cNvPr>
            <p:cNvSpPr/>
            <p:nvPr/>
          </p:nvSpPr>
          <p:spPr>
            <a:xfrm>
              <a:off x="4828032" y="2468880"/>
              <a:ext cx="1645920" cy="237744"/>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Market cap / GDP</a:t>
              </a:r>
              <a:endParaRPr lang="en-US" sz="850">
                <a:latin typeface="Gill Sans Nova Light" panose="020B0302020104020203" pitchFamily="34" charset="0"/>
              </a:endParaRPr>
            </a:p>
          </p:txBody>
        </p:sp>
        <p:sp>
          <p:nvSpPr>
            <p:cNvPr id="33" name="Shape 31">
              <a:extLst>
                <a:ext uri="{FF2B5EF4-FFF2-40B4-BE49-F238E27FC236}">
                  <a16:creationId xmlns:a16="http://schemas.microsoft.com/office/drawing/2014/main" id="{3048DCF2-E276-DBCC-1162-A73BE3CDE6B0}"/>
                </a:ext>
              </a:extLst>
            </p:cNvPr>
            <p:cNvSpPr/>
            <p:nvPr/>
          </p:nvSpPr>
          <p:spPr>
            <a:xfrm>
              <a:off x="6400800" y="2505456"/>
              <a:ext cx="2286000" cy="182880"/>
            </a:xfrm>
            <a:prstGeom prst="rect">
              <a:avLst/>
            </a:prstGeom>
            <a:solidFill>
              <a:srgbClr val="E5E7EB"/>
            </a:solidFill>
            <a:ln w="12700">
              <a:solidFill>
                <a:srgbClr val="E5E7EB"/>
              </a:solidFill>
              <a:prstDash val="solid"/>
            </a:ln>
          </p:spPr>
          <p:txBody>
            <a:bodyPr/>
            <a:lstStyle/>
            <a:p>
              <a:endParaRPr lang="en-CH">
                <a:latin typeface="Gill Sans Nova Light" panose="020B0302020104020203" pitchFamily="34" charset="0"/>
              </a:endParaRPr>
            </a:p>
          </p:txBody>
        </p:sp>
        <p:sp>
          <p:nvSpPr>
            <p:cNvPr id="34" name="Shape 32">
              <a:extLst>
                <a:ext uri="{FF2B5EF4-FFF2-40B4-BE49-F238E27FC236}">
                  <a16:creationId xmlns:a16="http://schemas.microsoft.com/office/drawing/2014/main" id="{00D4305C-C11D-694A-AC94-D571EF7534C7}"/>
                </a:ext>
              </a:extLst>
            </p:cNvPr>
            <p:cNvSpPr/>
            <p:nvPr/>
          </p:nvSpPr>
          <p:spPr>
            <a:xfrm>
              <a:off x="6400800" y="2505456"/>
              <a:ext cx="876300" cy="182880"/>
            </a:xfrm>
            <a:prstGeom prst="rect">
              <a:avLst/>
            </a:prstGeom>
            <a:solidFill>
              <a:srgbClr val="B8860B"/>
            </a:solidFill>
            <a:ln w="12700">
              <a:solidFill>
                <a:srgbClr val="B8860B"/>
              </a:solidFill>
              <a:prstDash val="solid"/>
            </a:ln>
          </p:spPr>
          <p:txBody>
            <a:bodyPr/>
            <a:lstStyle/>
            <a:p>
              <a:endParaRPr lang="en-CH">
                <a:latin typeface="Gill Sans Nova Light" panose="020B0302020104020203" pitchFamily="34" charset="0"/>
              </a:endParaRPr>
            </a:p>
          </p:txBody>
        </p:sp>
        <p:sp>
          <p:nvSpPr>
            <p:cNvPr id="35" name="Text 33">
              <a:extLst>
                <a:ext uri="{FF2B5EF4-FFF2-40B4-BE49-F238E27FC236}">
                  <a16:creationId xmlns:a16="http://schemas.microsoft.com/office/drawing/2014/main" id="{31B632FF-BF02-D5D1-C3AE-F813BDED13AF}"/>
                </a:ext>
              </a:extLst>
            </p:cNvPr>
            <p:cNvSpPr/>
            <p:nvPr/>
          </p:nvSpPr>
          <p:spPr>
            <a:xfrm>
              <a:off x="6419088" y="2505456"/>
              <a:ext cx="2249424" cy="182880"/>
            </a:xfrm>
            <a:prstGeom prst="rect">
              <a:avLst/>
            </a:prstGeom>
            <a:noFill/>
            <a:ln/>
          </p:spPr>
          <p:txBody>
            <a:bodyPr wrap="square" lIns="0" tIns="0" rIns="0" bIns="0" rtlCol="0" anchor="ctr"/>
            <a:lstStyle/>
            <a:p>
              <a:pPr marL="0" indent="0">
                <a:buNone/>
              </a:pPr>
              <a:r>
                <a:rPr lang="en-US" sz="850" b="1">
                  <a:solidFill>
                    <a:srgbClr val="FFFFFF"/>
                  </a:solidFill>
                  <a:latin typeface="Gill Sans Nova Light" panose="020B0302020104020203" pitchFamily="34" charset="0"/>
                  <a:ea typeface="Calibri" pitchFamily="34" charset="-122"/>
                  <a:cs typeface="Calibri" pitchFamily="34" charset="-120"/>
                </a:rPr>
                <a:t>734 obs  (2.3%)</a:t>
              </a:r>
              <a:endParaRPr lang="en-US" sz="850">
                <a:latin typeface="Gill Sans Nova Light" panose="020B0302020104020203" pitchFamily="34" charset="0"/>
              </a:endParaRPr>
            </a:p>
          </p:txBody>
        </p:sp>
        <p:sp>
          <p:nvSpPr>
            <p:cNvPr id="36" name="Text 34">
              <a:extLst>
                <a:ext uri="{FF2B5EF4-FFF2-40B4-BE49-F238E27FC236}">
                  <a16:creationId xmlns:a16="http://schemas.microsoft.com/office/drawing/2014/main" id="{763AF78E-7DE2-1272-7A08-97F026E6A137}"/>
                </a:ext>
              </a:extLst>
            </p:cNvPr>
            <p:cNvSpPr/>
            <p:nvPr/>
          </p:nvSpPr>
          <p:spPr>
            <a:xfrm>
              <a:off x="4828032" y="2852928"/>
              <a:ext cx="1645920" cy="237744"/>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Private credit / GDP</a:t>
              </a:r>
              <a:endParaRPr lang="en-US" sz="850">
                <a:latin typeface="Gill Sans Nova Light" panose="020B0302020104020203" pitchFamily="34" charset="0"/>
              </a:endParaRPr>
            </a:p>
          </p:txBody>
        </p:sp>
        <p:sp>
          <p:nvSpPr>
            <p:cNvPr id="37" name="Shape 35">
              <a:extLst>
                <a:ext uri="{FF2B5EF4-FFF2-40B4-BE49-F238E27FC236}">
                  <a16:creationId xmlns:a16="http://schemas.microsoft.com/office/drawing/2014/main" id="{1BEB4B10-C884-5E2D-C82C-62A126C6750E}"/>
                </a:ext>
              </a:extLst>
            </p:cNvPr>
            <p:cNvSpPr/>
            <p:nvPr/>
          </p:nvSpPr>
          <p:spPr>
            <a:xfrm>
              <a:off x="6400800" y="2889504"/>
              <a:ext cx="2286000" cy="182880"/>
            </a:xfrm>
            <a:prstGeom prst="rect">
              <a:avLst/>
            </a:prstGeom>
            <a:solidFill>
              <a:srgbClr val="E5E7EB"/>
            </a:solidFill>
            <a:ln w="12700">
              <a:solidFill>
                <a:srgbClr val="E5E7EB"/>
              </a:solidFill>
              <a:prstDash val="solid"/>
            </a:ln>
          </p:spPr>
          <p:txBody>
            <a:bodyPr/>
            <a:lstStyle/>
            <a:p>
              <a:endParaRPr lang="en-CH">
                <a:latin typeface="Gill Sans Nova Light" panose="020B0302020104020203" pitchFamily="34" charset="0"/>
              </a:endParaRPr>
            </a:p>
          </p:txBody>
        </p:sp>
        <p:sp>
          <p:nvSpPr>
            <p:cNvPr id="38" name="Shape 36">
              <a:extLst>
                <a:ext uri="{FF2B5EF4-FFF2-40B4-BE49-F238E27FC236}">
                  <a16:creationId xmlns:a16="http://schemas.microsoft.com/office/drawing/2014/main" id="{1D483AB2-4178-F62F-36F0-3704D4143499}"/>
                </a:ext>
              </a:extLst>
            </p:cNvPr>
            <p:cNvSpPr/>
            <p:nvPr/>
          </p:nvSpPr>
          <p:spPr>
            <a:xfrm>
              <a:off x="6400800" y="2889504"/>
              <a:ext cx="952500" cy="182880"/>
            </a:xfrm>
            <a:prstGeom prst="rect">
              <a:avLst/>
            </a:prstGeom>
            <a:solidFill>
              <a:srgbClr val="B8860B"/>
            </a:solidFill>
            <a:ln w="12700">
              <a:solidFill>
                <a:srgbClr val="B8860B"/>
              </a:solidFill>
              <a:prstDash val="solid"/>
            </a:ln>
          </p:spPr>
          <p:txBody>
            <a:bodyPr/>
            <a:lstStyle/>
            <a:p>
              <a:endParaRPr lang="en-CH">
                <a:latin typeface="Gill Sans Nova Light" panose="020B0302020104020203" pitchFamily="34" charset="0"/>
              </a:endParaRPr>
            </a:p>
          </p:txBody>
        </p:sp>
        <p:sp>
          <p:nvSpPr>
            <p:cNvPr id="39" name="Text 37">
              <a:extLst>
                <a:ext uri="{FF2B5EF4-FFF2-40B4-BE49-F238E27FC236}">
                  <a16:creationId xmlns:a16="http://schemas.microsoft.com/office/drawing/2014/main" id="{2F70C970-5527-7209-565D-746CFB7CA518}"/>
                </a:ext>
              </a:extLst>
            </p:cNvPr>
            <p:cNvSpPr/>
            <p:nvPr/>
          </p:nvSpPr>
          <p:spPr>
            <a:xfrm>
              <a:off x="6419088" y="2889504"/>
              <a:ext cx="2249424" cy="182880"/>
            </a:xfrm>
            <a:prstGeom prst="rect">
              <a:avLst/>
            </a:prstGeom>
            <a:noFill/>
            <a:ln/>
          </p:spPr>
          <p:txBody>
            <a:bodyPr wrap="square" lIns="0" tIns="0" rIns="0" bIns="0" rtlCol="0" anchor="ctr"/>
            <a:lstStyle/>
            <a:p>
              <a:pPr marL="0" indent="0">
                <a:buNone/>
              </a:pPr>
              <a:r>
                <a:rPr lang="en-US" sz="850" b="1">
                  <a:solidFill>
                    <a:srgbClr val="FFFFFF"/>
                  </a:solidFill>
                  <a:latin typeface="Gill Sans Nova Light" panose="020B0302020104020203" pitchFamily="34" charset="0"/>
                  <a:ea typeface="Calibri" pitchFamily="34" charset="-122"/>
                  <a:cs typeface="Calibri" pitchFamily="34" charset="-120"/>
                </a:rPr>
                <a:t>800 obs  (2.5%)</a:t>
              </a:r>
              <a:endParaRPr lang="en-US" sz="850">
                <a:latin typeface="Gill Sans Nova Light" panose="020B0302020104020203" pitchFamily="34" charset="0"/>
              </a:endParaRPr>
            </a:p>
          </p:txBody>
        </p:sp>
        <p:sp>
          <p:nvSpPr>
            <p:cNvPr id="40" name="Text 38">
              <a:extLst>
                <a:ext uri="{FF2B5EF4-FFF2-40B4-BE49-F238E27FC236}">
                  <a16:creationId xmlns:a16="http://schemas.microsoft.com/office/drawing/2014/main" id="{753E6B6A-DCBB-B3B2-7DF4-DD4116EB8C3D}"/>
                </a:ext>
              </a:extLst>
            </p:cNvPr>
            <p:cNvSpPr/>
            <p:nvPr/>
          </p:nvSpPr>
          <p:spPr>
            <a:xfrm>
              <a:off x="4663440" y="3255264"/>
              <a:ext cx="4023360" cy="201168"/>
            </a:xfrm>
            <a:prstGeom prst="rect">
              <a:avLst/>
            </a:prstGeom>
            <a:noFill/>
            <a:ln/>
          </p:spPr>
          <p:txBody>
            <a:bodyPr wrap="square" lIns="0" tIns="0" rIns="0" bIns="0" rtlCol="0" anchor="ctr"/>
            <a:lstStyle/>
            <a:p>
              <a:pPr marL="0" indent="0">
                <a:buNone/>
              </a:pPr>
              <a:r>
                <a:rPr lang="en-US" sz="800" i="1">
                  <a:solidFill>
                    <a:srgbClr val="6B7280"/>
                  </a:solidFill>
                  <a:latin typeface="Gill Sans Nova Light" panose="020B0302020104020203" pitchFamily="34" charset="0"/>
                  <a:ea typeface="Calibri" pitchFamily="34" charset="-122"/>
                  <a:cs typeface="Calibri" pitchFamily="34" charset="-120"/>
                </a:rPr>
                <a:t>Components are not independent — same country-year obs drive all three gaps.</a:t>
              </a:r>
              <a:endParaRPr lang="en-US" sz="800">
                <a:latin typeface="Gill Sans Nova Light" panose="020B0302020104020203" pitchFamily="34" charset="0"/>
              </a:endParaRPr>
            </a:p>
          </p:txBody>
        </p:sp>
        <p:sp>
          <p:nvSpPr>
            <p:cNvPr id="41" name="Text 39">
              <a:extLst>
                <a:ext uri="{FF2B5EF4-FFF2-40B4-BE49-F238E27FC236}">
                  <a16:creationId xmlns:a16="http://schemas.microsoft.com/office/drawing/2014/main" id="{E40D5C9D-7A8B-4907-8E77-0D3D836F9CC2}"/>
                </a:ext>
              </a:extLst>
            </p:cNvPr>
            <p:cNvSpPr/>
            <p:nvPr/>
          </p:nvSpPr>
          <p:spPr>
            <a:xfrm>
              <a:off x="4663440" y="3529584"/>
              <a:ext cx="4023360" cy="237744"/>
            </a:xfrm>
            <a:prstGeom prst="rect">
              <a:avLst/>
            </a:prstGeom>
            <a:noFill/>
            <a:ln/>
          </p:spPr>
          <p:txBody>
            <a:bodyPr wrap="square" lIns="0" tIns="0" rIns="0" bIns="0" rtlCol="0" anchor="ctr"/>
            <a:lstStyle/>
            <a:p>
              <a:pPr marL="0" indent="0">
                <a:buNone/>
              </a:pPr>
              <a:r>
                <a:rPr lang="en-US" sz="1100" b="1">
                  <a:solidFill>
                    <a:srgbClr val="1B3A6B"/>
                  </a:solidFill>
                  <a:latin typeface="Gill Sans Nova Light" panose="020B0302020104020203" pitchFamily="34" charset="0"/>
                  <a:ea typeface="Calibri" pitchFamily="34" charset="-122"/>
                  <a:cs typeface="Calibri" pitchFamily="34" charset="-120"/>
                </a:rPr>
                <a:t>Analytical Sample by Specification</a:t>
              </a:r>
              <a:endParaRPr lang="en-US" sz="1100">
                <a:latin typeface="Gill Sans Nova Light" panose="020B0302020104020203" pitchFamily="34" charset="0"/>
              </a:endParaRPr>
            </a:p>
          </p:txBody>
        </p:sp>
        <p:sp>
          <p:nvSpPr>
            <p:cNvPr id="42" name="Shape 40">
              <a:extLst>
                <a:ext uri="{FF2B5EF4-FFF2-40B4-BE49-F238E27FC236}">
                  <a16:creationId xmlns:a16="http://schemas.microsoft.com/office/drawing/2014/main" id="{48EB8ACB-1D10-41E5-3CD5-7DD93E6E0377}"/>
                </a:ext>
              </a:extLst>
            </p:cNvPr>
            <p:cNvSpPr/>
            <p:nvPr/>
          </p:nvSpPr>
          <p:spPr>
            <a:xfrm>
              <a:off x="4663440" y="3803904"/>
              <a:ext cx="4023360" cy="169164"/>
            </a:xfrm>
            <a:prstGeom prst="rect">
              <a:avLst/>
            </a:prstGeom>
            <a:solidFill>
              <a:srgbClr val="1B3A6B"/>
            </a:solidFill>
            <a:ln w="6350">
              <a:solidFill>
                <a:srgbClr val="D0D7E3"/>
              </a:solidFill>
              <a:prstDash val="solid"/>
            </a:ln>
          </p:spPr>
          <p:txBody>
            <a:bodyPr/>
            <a:lstStyle/>
            <a:p>
              <a:endParaRPr lang="en-CH">
                <a:latin typeface="Gill Sans Nova Light" panose="020B0302020104020203" pitchFamily="34" charset="0"/>
              </a:endParaRPr>
            </a:p>
          </p:txBody>
        </p:sp>
        <p:sp>
          <p:nvSpPr>
            <p:cNvPr id="43" name="Text 41">
              <a:extLst>
                <a:ext uri="{FF2B5EF4-FFF2-40B4-BE49-F238E27FC236}">
                  <a16:creationId xmlns:a16="http://schemas.microsoft.com/office/drawing/2014/main" id="{29D67DA4-3DDB-E1C7-14B8-A6B7AE6E1708}"/>
                </a:ext>
              </a:extLst>
            </p:cNvPr>
            <p:cNvSpPr/>
            <p:nvPr/>
          </p:nvSpPr>
          <p:spPr>
            <a:xfrm>
              <a:off x="4727448" y="3813048"/>
              <a:ext cx="1920240" cy="150876"/>
            </a:xfrm>
            <a:prstGeom prst="rect">
              <a:avLst/>
            </a:prstGeom>
            <a:noFill/>
            <a:ln/>
          </p:spPr>
          <p:txBody>
            <a:bodyPr wrap="square" lIns="0" tIns="0" rIns="0" bIns="0" rtlCol="0" anchor="ctr"/>
            <a:lstStyle/>
            <a:p>
              <a:pPr marL="0" indent="0" algn="l">
                <a:buNone/>
              </a:pPr>
              <a:r>
                <a:rPr lang="en-US" sz="900" b="1">
                  <a:solidFill>
                    <a:srgbClr val="FFFFFF"/>
                  </a:solidFill>
                  <a:latin typeface="Gill Sans Nova Light" panose="020B0302020104020203" pitchFamily="34" charset="0"/>
                  <a:ea typeface="Calibri" pitchFamily="34" charset="-122"/>
                  <a:cs typeface="Calibri" pitchFamily="34" charset="-120"/>
                </a:rPr>
                <a:t>Specification</a:t>
              </a:r>
              <a:endParaRPr lang="en-US" sz="900">
                <a:latin typeface="Gill Sans Nova Light" panose="020B0302020104020203" pitchFamily="34" charset="0"/>
              </a:endParaRPr>
            </a:p>
          </p:txBody>
        </p:sp>
        <p:sp>
          <p:nvSpPr>
            <p:cNvPr id="44" name="Text 42">
              <a:extLst>
                <a:ext uri="{FF2B5EF4-FFF2-40B4-BE49-F238E27FC236}">
                  <a16:creationId xmlns:a16="http://schemas.microsoft.com/office/drawing/2014/main" id="{A56DCCA4-E6BB-47C5-D2C3-2C67B27F96D3}"/>
                </a:ext>
              </a:extLst>
            </p:cNvPr>
            <p:cNvSpPr/>
            <p:nvPr/>
          </p:nvSpPr>
          <p:spPr>
            <a:xfrm>
              <a:off x="6739128" y="3813048"/>
              <a:ext cx="594360" cy="150876"/>
            </a:xfrm>
            <a:prstGeom prst="rect">
              <a:avLst/>
            </a:prstGeom>
            <a:noFill/>
            <a:ln/>
          </p:spPr>
          <p:txBody>
            <a:bodyPr wrap="square" lIns="0" tIns="0" rIns="0" bIns="0" rtlCol="0" anchor="ctr"/>
            <a:lstStyle/>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Obs</a:t>
              </a:r>
              <a:endParaRPr lang="en-US" sz="900">
                <a:latin typeface="Gill Sans Nova Light" panose="020B0302020104020203" pitchFamily="34" charset="0"/>
              </a:endParaRPr>
            </a:p>
          </p:txBody>
        </p:sp>
        <p:sp>
          <p:nvSpPr>
            <p:cNvPr id="45" name="Text 43">
              <a:extLst>
                <a:ext uri="{FF2B5EF4-FFF2-40B4-BE49-F238E27FC236}">
                  <a16:creationId xmlns:a16="http://schemas.microsoft.com/office/drawing/2014/main" id="{1AD65FC3-4D61-85F5-11BF-F20F25EE9BA8}"/>
                </a:ext>
              </a:extLst>
            </p:cNvPr>
            <p:cNvSpPr/>
            <p:nvPr/>
          </p:nvSpPr>
          <p:spPr>
            <a:xfrm>
              <a:off x="7424928" y="3813048"/>
              <a:ext cx="566928" cy="150876"/>
            </a:xfrm>
            <a:prstGeom prst="rect">
              <a:avLst/>
            </a:prstGeom>
            <a:noFill/>
            <a:ln/>
          </p:spPr>
          <p:txBody>
            <a:bodyPr wrap="square" lIns="0" tIns="0" rIns="0" bIns="0" rtlCol="0" anchor="ctr"/>
            <a:lstStyle/>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Banks</a:t>
              </a:r>
              <a:endParaRPr lang="en-US" sz="900">
                <a:latin typeface="Gill Sans Nova Light" panose="020B0302020104020203" pitchFamily="34" charset="0"/>
              </a:endParaRPr>
            </a:p>
          </p:txBody>
        </p:sp>
        <p:sp>
          <p:nvSpPr>
            <p:cNvPr id="46" name="Text 44">
              <a:extLst>
                <a:ext uri="{FF2B5EF4-FFF2-40B4-BE49-F238E27FC236}">
                  <a16:creationId xmlns:a16="http://schemas.microsoft.com/office/drawing/2014/main" id="{85D6BF96-14B6-439D-4659-BF9B16B4C6E0}"/>
                </a:ext>
              </a:extLst>
            </p:cNvPr>
            <p:cNvSpPr/>
            <p:nvPr/>
          </p:nvSpPr>
          <p:spPr>
            <a:xfrm>
              <a:off x="8083296" y="3813048"/>
              <a:ext cx="576072" cy="150876"/>
            </a:xfrm>
            <a:prstGeom prst="rect">
              <a:avLst/>
            </a:prstGeom>
            <a:noFill/>
            <a:ln/>
          </p:spPr>
          <p:txBody>
            <a:bodyPr wrap="square" lIns="0" tIns="0" rIns="0" bIns="0" rtlCol="0" anchor="ctr"/>
            <a:lstStyle/>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Countries</a:t>
              </a:r>
              <a:endParaRPr lang="en-US" sz="900">
                <a:latin typeface="Gill Sans Nova Light" panose="020B0302020104020203" pitchFamily="34" charset="0"/>
              </a:endParaRPr>
            </a:p>
          </p:txBody>
        </p:sp>
        <p:sp>
          <p:nvSpPr>
            <p:cNvPr id="47" name="Shape 45">
              <a:extLst>
                <a:ext uri="{FF2B5EF4-FFF2-40B4-BE49-F238E27FC236}">
                  <a16:creationId xmlns:a16="http://schemas.microsoft.com/office/drawing/2014/main" id="{5F2BDAF5-9705-BE2A-6237-F927E7D22E19}"/>
                </a:ext>
              </a:extLst>
            </p:cNvPr>
            <p:cNvSpPr/>
            <p:nvPr/>
          </p:nvSpPr>
          <p:spPr>
            <a:xfrm>
              <a:off x="4663440" y="3973068"/>
              <a:ext cx="4023360" cy="169164"/>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48" name="Text 46">
              <a:extLst>
                <a:ext uri="{FF2B5EF4-FFF2-40B4-BE49-F238E27FC236}">
                  <a16:creationId xmlns:a16="http://schemas.microsoft.com/office/drawing/2014/main" id="{EB4F7DB0-0CBB-4934-CB47-D7C6BA057BAA}"/>
                </a:ext>
              </a:extLst>
            </p:cNvPr>
            <p:cNvSpPr/>
            <p:nvPr/>
          </p:nvSpPr>
          <p:spPr>
            <a:xfrm>
              <a:off x="4727448" y="3982212"/>
              <a:ext cx="1920240" cy="150876"/>
            </a:xfrm>
            <a:prstGeom prst="rect">
              <a:avLst/>
            </a:prstGeom>
            <a:noFill/>
            <a:ln/>
          </p:spPr>
          <p:txBody>
            <a:bodyPr wrap="square" lIns="0" tIns="0" rIns="0" bIns="0" rtlCol="0" anchor="ctr"/>
            <a:lstStyle/>
            <a:p>
              <a:pPr marL="0" indent="0" algn="l">
                <a:buNone/>
              </a:pPr>
              <a:r>
                <a:rPr lang="en-US" sz="900">
                  <a:solidFill>
                    <a:srgbClr val="1A1A1A"/>
                  </a:solidFill>
                  <a:latin typeface="Gill Sans Nova Light" panose="020B0302020104020203" pitchFamily="34" charset="0"/>
                  <a:ea typeface="Calibri" pitchFamily="34" charset="-122"/>
                  <a:cs typeface="Calibri" pitchFamily="34" charset="-120"/>
                </a:rPr>
                <a:t>Model 1 — no FinStructure</a:t>
              </a:r>
              <a:endParaRPr lang="en-US" sz="900">
                <a:latin typeface="Gill Sans Nova Light" panose="020B0302020104020203" pitchFamily="34" charset="0"/>
              </a:endParaRPr>
            </a:p>
          </p:txBody>
        </p:sp>
        <p:sp>
          <p:nvSpPr>
            <p:cNvPr id="49" name="Text 47">
              <a:extLst>
                <a:ext uri="{FF2B5EF4-FFF2-40B4-BE49-F238E27FC236}">
                  <a16:creationId xmlns:a16="http://schemas.microsoft.com/office/drawing/2014/main" id="{7D69FFBF-DE47-C9C1-D2DC-FC6589786FA4}"/>
                </a:ext>
              </a:extLst>
            </p:cNvPr>
            <p:cNvSpPr/>
            <p:nvPr/>
          </p:nvSpPr>
          <p:spPr>
            <a:xfrm>
              <a:off x="6739128" y="3982212"/>
              <a:ext cx="594360" cy="150876"/>
            </a:xfrm>
            <a:prstGeom prst="rect">
              <a:avLst/>
            </a:prstGeom>
            <a:noFill/>
            <a:ln/>
          </p:spPr>
          <p:txBody>
            <a:bodyPr wrap="square" lIns="0" tIns="0" rIns="0" bIns="0" rtlCol="0" anchor="ctr"/>
            <a:lstStyle/>
            <a:p>
              <a:pPr marL="0" indent="0" algn="ctr">
                <a:buNone/>
              </a:pPr>
              <a:r>
                <a:rPr lang="en-US" sz="900">
                  <a:solidFill>
                    <a:srgbClr val="1A1A1A"/>
                  </a:solidFill>
                  <a:latin typeface="Gill Sans Nova Light" panose="020B0302020104020203" pitchFamily="34" charset="0"/>
                  <a:ea typeface="Calibri" pitchFamily="34" charset="-122"/>
                  <a:cs typeface="Calibri" pitchFamily="34" charset="-120"/>
                </a:rPr>
                <a:t>31,439</a:t>
              </a:r>
              <a:endParaRPr lang="en-US" sz="900">
                <a:latin typeface="Gill Sans Nova Light" panose="020B0302020104020203" pitchFamily="34" charset="0"/>
              </a:endParaRPr>
            </a:p>
          </p:txBody>
        </p:sp>
        <p:sp>
          <p:nvSpPr>
            <p:cNvPr id="50" name="Text 48">
              <a:extLst>
                <a:ext uri="{FF2B5EF4-FFF2-40B4-BE49-F238E27FC236}">
                  <a16:creationId xmlns:a16="http://schemas.microsoft.com/office/drawing/2014/main" id="{8C2B6107-C5E0-38BC-9266-4E58CAD108C9}"/>
                </a:ext>
              </a:extLst>
            </p:cNvPr>
            <p:cNvSpPr/>
            <p:nvPr/>
          </p:nvSpPr>
          <p:spPr>
            <a:xfrm>
              <a:off x="7424928" y="3982212"/>
              <a:ext cx="566928" cy="150876"/>
            </a:xfrm>
            <a:prstGeom prst="rect">
              <a:avLst/>
            </a:prstGeom>
            <a:noFill/>
            <a:ln/>
          </p:spPr>
          <p:txBody>
            <a:bodyPr wrap="square" lIns="0" tIns="0" rIns="0" bIns="0" rtlCol="0" anchor="ctr"/>
            <a:lstStyle/>
            <a:p>
              <a:pPr marL="0" indent="0" algn="ctr">
                <a:buNone/>
              </a:pPr>
              <a:r>
                <a:rPr lang="en-US" sz="900">
                  <a:solidFill>
                    <a:srgbClr val="1A1A1A"/>
                  </a:solidFill>
                  <a:latin typeface="Gill Sans Nova Light" panose="020B0302020104020203" pitchFamily="34" charset="0"/>
                  <a:ea typeface="Calibri" pitchFamily="34" charset="-122"/>
                  <a:cs typeface="Calibri" pitchFamily="34" charset="-120"/>
                </a:rPr>
                <a:t>2,569</a:t>
              </a:r>
              <a:endParaRPr lang="en-US" sz="900">
                <a:latin typeface="Gill Sans Nova Light" panose="020B0302020104020203" pitchFamily="34" charset="0"/>
              </a:endParaRPr>
            </a:p>
          </p:txBody>
        </p:sp>
        <p:sp>
          <p:nvSpPr>
            <p:cNvPr id="51" name="Text 49">
              <a:extLst>
                <a:ext uri="{FF2B5EF4-FFF2-40B4-BE49-F238E27FC236}">
                  <a16:creationId xmlns:a16="http://schemas.microsoft.com/office/drawing/2014/main" id="{F4DB6FFC-369D-4F64-8143-D1598BD1F330}"/>
                </a:ext>
              </a:extLst>
            </p:cNvPr>
            <p:cNvSpPr/>
            <p:nvPr/>
          </p:nvSpPr>
          <p:spPr>
            <a:xfrm>
              <a:off x="8083296" y="3982212"/>
              <a:ext cx="576072" cy="150876"/>
            </a:xfrm>
            <a:prstGeom prst="rect">
              <a:avLst/>
            </a:prstGeom>
            <a:noFill/>
            <a:ln/>
          </p:spPr>
          <p:txBody>
            <a:bodyPr wrap="square" lIns="0" tIns="0" rIns="0" bIns="0" rtlCol="0" anchor="ctr"/>
            <a:lstStyle/>
            <a:p>
              <a:pPr marL="0" indent="0" algn="ctr">
                <a:buNone/>
              </a:pPr>
              <a:r>
                <a:rPr lang="en-US" sz="900">
                  <a:solidFill>
                    <a:srgbClr val="1A1A1A"/>
                  </a:solidFill>
                  <a:latin typeface="Gill Sans Nova Light" panose="020B0302020104020203" pitchFamily="34" charset="0"/>
                  <a:ea typeface="Calibri" pitchFamily="34" charset="-122"/>
                  <a:cs typeface="Calibri" pitchFamily="34" charset="-120"/>
                </a:rPr>
                <a:t>26</a:t>
              </a:r>
              <a:endParaRPr lang="en-US" sz="900">
                <a:latin typeface="Gill Sans Nova Light" panose="020B0302020104020203" pitchFamily="34" charset="0"/>
              </a:endParaRPr>
            </a:p>
          </p:txBody>
        </p:sp>
        <p:sp>
          <p:nvSpPr>
            <p:cNvPr id="52" name="Shape 50">
              <a:extLst>
                <a:ext uri="{FF2B5EF4-FFF2-40B4-BE49-F238E27FC236}">
                  <a16:creationId xmlns:a16="http://schemas.microsoft.com/office/drawing/2014/main" id="{B513E97D-B469-AE16-BABF-D5AA39620CB3}"/>
                </a:ext>
              </a:extLst>
            </p:cNvPr>
            <p:cNvSpPr/>
            <p:nvPr/>
          </p:nvSpPr>
          <p:spPr>
            <a:xfrm>
              <a:off x="4663440" y="4142232"/>
              <a:ext cx="4023360" cy="169164"/>
            </a:xfrm>
            <a:prstGeom prst="rect">
              <a:avLst/>
            </a:prstGeom>
            <a:solidFill>
              <a:srgbClr val="F4F6F9"/>
            </a:solidFill>
            <a:ln w="6350">
              <a:solidFill>
                <a:srgbClr val="D0D7E3"/>
              </a:solidFill>
              <a:prstDash val="solid"/>
            </a:ln>
          </p:spPr>
          <p:txBody>
            <a:bodyPr/>
            <a:lstStyle/>
            <a:p>
              <a:endParaRPr lang="en-CH">
                <a:latin typeface="Gill Sans Nova Light" panose="020B0302020104020203" pitchFamily="34" charset="0"/>
              </a:endParaRPr>
            </a:p>
          </p:txBody>
        </p:sp>
        <p:sp>
          <p:nvSpPr>
            <p:cNvPr id="53" name="Text 51">
              <a:extLst>
                <a:ext uri="{FF2B5EF4-FFF2-40B4-BE49-F238E27FC236}">
                  <a16:creationId xmlns:a16="http://schemas.microsoft.com/office/drawing/2014/main" id="{51A31F78-EB68-6DFC-5FB6-B38D5BD0D2FB}"/>
                </a:ext>
              </a:extLst>
            </p:cNvPr>
            <p:cNvSpPr/>
            <p:nvPr/>
          </p:nvSpPr>
          <p:spPr>
            <a:xfrm>
              <a:off x="4727448" y="4151376"/>
              <a:ext cx="1920240" cy="150876"/>
            </a:xfrm>
            <a:prstGeom prst="rect">
              <a:avLst/>
            </a:prstGeom>
            <a:noFill/>
            <a:ln/>
          </p:spPr>
          <p:txBody>
            <a:bodyPr wrap="square" lIns="0" tIns="0" rIns="0" bIns="0" rtlCol="0" anchor="ctr"/>
            <a:lstStyle/>
            <a:p>
              <a:pPr marL="0" indent="0" algn="l">
                <a:buNone/>
              </a:pPr>
              <a:r>
                <a:rPr lang="en-US" sz="900">
                  <a:solidFill>
                    <a:srgbClr val="1A1A1A"/>
                  </a:solidFill>
                  <a:latin typeface="Gill Sans Nova Light" panose="020B0302020104020203" pitchFamily="34" charset="0"/>
                  <a:ea typeface="Calibri" pitchFamily="34" charset="-122"/>
                  <a:cs typeface="Calibri" pitchFamily="34" charset="-120"/>
                </a:rPr>
                <a:t>Models 2–5 — FinStructure</a:t>
              </a:r>
              <a:endParaRPr lang="en-US" sz="900">
                <a:latin typeface="Gill Sans Nova Light" panose="020B0302020104020203" pitchFamily="34" charset="0"/>
              </a:endParaRPr>
            </a:p>
          </p:txBody>
        </p:sp>
        <p:sp>
          <p:nvSpPr>
            <p:cNvPr id="54" name="Text 52">
              <a:extLst>
                <a:ext uri="{FF2B5EF4-FFF2-40B4-BE49-F238E27FC236}">
                  <a16:creationId xmlns:a16="http://schemas.microsoft.com/office/drawing/2014/main" id="{579CCE6C-5FB1-09A1-63AD-36BC7789503C}"/>
                </a:ext>
              </a:extLst>
            </p:cNvPr>
            <p:cNvSpPr/>
            <p:nvPr/>
          </p:nvSpPr>
          <p:spPr>
            <a:xfrm>
              <a:off x="6739128" y="4151376"/>
              <a:ext cx="594360" cy="150876"/>
            </a:xfrm>
            <a:prstGeom prst="rect">
              <a:avLst/>
            </a:prstGeom>
            <a:noFill/>
            <a:ln/>
          </p:spPr>
          <p:txBody>
            <a:bodyPr wrap="square" lIns="0" tIns="0" rIns="0" bIns="0" rtlCol="0" anchor="ctr"/>
            <a:lstStyle/>
            <a:p>
              <a:pPr marL="0" indent="0" algn="ctr">
                <a:buNone/>
              </a:pPr>
              <a:r>
                <a:rPr lang="en-US" sz="900">
                  <a:solidFill>
                    <a:srgbClr val="1A1A1A"/>
                  </a:solidFill>
                  <a:latin typeface="Gill Sans Nova Light" panose="020B0302020104020203" pitchFamily="34" charset="0"/>
                  <a:ea typeface="Calibri" pitchFamily="34" charset="-122"/>
                  <a:cs typeface="Calibri" pitchFamily="34" charset="-120"/>
                </a:rPr>
                <a:t>29,906</a:t>
              </a:r>
              <a:endParaRPr lang="en-US" sz="900">
                <a:latin typeface="Gill Sans Nova Light" panose="020B0302020104020203" pitchFamily="34" charset="0"/>
              </a:endParaRPr>
            </a:p>
          </p:txBody>
        </p:sp>
        <p:sp>
          <p:nvSpPr>
            <p:cNvPr id="55" name="Text 53">
              <a:extLst>
                <a:ext uri="{FF2B5EF4-FFF2-40B4-BE49-F238E27FC236}">
                  <a16:creationId xmlns:a16="http://schemas.microsoft.com/office/drawing/2014/main" id="{5900785D-31F9-C143-84A6-8790B7E3219D}"/>
                </a:ext>
              </a:extLst>
            </p:cNvPr>
            <p:cNvSpPr/>
            <p:nvPr/>
          </p:nvSpPr>
          <p:spPr>
            <a:xfrm>
              <a:off x="7424928" y="4151376"/>
              <a:ext cx="566928" cy="150876"/>
            </a:xfrm>
            <a:prstGeom prst="rect">
              <a:avLst/>
            </a:prstGeom>
            <a:noFill/>
            <a:ln/>
          </p:spPr>
          <p:txBody>
            <a:bodyPr wrap="square" lIns="0" tIns="0" rIns="0" bIns="0" rtlCol="0" anchor="ctr"/>
            <a:lstStyle/>
            <a:p>
              <a:pPr marL="0" indent="0" algn="ctr">
                <a:buNone/>
              </a:pPr>
              <a:r>
                <a:rPr lang="en-US" sz="900">
                  <a:solidFill>
                    <a:srgbClr val="1A1A1A"/>
                  </a:solidFill>
                  <a:latin typeface="Gill Sans Nova Light" panose="020B0302020104020203" pitchFamily="34" charset="0"/>
                  <a:ea typeface="Calibri" pitchFamily="34" charset="-122"/>
                  <a:cs typeface="Calibri" pitchFamily="34" charset="-120"/>
                </a:rPr>
                <a:t>2,484</a:t>
              </a:r>
              <a:endParaRPr lang="en-US" sz="900">
                <a:latin typeface="Gill Sans Nova Light" panose="020B0302020104020203" pitchFamily="34" charset="0"/>
              </a:endParaRPr>
            </a:p>
          </p:txBody>
        </p:sp>
        <p:sp>
          <p:nvSpPr>
            <p:cNvPr id="56" name="Text 54">
              <a:extLst>
                <a:ext uri="{FF2B5EF4-FFF2-40B4-BE49-F238E27FC236}">
                  <a16:creationId xmlns:a16="http://schemas.microsoft.com/office/drawing/2014/main" id="{221BB778-5BF9-E0E4-8356-648869D8FB92}"/>
                </a:ext>
              </a:extLst>
            </p:cNvPr>
            <p:cNvSpPr/>
            <p:nvPr/>
          </p:nvSpPr>
          <p:spPr>
            <a:xfrm>
              <a:off x="8083296" y="4151376"/>
              <a:ext cx="576072" cy="150876"/>
            </a:xfrm>
            <a:prstGeom prst="rect">
              <a:avLst/>
            </a:prstGeom>
            <a:noFill/>
            <a:ln/>
          </p:spPr>
          <p:txBody>
            <a:bodyPr wrap="square" lIns="0" tIns="0" rIns="0" bIns="0" rtlCol="0" anchor="ctr"/>
            <a:lstStyle/>
            <a:p>
              <a:pPr marL="0" indent="0" algn="ctr">
                <a:buNone/>
              </a:pPr>
              <a:r>
                <a:rPr lang="en-US" sz="900">
                  <a:solidFill>
                    <a:srgbClr val="1A1A1A"/>
                  </a:solidFill>
                  <a:latin typeface="Gill Sans Nova Light" panose="020B0302020104020203" pitchFamily="34" charset="0"/>
                  <a:ea typeface="Calibri" pitchFamily="34" charset="-122"/>
                  <a:cs typeface="Calibri" pitchFamily="34" charset="-120"/>
                </a:rPr>
                <a:t>25</a:t>
              </a:r>
              <a:endParaRPr lang="en-US" sz="900">
                <a:latin typeface="Gill Sans Nova Light" panose="020B0302020104020203" pitchFamily="34" charset="0"/>
              </a:endParaRPr>
            </a:p>
          </p:txBody>
        </p:sp>
        <p:sp>
          <p:nvSpPr>
            <p:cNvPr id="57" name="Shape 55">
              <a:extLst>
                <a:ext uri="{FF2B5EF4-FFF2-40B4-BE49-F238E27FC236}">
                  <a16:creationId xmlns:a16="http://schemas.microsoft.com/office/drawing/2014/main" id="{AD191072-8BB2-C980-C4D8-0AFA6FB60F51}"/>
                </a:ext>
              </a:extLst>
            </p:cNvPr>
            <p:cNvSpPr/>
            <p:nvPr/>
          </p:nvSpPr>
          <p:spPr>
            <a:xfrm>
              <a:off x="4663440" y="4311396"/>
              <a:ext cx="4023360" cy="169164"/>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58" name="Text 56">
              <a:extLst>
                <a:ext uri="{FF2B5EF4-FFF2-40B4-BE49-F238E27FC236}">
                  <a16:creationId xmlns:a16="http://schemas.microsoft.com/office/drawing/2014/main" id="{8418C452-D4F2-40B8-23B6-A62B9DA2C42B}"/>
                </a:ext>
              </a:extLst>
            </p:cNvPr>
            <p:cNvSpPr/>
            <p:nvPr/>
          </p:nvSpPr>
          <p:spPr>
            <a:xfrm>
              <a:off x="4727448" y="4320540"/>
              <a:ext cx="1920240" cy="150876"/>
            </a:xfrm>
            <a:prstGeom prst="rect">
              <a:avLst/>
            </a:prstGeom>
            <a:noFill/>
            <a:ln/>
          </p:spPr>
          <p:txBody>
            <a:bodyPr wrap="square" lIns="0" tIns="0" rIns="0" bIns="0" rtlCol="0" anchor="ctr"/>
            <a:lstStyle/>
            <a:p>
              <a:pPr marL="0" indent="0" algn="l">
                <a:buNone/>
              </a:pPr>
              <a:r>
                <a:rPr lang="en-US" sz="900" i="1">
                  <a:solidFill>
                    <a:srgbClr val="C0392B"/>
                  </a:solidFill>
                  <a:latin typeface="Gill Sans Nova Light" panose="020B0302020104020203" pitchFamily="34" charset="0"/>
                  <a:ea typeface="Calibri" pitchFamily="34" charset="-122"/>
                  <a:cs typeface="Calibri" pitchFamily="34" charset="-120"/>
                </a:rPr>
                <a:t>Δ  attrition</a:t>
              </a:r>
              <a:endParaRPr lang="en-US" sz="900">
                <a:latin typeface="Gill Sans Nova Light" panose="020B0302020104020203" pitchFamily="34" charset="0"/>
              </a:endParaRPr>
            </a:p>
          </p:txBody>
        </p:sp>
        <p:sp>
          <p:nvSpPr>
            <p:cNvPr id="59" name="Text 57">
              <a:extLst>
                <a:ext uri="{FF2B5EF4-FFF2-40B4-BE49-F238E27FC236}">
                  <a16:creationId xmlns:a16="http://schemas.microsoft.com/office/drawing/2014/main" id="{B2684F43-6C88-5FE1-FBC1-3066DFADF2C4}"/>
                </a:ext>
              </a:extLst>
            </p:cNvPr>
            <p:cNvSpPr/>
            <p:nvPr/>
          </p:nvSpPr>
          <p:spPr>
            <a:xfrm>
              <a:off x="6739128" y="4320540"/>
              <a:ext cx="594360" cy="150876"/>
            </a:xfrm>
            <a:prstGeom prst="rect">
              <a:avLst/>
            </a:prstGeom>
            <a:noFill/>
            <a:ln/>
          </p:spPr>
          <p:txBody>
            <a:bodyPr wrap="square" lIns="0" tIns="0" rIns="0" bIns="0" rtlCol="0" anchor="ctr"/>
            <a:lstStyle/>
            <a:p>
              <a:pPr marL="0" indent="0" algn="ctr">
                <a:buNone/>
              </a:pPr>
              <a:r>
                <a:rPr lang="en-US" sz="900" i="1">
                  <a:solidFill>
                    <a:srgbClr val="C0392B"/>
                  </a:solidFill>
                  <a:latin typeface="Gill Sans Nova Light" panose="020B0302020104020203" pitchFamily="34" charset="0"/>
                  <a:ea typeface="Calibri" pitchFamily="34" charset="-122"/>
                  <a:cs typeface="Calibri" pitchFamily="34" charset="-120"/>
                </a:rPr>
                <a:t>−1,533</a:t>
              </a:r>
              <a:endParaRPr lang="en-US" sz="900">
                <a:latin typeface="Gill Sans Nova Light" panose="020B0302020104020203" pitchFamily="34" charset="0"/>
              </a:endParaRPr>
            </a:p>
          </p:txBody>
        </p:sp>
        <p:sp>
          <p:nvSpPr>
            <p:cNvPr id="60" name="Text 58">
              <a:extLst>
                <a:ext uri="{FF2B5EF4-FFF2-40B4-BE49-F238E27FC236}">
                  <a16:creationId xmlns:a16="http://schemas.microsoft.com/office/drawing/2014/main" id="{5E7C7988-059F-7B43-78C4-CAF68E9C3B33}"/>
                </a:ext>
              </a:extLst>
            </p:cNvPr>
            <p:cNvSpPr/>
            <p:nvPr/>
          </p:nvSpPr>
          <p:spPr>
            <a:xfrm>
              <a:off x="7424928" y="4320540"/>
              <a:ext cx="566928" cy="150876"/>
            </a:xfrm>
            <a:prstGeom prst="rect">
              <a:avLst/>
            </a:prstGeom>
            <a:noFill/>
            <a:ln/>
          </p:spPr>
          <p:txBody>
            <a:bodyPr wrap="square" lIns="0" tIns="0" rIns="0" bIns="0" rtlCol="0" anchor="ctr"/>
            <a:lstStyle/>
            <a:p>
              <a:pPr marL="0" indent="0" algn="ctr">
                <a:buNone/>
              </a:pPr>
              <a:r>
                <a:rPr lang="en-US" sz="900" i="1">
                  <a:solidFill>
                    <a:srgbClr val="C0392B"/>
                  </a:solidFill>
                  <a:latin typeface="Gill Sans Nova Light" panose="020B0302020104020203" pitchFamily="34" charset="0"/>
                  <a:ea typeface="Calibri" pitchFamily="34" charset="-122"/>
                  <a:cs typeface="Calibri" pitchFamily="34" charset="-120"/>
                </a:rPr>
                <a:t>−85</a:t>
              </a:r>
              <a:endParaRPr lang="en-US" sz="900">
                <a:latin typeface="Gill Sans Nova Light" panose="020B0302020104020203" pitchFamily="34" charset="0"/>
              </a:endParaRPr>
            </a:p>
          </p:txBody>
        </p:sp>
        <p:sp>
          <p:nvSpPr>
            <p:cNvPr id="61" name="Text 59">
              <a:extLst>
                <a:ext uri="{FF2B5EF4-FFF2-40B4-BE49-F238E27FC236}">
                  <a16:creationId xmlns:a16="http://schemas.microsoft.com/office/drawing/2014/main" id="{7C5DCE09-715B-7917-8D0B-B7A927D4D4FE}"/>
                </a:ext>
              </a:extLst>
            </p:cNvPr>
            <p:cNvSpPr/>
            <p:nvPr/>
          </p:nvSpPr>
          <p:spPr>
            <a:xfrm>
              <a:off x="8083296" y="4320540"/>
              <a:ext cx="576072" cy="150876"/>
            </a:xfrm>
            <a:prstGeom prst="rect">
              <a:avLst/>
            </a:prstGeom>
            <a:noFill/>
            <a:ln/>
          </p:spPr>
          <p:txBody>
            <a:bodyPr wrap="square" lIns="0" tIns="0" rIns="0" bIns="0" rtlCol="0" anchor="ctr"/>
            <a:lstStyle/>
            <a:p>
              <a:pPr marL="0" indent="0" algn="ctr">
                <a:buNone/>
              </a:pPr>
              <a:r>
                <a:rPr lang="en-US" sz="900" i="1">
                  <a:solidFill>
                    <a:srgbClr val="C0392B"/>
                  </a:solidFill>
                  <a:latin typeface="Gill Sans Nova Light" panose="020B0302020104020203" pitchFamily="34" charset="0"/>
                  <a:ea typeface="Calibri" pitchFamily="34" charset="-122"/>
                  <a:cs typeface="Calibri" pitchFamily="34" charset="-120"/>
                </a:rPr>
                <a:t>−1</a:t>
              </a:r>
              <a:endParaRPr lang="en-US" sz="900">
                <a:latin typeface="Gill Sans Nova Light" panose="020B0302020104020203" pitchFamily="34" charset="0"/>
              </a:endParaRPr>
            </a:p>
          </p:txBody>
        </p:sp>
      </p:grpSp>
      <p:sp>
        <p:nvSpPr>
          <p:cNvPr id="63" name="TextBox 62">
            <a:extLst>
              <a:ext uri="{FF2B5EF4-FFF2-40B4-BE49-F238E27FC236}">
                <a16:creationId xmlns:a16="http://schemas.microsoft.com/office/drawing/2014/main" id="{6A886FF8-EA3B-A4BA-409E-5C35EBAFB7E5}"/>
              </a:ext>
            </a:extLst>
          </p:cNvPr>
          <p:cNvSpPr txBox="1"/>
          <p:nvPr/>
        </p:nvSpPr>
        <p:spPr>
          <a:xfrm>
            <a:off x="499872" y="3471594"/>
            <a:ext cx="2496312" cy="215444"/>
          </a:xfrm>
          <a:prstGeom prst="rect">
            <a:avLst/>
          </a:prstGeom>
          <a:noFill/>
        </p:spPr>
        <p:txBody>
          <a:bodyPr wrap="square" rtlCol="0">
            <a:spAutoFit/>
          </a:bodyPr>
          <a:lstStyle/>
          <a:p>
            <a:r>
              <a:rPr lang="en-CH" sz="800">
                <a:latin typeface="Gill Sans Nova Light" panose="020B0302020104020203" pitchFamily="34" charset="0"/>
              </a:rPr>
              <a:t>Drops FY2025, and N</a:t>
            </a:r>
            <a:r>
              <a:rPr lang="en-GB" sz="800">
                <a:latin typeface="Gill Sans Nova Light" panose="020B0302020104020203" pitchFamily="34" charset="0"/>
              </a:rPr>
              <a:t>A</a:t>
            </a:r>
            <a:r>
              <a:rPr lang="en-CH" sz="800">
                <a:latin typeface="Gill Sans Nova Light" panose="020B0302020104020203" pitchFamily="34" charset="0"/>
              </a:rPr>
              <a:t>s in previous years</a:t>
            </a:r>
          </a:p>
        </p:txBody>
      </p:sp>
      <p:sp>
        <p:nvSpPr>
          <p:cNvPr id="64" name="Rectangle 63">
            <a:extLst>
              <a:ext uri="{FF2B5EF4-FFF2-40B4-BE49-F238E27FC236}">
                <a16:creationId xmlns:a16="http://schemas.microsoft.com/office/drawing/2014/main" id="{E33FF2F8-917F-1474-89F8-32B10D0812B5}"/>
              </a:ext>
            </a:extLst>
          </p:cNvPr>
          <p:cNvSpPr/>
          <p:nvPr/>
        </p:nvSpPr>
        <p:spPr>
          <a:xfrm>
            <a:off x="8186928" y="25146"/>
            <a:ext cx="914400" cy="33966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Fix layout</a:t>
            </a:r>
          </a:p>
        </p:txBody>
      </p:sp>
    </p:spTree>
    <p:extLst>
      <p:ext uri="{BB962C8B-B14F-4D97-AF65-F5344CB8AC3E}">
        <p14:creationId xmlns:p14="http://schemas.microsoft.com/office/powerpoint/2010/main" val="1755571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6A002-5420-876B-2E0C-0DDA9120E804}"/>
              </a:ext>
            </a:extLst>
          </p:cNvPr>
          <p:cNvSpPr>
            <a:spLocks noGrp="1"/>
          </p:cNvSpPr>
          <p:nvPr>
            <p:ph type="title"/>
          </p:nvPr>
        </p:nvSpPr>
        <p:spPr/>
        <p:txBody>
          <a:bodyPr/>
          <a:lstStyle/>
          <a:p>
            <a:r>
              <a:rPr lang="en-CH"/>
              <a:t>Step 2 - Dataset: </a:t>
            </a:r>
            <a:r>
              <a:rPr lang="en-GB"/>
              <a:t>key flags &amp; commentary</a:t>
            </a:r>
            <a:endParaRPr lang="en-CH"/>
          </a:p>
        </p:txBody>
      </p:sp>
      <p:sp>
        <p:nvSpPr>
          <p:cNvPr id="4" name="Slide Number Placeholder 3">
            <a:extLst>
              <a:ext uri="{FF2B5EF4-FFF2-40B4-BE49-F238E27FC236}">
                <a16:creationId xmlns:a16="http://schemas.microsoft.com/office/drawing/2014/main" id="{ECE637AE-0B52-6C63-6CAB-83CBAEB1CA38}"/>
              </a:ext>
            </a:extLst>
          </p:cNvPr>
          <p:cNvSpPr>
            <a:spLocks noGrp="1"/>
          </p:cNvSpPr>
          <p:nvPr>
            <p:ph type="sldNum" sz="quarter" idx="12"/>
          </p:nvPr>
        </p:nvSpPr>
        <p:spPr/>
        <p:txBody>
          <a:bodyPr/>
          <a:lstStyle/>
          <a:p>
            <a:fld id="{7559FC98-AF75-4A00-A03C-DF9FEBF6BCB9}" type="slidenum">
              <a:rPr lang="en-GB" smtClean="0"/>
              <a:t>35</a:t>
            </a:fld>
            <a:endParaRPr lang="en-GB"/>
          </a:p>
        </p:txBody>
      </p:sp>
      <p:grpSp>
        <p:nvGrpSpPr>
          <p:cNvPr id="22" name="Group 21">
            <a:extLst>
              <a:ext uri="{FF2B5EF4-FFF2-40B4-BE49-F238E27FC236}">
                <a16:creationId xmlns:a16="http://schemas.microsoft.com/office/drawing/2014/main" id="{FDA6F5FA-1184-3B14-ADD2-01FCFAEE09F9}"/>
              </a:ext>
            </a:extLst>
          </p:cNvPr>
          <p:cNvGrpSpPr>
            <a:grpSpLocks noChangeAspect="1"/>
          </p:cNvGrpSpPr>
          <p:nvPr/>
        </p:nvGrpSpPr>
        <p:grpSpPr>
          <a:xfrm>
            <a:off x="819081" y="1094510"/>
            <a:ext cx="7481455" cy="3491345"/>
            <a:chOff x="457200" y="768096"/>
            <a:chExt cx="8229600" cy="3840480"/>
          </a:xfrm>
        </p:grpSpPr>
        <p:sp>
          <p:nvSpPr>
            <p:cNvPr id="6" name="Shape 2">
              <a:extLst>
                <a:ext uri="{FF2B5EF4-FFF2-40B4-BE49-F238E27FC236}">
                  <a16:creationId xmlns:a16="http://schemas.microsoft.com/office/drawing/2014/main" id="{F4C6F109-61D7-B2CE-36FE-5F6D7867DFE6}"/>
                </a:ext>
              </a:extLst>
            </p:cNvPr>
            <p:cNvSpPr/>
            <p:nvPr/>
          </p:nvSpPr>
          <p:spPr>
            <a:xfrm>
              <a:off x="457200" y="768096"/>
              <a:ext cx="8229600" cy="1078992"/>
            </a:xfrm>
            <a:prstGeom prst="rect">
              <a:avLst/>
            </a:prstGeom>
            <a:solidFill>
              <a:srgbClr val="FEF3C7"/>
            </a:solidFill>
            <a:ln w="12700">
              <a:solidFill>
                <a:srgbClr val="D97706"/>
              </a:solidFill>
              <a:prstDash val="solid"/>
            </a:ln>
          </p:spPr>
          <p:txBody>
            <a:bodyPr/>
            <a:lstStyle/>
            <a:p>
              <a:endParaRPr lang="en-CH">
                <a:latin typeface="Gill Sans Nova Light" panose="020B0302020104020203" pitchFamily="34" charset="0"/>
              </a:endParaRPr>
            </a:p>
          </p:txBody>
        </p:sp>
        <p:sp>
          <p:nvSpPr>
            <p:cNvPr id="7" name="Shape 3">
              <a:extLst>
                <a:ext uri="{FF2B5EF4-FFF2-40B4-BE49-F238E27FC236}">
                  <a16:creationId xmlns:a16="http://schemas.microsoft.com/office/drawing/2014/main" id="{3B139DE3-1361-4BD3-F49B-C2940905E373}"/>
                </a:ext>
              </a:extLst>
            </p:cNvPr>
            <p:cNvSpPr/>
            <p:nvPr/>
          </p:nvSpPr>
          <p:spPr>
            <a:xfrm>
              <a:off x="457200" y="768096"/>
              <a:ext cx="54864" cy="1078992"/>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8" name="Text 4">
              <a:extLst>
                <a:ext uri="{FF2B5EF4-FFF2-40B4-BE49-F238E27FC236}">
                  <a16:creationId xmlns:a16="http://schemas.microsoft.com/office/drawing/2014/main" id="{5E3CB08D-2EB4-0607-F83C-A2D67D35B71F}"/>
                </a:ext>
              </a:extLst>
            </p:cNvPr>
            <p:cNvSpPr/>
            <p:nvPr/>
          </p:nvSpPr>
          <p:spPr>
            <a:xfrm>
              <a:off x="603504" y="822960"/>
              <a:ext cx="7955280" cy="237744"/>
            </a:xfrm>
            <a:prstGeom prst="rect">
              <a:avLst/>
            </a:prstGeom>
            <a:noFill/>
            <a:ln/>
          </p:spPr>
          <p:txBody>
            <a:bodyPr wrap="square" lIns="0" tIns="0" rIns="0" bIns="0" rtlCol="0" anchor="ctr"/>
            <a:lstStyle/>
            <a:p>
              <a:pPr marL="0" indent="0">
                <a:buNone/>
              </a:pPr>
              <a:r>
                <a:rPr lang="en-US" sz="1100" b="1">
                  <a:solidFill>
                    <a:srgbClr val="1A1A1A"/>
                  </a:solidFill>
                  <a:latin typeface="Gill Sans Nova Light" panose="020B0302020104020203" pitchFamily="34" charset="0"/>
                  <a:ea typeface="Calibri" pitchFamily="34" charset="-122"/>
                  <a:cs typeface="Calibri" pitchFamily="34" charset="-120"/>
                </a:rPr>
                <a:t>Pattern 1  —  Early-year gaps in smaller Eastern European markets</a:t>
              </a:r>
              <a:endParaRPr lang="en-US" sz="1100">
                <a:latin typeface="Gill Sans Nova Light" panose="020B0302020104020203" pitchFamily="34" charset="0"/>
              </a:endParaRPr>
            </a:p>
          </p:txBody>
        </p:sp>
        <p:sp>
          <p:nvSpPr>
            <p:cNvPr id="9" name="Text 5">
              <a:extLst>
                <a:ext uri="{FF2B5EF4-FFF2-40B4-BE49-F238E27FC236}">
                  <a16:creationId xmlns:a16="http://schemas.microsoft.com/office/drawing/2014/main" id="{C6F4F60A-FFBF-6B4B-8678-0F89ABFB8BE6}"/>
                </a:ext>
              </a:extLst>
            </p:cNvPr>
            <p:cNvSpPr/>
            <p:nvPr/>
          </p:nvSpPr>
          <p:spPr>
            <a:xfrm>
              <a:off x="603504" y="1097280"/>
              <a:ext cx="7955280" cy="201168"/>
            </a:xfrm>
            <a:prstGeom prst="rect">
              <a:avLst/>
            </a:prstGeom>
            <a:noFill/>
            <a:ln/>
          </p:spPr>
          <p:txBody>
            <a:bodyPr wrap="square" lIns="0" tIns="0" rIns="0" bIns="0" rtlCol="0" anchor="ctr"/>
            <a:lstStyle/>
            <a:p>
              <a:pPr marL="0" indent="0">
                <a:buNone/>
              </a:pPr>
              <a:r>
                <a:rPr lang="en-US" sz="1000">
                  <a:solidFill>
                    <a:srgbClr val="1A1A1A"/>
                  </a:solidFill>
                  <a:latin typeface="Gill Sans Nova Light" panose="020B0302020104020203" pitchFamily="34" charset="0"/>
                  <a:ea typeface="Calibri" pitchFamily="34" charset="-122"/>
                  <a:cs typeface="Calibri" pitchFamily="34" charset="-120"/>
                </a:rPr>
                <a:t>Czechia (FY2010–2017)  ·  Slovakia (FY2015–2022)  ·  Bulgaria (FY2012–2017)  ·  Croatia (FY2010–2012)</a:t>
              </a:r>
              <a:endParaRPr lang="en-US" sz="1000">
                <a:latin typeface="Gill Sans Nova Light" panose="020B0302020104020203" pitchFamily="34" charset="0"/>
              </a:endParaRPr>
            </a:p>
          </p:txBody>
        </p:sp>
        <p:sp>
          <p:nvSpPr>
            <p:cNvPr id="10" name="Text 6">
              <a:extLst>
                <a:ext uri="{FF2B5EF4-FFF2-40B4-BE49-F238E27FC236}">
                  <a16:creationId xmlns:a16="http://schemas.microsoft.com/office/drawing/2014/main" id="{4B60E933-C28A-644E-DFD2-3B33F553C26B}"/>
                </a:ext>
              </a:extLst>
            </p:cNvPr>
            <p:cNvSpPr/>
            <p:nvPr/>
          </p:nvSpPr>
          <p:spPr>
            <a:xfrm>
              <a:off x="603504" y="1335024"/>
              <a:ext cx="7955280" cy="438912"/>
            </a:xfrm>
            <a:prstGeom prst="rect">
              <a:avLst/>
            </a:prstGeom>
            <a:noFill/>
            <a:ln/>
          </p:spPr>
          <p:txBody>
            <a:bodyPr wrap="square" lIns="0" tIns="0" rIns="0" bIns="0" rtlCol="0" anchor="ctr"/>
            <a:lstStyle/>
            <a:p>
              <a:pPr marL="0" indent="0">
                <a:buNone/>
              </a:pPr>
              <a:r>
                <a:rPr lang="en-US" sz="1000" i="1">
                  <a:solidFill>
                    <a:srgbClr val="6B7280"/>
                  </a:solidFill>
                  <a:latin typeface="Gill Sans Nova Light" panose="020B0302020104020203" pitchFamily="34" charset="0"/>
                  <a:ea typeface="Calibri" pitchFamily="34" charset="-122"/>
                  <a:cs typeface="Calibri" pitchFamily="34" charset="-120"/>
                </a:rPr>
                <a:t>Thin or undeveloped stock markets in the early post-GFC period — World Bank market cap data unavailable. Impact is minimal given small country sample sizes.</a:t>
              </a:r>
              <a:endParaRPr lang="en-US" sz="1000">
                <a:latin typeface="Gill Sans Nova Light" panose="020B0302020104020203" pitchFamily="34" charset="0"/>
              </a:endParaRPr>
            </a:p>
          </p:txBody>
        </p:sp>
        <p:sp>
          <p:nvSpPr>
            <p:cNvPr id="11" name="Shape 7">
              <a:extLst>
                <a:ext uri="{FF2B5EF4-FFF2-40B4-BE49-F238E27FC236}">
                  <a16:creationId xmlns:a16="http://schemas.microsoft.com/office/drawing/2014/main" id="{9B8719C2-4C19-3875-8DE6-F459DDA430FC}"/>
                </a:ext>
              </a:extLst>
            </p:cNvPr>
            <p:cNvSpPr/>
            <p:nvPr/>
          </p:nvSpPr>
          <p:spPr>
            <a:xfrm>
              <a:off x="457200" y="1993392"/>
              <a:ext cx="8229600" cy="1389888"/>
            </a:xfrm>
            <a:prstGeom prst="rect">
              <a:avLst/>
            </a:prstGeom>
            <a:solidFill>
              <a:srgbClr val="FDECEA"/>
            </a:solidFill>
            <a:ln w="12700">
              <a:solidFill>
                <a:srgbClr val="C0392B"/>
              </a:solidFill>
              <a:prstDash val="solid"/>
            </a:ln>
          </p:spPr>
          <p:txBody>
            <a:bodyPr/>
            <a:lstStyle/>
            <a:p>
              <a:endParaRPr lang="en-CH">
                <a:latin typeface="Gill Sans Nova Light" panose="020B0302020104020203" pitchFamily="34" charset="0"/>
              </a:endParaRPr>
            </a:p>
          </p:txBody>
        </p:sp>
        <p:sp>
          <p:nvSpPr>
            <p:cNvPr id="12" name="Shape 8">
              <a:extLst>
                <a:ext uri="{FF2B5EF4-FFF2-40B4-BE49-F238E27FC236}">
                  <a16:creationId xmlns:a16="http://schemas.microsoft.com/office/drawing/2014/main" id="{4D3D7588-080D-B0FF-CD9C-FE607AAD8516}"/>
                </a:ext>
              </a:extLst>
            </p:cNvPr>
            <p:cNvSpPr/>
            <p:nvPr/>
          </p:nvSpPr>
          <p:spPr>
            <a:xfrm>
              <a:off x="457200" y="1993392"/>
              <a:ext cx="54864" cy="1389888"/>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13" name="Text 9">
              <a:extLst>
                <a:ext uri="{FF2B5EF4-FFF2-40B4-BE49-F238E27FC236}">
                  <a16:creationId xmlns:a16="http://schemas.microsoft.com/office/drawing/2014/main" id="{EF3BB1E7-E12B-64E8-3FAB-F4A5329E22DE}"/>
                </a:ext>
              </a:extLst>
            </p:cNvPr>
            <p:cNvSpPr/>
            <p:nvPr/>
          </p:nvSpPr>
          <p:spPr>
            <a:xfrm>
              <a:off x="603504" y="2048256"/>
              <a:ext cx="7955280" cy="237744"/>
            </a:xfrm>
            <a:prstGeom prst="rect">
              <a:avLst/>
            </a:prstGeom>
            <a:noFill/>
            <a:ln/>
          </p:spPr>
          <p:txBody>
            <a:bodyPr wrap="square" lIns="0" tIns="0" rIns="0" bIns="0" rtlCol="0" anchor="ctr"/>
            <a:lstStyle/>
            <a:p>
              <a:pPr marL="0" indent="0">
                <a:buNone/>
              </a:pPr>
              <a:r>
                <a:rPr lang="en-US" sz="1100" b="1">
                  <a:solidFill>
                    <a:srgbClr val="1A1A1A"/>
                  </a:solidFill>
                  <a:latin typeface="Gill Sans Nova Light" panose="020B0302020104020203" pitchFamily="34" charset="0"/>
                  <a:ea typeface="Calibri" pitchFamily="34" charset="-122"/>
                  <a:cs typeface="Calibri" pitchFamily="34" charset="-120"/>
                </a:rPr>
                <a:t>Pattern 2  —  Structural gaps in larger markets</a:t>
              </a:r>
              <a:endParaRPr lang="en-US" sz="1100">
                <a:latin typeface="Gill Sans Nova Light" panose="020B0302020104020203" pitchFamily="34" charset="0"/>
              </a:endParaRPr>
            </a:p>
          </p:txBody>
        </p:sp>
        <p:sp>
          <p:nvSpPr>
            <p:cNvPr id="14" name="Text 10">
              <a:extLst>
                <a:ext uri="{FF2B5EF4-FFF2-40B4-BE49-F238E27FC236}">
                  <a16:creationId xmlns:a16="http://schemas.microsoft.com/office/drawing/2014/main" id="{517A4178-154B-6623-C0B5-63BD6E382874}"/>
                </a:ext>
              </a:extLst>
            </p:cNvPr>
            <p:cNvSpPr/>
            <p:nvPr/>
          </p:nvSpPr>
          <p:spPr>
            <a:xfrm>
              <a:off x="603504" y="2340864"/>
              <a:ext cx="7955280" cy="329184"/>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Denmark: </a:t>
              </a:r>
              <a:r>
                <a:rPr lang="en-US" sz="1000">
                  <a:solidFill>
                    <a:srgbClr val="1A1A1A"/>
                  </a:solidFill>
                  <a:latin typeface="Gill Sans Nova Light" panose="020B0302020104020203" pitchFamily="34" charset="0"/>
                  <a:ea typeface="Calibri" pitchFamily="34" charset="-122"/>
                  <a:cs typeface="Calibri" pitchFamily="34" charset="-120"/>
                </a:rPr>
                <a:t>all 15 years, 652 obs — drops entirely from Models 2–5. Beveridgean group shrinks 5 → 4 countries (loses DK, retains FI, SE, NL, IE) in all specifications including FinStructure.</a:t>
              </a:r>
              <a:endParaRPr lang="en-US" sz="1000">
                <a:latin typeface="Gill Sans Nova Light" panose="020B0302020104020203" pitchFamily="34" charset="0"/>
              </a:endParaRPr>
            </a:p>
          </p:txBody>
        </p:sp>
        <p:sp>
          <p:nvSpPr>
            <p:cNvPr id="15" name="Text 11">
              <a:extLst>
                <a:ext uri="{FF2B5EF4-FFF2-40B4-BE49-F238E27FC236}">
                  <a16:creationId xmlns:a16="http://schemas.microsoft.com/office/drawing/2014/main" id="{480EB7AF-83E4-7613-ADDC-E2E424281E61}"/>
                </a:ext>
              </a:extLst>
            </p:cNvPr>
            <p:cNvSpPr/>
            <p:nvPr/>
          </p:nvSpPr>
          <p:spPr>
            <a:xfrm>
              <a:off x="603504" y="2706624"/>
              <a:ext cx="7955280" cy="329184"/>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Germany: </a:t>
              </a:r>
              <a:r>
                <a:rPr lang="en-US" sz="1000">
                  <a:solidFill>
                    <a:srgbClr val="1A1A1A"/>
                  </a:solidFill>
                  <a:latin typeface="Gill Sans Nova Light" panose="020B0302020104020203" pitchFamily="34" charset="0"/>
                  <a:ea typeface="Calibri" pitchFamily="34" charset="-122"/>
                  <a:cs typeface="Calibri" pitchFamily="34" charset="-120"/>
                </a:rPr>
                <a:t>FY2024 only (795 obs) — negligible given 15,292 total German observations. Caused by delayed World Bank data publication.</a:t>
              </a:r>
              <a:endParaRPr lang="en-US" sz="1000">
                <a:latin typeface="Gill Sans Nova Light" panose="020B0302020104020203" pitchFamily="34" charset="0"/>
              </a:endParaRPr>
            </a:p>
          </p:txBody>
        </p:sp>
        <p:sp>
          <p:nvSpPr>
            <p:cNvPr id="16" name="Text 12">
              <a:extLst>
                <a:ext uri="{FF2B5EF4-FFF2-40B4-BE49-F238E27FC236}">
                  <a16:creationId xmlns:a16="http://schemas.microsoft.com/office/drawing/2014/main" id="{0FF63657-5739-1A95-7BD6-76C2D71C878E}"/>
                </a:ext>
              </a:extLst>
            </p:cNvPr>
            <p:cNvSpPr/>
            <p:nvPr/>
          </p:nvSpPr>
          <p:spPr>
            <a:xfrm>
              <a:off x="603504" y="3072384"/>
              <a:ext cx="7955280" cy="256032"/>
            </a:xfrm>
            <a:prstGeom prst="rect">
              <a:avLst/>
            </a:prstGeom>
            <a:noFill/>
            <a:ln/>
          </p:spPr>
          <p:txBody>
            <a:bodyPr wrap="square" lIns="0" tIns="0" rIns="0" bIns="0" rtlCol="0" anchor="ctr"/>
            <a:lstStyle/>
            <a:p>
              <a:pPr marL="0" indent="0">
                <a:buNone/>
              </a:pPr>
              <a:r>
                <a:rPr lang="en-US" sz="950" i="1">
                  <a:solidFill>
                    <a:srgbClr val="6B7280"/>
                  </a:solidFill>
                  <a:latin typeface="Gill Sans Nova Light" panose="020B0302020104020203" pitchFamily="34" charset="0"/>
                  <a:ea typeface="Calibri" pitchFamily="34" charset="-122"/>
                  <a:cs typeface="Calibri" pitchFamily="34" charset="-120"/>
                </a:rPr>
                <a:t>Attrition moving from Model 1 → Models 2–5 is entirely attributable to FinStructure gaps: Denmark (652), Germany FY2024 (795), minor Eastern European gaps. Non-random — will be noted explicitly in the data section.</a:t>
              </a:r>
              <a:endParaRPr lang="en-US" sz="950">
                <a:latin typeface="Gill Sans Nova Light" panose="020B0302020104020203" pitchFamily="34" charset="0"/>
              </a:endParaRPr>
            </a:p>
          </p:txBody>
        </p:sp>
        <p:sp>
          <p:nvSpPr>
            <p:cNvPr id="17" name="Shape 13">
              <a:extLst>
                <a:ext uri="{FF2B5EF4-FFF2-40B4-BE49-F238E27FC236}">
                  <a16:creationId xmlns:a16="http://schemas.microsoft.com/office/drawing/2014/main" id="{79FBDB35-9D7C-FB01-140E-04BBC281DFEB}"/>
                </a:ext>
              </a:extLst>
            </p:cNvPr>
            <p:cNvSpPr/>
            <p:nvPr/>
          </p:nvSpPr>
          <p:spPr>
            <a:xfrm>
              <a:off x="457200" y="3584448"/>
              <a:ext cx="8229600" cy="1024128"/>
            </a:xfrm>
            <a:prstGeom prst="rect">
              <a:avLst/>
            </a:prstGeom>
            <a:solidFill>
              <a:srgbClr val="FFFBEB"/>
            </a:solidFill>
            <a:ln w="19050">
              <a:solidFill>
                <a:srgbClr val="D97706"/>
              </a:solidFill>
              <a:prstDash val="solid"/>
            </a:ln>
          </p:spPr>
          <p:txBody>
            <a:bodyPr/>
            <a:lstStyle/>
            <a:p>
              <a:endParaRPr lang="en-CH">
                <a:latin typeface="Gill Sans Nova Light" panose="020B0302020104020203" pitchFamily="34" charset="0"/>
              </a:endParaRPr>
            </a:p>
          </p:txBody>
        </p:sp>
        <p:sp>
          <p:nvSpPr>
            <p:cNvPr id="18" name="Shape 14">
              <a:extLst>
                <a:ext uri="{FF2B5EF4-FFF2-40B4-BE49-F238E27FC236}">
                  <a16:creationId xmlns:a16="http://schemas.microsoft.com/office/drawing/2014/main" id="{A1224FE7-7920-5F87-086B-E6503C6A9C1E}"/>
                </a:ext>
              </a:extLst>
            </p:cNvPr>
            <p:cNvSpPr/>
            <p:nvPr/>
          </p:nvSpPr>
          <p:spPr>
            <a:xfrm>
              <a:off x="457200" y="3584448"/>
              <a:ext cx="54864" cy="1024128"/>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19" name="Text 15">
              <a:extLst>
                <a:ext uri="{FF2B5EF4-FFF2-40B4-BE49-F238E27FC236}">
                  <a16:creationId xmlns:a16="http://schemas.microsoft.com/office/drawing/2014/main" id="{931909C4-0EAC-F166-3835-5861294B51D9}"/>
                </a:ext>
              </a:extLst>
            </p:cNvPr>
            <p:cNvSpPr/>
            <p:nvPr/>
          </p:nvSpPr>
          <p:spPr>
            <a:xfrm>
              <a:off x="603504" y="3639312"/>
              <a:ext cx="7955280" cy="256032"/>
            </a:xfrm>
            <a:prstGeom prst="rect">
              <a:avLst/>
            </a:prstGeom>
            <a:noFill/>
            <a:ln/>
          </p:spPr>
          <p:txBody>
            <a:bodyPr wrap="square" lIns="0" tIns="0" rIns="0" bIns="0" rtlCol="0" anchor="ctr"/>
            <a:lstStyle/>
            <a:p>
              <a:pPr marL="0" indent="0">
                <a:buNone/>
              </a:pPr>
              <a:r>
                <a:rPr lang="en-US" sz="1100" b="1">
                  <a:solidFill>
                    <a:srgbClr val="D97706"/>
                  </a:solidFill>
                  <a:latin typeface="Gill Sans Nova Light" panose="020B0302020104020203" pitchFamily="34" charset="0"/>
                  <a:ea typeface="Calibri" pitchFamily="34" charset="-122"/>
                  <a:cs typeface="Calibri" pitchFamily="34" charset="-120"/>
                </a:rPr>
                <a:t>⚑  Flag for professor discussion</a:t>
              </a:r>
              <a:endParaRPr lang="en-US" sz="1100">
                <a:latin typeface="Gill Sans Nova Light" panose="020B0302020104020203" pitchFamily="34" charset="0"/>
              </a:endParaRPr>
            </a:p>
          </p:txBody>
        </p:sp>
        <p:sp>
          <p:nvSpPr>
            <p:cNvPr id="20" name="Text 16">
              <a:extLst>
                <a:ext uri="{FF2B5EF4-FFF2-40B4-BE49-F238E27FC236}">
                  <a16:creationId xmlns:a16="http://schemas.microsoft.com/office/drawing/2014/main" id="{FA022846-D687-5E2F-86DE-4CD30A3CC3A9}"/>
                </a:ext>
              </a:extLst>
            </p:cNvPr>
            <p:cNvSpPr/>
            <p:nvPr/>
          </p:nvSpPr>
          <p:spPr>
            <a:xfrm>
              <a:off x="603504" y="3931920"/>
              <a:ext cx="7955280" cy="329184"/>
            </a:xfrm>
            <a:prstGeom prst="rect">
              <a:avLst/>
            </a:prstGeom>
            <a:noFill/>
            <a:ln/>
          </p:spPr>
          <p:txBody>
            <a:bodyPr wrap="square" lIns="0" tIns="0" rIns="0" bIns="0" rtlCol="0" anchor="ctr"/>
            <a:lstStyle/>
            <a:p>
              <a:pPr marL="0" indent="0">
                <a:buNone/>
              </a:pPr>
              <a:r>
                <a:rPr lang="en-US" sz="1000">
                  <a:solidFill>
                    <a:srgbClr val="1A1A1A"/>
                  </a:solidFill>
                  <a:latin typeface="Gill Sans Nova Light" panose="020B0302020104020203" pitchFamily="34" charset="0"/>
                  <a:ea typeface="Calibri" pitchFamily="34" charset="-122"/>
                  <a:cs typeface="Calibri" pitchFamily="34" charset="-120"/>
                </a:rPr>
                <a:t>Denmark's complete absence from FinStructure specifications should be raised explicitly. It is the only fully missing Beveridgean country, which could affect the precision of pension system interaction estimates.</a:t>
              </a:r>
              <a:endParaRPr lang="en-US" sz="1000">
                <a:latin typeface="Gill Sans Nova Light" panose="020B0302020104020203" pitchFamily="34" charset="0"/>
              </a:endParaRPr>
            </a:p>
          </p:txBody>
        </p:sp>
        <p:sp>
          <p:nvSpPr>
            <p:cNvPr id="21" name="Text 17">
              <a:extLst>
                <a:ext uri="{FF2B5EF4-FFF2-40B4-BE49-F238E27FC236}">
                  <a16:creationId xmlns:a16="http://schemas.microsoft.com/office/drawing/2014/main" id="{7EE90A6C-F566-CE57-709F-D7D80A774927}"/>
                </a:ext>
              </a:extLst>
            </p:cNvPr>
            <p:cNvSpPr/>
            <p:nvPr/>
          </p:nvSpPr>
          <p:spPr>
            <a:xfrm>
              <a:off x="603504" y="4279392"/>
              <a:ext cx="7955280" cy="256032"/>
            </a:xfrm>
            <a:prstGeom prst="rect">
              <a:avLst/>
            </a:prstGeom>
            <a:noFill/>
            <a:ln/>
          </p:spPr>
          <p:txBody>
            <a:bodyPr wrap="square" lIns="0" tIns="0" rIns="0" bIns="0" rtlCol="0" anchor="ctr"/>
            <a:lstStyle/>
            <a:p>
              <a:pPr marL="0" indent="0">
                <a:buNone/>
              </a:pPr>
              <a:r>
                <a:rPr lang="en-US" sz="1000" i="1">
                  <a:solidFill>
                    <a:srgbClr val="6B7280"/>
                  </a:solidFill>
                  <a:latin typeface="Gill Sans Nova Light" panose="020B0302020104020203" pitchFamily="34" charset="0"/>
                  <a:ea typeface="Calibri" pitchFamily="34" charset="-122"/>
                  <a:cs typeface="Calibri" pitchFamily="34" charset="-120"/>
                </a:rPr>
                <a:t>Potential remedy: source Danish stock market capitalisation data from Nasdaq OMX Copenhagen or the Danish central bank — worth discussing before finalising the dataset.</a:t>
              </a:r>
              <a:endParaRPr lang="en-US" sz="1000">
                <a:latin typeface="Gill Sans Nova Light" panose="020B0302020104020203" pitchFamily="34" charset="0"/>
              </a:endParaRPr>
            </a:p>
          </p:txBody>
        </p:sp>
      </p:grpSp>
      <p:sp>
        <p:nvSpPr>
          <p:cNvPr id="23" name="Rectangle 22">
            <a:extLst>
              <a:ext uri="{FF2B5EF4-FFF2-40B4-BE49-F238E27FC236}">
                <a16:creationId xmlns:a16="http://schemas.microsoft.com/office/drawing/2014/main" id="{96041C3B-6FA6-0992-C1D6-CD2C19765B88}"/>
              </a:ext>
            </a:extLst>
          </p:cNvPr>
          <p:cNvSpPr/>
          <p:nvPr/>
        </p:nvSpPr>
        <p:spPr>
          <a:xfrm>
            <a:off x="8186928" y="25146"/>
            <a:ext cx="914400" cy="33966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Fix layout</a:t>
            </a:r>
          </a:p>
        </p:txBody>
      </p:sp>
      <p:sp>
        <p:nvSpPr>
          <p:cNvPr id="24" name="Pentagon 23">
            <a:extLst>
              <a:ext uri="{FF2B5EF4-FFF2-40B4-BE49-F238E27FC236}">
                <a16:creationId xmlns:a16="http://schemas.microsoft.com/office/drawing/2014/main" id="{84960F62-E98C-ED8F-03E7-3B19338A304A}"/>
              </a:ext>
            </a:extLst>
          </p:cNvPr>
          <p:cNvSpPr/>
          <p:nvPr/>
        </p:nvSpPr>
        <p:spPr>
          <a:xfrm>
            <a:off x="115606" y="2898258"/>
            <a:ext cx="703475" cy="339662"/>
          </a:xfrm>
          <a:prstGeom prst="homePlat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sz="900">
                <a:solidFill>
                  <a:sysClr val="windowText" lastClr="000000"/>
                </a:solidFill>
                <a:latin typeface="Gill Sans Nova Light" panose="020B0302020104020203" pitchFamily="34" charset="0"/>
              </a:rPr>
              <a:t>Easy to find DE</a:t>
            </a:r>
          </a:p>
        </p:txBody>
      </p:sp>
    </p:spTree>
    <p:extLst>
      <p:ext uri="{BB962C8B-B14F-4D97-AF65-F5344CB8AC3E}">
        <p14:creationId xmlns:p14="http://schemas.microsoft.com/office/powerpoint/2010/main" val="12149412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42156-DCF7-ADD0-E26D-AAF8E92F0FF2}"/>
              </a:ext>
            </a:extLst>
          </p:cNvPr>
          <p:cNvSpPr>
            <a:spLocks noGrp="1"/>
          </p:cNvSpPr>
          <p:nvPr>
            <p:ph type="title"/>
          </p:nvPr>
        </p:nvSpPr>
        <p:spPr/>
        <p:txBody>
          <a:bodyPr/>
          <a:lstStyle/>
          <a:p>
            <a:r>
              <a:rPr lang="en-CH"/>
              <a:t>Step 3: </a:t>
            </a:r>
            <a:r>
              <a:rPr lang="en-GB"/>
              <a:t>Variance decomposition - within vs. between</a:t>
            </a:r>
            <a:br>
              <a:rPr lang="en-GB"/>
            </a:br>
            <a:r>
              <a:rPr lang="en-GB" sz="1050" i="1"/>
              <a:t>Do key regressors move enough over time to survive fixed effects? All SDs computed on analytical sample (n = 31,439)</a:t>
            </a:r>
            <a:endParaRPr lang="en-CH" sz="1050" i="1"/>
          </a:p>
        </p:txBody>
      </p:sp>
      <p:sp>
        <p:nvSpPr>
          <p:cNvPr id="4" name="Slide Number Placeholder 3">
            <a:extLst>
              <a:ext uri="{FF2B5EF4-FFF2-40B4-BE49-F238E27FC236}">
                <a16:creationId xmlns:a16="http://schemas.microsoft.com/office/drawing/2014/main" id="{8A026216-B2C4-8EA9-1F55-ADAE9885756F}"/>
              </a:ext>
            </a:extLst>
          </p:cNvPr>
          <p:cNvSpPr>
            <a:spLocks noGrp="1"/>
          </p:cNvSpPr>
          <p:nvPr>
            <p:ph type="sldNum" sz="quarter" idx="12"/>
          </p:nvPr>
        </p:nvSpPr>
        <p:spPr/>
        <p:txBody>
          <a:bodyPr/>
          <a:lstStyle/>
          <a:p>
            <a:fld id="{7559FC98-AF75-4A00-A03C-DF9FEBF6BCB9}" type="slidenum">
              <a:rPr lang="en-GB" smtClean="0"/>
              <a:t>36</a:t>
            </a:fld>
            <a:endParaRPr lang="en-GB"/>
          </a:p>
        </p:txBody>
      </p:sp>
      <p:grpSp>
        <p:nvGrpSpPr>
          <p:cNvPr id="60" name="Group 59">
            <a:extLst>
              <a:ext uri="{FF2B5EF4-FFF2-40B4-BE49-F238E27FC236}">
                <a16:creationId xmlns:a16="http://schemas.microsoft.com/office/drawing/2014/main" id="{E5850E04-499A-2701-BACB-6C9A9D95EABF}"/>
              </a:ext>
            </a:extLst>
          </p:cNvPr>
          <p:cNvGrpSpPr>
            <a:grpSpLocks noChangeAspect="1"/>
          </p:cNvGrpSpPr>
          <p:nvPr/>
        </p:nvGrpSpPr>
        <p:grpSpPr>
          <a:xfrm>
            <a:off x="739928" y="968840"/>
            <a:ext cx="7705898" cy="4108378"/>
            <a:chOff x="457200" y="877824"/>
            <a:chExt cx="8476488" cy="4519214"/>
          </a:xfrm>
        </p:grpSpPr>
        <p:sp>
          <p:nvSpPr>
            <p:cNvPr id="5" name="Shape 3">
              <a:extLst>
                <a:ext uri="{FF2B5EF4-FFF2-40B4-BE49-F238E27FC236}">
                  <a16:creationId xmlns:a16="http://schemas.microsoft.com/office/drawing/2014/main" id="{4ECF34D6-F24F-1C8B-02B5-9584D9A35D1A}"/>
                </a:ext>
              </a:extLst>
            </p:cNvPr>
            <p:cNvSpPr/>
            <p:nvPr/>
          </p:nvSpPr>
          <p:spPr>
            <a:xfrm>
              <a:off x="457200" y="877824"/>
              <a:ext cx="2377440" cy="256032"/>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6" name="Text 4">
              <a:extLst>
                <a:ext uri="{FF2B5EF4-FFF2-40B4-BE49-F238E27FC236}">
                  <a16:creationId xmlns:a16="http://schemas.microsoft.com/office/drawing/2014/main" id="{C19C23C5-8912-8CB1-6533-94B2E4DF26DA}"/>
                </a:ext>
              </a:extLst>
            </p:cNvPr>
            <p:cNvSpPr/>
            <p:nvPr/>
          </p:nvSpPr>
          <p:spPr>
            <a:xfrm>
              <a:off x="521208" y="877824"/>
              <a:ext cx="2286000" cy="256032"/>
            </a:xfrm>
            <a:prstGeom prst="rect">
              <a:avLst/>
            </a:prstGeom>
            <a:noFill/>
            <a:ln/>
          </p:spPr>
          <p:txBody>
            <a:bodyPr wrap="square" lIns="0" tIns="0" rIns="0" bIns="0" rtlCol="0" anchor="ctr"/>
            <a:lstStyle/>
            <a:p>
              <a:pPr marL="0" indent="0" algn="l">
                <a:buNone/>
              </a:pPr>
              <a:r>
                <a:rPr lang="en-US" sz="950" b="1">
                  <a:solidFill>
                    <a:srgbClr val="FFFFFF"/>
                  </a:solidFill>
                  <a:latin typeface="Gill Sans Nova Light" panose="020B0302020104020203" pitchFamily="34" charset="0"/>
                  <a:ea typeface="Calibri" pitchFamily="34" charset="-122"/>
                  <a:cs typeface="Calibri" pitchFamily="34" charset="-120"/>
                </a:rPr>
                <a:t>Variable</a:t>
              </a:r>
              <a:endParaRPr lang="en-US" sz="950">
                <a:latin typeface="Gill Sans Nova Light" panose="020B0302020104020203" pitchFamily="34" charset="0"/>
              </a:endParaRPr>
            </a:p>
          </p:txBody>
        </p:sp>
        <p:sp>
          <p:nvSpPr>
            <p:cNvPr id="7" name="Shape 5">
              <a:extLst>
                <a:ext uri="{FF2B5EF4-FFF2-40B4-BE49-F238E27FC236}">
                  <a16:creationId xmlns:a16="http://schemas.microsoft.com/office/drawing/2014/main" id="{934BB608-71F2-DBCC-D4B5-FE91DE896CD7}"/>
                </a:ext>
              </a:extLst>
            </p:cNvPr>
            <p:cNvSpPr/>
            <p:nvPr/>
          </p:nvSpPr>
          <p:spPr>
            <a:xfrm>
              <a:off x="2926080" y="877824"/>
              <a:ext cx="1097280" cy="256032"/>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8" name="Text 6">
              <a:extLst>
                <a:ext uri="{FF2B5EF4-FFF2-40B4-BE49-F238E27FC236}">
                  <a16:creationId xmlns:a16="http://schemas.microsoft.com/office/drawing/2014/main" id="{424A63DD-C599-9095-D122-A1D4E50FE3AF}"/>
                </a:ext>
              </a:extLst>
            </p:cNvPr>
            <p:cNvSpPr/>
            <p:nvPr/>
          </p:nvSpPr>
          <p:spPr>
            <a:xfrm>
              <a:off x="2990088" y="877824"/>
              <a:ext cx="1005840" cy="256032"/>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Overall SD</a:t>
              </a:r>
              <a:endParaRPr lang="en-US" sz="950">
                <a:latin typeface="Gill Sans Nova Light" panose="020B0302020104020203" pitchFamily="34" charset="0"/>
              </a:endParaRPr>
            </a:p>
          </p:txBody>
        </p:sp>
        <p:sp>
          <p:nvSpPr>
            <p:cNvPr id="9" name="Shape 7">
              <a:extLst>
                <a:ext uri="{FF2B5EF4-FFF2-40B4-BE49-F238E27FC236}">
                  <a16:creationId xmlns:a16="http://schemas.microsoft.com/office/drawing/2014/main" id="{E0F2E65A-D4AE-4A64-47D8-0515C0F41EA9}"/>
                </a:ext>
              </a:extLst>
            </p:cNvPr>
            <p:cNvSpPr/>
            <p:nvPr/>
          </p:nvSpPr>
          <p:spPr>
            <a:xfrm>
              <a:off x="4114800" y="877824"/>
              <a:ext cx="1097280" cy="256032"/>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0" name="Text 8">
              <a:extLst>
                <a:ext uri="{FF2B5EF4-FFF2-40B4-BE49-F238E27FC236}">
                  <a16:creationId xmlns:a16="http://schemas.microsoft.com/office/drawing/2014/main" id="{B4070A7F-A6A0-ECF8-C1E4-642BB7006DCF}"/>
                </a:ext>
              </a:extLst>
            </p:cNvPr>
            <p:cNvSpPr/>
            <p:nvPr/>
          </p:nvSpPr>
          <p:spPr>
            <a:xfrm>
              <a:off x="4178808" y="877824"/>
              <a:ext cx="1005840" cy="256032"/>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Between SD</a:t>
              </a:r>
              <a:endParaRPr lang="en-US" sz="950">
                <a:latin typeface="Gill Sans Nova Light" panose="020B0302020104020203" pitchFamily="34" charset="0"/>
              </a:endParaRPr>
            </a:p>
          </p:txBody>
        </p:sp>
        <p:sp>
          <p:nvSpPr>
            <p:cNvPr id="11" name="Shape 9">
              <a:extLst>
                <a:ext uri="{FF2B5EF4-FFF2-40B4-BE49-F238E27FC236}">
                  <a16:creationId xmlns:a16="http://schemas.microsoft.com/office/drawing/2014/main" id="{307CA002-E30B-7112-1AE7-78F9EA6F8C0C}"/>
                </a:ext>
              </a:extLst>
            </p:cNvPr>
            <p:cNvSpPr/>
            <p:nvPr/>
          </p:nvSpPr>
          <p:spPr>
            <a:xfrm>
              <a:off x="5303520" y="877824"/>
              <a:ext cx="1097280" cy="256032"/>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2" name="Text 10">
              <a:extLst>
                <a:ext uri="{FF2B5EF4-FFF2-40B4-BE49-F238E27FC236}">
                  <a16:creationId xmlns:a16="http://schemas.microsoft.com/office/drawing/2014/main" id="{FBE0738F-1B6F-F4D1-B48B-8AA8D3588BA5}"/>
                </a:ext>
              </a:extLst>
            </p:cNvPr>
            <p:cNvSpPr/>
            <p:nvPr/>
          </p:nvSpPr>
          <p:spPr>
            <a:xfrm>
              <a:off x="5367528" y="877824"/>
              <a:ext cx="1005840" cy="256032"/>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Within SD</a:t>
              </a:r>
              <a:endParaRPr lang="en-US" sz="950">
                <a:latin typeface="Gill Sans Nova Light" panose="020B0302020104020203" pitchFamily="34" charset="0"/>
              </a:endParaRPr>
            </a:p>
          </p:txBody>
        </p:sp>
        <p:sp>
          <p:nvSpPr>
            <p:cNvPr id="13" name="Shape 11">
              <a:extLst>
                <a:ext uri="{FF2B5EF4-FFF2-40B4-BE49-F238E27FC236}">
                  <a16:creationId xmlns:a16="http://schemas.microsoft.com/office/drawing/2014/main" id="{15F3DCC9-1C0D-1665-C6DE-47A86C38C3E8}"/>
                </a:ext>
              </a:extLst>
            </p:cNvPr>
            <p:cNvSpPr/>
            <p:nvPr/>
          </p:nvSpPr>
          <p:spPr>
            <a:xfrm>
              <a:off x="6492240" y="877824"/>
              <a:ext cx="2194560" cy="256032"/>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4" name="Text 12">
              <a:extLst>
                <a:ext uri="{FF2B5EF4-FFF2-40B4-BE49-F238E27FC236}">
                  <a16:creationId xmlns:a16="http://schemas.microsoft.com/office/drawing/2014/main" id="{8F1DE841-5D9E-E42A-D29D-274BAE61F2A4}"/>
                </a:ext>
              </a:extLst>
            </p:cNvPr>
            <p:cNvSpPr/>
            <p:nvPr/>
          </p:nvSpPr>
          <p:spPr>
            <a:xfrm>
              <a:off x="6556248" y="877824"/>
              <a:ext cx="2377440" cy="256032"/>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Within / Between</a:t>
              </a:r>
              <a:endParaRPr lang="en-US" sz="950">
                <a:latin typeface="Gill Sans Nova Light" panose="020B0302020104020203" pitchFamily="34" charset="0"/>
              </a:endParaRPr>
            </a:p>
          </p:txBody>
        </p:sp>
        <p:sp>
          <p:nvSpPr>
            <p:cNvPr id="15" name="Shape 13">
              <a:extLst>
                <a:ext uri="{FF2B5EF4-FFF2-40B4-BE49-F238E27FC236}">
                  <a16:creationId xmlns:a16="http://schemas.microsoft.com/office/drawing/2014/main" id="{24743AFD-CC89-89AF-D079-2676B9E593EA}"/>
                </a:ext>
              </a:extLst>
            </p:cNvPr>
            <p:cNvSpPr/>
            <p:nvPr/>
          </p:nvSpPr>
          <p:spPr>
            <a:xfrm>
              <a:off x="457200" y="1170432"/>
              <a:ext cx="8229600" cy="804672"/>
            </a:xfrm>
            <a:prstGeom prst="rect">
              <a:avLst/>
            </a:prstGeom>
            <a:solidFill>
              <a:srgbClr val="F4F6F9"/>
            </a:solidFill>
            <a:ln w="6350">
              <a:solidFill>
                <a:srgbClr val="D0D7E3"/>
              </a:solidFill>
              <a:prstDash val="solid"/>
            </a:ln>
          </p:spPr>
          <p:txBody>
            <a:bodyPr/>
            <a:lstStyle/>
            <a:p>
              <a:endParaRPr lang="en-CH">
                <a:latin typeface="Gill Sans Nova Light" panose="020B0302020104020203" pitchFamily="34" charset="0"/>
              </a:endParaRPr>
            </a:p>
          </p:txBody>
        </p:sp>
        <p:sp>
          <p:nvSpPr>
            <p:cNvPr id="16" name="Shape 14">
              <a:extLst>
                <a:ext uri="{FF2B5EF4-FFF2-40B4-BE49-F238E27FC236}">
                  <a16:creationId xmlns:a16="http://schemas.microsoft.com/office/drawing/2014/main" id="{1EE4C72C-CFB5-92E8-FE91-2741894BBD97}"/>
                </a:ext>
              </a:extLst>
            </p:cNvPr>
            <p:cNvSpPr/>
            <p:nvPr/>
          </p:nvSpPr>
          <p:spPr>
            <a:xfrm>
              <a:off x="457200" y="1170432"/>
              <a:ext cx="54864" cy="804672"/>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17" name="Text 15">
              <a:extLst>
                <a:ext uri="{FF2B5EF4-FFF2-40B4-BE49-F238E27FC236}">
                  <a16:creationId xmlns:a16="http://schemas.microsoft.com/office/drawing/2014/main" id="{63972A84-5D77-521A-D784-4AD66E50F615}"/>
                </a:ext>
              </a:extLst>
            </p:cNvPr>
            <p:cNvSpPr/>
            <p:nvPr/>
          </p:nvSpPr>
          <p:spPr>
            <a:xfrm>
              <a:off x="594360" y="1243584"/>
              <a:ext cx="2240280" cy="237744"/>
            </a:xfrm>
            <a:prstGeom prst="rect">
              <a:avLst/>
            </a:prstGeom>
            <a:noFill/>
            <a:ln/>
          </p:spPr>
          <p:txBody>
            <a:bodyPr wrap="square" lIns="0" tIns="0" rIns="0" bIns="0" rtlCol="0" anchor="ctr"/>
            <a:lstStyle/>
            <a:p>
              <a:pPr marL="0" indent="0">
                <a:buNone/>
              </a:pPr>
              <a:r>
                <a:rPr lang="en-US" sz="1100" b="1">
                  <a:solidFill>
                    <a:srgbClr val="1A1A1A"/>
                  </a:solidFill>
                  <a:latin typeface="Gill Sans Nova Light" panose="020B0302020104020203" pitchFamily="34" charset="0"/>
                  <a:ea typeface="Calibri" pitchFamily="34" charset="-122"/>
                  <a:cs typeface="Calibri" pitchFamily="34" charset="-120"/>
                </a:rPr>
                <a:t>Deposit Ratio</a:t>
              </a:r>
              <a:endParaRPr lang="en-US" sz="1100">
                <a:latin typeface="Gill Sans Nova Light" panose="020B0302020104020203" pitchFamily="34" charset="0"/>
              </a:endParaRPr>
            </a:p>
          </p:txBody>
        </p:sp>
        <p:sp>
          <p:nvSpPr>
            <p:cNvPr id="18" name="Text 16">
              <a:extLst>
                <a:ext uri="{FF2B5EF4-FFF2-40B4-BE49-F238E27FC236}">
                  <a16:creationId xmlns:a16="http://schemas.microsoft.com/office/drawing/2014/main" id="{A8C285BF-6324-7009-4AB9-1747118D85BD}"/>
                </a:ext>
              </a:extLst>
            </p:cNvPr>
            <p:cNvSpPr/>
            <p:nvPr/>
          </p:nvSpPr>
          <p:spPr>
            <a:xfrm>
              <a:off x="594360" y="1517904"/>
              <a:ext cx="2240280" cy="38404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Mostly cross-sectional — funding models stable YoY. Within SD still exploitable.</a:t>
              </a:r>
              <a:endParaRPr lang="en-US" sz="850">
                <a:latin typeface="Gill Sans Nova Light" panose="020B0302020104020203" pitchFamily="34" charset="0"/>
              </a:endParaRPr>
            </a:p>
          </p:txBody>
        </p:sp>
        <p:sp>
          <p:nvSpPr>
            <p:cNvPr id="19" name="Text 17">
              <a:extLst>
                <a:ext uri="{FF2B5EF4-FFF2-40B4-BE49-F238E27FC236}">
                  <a16:creationId xmlns:a16="http://schemas.microsoft.com/office/drawing/2014/main" id="{5710612B-ADC1-9816-6031-B3185516FA48}"/>
                </a:ext>
              </a:extLst>
            </p:cNvPr>
            <p:cNvSpPr/>
            <p:nvPr/>
          </p:nvSpPr>
          <p:spPr>
            <a:xfrm>
              <a:off x="2990088" y="142646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0.136</a:t>
              </a:r>
              <a:endParaRPr lang="en-US" sz="1300">
                <a:latin typeface="Gill Sans Nova Light" panose="020B0302020104020203" pitchFamily="34" charset="0"/>
              </a:endParaRPr>
            </a:p>
          </p:txBody>
        </p:sp>
        <p:sp>
          <p:nvSpPr>
            <p:cNvPr id="20" name="Text 18">
              <a:extLst>
                <a:ext uri="{FF2B5EF4-FFF2-40B4-BE49-F238E27FC236}">
                  <a16:creationId xmlns:a16="http://schemas.microsoft.com/office/drawing/2014/main" id="{62A251D3-1917-6C32-8646-A317129FBC6F}"/>
                </a:ext>
              </a:extLst>
            </p:cNvPr>
            <p:cNvSpPr/>
            <p:nvPr/>
          </p:nvSpPr>
          <p:spPr>
            <a:xfrm>
              <a:off x="4178808" y="142646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0.127</a:t>
              </a:r>
              <a:endParaRPr lang="en-US" sz="1300">
                <a:latin typeface="Gill Sans Nova Light" panose="020B0302020104020203" pitchFamily="34" charset="0"/>
              </a:endParaRPr>
            </a:p>
          </p:txBody>
        </p:sp>
        <p:sp>
          <p:nvSpPr>
            <p:cNvPr id="21" name="Text 19">
              <a:extLst>
                <a:ext uri="{FF2B5EF4-FFF2-40B4-BE49-F238E27FC236}">
                  <a16:creationId xmlns:a16="http://schemas.microsoft.com/office/drawing/2014/main" id="{6B5E530E-4875-AB55-EBE8-6A1E326D2ABB}"/>
                </a:ext>
              </a:extLst>
            </p:cNvPr>
            <p:cNvSpPr/>
            <p:nvPr/>
          </p:nvSpPr>
          <p:spPr>
            <a:xfrm>
              <a:off x="5367528" y="142646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0.047</a:t>
              </a:r>
              <a:endParaRPr lang="en-US" sz="1300">
                <a:latin typeface="Gill Sans Nova Light" panose="020B0302020104020203" pitchFamily="34" charset="0"/>
              </a:endParaRPr>
            </a:p>
          </p:txBody>
        </p:sp>
        <p:sp>
          <p:nvSpPr>
            <p:cNvPr id="22" name="Shape 20">
              <a:extLst>
                <a:ext uri="{FF2B5EF4-FFF2-40B4-BE49-F238E27FC236}">
                  <a16:creationId xmlns:a16="http://schemas.microsoft.com/office/drawing/2014/main" id="{5023E3E5-B8B6-C787-003B-D716587ED33D}"/>
                </a:ext>
              </a:extLst>
            </p:cNvPr>
            <p:cNvSpPr/>
            <p:nvPr/>
          </p:nvSpPr>
          <p:spPr>
            <a:xfrm>
              <a:off x="6583680" y="1463040"/>
              <a:ext cx="1828800" cy="164592"/>
            </a:xfrm>
            <a:prstGeom prst="rect">
              <a:avLst/>
            </a:prstGeom>
            <a:solidFill>
              <a:srgbClr val="E5E7EB"/>
            </a:solidFill>
            <a:ln w="12700">
              <a:solidFill>
                <a:srgbClr val="E5E7EB"/>
              </a:solidFill>
              <a:prstDash val="solid"/>
            </a:ln>
          </p:spPr>
          <p:txBody>
            <a:bodyPr/>
            <a:lstStyle/>
            <a:p>
              <a:endParaRPr lang="en-CH">
                <a:latin typeface="Gill Sans Nova Light" panose="020B0302020104020203" pitchFamily="34" charset="0"/>
              </a:endParaRPr>
            </a:p>
          </p:txBody>
        </p:sp>
        <p:sp>
          <p:nvSpPr>
            <p:cNvPr id="23" name="Shape 21">
              <a:extLst>
                <a:ext uri="{FF2B5EF4-FFF2-40B4-BE49-F238E27FC236}">
                  <a16:creationId xmlns:a16="http://schemas.microsoft.com/office/drawing/2014/main" id="{200513CB-FBE6-2C44-D881-01FC3DA5FB9E}"/>
                </a:ext>
              </a:extLst>
            </p:cNvPr>
            <p:cNvSpPr/>
            <p:nvPr/>
          </p:nvSpPr>
          <p:spPr>
            <a:xfrm>
              <a:off x="6583680" y="1463040"/>
              <a:ext cx="678485" cy="164592"/>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24" name="Text 22">
              <a:extLst>
                <a:ext uri="{FF2B5EF4-FFF2-40B4-BE49-F238E27FC236}">
                  <a16:creationId xmlns:a16="http://schemas.microsoft.com/office/drawing/2014/main" id="{0A6976EF-E86A-FE99-DED3-67A97BAD769F}"/>
                </a:ext>
              </a:extLst>
            </p:cNvPr>
            <p:cNvSpPr/>
            <p:nvPr/>
          </p:nvSpPr>
          <p:spPr>
            <a:xfrm>
              <a:off x="6620256" y="1463040"/>
              <a:ext cx="1755648" cy="164592"/>
            </a:xfrm>
            <a:prstGeom prst="rect">
              <a:avLst/>
            </a:prstGeom>
            <a:noFill/>
            <a:ln/>
          </p:spPr>
          <p:txBody>
            <a:bodyPr wrap="square" lIns="0" tIns="0" rIns="0" bIns="0" rtlCol="0" anchor="ctr"/>
            <a:lstStyle/>
            <a:p>
              <a:pPr marL="0" indent="0">
                <a:buNone/>
              </a:pPr>
              <a:r>
                <a:rPr lang="en-US" sz="900" b="1">
                  <a:solidFill>
                    <a:srgbClr val="FFFFFF"/>
                  </a:solidFill>
                  <a:latin typeface="Gill Sans Nova Light" panose="020B0302020104020203" pitchFamily="34" charset="0"/>
                  <a:ea typeface="Calibri" pitchFamily="34" charset="-122"/>
                  <a:cs typeface="Calibri" pitchFamily="34" charset="-120"/>
                </a:rPr>
                <a:t>0.371</a:t>
              </a:r>
              <a:endParaRPr lang="en-US" sz="900">
                <a:latin typeface="Gill Sans Nova Light" panose="020B0302020104020203" pitchFamily="34" charset="0"/>
              </a:endParaRPr>
            </a:p>
          </p:txBody>
        </p:sp>
        <p:sp>
          <p:nvSpPr>
            <p:cNvPr id="25" name="Shape 23">
              <a:extLst>
                <a:ext uri="{FF2B5EF4-FFF2-40B4-BE49-F238E27FC236}">
                  <a16:creationId xmlns:a16="http://schemas.microsoft.com/office/drawing/2014/main" id="{91253B62-5F0E-06F7-A0D4-704DD461447C}"/>
                </a:ext>
              </a:extLst>
            </p:cNvPr>
            <p:cNvSpPr/>
            <p:nvPr/>
          </p:nvSpPr>
          <p:spPr>
            <a:xfrm>
              <a:off x="457200" y="1993392"/>
              <a:ext cx="8229600" cy="804672"/>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26" name="Shape 24">
              <a:extLst>
                <a:ext uri="{FF2B5EF4-FFF2-40B4-BE49-F238E27FC236}">
                  <a16:creationId xmlns:a16="http://schemas.microsoft.com/office/drawing/2014/main" id="{202E8750-D7EA-D50B-2F21-2E66B85C0391}"/>
                </a:ext>
              </a:extLst>
            </p:cNvPr>
            <p:cNvSpPr/>
            <p:nvPr/>
          </p:nvSpPr>
          <p:spPr>
            <a:xfrm>
              <a:off x="457200" y="1993392"/>
              <a:ext cx="54864" cy="804672"/>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27" name="Text 25">
              <a:extLst>
                <a:ext uri="{FF2B5EF4-FFF2-40B4-BE49-F238E27FC236}">
                  <a16:creationId xmlns:a16="http://schemas.microsoft.com/office/drawing/2014/main" id="{8FC77D95-05C3-A153-5DA4-2E5C679C381F}"/>
                </a:ext>
              </a:extLst>
            </p:cNvPr>
            <p:cNvSpPr/>
            <p:nvPr/>
          </p:nvSpPr>
          <p:spPr>
            <a:xfrm>
              <a:off x="594360" y="2066544"/>
              <a:ext cx="2240280" cy="237744"/>
            </a:xfrm>
            <a:prstGeom prst="rect">
              <a:avLst/>
            </a:prstGeom>
            <a:noFill/>
            <a:ln/>
          </p:spPr>
          <p:txBody>
            <a:bodyPr wrap="square" lIns="0" tIns="0" rIns="0" bIns="0" rtlCol="0" anchor="ctr"/>
            <a:lstStyle/>
            <a:p>
              <a:pPr marL="0" indent="0">
                <a:buNone/>
              </a:pPr>
              <a:r>
                <a:rPr lang="en-US" sz="1100" b="1">
                  <a:solidFill>
                    <a:srgbClr val="1A1A1A"/>
                  </a:solidFill>
                  <a:latin typeface="Gill Sans Nova Light" panose="020B0302020104020203" pitchFamily="34" charset="0"/>
                  <a:ea typeface="Calibri" pitchFamily="34" charset="-122"/>
                  <a:cs typeface="Calibri" pitchFamily="34" charset="-120"/>
                </a:rPr>
                <a:t>Age65 (%)</a:t>
              </a:r>
              <a:endParaRPr lang="en-US" sz="1100">
                <a:latin typeface="Gill Sans Nova Light" panose="020B0302020104020203" pitchFamily="34" charset="0"/>
              </a:endParaRPr>
            </a:p>
          </p:txBody>
        </p:sp>
        <p:sp>
          <p:nvSpPr>
            <p:cNvPr id="28" name="Text 26">
              <a:extLst>
                <a:ext uri="{FF2B5EF4-FFF2-40B4-BE49-F238E27FC236}">
                  <a16:creationId xmlns:a16="http://schemas.microsoft.com/office/drawing/2014/main" id="{C84AA61C-9810-FE2D-A21B-F7ABB1689AA9}"/>
                </a:ext>
              </a:extLst>
            </p:cNvPr>
            <p:cNvSpPr/>
            <p:nvPr/>
          </p:nvSpPr>
          <p:spPr>
            <a:xfrm>
              <a:off x="594360" y="2340864"/>
              <a:ext cx="2240280" cy="38404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Best result. Aging moves meaningfully within countries — FE identification validated.</a:t>
              </a:r>
              <a:endParaRPr lang="en-US" sz="850">
                <a:latin typeface="Gill Sans Nova Light" panose="020B0302020104020203" pitchFamily="34" charset="0"/>
              </a:endParaRPr>
            </a:p>
          </p:txBody>
        </p:sp>
        <p:sp>
          <p:nvSpPr>
            <p:cNvPr id="29" name="Text 27">
              <a:extLst>
                <a:ext uri="{FF2B5EF4-FFF2-40B4-BE49-F238E27FC236}">
                  <a16:creationId xmlns:a16="http://schemas.microsoft.com/office/drawing/2014/main" id="{067D0AD2-F912-CD9F-4364-49987813B686}"/>
                </a:ext>
              </a:extLst>
            </p:cNvPr>
            <p:cNvSpPr/>
            <p:nvPr/>
          </p:nvSpPr>
          <p:spPr>
            <a:xfrm>
              <a:off x="2990088" y="224942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1.737</a:t>
              </a:r>
              <a:endParaRPr lang="en-US" sz="1300">
                <a:latin typeface="Gill Sans Nova Light" panose="020B0302020104020203" pitchFamily="34" charset="0"/>
              </a:endParaRPr>
            </a:p>
          </p:txBody>
        </p:sp>
        <p:sp>
          <p:nvSpPr>
            <p:cNvPr id="30" name="Text 28">
              <a:extLst>
                <a:ext uri="{FF2B5EF4-FFF2-40B4-BE49-F238E27FC236}">
                  <a16:creationId xmlns:a16="http://schemas.microsoft.com/office/drawing/2014/main" id="{CF2E9D00-DD55-5096-7B93-E34B22587626}"/>
                </a:ext>
              </a:extLst>
            </p:cNvPr>
            <p:cNvSpPr/>
            <p:nvPr/>
          </p:nvSpPr>
          <p:spPr>
            <a:xfrm>
              <a:off x="4178808" y="224942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1.411</a:t>
              </a:r>
              <a:endParaRPr lang="en-US" sz="1300">
                <a:latin typeface="Gill Sans Nova Light" panose="020B0302020104020203" pitchFamily="34" charset="0"/>
              </a:endParaRPr>
            </a:p>
          </p:txBody>
        </p:sp>
        <p:sp>
          <p:nvSpPr>
            <p:cNvPr id="31" name="Text 29">
              <a:extLst>
                <a:ext uri="{FF2B5EF4-FFF2-40B4-BE49-F238E27FC236}">
                  <a16:creationId xmlns:a16="http://schemas.microsoft.com/office/drawing/2014/main" id="{5EFE275A-94E0-B8B9-9948-F5B21E19DCA9}"/>
                </a:ext>
              </a:extLst>
            </p:cNvPr>
            <p:cNvSpPr/>
            <p:nvPr/>
          </p:nvSpPr>
          <p:spPr>
            <a:xfrm>
              <a:off x="5367528" y="224942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1.013</a:t>
              </a:r>
              <a:endParaRPr lang="en-US" sz="1300">
                <a:latin typeface="Gill Sans Nova Light" panose="020B0302020104020203" pitchFamily="34" charset="0"/>
              </a:endParaRPr>
            </a:p>
          </p:txBody>
        </p:sp>
        <p:sp>
          <p:nvSpPr>
            <p:cNvPr id="32" name="Shape 30">
              <a:extLst>
                <a:ext uri="{FF2B5EF4-FFF2-40B4-BE49-F238E27FC236}">
                  <a16:creationId xmlns:a16="http://schemas.microsoft.com/office/drawing/2014/main" id="{0D149683-6224-EA20-629B-90A1E9A5EE27}"/>
                </a:ext>
              </a:extLst>
            </p:cNvPr>
            <p:cNvSpPr/>
            <p:nvPr/>
          </p:nvSpPr>
          <p:spPr>
            <a:xfrm>
              <a:off x="6583680" y="2286000"/>
              <a:ext cx="1828800" cy="164592"/>
            </a:xfrm>
            <a:prstGeom prst="rect">
              <a:avLst/>
            </a:prstGeom>
            <a:solidFill>
              <a:srgbClr val="E5E7EB"/>
            </a:solidFill>
            <a:ln w="12700">
              <a:solidFill>
                <a:srgbClr val="E5E7EB"/>
              </a:solidFill>
              <a:prstDash val="solid"/>
            </a:ln>
          </p:spPr>
          <p:txBody>
            <a:bodyPr/>
            <a:lstStyle/>
            <a:p>
              <a:endParaRPr lang="en-CH">
                <a:latin typeface="Gill Sans Nova Light" panose="020B0302020104020203" pitchFamily="34" charset="0"/>
              </a:endParaRPr>
            </a:p>
          </p:txBody>
        </p:sp>
        <p:sp>
          <p:nvSpPr>
            <p:cNvPr id="33" name="Shape 31">
              <a:extLst>
                <a:ext uri="{FF2B5EF4-FFF2-40B4-BE49-F238E27FC236}">
                  <a16:creationId xmlns:a16="http://schemas.microsoft.com/office/drawing/2014/main" id="{6E9D4CAF-565E-B053-81D2-B10E2DF6F7D8}"/>
                </a:ext>
              </a:extLst>
            </p:cNvPr>
            <p:cNvSpPr/>
            <p:nvPr/>
          </p:nvSpPr>
          <p:spPr>
            <a:xfrm>
              <a:off x="6583680" y="2286000"/>
              <a:ext cx="1313078" cy="164592"/>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34" name="Text 32">
              <a:extLst>
                <a:ext uri="{FF2B5EF4-FFF2-40B4-BE49-F238E27FC236}">
                  <a16:creationId xmlns:a16="http://schemas.microsoft.com/office/drawing/2014/main" id="{AF1519DD-8B53-E999-25F5-D46C2C644E9E}"/>
                </a:ext>
              </a:extLst>
            </p:cNvPr>
            <p:cNvSpPr/>
            <p:nvPr/>
          </p:nvSpPr>
          <p:spPr>
            <a:xfrm>
              <a:off x="6620256" y="2286000"/>
              <a:ext cx="1755648" cy="164592"/>
            </a:xfrm>
            <a:prstGeom prst="rect">
              <a:avLst/>
            </a:prstGeom>
            <a:noFill/>
            <a:ln/>
          </p:spPr>
          <p:txBody>
            <a:bodyPr wrap="square" lIns="0" tIns="0" rIns="0" bIns="0" rtlCol="0" anchor="ctr"/>
            <a:lstStyle/>
            <a:p>
              <a:pPr marL="0" indent="0">
                <a:buNone/>
              </a:pPr>
              <a:r>
                <a:rPr lang="en-US" sz="900" b="1">
                  <a:solidFill>
                    <a:srgbClr val="FFFFFF"/>
                  </a:solidFill>
                  <a:latin typeface="Gill Sans Nova Light" panose="020B0302020104020203" pitchFamily="34" charset="0"/>
                  <a:ea typeface="Calibri" pitchFamily="34" charset="-122"/>
                  <a:cs typeface="Calibri" pitchFamily="34" charset="-120"/>
                </a:rPr>
                <a:t>0.718</a:t>
              </a:r>
              <a:endParaRPr lang="en-US" sz="900">
                <a:latin typeface="Gill Sans Nova Light" panose="020B0302020104020203" pitchFamily="34" charset="0"/>
              </a:endParaRPr>
            </a:p>
          </p:txBody>
        </p:sp>
        <p:sp>
          <p:nvSpPr>
            <p:cNvPr id="35" name="Shape 33">
              <a:extLst>
                <a:ext uri="{FF2B5EF4-FFF2-40B4-BE49-F238E27FC236}">
                  <a16:creationId xmlns:a16="http://schemas.microsoft.com/office/drawing/2014/main" id="{12BF953D-B94E-917B-E050-4153C3796129}"/>
                </a:ext>
              </a:extLst>
            </p:cNvPr>
            <p:cNvSpPr/>
            <p:nvPr/>
          </p:nvSpPr>
          <p:spPr>
            <a:xfrm>
              <a:off x="457200" y="2816352"/>
              <a:ext cx="8229600" cy="804672"/>
            </a:xfrm>
            <a:prstGeom prst="rect">
              <a:avLst/>
            </a:prstGeom>
            <a:solidFill>
              <a:srgbClr val="F4F6F9"/>
            </a:solidFill>
            <a:ln w="6350">
              <a:solidFill>
                <a:srgbClr val="D0D7E3"/>
              </a:solidFill>
              <a:prstDash val="solid"/>
            </a:ln>
          </p:spPr>
          <p:txBody>
            <a:bodyPr/>
            <a:lstStyle/>
            <a:p>
              <a:endParaRPr lang="en-CH">
                <a:latin typeface="Gill Sans Nova Light" panose="020B0302020104020203" pitchFamily="34" charset="0"/>
              </a:endParaRPr>
            </a:p>
          </p:txBody>
        </p:sp>
        <p:sp>
          <p:nvSpPr>
            <p:cNvPr id="36" name="Shape 34">
              <a:extLst>
                <a:ext uri="{FF2B5EF4-FFF2-40B4-BE49-F238E27FC236}">
                  <a16:creationId xmlns:a16="http://schemas.microsoft.com/office/drawing/2014/main" id="{A2F8FF13-6E4C-7C09-6294-0F16A02365F5}"/>
                </a:ext>
              </a:extLst>
            </p:cNvPr>
            <p:cNvSpPr/>
            <p:nvPr/>
          </p:nvSpPr>
          <p:spPr>
            <a:xfrm>
              <a:off x="457200" y="2816352"/>
              <a:ext cx="54864" cy="804672"/>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37" name="Text 35">
              <a:extLst>
                <a:ext uri="{FF2B5EF4-FFF2-40B4-BE49-F238E27FC236}">
                  <a16:creationId xmlns:a16="http://schemas.microsoft.com/office/drawing/2014/main" id="{4DFFD16A-873D-BA3E-BC01-CAA6DB6AD3CF}"/>
                </a:ext>
              </a:extLst>
            </p:cNvPr>
            <p:cNvSpPr/>
            <p:nvPr/>
          </p:nvSpPr>
          <p:spPr>
            <a:xfrm>
              <a:off x="594360" y="2889504"/>
              <a:ext cx="2240280" cy="237744"/>
            </a:xfrm>
            <a:prstGeom prst="rect">
              <a:avLst/>
            </a:prstGeom>
            <a:noFill/>
            <a:ln/>
          </p:spPr>
          <p:txBody>
            <a:bodyPr wrap="square" lIns="0" tIns="0" rIns="0" bIns="0" rtlCol="0" anchor="ctr"/>
            <a:lstStyle/>
            <a:p>
              <a:pPr marL="0" indent="0">
                <a:buNone/>
              </a:pPr>
              <a:r>
                <a:rPr lang="en-US" sz="1100" b="1">
                  <a:solidFill>
                    <a:srgbClr val="1A1A1A"/>
                  </a:solidFill>
                  <a:latin typeface="Gill Sans Nova Light" panose="020B0302020104020203" pitchFamily="34" charset="0"/>
                  <a:ea typeface="Calibri" pitchFamily="34" charset="-122"/>
                  <a:cs typeface="Calibri" pitchFamily="34" charset="-120"/>
                </a:rPr>
                <a:t>FinStructure</a:t>
              </a:r>
              <a:endParaRPr lang="en-US" sz="1100">
                <a:latin typeface="Gill Sans Nova Light" panose="020B0302020104020203" pitchFamily="34" charset="0"/>
              </a:endParaRPr>
            </a:p>
          </p:txBody>
        </p:sp>
        <p:sp>
          <p:nvSpPr>
            <p:cNvPr id="38" name="Text 36">
              <a:extLst>
                <a:ext uri="{FF2B5EF4-FFF2-40B4-BE49-F238E27FC236}">
                  <a16:creationId xmlns:a16="http://schemas.microsoft.com/office/drawing/2014/main" id="{1E5A1845-3E68-7366-5127-350CB980D926}"/>
                </a:ext>
              </a:extLst>
            </p:cNvPr>
            <p:cNvSpPr/>
            <p:nvPr/>
          </p:nvSpPr>
          <p:spPr>
            <a:xfrm>
              <a:off x="594360" y="3163824"/>
              <a:ext cx="2240280" cy="38404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Weakest FE identification. Post-GFC convergence argument holds, but expect wider SEs on β₃.</a:t>
              </a:r>
              <a:endParaRPr lang="en-US" sz="850">
                <a:latin typeface="Gill Sans Nova Light" panose="020B0302020104020203" pitchFamily="34" charset="0"/>
              </a:endParaRPr>
            </a:p>
          </p:txBody>
        </p:sp>
        <p:sp>
          <p:nvSpPr>
            <p:cNvPr id="39" name="Text 37">
              <a:extLst>
                <a:ext uri="{FF2B5EF4-FFF2-40B4-BE49-F238E27FC236}">
                  <a16:creationId xmlns:a16="http://schemas.microsoft.com/office/drawing/2014/main" id="{6D41FC66-3706-1017-9903-94461F130619}"/>
                </a:ext>
              </a:extLst>
            </p:cNvPr>
            <p:cNvSpPr/>
            <p:nvPr/>
          </p:nvSpPr>
          <p:spPr>
            <a:xfrm>
              <a:off x="2990088" y="307238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0.175</a:t>
              </a:r>
              <a:endParaRPr lang="en-US" sz="1300">
                <a:latin typeface="Gill Sans Nova Light" panose="020B0302020104020203" pitchFamily="34" charset="0"/>
              </a:endParaRPr>
            </a:p>
          </p:txBody>
        </p:sp>
        <p:sp>
          <p:nvSpPr>
            <p:cNvPr id="40" name="Text 38">
              <a:extLst>
                <a:ext uri="{FF2B5EF4-FFF2-40B4-BE49-F238E27FC236}">
                  <a16:creationId xmlns:a16="http://schemas.microsoft.com/office/drawing/2014/main" id="{A5716DAF-2EAB-E67A-26F8-8BA087F15E43}"/>
                </a:ext>
              </a:extLst>
            </p:cNvPr>
            <p:cNvSpPr/>
            <p:nvPr/>
          </p:nvSpPr>
          <p:spPr>
            <a:xfrm>
              <a:off x="4178808" y="307238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0.200</a:t>
              </a:r>
              <a:endParaRPr lang="en-US" sz="1300">
                <a:latin typeface="Gill Sans Nova Light" panose="020B0302020104020203" pitchFamily="34" charset="0"/>
              </a:endParaRPr>
            </a:p>
          </p:txBody>
        </p:sp>
        <p:sp>
          <p:nvSpPr>
            <p:cNvPr id="41" name="Text 39">
              <a:extLst>
                <a:ext uri="{FF2B5EF4-FFF2-40B4-BE49-F238E27FC236}">
                  <a16:creationId xmlns:a16="http://schemas.microsoft.com/office/drawing/2014/main" id="{BFED9CAF-27A2-AADC-F91B-595E99FC6D36}"/>
                </a:ext>
              </a:extLst>
            </p:cNvPr>
            <p:cNvSpPr/>
            <p:nvPr/>
          </p:nvSpPr>
          <p:spPr>
            <a:xfrm>
              <a:off x="5367528" y="307238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0.072</a:t>
              </a:r>
              <a:endParaRPr lang="en-US" sz="1300">
                <a:latin typeface="Gill Sans Nova Light" panose="020B0302020104020203" pitchFamily="34" charset="0"/>
              </a:endParaRPr>
            </a:p>
          </p:txBody>
        </p:sp>
        <p:sp>
          <p:nvSpPr>
            <p:cNvPr id="42" name="Shape 40">
              <a:extLst>
                <a:ext uri="{FF2B5EF4-FFF2-40B4-BE49-F238E27FC236}">
                  <a16:creationId xmlns:a16="http://schemas.microsoft.com/office/drawing/2014/main" id="{F67CCB24-541D-B878-93BE-CFD7320DBBAC}"/>
                </a:ext>
              </a:extLst>
            </p:cNvPr>
            <p:cNvSpPr/>
            <p:nvPr/>
          </p:nvSpPr>
          <p:spPr>
            <a:xfrm>
              <a:off x="6583680" y="3108960"/>
              <a:ext cx="1828800" cy="164592"/>
            </a:xfrm>
            <a:prstGeom prst="rect">
              <a:avLst/>
            </a:prstGeom>
            <a:solidFill>
              <a:srgbClr val="E5E7EB"/>
            </a:solidFill>
            <a:ln w="12700">
              <a:solidFill>
                <a:srgbClr val="E5E7EB"/>
              </a:solidFill>
              <a:prstDash val="solid"/>
            </a:ln>
          </p:spPr>
          <p:txBody>
            <a:bodyPr/>
            <a:lstStyle/>
            <a:p>
              <a:endParaRPr lang="en-CH">
                <a:latin typeface="Gill Sans Nova Light" panose="020B0302020104020203" pitchFamily="34" charset="0"/>
              </a:endParaRPr>
            </a:p>
          </p:txBody>
        </p:sp>
        <p:sp>
          <p:nvSpPr>
            <p:cNvPr id="43" name="Shape 41">
              <a:extLst>
                <a:ext uri="{FF2B5EF4-FFF2-40B4-BE49-F238E27FC236}">
                  <a16:creationId xmlns:a16="http://schemas.microsoft.com/office/drawing/2014/main" id="{464B20C8-1F96-63F9-4A5A-D0DF021BA5FE}"/>
                </a:ext>
              </a:extLst>
            </p:cNvPr>
            <p:cNvSpPr/>
            <p:nvPr/>
          </p:nvSpPr>
          <p:spPr>
            <a:xfrm>
              <a:off x="6583680" y="3108960"/>
              <a:ext cx="656539" cy="164592"/>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44" name="Text 42">
              <a:extLst>
                <a:ext uri="{FF2B5EF4-FFF2-40B4-BE49-F238E27FC236}">
                  <a16:creationId xmlns:a16="http://schemas.microsoft.com/office/drawing/2014/main" id="{9FF3808E-3277-678C-CB61-DD41B22E0431}"/>
                </a:ext>
              </a:extLst>
            </p:cNvPr>
            <p:cNvSpPr/>
            <p:nvPr/>
          </p:nvSpPr>
          <p:spPr>
            <a:xfrm>
              <a:off x="6620256" y="3108960"/>
              <a:ext cx="1755648" cy="164592"/>
            </a:xfrm>
            <a:prstGeom prst="rect">
              <a:avLst/>
            </a:prstGeom>
            <a:noFill/>
            <a:ln/>
          </p:spPr>
          <p:txBody>
            <a:bodyPr wrap="square" lIns="0" tIns="0" rIns="0" bIns="0" rtlCol="0" anchor="ctr"/>
            <a:lstStyle/>
            <a:p>
              <a:pPr marL="0" indent="0">
                <a:buNone/>
              </a:pPr>
              <a:r>
                <a:rPr lang="en-US" sz="900" b="1">
                  <a:solidFill>
                    <a:srgbClr val="FFFFFF"/>
                  </a:solidFill>
                  <a:latin typeface="Gill Sans Nova Light" panose="020B0302020104020203" pitchFamily="34" charset="0"/>
                  <a:ea typeface="Calibri" pitchFamily="34" charset="-122"/>
                  <a:cs typeface="Calibri" pitchFamily="34" charset="-120"/>
                </a:rPr>
                <a:t>0.359</a:t>
              </a:r>
              <a:endParaRPr lang="en-US" sz="900">
                <a:latin typeface="Gill Sans Nova Light" panose="020B0302020104020203" pitchFamily="34" charset="0"/>
              </a:endParaRPr>
            </a:p>
          </p:txBody>
        </p:sp>
        <p:sp>
          <p:nvSpPr>
            <p:cNvPr id="45" name="Shape 43">
              <a:extLst>
                <a:ext uri="{FF2B5EF4-FFF2-40B4-BE49-F238E27FC236}">
                  <a16:creationId xmlns:a16="http://schemas.microsoft.com/office/drawing/2014/main" id="{BA6948F0-0955-CEE8-47BA-136EDD734967}"/>
                </a:ext>
              </a:extLst>
            </p:cNvPr>
            <p:cNvSpPr/>
            <p:nvPr/>
          </p:nvSpPr>
          <p:spPr>
            <a:xfrm>
              <a:off x="457200" y="3639312"/>
              <a:ext cx="8229600" cy="804672"/>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46" name="Shape 44">
              <a:extLst>
                <a:ext uri="{FF2B5EF4-FFF2-40B4-BE49-F238E27FC236}">
                  <a16:creationId xmlns:a16="http://schemas.microsoft.com/office/drawing/2014/main" id="{D1B91E0A-4BD2-DEC3-B25D-D7C637606595}"/>
                </a:ext>
              </a:extLst>
            </p:cNvPr>
            <p:cNvSpPr/>
            <p:nvPr/>
          </p:nvSpPr>
          <p:spPr>
            <a:xfrm>
              <a:off x="457200" y="3639312"/>
              <a:ext cx="54864" cy="804672"/>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47" name="Text 45">
              <a:extLst>
                <a:ext uri="{FF2B5EF4-FFF2-40B4-BE49-F238E27FC236}">
                  <a16:creationId xmlns:a16="http://schemas.microsoft.com/office/drawing/2014/main" id="{8193B1F7-5ED5-1CF7-D00A-0DC076D01490}"/>
                </a:ext>
              </a:extLst>
            </p:cNvPr>
            <p:cNvSpPr/>
            <p:nvPr/>
          </p:nvSpPr>
          <p:spPr>
            <a:xfrm>
              <a:off x="594360" y="3712464"/>
              <a:ext cx="2240280" cy="237744"/>
            </a:xfrm>
            <a:prstGeom prst="rect">
              <a:avLst/>
            </a:prstGeom>
            <a:noFill/>
            <a:ln/>
          </p:spPr>
          <p:txBody>
            <a:bodyPr wrap="square" lIns="0" tIns="0" rIns="0" bIns="0" rtlCol="0" anchor="ctr"/>
            <a:lstStyle/>
            <a:p>
              <a:pPr marL="0" indent="0">
                <a:buNone/>
              </a:pPr>
              <a:r>
                <a:rPr lang="en-US" sz="1100" b="1">
                  <a:solidFill>
                    <a:srgbClr val="1A1A1A"/>
                  </a:solidFill>
                  <a:latin typeface="Gill Sans Nova Light" panose="020B0302020104020203" pitchFamily="34" charset="0"/>
                  <a:ea typeface="Calibri" pitchFamily="34" charset="-122"/>
                  <a:cs typeface="Calibri" pitchFamily="34" charset="-120"/>
                </a:rPr>
                <a:t>Replacement Ratio (ARR)</a:t>
              </a:r>
              <a:endParaRPr lang="en-US" sz="1100">
                <a:latin typeface="Gill Sans Nova Light" panose="020B0302020104020203" pitchFamily="34" charset="0"/>
              </a:endParaRPr>
            </a:p>
          </p:txBody>
        </p:sp>
        <p:sp>
          <p:nvSpPr>
            <p:cNvPr id="48" name="Text 46">
              <a:extLst>
                <a:ext uri="{FF2B5EF4-FFF2-40B4-BE49-F238E27FC236}">
                  <a16:creationId xmlns:a16="http://schemas.microsoft.com/office/drawing/2014/main" id="{B5A51B5B-6913-C30A-0442-542C6CE64575}"/>
                </a:ext>
              </a:extLst>
            </p:cNvPr>
            <p:cNvSpPr/>
            <p:nvPr/>
          </p:nvSpPr>
          <p:spPr>
            <a:xfrm>
              <a:off x="594360" y="3986784"/>
              <a:ext cx="2240280" cy="38404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Decent within-variation — pension reforms shifted ARR across 2010–2024.</a:t>
              </a:r>
              <a:endParaRPr lang="en-US" sz="850">
                <a:latin typeface="Gill Sans Nova Light" panose="020B0302020104020203" pitchFamily="34" charset="0"/>
              </a:endParaRPr>
            </a:p>
          </p:txBody>
        </p:sp>
        <p:sp>
          <p:nvSpPr>
            <p:cNvPr id="49" name="Text 47">
              <a:extLst>
                <a:ext uri="{FF2B5EF4-FFF2-40B4-BE49-F238E27FC236}">
                  <a16:creationId xmlns:a16="http://schemas.microsoft.com/office/drawing/2014/main" id="{F4BD0CF1-20D1-CA69-1FF3-02250980B1E3}"/>
                </a:ext>
              </a:extLst>
            </p:cNvPr>
            <p:cNvSpPr/>
            <p:nvPr/>
          </p:nvSpPr>
          <p:spPr>
            <a:xfrm>
              <a:off x="2990088" y="389534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0.075</a:t>
              </a:r>
              <a:endParaRPr lang="en-US" sz="1300">
                <a:latin typeface="Gill Sans Nova Light" panose="020B0302020104020203" pitchFamily="34" charset="0"/>
              </a:endParaRPr>
            </a:p>
          </p:txBody>
        </p:sp>
        <p:sp>
          <p:nvSpPr>
            <p:cNvPr id="50" name="Text 48">
              <a:extLst>
                <a:ext uri="{FF2B5EF4-FFF2-40B4-BE49-F238E27FC236}">
                  <a16:creationId xmlns:a16="http://schemas.microsoft.com/office/drawing/2014/main" id="{32481A2A-171F-1D79-DA86-BC7D36BD5179}"/>
                </a:ext>
              </a:extLst>
            </p:cNvPr>
            <p:cNvSpPr/>
            <p:nvPr/>
          </p:nvSpPr>
          <p:spPr>
            <a:xfrm>
              <a:off x="4178808" y="389534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0.067</a:t>
              </a:r>
              <a:endParaRPr lang="en-US" sz="1300">
                <a:latin typeface="Gill Sans Nova Light" panose="020B0302020104020203" pitchFamily="34" charset="0"/>
              </a:endParaRPr>
            </a:p>
          </p:txBody>
        </p:sp>
        <p:sp>
          <p:nvSpPr>
            <p:cNvPr id="51" name="Text 49">
              <a:extLst>
                <a:ext uri="{FF2B5EF4-FFF2-40B4-BE49-F238E27FC236}">
                  <a16:creationId xmlns:a16="http://schemas.microsoft.com/office/drawing/2014/main" id="{6BFBF587-F1DB-46AB-C523-E1BF6A92BCC1}"/>
                </a:ext>
              </a:extLst>
            </p:cNvPr>
            <p:cNvSpPr/>
            <p:nvPr/>
          </p:nvSpPr>
          <p:spPr>
            <a:xfrm>
              <a:off x="5367528" y="3895344"/>
              <a:ext cx="969264" cy="274320"/>
            </a:xfrm>
            <a:prstGeom prst="rect">
              <a:avLst/>
            </a:prstGeom>
            <a:noFill/>
            <a:ln/>
          </p:spPr>
          <p:txBody>
            <a:bodyPr wrap="square" lIns="0" tIns="0" rIns="0" bIns="0" rtlCol="0" anchor="ctr"/>
            <a:lstStyle/>
            <a:p>
              <a:pPr marL="0" indent="0" algn="ctr">
                <a:buNone/>
              </a:pPr>
              <a:r>
                <a:rPr lang="en-US" sz="1300" b="1">
                  <a:solidFill>
                    <a:srgbClr val="2E5FA3"/>
                  </a:solidFill>
                  <a:latin typeface="Gill Sans Nova Light" panose="020B0302020104020203" pitchFamily="34" charset="0"/>
                  <a:ea typeface="Calibri" pitchFamily="34" charset="-122"/>
                  <a:cs typeface="Calibri" pitchFamily="34" charset="-120"/>
                </a:rPr>
                <a:t>0.033</a:t>
              </a:r>
              <a:endParaRPr lang="en-US" sz="1300">
                <a:latin typeface="Gill Sans Nova Light" panose="020B0302020104020203" pitchFamily="34" charset="0"/>
              </a:endParaRPr>
            </a:p>
          </p:txBody>
        </p:sp>
        <p:sp>
          <p:nvSpPr>
            <p:cNvPr id="52" name="Shape 50">
              <a:extLst>
                <a:ext uri="{FF2B5EF4-FFF2-40B4-BE49-F238E27FC236}">
                  <a16:creationId xmlns:a16="http://schemas.microsoft.com/office/drawing/2014/main" id="{F88D60AB-FB02-A8F6-BA2F-9128B6716FD1}"/>
                </a:ext>
              </a:extLst>
            </p:cNvPr>
            <p:cNvSpPr/>
            <p:nvPr/>
          </p:nvSpPr>
          <p:spPr>
            <a:xfrm>
              <a:off x="6583680" y="3931920"/>
              <a:ext cx="1828800" cy="164592"/>
            </a:xfrm>
            <a:prstGeom prst="rect">
              <a:avLst/>
            </a:prstGeom>
            <a:solidFill>
              <a:srgbClr val="E5E7EB"/>
            </a:solidFill>
            <a:ln w="12700">
              <a:solidFill>
                <a:srgbClr val="E5E7EB"/>
              </a:solidFill>
              <a:prstDash val="solid"/>
            </a:ln>
          </p:spPr>
          <p:txBody>
            <a:bodyPr/>
            <a:lstStyle/>
            <a:p>
              <a:endParaRPr lang="en-CH">
                <a:latin typeface="Gill Sans Nova Light" panose="020B0302020104020203" pitchFamily="34" charset="0"/>
              </a:endParaRPr>
            </a:p>
          </p:txBody>
        </p:sp>
        <p:sp>
          <p:nvSpPr>
            <p:cNvPr id="53" name="Shape 51">
              <a:extLst>
                <a:ext uri="{FF2B5EF4-FFF2-40B4-BE49-F238E27FC236}">
                  <a16:creationId xmlns:a16="http://schemas.microsoft.com/office/drawing/2014/main" id="{5A021CCA-8126-B1AC-674E-EF77B7187931}"/>
                </a:ext>
              </a:extLst>
            </p:cNvPr>
            <p:cNvSpPr/>
            <p:nvPr/>
          </p:nvSpPr>
          <p:spPr>
            <a:xfrm>
              <a:off x="6583680" y="3931920"/>
              <a:ext cx="910742" cy="164592"/>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54" name="Text 52">
              <a:extLst>
                <a:ext uri="{FF2B5EF4-FFF2-40B4-BE49-F238E27FC236}">
                  <a16:creationId xmlns:a16="http://schemas.microsoft.com/office/drawing/2014/main" id="{289EFFC4-447B-F7B5-B5AF-00BF2158817B}"/>
                </a:ext>
              </a:extLst>
            </p:cNvPr>
            <p:cNvSpPr/>
            <p:nvPr/>
          </p:nvSpPr>
          <p:spPr>
            <a:xfrm>
              <a:off x="6620256" y="3931920"/>
              <a:ext cx="1755648" cy="164592"/>
            </a:xfrm>
            <a:prstGeom prst="rect">
              <a:avLst/>
            </a:prstGeom>
            <a:noFill/>
            <a:ln/>
          </p:spPr>
          <p:txBody>
            <a:bodyPr wrap="square" lIns="0" tIns="0" rIns="0" bIns="0" rtlCol="0" anchor="ctr"/>
            <a:lstStyle/>
            <a:p>
              <a:pPr marL="0" indent="0">
                <a:buNone/>
              </a:pPr>
              <a:r>
                <a:rPr lang="en-US" sz="900" b="1">
                  <a:solidFill>
                    <a:srgbClr val="FFFFFF"/>
                  </a:solidFill>
                  <a:latin typeface="Gill Sans Nova Light" panose="020B0302020104020203" pitchFamily="34" charset="0"/>
                  <a:ea typeface="Calibri" pitchFamily="34" charset="-122"/>
                  <a:cs typeface="Calibri" pitchFamily="34" charset="-120"/>
                </a:rPr>
                <a:t>0.498</a:t>
              </a:r>
              <a:endParaRPr lang="en-US" sz="900">
                <a:latin typeface="Gill Sans Nova Light" panose="020B0302020104020203" pitchFamily="34" charset="0"/>
              </a:endParaRPr>
            </a:p>
          </p:txBody>
        </p:sp>
        <p:sp>
          <p:nvSpPr>
            <p:cNvPr id="55" name="Shape 53">
              <a:extLst>
                <a:ext uri="{FF2B5EF4-FFF2-40B4-BE49-F238E27FC236}">
                  <a16:creationId xmlns:a16="http://schemas.microsoft.com/office/drawing/2014/main" id="{0CC5CE52-1086-46FD-3FD5-D80611862A06}"/>
                </a:ext>
              </a:extLst>
            </p:cNvPr>
            <p:cNvSpPr/>
            <p:nvPr/>
          </p:nvSpPr>
          <p:spPr>
            <a:xfrm>
              <a:off x="457200" y="4462272"/>
              <a:ext cx="8229600" cy="457200"/>
            </a:xfrm>
            <a:prstGeom prst="rect">
              <a:avLst/>
            </a:prstGeom>
            <a:solidFill>
              <a:srgbClr val="D4EDE1"/>
            </a:solidFill>
            <a:ln w="12700">
              <a:solidFill>
                <a:srgbClr val="1B7A4A"/>
              </a:solidFill>
              <a:prstDash val="solid"/>
            </a:ln>
          </p:spPr>
          <p:txBody>
            <a:bodyPr/>
            <a:lstStyle/>
            <a:p>
              <a:endParaRPr lang="en-CH">
                <a:latin typeface="Gill Sans Nova Light" panose="020B0302020104020203" pitchFamily="34" charset="0"/>
              </a:endParaRPr>
            </a:p>
          </p:txBody>
        </p:sp>
        <p:sp>
          <p:nvSpPr>
            <p:cNvPr id="56" name="Shape 54">
              <a:extLst>
                <a:ext uri="{FF2B5EF4-FFF2-40B4-BE49-F238E27FC236}">
                  <a16:creationId xmlns:a16="http://schemas.microsoft.com/office/drawing/2014/main" id="{7908F788-8FEA-FCCC-FF1B-A2B01B0A3736}"/>
                </a:ext>
              </a:extLst>
            </p:cNvPr>
            <p:cNvSpPr/>
            <p:nvPr/>
          </p:nvSpPr>
          <p:spPr>
            <a:xfrm>
              <a:off x="457200" y="4462272"/>
              <a:ext cx="54864" cy="457200"/>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57" name="Text 55">
              <a:extLst>
                <a:ext uri="{FF2B5EF4-FFF2-40B4-BE49-F238E27FC236}">
                  <a16:creationId xmlns:a16="http://schemas.microsoft.com/office/drawing/2014/main" id="{4B46AADC-72EF-8611-E2DB-674C9A5D0B38}"/>
                </a:ext>
              </a:extLst>
            </p:cNvPr>
            <p:cNvSpPr/>
            <p:nvPr/>
          </p:nvSpPr>
          <p:spPr>
            <a:xfrm>
              <a:off x="594360" y="4480560"/>
              <a:ext cx="8001000" cy="420624"/>
            </a:xfrm>
            <a:prstGeom prst="rect">
              <a:avLst/>
            </a:prstGeom>
            <a:noFill/>
            <a:ln/>
          </p:spPr>
          <p:txBody>
            <a:bodyPr wrap="square" lIns="0" tIns="0" rIns="0" bIns="0" rtlCol="0" anchor="ctr"/>
            <a:lstStyle/>
            <a:p>
              <a:pPr marL="0" indent="0">
                <a:buNone/>
              </a:pPr>
              <a:r>
                <a:rPr lang="en-US" sz="1000" b="1">
                  <a:solidFill>
                    <a:srgbClr val="1B7A4A"/>
                  </a:solidFill>
                  <a:latin typeface="Gill Sans Nova Light" panose="020B0302020104020203" pitchFamily="34" charset="0"/>
                  <a:ea typeface="Calibri" pitchFamily="34" charset="-122"/>
                  <a:cs typeface="Calibri" pitchFamily="34" charset="-120"/>
                </a:rPr>
                <a:t>Takeaway  </a:t>
              </a:r>
              <a:r>
                <a:rPr lang="en-US" sz="1000">
                  <a:solidFill>
                    <a:srgbClr val="1A1A1A"/>
                  </a:solidFill>
                  <a:latin typeface="Gill Sans Nova Light" panose="020B0302020104020203" pitchFamily="34" charset="0"/>
                  <a:ea typeface="Calibri" pitchFamily="34" charset="-122"/>
                  <a:cs typeface="Calibri" pitchFamily="34" charset="-120"/>
                </a:rPr>
                <a:t>No red flags — all variables have exploitable within-variation for FE estimation. </a:t>
              </a:r>
              <a:r>
                <a:rPr lang="en-US" sz="1000" i="1">
                  <a:solidFill>
                    <a:srgbClr val="6B7280"/>
                  </a:solidFill>
                  <a:latin typeface="Gill Sans Nova Light" panose="020B0302020104020203" pitchFamily="34" charset="0"/>
                  <a:ea typeface="Calibri" pitchFamily="34" charset="-122"/>
                  <a:cs typeface="Calibri" pitchFamily="34" charset="-120"/>
                </a:rPr>
                <a:t>Age65 is best-identified (0.718). FinStructure is weakest (0.359) — flag this honestly and connect to the post-GFC convergence argument in your methodology section.</a:t>
              </a:r>
              <a:endParaRPr lang="en-US" sz="1000">
                <a:latin typeface="Gill Sans Nova Light" panose="020B0302020104020203" pitchFamily="34" charset="0"/>
              </a:endParaRPr>
            </a:p>
          </p:txBody>
        </p:sp>
        <p:sp>
          <p:nvSpPr>
            <p:cNvPr id="59" name="Text 57">
              <a:extLst>
                <a:ext uri="{FF2B5EF4-FFF2-40B4-BE49-F238E27FC236}">
                  <a16:creationId xmlns:a16="http://schemas.microsoft.com/office/drawing/2014/main" id="{EC68B544-FB3F-C04B-4C9F-CEF42F3E6155}"/>
                </a:ext>
              </a:extLst>
            </p:cNvPr>
            <p:cNvSpPr/>
            <p:nvPr/>
          </p:nvSpPr>
          <p:spPr>
            <a:xfrm>
              <a:off x="457200" y="5232446"/>
              <a:ext cx="8229600" cy="164592"/>
            </a:xfrm>
            <a:prstGeom prst="rect">
              <a:avLst/>
            </a:prstGeom>
            <a:noFill/>
            <a:ln/>
          </p:spPr>
          <p:txBody>
            <a:bodyPr wrap="square" lIns="0" tIns="0" rIns="0" bIns="0" rtlCol="0" anchor="ctr"/>
            <a:lstStyle/>
            <a:p>
              <a:pPr marL="0" indent="0">
                <a:buNone/>
              </a:pPr>
              <a:r>
                <a:rPr lang="en-US" sz="800" i="1">
                  <a:solidFill>
                    <a:srgbClr val="6B7280"/>
                  </a:solidFill>
                  <a:latin typeface="Gill Sans Nova Light" panose="020B0302020104020203" pitchFamily="34" charset="0"/>
                  <a:ea typeface="Calibri" pitchFamily="34" charset="-122"/>
                  <a:cs typeface="Calibri" pitchFamily="34" charset="-120"/>
                </a:rPr>
                <a:t>Source: SNL Financial  ·  World Bank WDI  ·  Analytical sample: n = 31,439</a:t>
              </a:r>
              <a:endParaRPr lang="en-US" sz="800">
                <a:latin typeface="Gill Sans Nova Light" panose="020B0302020104020203" pitchFamily="34" charset="0"/>
              </a:endParaRPr>
            </a:p>
          </p:txBody>
        </p:sp>
      </p:grpSp>
      <p:sp>
        <p:nvSpPr>
          <p:cNvPr id="61" name="Rectangle 60">
            <a:extLst>
              <a:ext uri="{FF2B5EF4-FFF2-40B4-BE49-F238E27FC236}">
                <a16:creationId xmlns:a16="http://schemas.microsoft.com/office/drawing/2014/main" id="{E374AF96-4949-5AF0-4D61-AEAD0F9BFE27}"/>
              </a:ext>
            </a:extLst>
          </p:cNvPr>
          <p:cNvSpPr/>
          <p:nvPr/>
        </p:nvSpPr>
        <p:spPr>
          <a:xfrm>
            <a:off x="8186928" y="25146"/>
            <a:ext cx="914400" cy="33966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Fix layout</a:t>
            </a:r>
          </a:p>
        </p:txBody>
      </p:sp>
    </p:spTree>
    <p:extLst>
      <p:ext uri="{BB962C8B-B14F-4D97-AF65-F5344CB8AC3E}">
        <p14:creationId xmlns:p14="http://schemas.microsoft.com/office/powerpoint/2010/main" val="24971735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4036F-6840-C8E8-ECA8-21CFFBA3098A}"/>
              </a:ext>
            </a:extLst>
          </p:cNvPr>
          <p:cNvSpPr>
            <a:spLocks noGrp="1"/>
          </p:cNvSpPr>
          <p:nvPr>
            <p:ph type="title"/>
          </p:nvPr>
        </p:nvSpPr>
        <p:spPr/>
        <p:txBody>
          <a:bodyPr/>
          <a:lstStyle/>
          <a:p>
            <a:r>
              <a:rPr lang="en-CH"/>
              <a:t>Step 4a: Descriptive statistics</a:t>
            </a:r>
          </a:p>
        </p:txBody>
      </p:sp>
      <p:sp>
        <p:nvSpPr>
          <p:cNvPr id="4" name="Slide Number Placeholder 3">
            <a:extLst>
              <a:ext uri="{FF2B5EF4-FFF2-40B4-BE49-F238E27FC236}">
                <a16:creationId xmlns:a16="http://schemas.microsoft.com/office/drawing/2014/main" id="{C36DC260-EB4E-767A-23F9-F3E948D13179}"/>
              </a:ext>
            </a:extLst>
          </p:cNvPr>
          <p:cNvSpPr>
            <a:spLocks noGrp="1"/>
          </p:cNvSpPr>
          <p:nvPr>
            <p:ph type="sldNum" sz="quarter" idx="12"/>
          </p:nvPr>
        </p:nvSpPr>
        <p:spPr/>
        <p:txBody>
          <a:bodyPr/>
          <a:lstStyle/>
          <a:p>
            <a:fld id="{7559FC98-AF75-4A00-A03C-DF9FEBF6BCB9}" type="slidenum">
              <a:rPr lang="en-GB" smtClean="0"/>
              <a:t>37</a:t>
            </a:fld>
            <a:endParaRPr lang="en-GB"/>
          </a:p>
        </p:txBody>
      </p:sp>
      <p:grpSp>
        <p:nvGrpSpPr>
          <p:cNvPr id="83" name="Group 82">
            <a:extLst>
              <a:ext uri="{FF2B5EF4-FFF2-40B4-BE49-F238E27FC236}">
                <a16:creationId xmlns:a16="http://schemas.microsoft.com/office/drawing/2014/main" id="{36CF2094-8E37-AAF5-525A-95561381D2BD}"/>
              </a:ext>
            </a:extLst>
          </p:cNvPr>
          <p:cNvGrpSpPr>
            <a:grpSpLocks noChangeAspect="1"/>
          </p:cNvGrpSpPr>
          <p:nvPr/>
        </p:nvGrpSpPr>
        <p:grpSpPr>
          <a:xfrm>
            <a:off x="358775" y="756187"/>
            <a:ext cx="7964128" cy="3840480"/>
            <a:chOff x="457200" y="548640"/>
            <a:chExt cx="8229600" cy="3968496"/>
          </a:xfrm>
        </p:grpSpPr>
        <p:sp>
          <p:nvSpPr>
            <p:cNvPr id="5" name="Text 1">
              <a:extLst>
                <a:ext uri="{FF2B5EF4-FFF2-40B4-BE49-F238E27FC236}">
                  <a16:creationId xmlns:a16="http://schemas.microsoft.com/office/drawing/2014/main" id="{3248340B-2923-20DE-5B46-965DA84F9BE8}"/>
                </a:ext>
              </a:extLst>
            </p:cNvPr>
            <p:cNvSpPr/>
            <p:nvPr/>
          </p:nvSpPr>
          <p:spPr>
            <a:xfrm>
              <a:off x="457200" y="548640"/>
              <a:ext cx="8229600" cy="201168"/>
            </a:xfrm>
            <a:prstGeom prst="rect">
              <a:avLst/>
            </a:prstGeom>
            <a:noFill/>
            <a:ln/>
          </p:spPr>
          <p:txBody>
            <a:bodyPr wrap="square" lIns="0" tIns="0" rIns="0" bIns="0" rtlCol="0" anchor="ctr"/>
            <a:lstStyle/>
            <a:p>
              <a:pPr marL="0" indent="0">
                <a:buNone/>
              </a:pPr>
              <a:r>
                <a:rPr lang="en-US" sz="1000" i="1">
                  <a:solidFill>
                    <a:srgbClr val="6B7280"/>
                  </a:solidFill>
                  <a:latin typeface="Gill Sans Nova Light" panose="020B0302020104020203" pitchFamily="34" charset="0"/>
                  <a:ea typeface="Calibri" pitchFamily="34" charset="-122"/>
                  <a:cs typeface="Calibri" pitchFamily="34" charset="-120"/>
                </a:rPr>
                <a:t>Analytical sample  ·  Savings banks only  ·  n = 31,439 obs  ·  2,569 banks  ·  26 countries</a:t>
              </a:r>
              <a:endParaRPr lang="en-US" sz="1000">
                <a:latin typeface="Gill Sans Nova Light" panose="020B0302020104020203" pitchFamily="34" charset="0"/>
              </a:endParaRPr>
            </a:p>
          </p:txBody>
        </p:sp>
        <p:sp>
          <p:nvSpPr>
            <p:cNvPr id="6" name="Shape 2">
              <a:extLst>
                <a:ext uri="{FF2B5EF4-FFF2-40B4-BE49-F238E27FC236}">
                  <a16:creationId xmlns:a16="http://schemas.microsoft.com/office/drawing/2014/main" id="{2C596E2F-81A1-5F97-065B-B10710943D55}"/>
                </a:ext>
              </a:extLst>
            </p:cNvPr>
            <p:cNvSpPr/>
            <p:nvPr/>
          </p:nvSpPr>
          <p:spPr>
            <a:xfrm>
              <a:off x="457200" y="777240"/>
              <a:ext cx="8229600" cy="0"/>
            </a:xfrm>
            <a:prstGeom prst="line">
              <a:avLst/>
            </a:prstGeom>
            <a:noFill/>
            <a:ln w="12700">
              <a:solidFill>
                <a:srgbClr val="D0D7E3"/>
              </a:solidFill>
              <a:prstDash val="solid"/>
            </a:ln>
          </p:spPr>
          <p:txBody>
            <a:bodyPr/>
            <a:lstStyle/>
            <a:p>
              <a:endParaRPr lang="en-CH">
                <a:latin typeface="Gill Sans Nova Light" panose="020B0302020104020203" pitchFamily="34" charset="0"/>
              </a:endParaRPr>
            </a:p>
          </p:txBody>
        </p:sp>
        <p:sp>
          <p:nvSpPr>
            <p:cNvPr id="7" name="Shape 3">
              <a:extLst>
                <a:ext uri="{FF2B5EF4-FFF2-40B4-BE49-F238E27FC236}">
                  <a16:creationId xmlns:a16="http://schemas.microsoft.com/office/drawing/2014/main" id="{379D1CAA-B0C0-3D4B-FCCF-D99FBE8933AA}"/>
                </a:ext>
              </a:extLst>
            </p:cNvPr>
            <p:cNvSpPr/>
            <p:nvPr/>
          </p:nvSpPr>
          <p:spPr>
            <a:xfrm>
              <a:off x="457200" y="877824"/>
              <a:ext cx="2011680" cy="23774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8" name="Text 4">
              <a:extLst>
                <a:ext uri="{FF2B5EF4-FFF2-40B4-BE49-F238E27FC236}">
                  <a16:creationId xmlns:a16="http://schemas.microsoft.com/office/drawing/2014/main" id="{360BB133-CE5C-800E-4D99-EE11CB7CCEBB}"/>
                </a:ext>
              </a:extLst>
            </p:cNvPr>
            <p:cNvSpPr/>
            <p:nvPr/>
          </p:nvSpPr>
          <p:spPr>
            <a:xfrm>
              <a:off x="502920" y="877824"/>
              <a:ext cx="1938528" cy="237744"/>
            </a:xfrm>
            <a:prstGeom prst="rect">
              <a:avLst/>
            </a:prstGeom>
            <a:noFill/>
            <a:ln/>
          </p:spPr>
          <p:txBody>
            <a:bodyPr wrap="square" lIns="0" tIns="0" rIns="0" bIns="0" rtlCol="0" anchor="ctr"/>
            <a:lstStyle/>
            <a:p>
              <a:pPr marL="0" indent="0" algn="l">
                <a:buNone/>
              </a:pPr>
              <a:r>
                <a:rPr lang="en-US" sz="950" b="1">
                  <a:solidFill>
                    <a:srgbClr val="FFFFFF"/>
                  </a:solidFill>
                  <a:latin typeface="Gill Sans Nova Light" panose="020B0302020104020203" pitchFamily="34" charset="0"/>
                  <a:ea typeface="Calibri" pitchFamily="34" charset="-122"/>
                  <a:cs typeface="Calibri" pitchFamily="34" charset="-120"/>
                </a:rPr>
                <a:t>Variable</a:t>
              </a:r>
              <a:endParaRPr lang="en-US" sz="950">
                <a:latin typeface="Gill Sans Nova Light" panose="020B0302020104020203" pitchFamily="34" charset="0"/>
              </a:endParaRPr>
            </a:p>
          </p:txBody>
        </p:sp>
        <p:sp>
          <p:nvSpPr>
            <p:cNvPr id="9" name="Shape 5">
              <a:extLst>
                <a:ext uri="{FF2B5EF4-FFF2-40B4-BE49-F238E27FC236}">
                  <a16:creationId xmlns:a16="http://schemas.microsoft.com/office/drawing/2014/main" id="{26E15681-1EB9-9FA8-80A8-38D1FF030DB9}"/>
                </a:ext>
              </a:extLst>
            </p:cNvPr>
            <p:cNvSpPr/>
            <p:nvPr/>
          </p:nvSpPr>
          <p:spPr>
            <a:xfrm>
              <a:off x="2468880" y="877824"/>
              <a:ext cx="658368" cy="23774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0" name="Text 6">
              <a:extLst>
                <a:ext uri="{FF2B5EF4-FFF2-40B4-BE49-F238E27FC236}">
                  <a16:creationId xmlns:a16="http://schemas.microsoft.com/office/drawing/2014/main" id="{55098F6F-B18A-1CB7-9E1E-D08F63E68AA4}"/>
                </a:ext>
              </a:extLst>
            </p:cNvPr>
            <p:cNvSpPr/>
            <p:nvPr/>
          </p:nvSpPr>
          <p:spPr>
            <a:xfrm>
              <a:off x="2514600" y="877824"/>
              <a:ext cx="585216" cy="237744"/>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N</a:t>
              </a:r>
              <a:endParaRPr lang="en-US" sz="950">
                <a:latin typeface="Gill Sans Nova Light" panose="020B0302020104020203" pitchFamily="34" charset="0"/>
              </a:endParaRPr>
            </a:p>
          </p:txBody>
        </p:sp>
        <p:sp>
          <p:nvSpPr>
            <p:cNvPr id="11" name="Shape 7">
              <a:extLst>
                <a:ext uri="{FF2B5EF4-FFF2-40B4-BE49-F238E27FC236}">
                  <a16:creationId xmlns:a16="http://schemas.microsoft.com/office/drawing/2014/main" id="{4BF7DE41-3E01-9937-1EBD-DED90AAC0720}"/>
                </a:ext>
              </a:extLst>
            </p:cNvPr>
            <p:cNvSpPr/>
            <p:nvPr/>
          </p:nvSpPr>
          <p:spPr>
            <a:xfrm>
              <a:off x="3127248" y="877824"/>
              <a:ext cx="658368" cy="23774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2" name="Text 8">
              <a:extLst>
                <a:ext uri="{FF2B5EF4-FFF2-40B4-BE49-F238E27FC236}">
                  <a16:creationId xmlns:a16="http://schemas.microsoft.com/office/drawing/2014/main" id="{996709A7-86C9-EBB4-FC1B-7CFBD5511DC8}"/>
                </a:ext>
              </a:extLst>
            </p:cNvPr>
            <p:cNvSpPr/>
            <p:nvPr/>
          </p:nvSpPr>
          <p:spPr>
            <a:xfrm>
              <a:off x="3172968" y="877824"/>
              <a:ext cx="585216" cy="237744"/>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Mean</a:t>
              </a:r>
              <a:endParaRPr lang="en-US" sz="950">
                <a:latin typeface="Gill Sans Nova Light" panose="020B0302020104020203" pitchFamily="34" charset="0"/>
              </a:endParaRPr>
            </a:p>
          </p:txBody>
        </p:sp>
        <p:sp>
          <p:nvSpPr>
            <p:cNvPr id="13" name="Shape 9">
              <a:extLst>
                <a:ext uri="{FF2B5EF4-FFF2-40B4-BE49-F238E27FC236}">
                  <a16:creationId xmlns:a16="http://schemas.microsoft.com/office/drawing/2014/main" id="{BE8739AD-FB35-4F9D-9511-063A5F5277CD}"/>
                </a:ext>
              </a:extLst>
            </p:cNvPr>
            <p:cNvSpPr/>
            <p:nvPr/>
          </p:nvSpPr>
          <p:spPr>
            <a:xfrm>
              <a:off x="3785616" y="877824"/>
              <a:ext cx="658368" cy="23774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4" name="Text 10">
              <a:extLst>
                <a:ext uri="{FF2B5EF4-FFF2-40B4-BE49-F238E27FC236}">
                  <a16:creationId xmlns:a16="http://schemas.microsoft.com/office/drawing/2014/main" id="{33FB41B5-AF91-EE2C-7C9D-93172E6502B7}"/>
                </a:ext>
              </a:extLst>
            </p:cNvPr>
            <p:cNvSpPr/>
            <p:nvPr/>
          </p:nvSpPr>
          <p:spPr>
            <a:xfrm>
              <a:off x="3831336" y="877824"/>
              <a:ext cx="585216" cy="237744"/>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SD</a:t>
              </a:r>
              <a:endParaRPr lang="en-US" sz="950">
                <a:latin typeface="Gill Sans Nova Light" panose="020B0302020104020203" pitchFamily="34" charset="0"/>
              </a:endParaRPr>
            </a:p>
          </p:txBody>
        </p:sp>
        <p:sp>
          <p:nvSpPr>
            <p:cNvPr id="15" name="Shape 11">
              <a:extLst>
                <a:ext uri="{FF2B5EF4-FFF2-40B4-BE49-F238E27FC236}">
                  <a16:creationId xmlns:a16="http://schemas.microsoft.com/office/drawing/2014/main" id="{E5517BD2-A6C9-D7F5-B6AA-787EC26FF9B5}"/>
                </a:ext>
              </a:extLst>
            </p:cNvPr>
            <p:cNvSpPr/>
            <p:nvPr/>
          </p:nvSpPr>
          <p:spPr>
            <a:xfrm>
              <a:off x="4443984" y="877824"/>
              <a:ext cx="658368" cy="23774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6" name="Text 12">
              <a:extLst>
                <a:ext uri="{FF2B5EF4-FFF2-40B4-BE49-F238E27FC236}">
                  <a16:creationId xmlns:a16="http://schemas.microsoft.com/office/drawing/2014/main" id="{0AD992C7-83F6-98FB-887F-862D85B0BFE9}"/>
                </a:ext>
              </a:extLst>
            </p:cNvPr>
            <p:cNvSpPr/>
            <p:nvPr/>
          </p:nvSpPr>
          <p:spPr>
            <a:xfrm>
              <a:off x="4489704" y="877824"/>
              <a:ext cx="585216" cy="237744"/>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Min</a:t>
              </a:r>
              <a:endParaRPr lang="en-US" sz="950">
                <a:latin typeface="Gill Sans Nova Light" panose="020B0302020104020203" pitchFamily="34" charset="0"/>
              </a:endParaRPr>
            </a:p>
          </p:txBody>
        </p:sp>
        <p:sp>
          <p:nvSpPr>
            <p:cNvPr id="17" name="Shape 13">
              <a:extLst>
                <a:ext uri="{FF2B5EF4-FFF2-40B4-BE49-F238E27FC236}">
                  <a16:creationId xmlns:a16="http://schemas.microsoft.com/office/drawing/2014/main" id="{7210DD55-C31F-2FA6-CCEB-BBB9D7C28C96}"/>
                </a:ext>
              </a:extLst>
            </p:cNvPr>
            <p:cNvSpPr/>
            <p:nvPr/>
          </p:nvSpPr>
          <p:spPr>
            <a:xfrm>
              <a:off x="5102352" y="877824"/>
              <a:ext cx="658368" cy="23774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8" name="Text 14">
              <a:extLst>
                <a:ext uri="{FF2B5EF4-FFF2-40B4-BE49-F238E27FC236}">
                  <a16:creationId xmlns:a16="http://schemas.microsoft.com/office/drawing/2014/main" id="{FF6A53AD-07CB-9038-29FE-4119896E7046}"/>
                </a:ext>
              </a:extLst>
            </p:cNvPr>
            <p:cNvSpPr/>
            <p:nvPr/>
          </p:nvSpPr>
          <p:spPr>
            <a:xfrm>
              <a:off x="5148072" y="877824"/>
              <a:ext cx="585216" cy="237744"/>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Median</a:t>
              </a:r>
              <a:endParaRPr lang="en-US" sz="950">
                <a:latin typeface="Gill Sans Nova Light" panose="020B0302020104020203" pitchFamily="34" charset="0"/>
              </a:endParaRPr>
            </a:p>
          </p:txBody>
        </p:sp>
        <p:sp>
          <p:nvSpPr>
            <p:cNvPr id="19" name="Shape 15">
              <a:extLst>
                <a:ext uri="{FF2B5EF4-FFF2-40B4-BE49-F238E27FC236}">
                  <a16:creationId xmlns:a16="http://schemas.microsoft.com/office/drawing/2014/main" id="{F0F535C4-9317-052E-6ED3-77E6F6C84DD5}"/>
                </a:ext>
              </a:extLst>
            </p:cNvPr>
            <p:cNvSpPr/>
            <p:nvPr/>
          </p:nvSpPr>
          <p:spPr>
            <a:xfrm>
              <a:off x="5760720" y="877824"/>
              <a:ext cx="658368" cy="23774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20" name="Text 16">
              <a:extLst>
                <a:ext uri="{FF2B5EF4-FFF2-40B4-BE49-F238E27FC236}">
                  <a16:creationId xmlns:a16="http://schemas.microsoft.com/office/drawing/2014/main" id="{03D7E8D5-AAFA-F677-67D5-A979C053F8FE}"/>
                </a:ext>
              </a:extLst>
            </p:cNvPr>
            <p:cNvSpPr/>
            <p:nvPr/>
          </p:nvSpPr>
          <p:spPr>
            <a:xfrm>
              <a:off x="5806440" y="877824"/>
              <a:ext cx="585216" cy="237744"/>
            </a:xfrm>
            <a:prstGeom prst="rect">
              <a:avLst/>
            </a:prstGeom>
            <a:noFill/>
            <a:ln/>
          </p:spPr>
          <p:txBody>
            <a:bodyPr wrap="square" lIns="0" tIns="0" rIns="0" bIns="0" rtlCol="0" anchor="ctr"/>
            <a:lstStyle/>
            <a:p>
              <a:pPr marL="0" indent="0" algn="ctr">
                <a:buNone/>
              </a:pPr>
              <a:r>
                <a:rPr lang="en-US" sz="950" b="1">
                  <a:solidFill>
                    <a:srgbClr val="FFFFFF"/>
                  </a:solidFill>
                  <a:latin typeface="Gill Sans Nova Light" panose="020B0302020104020203" pitchFamily="34" charset="0"/>
                  <a:ea typeface="Calibri" pitchFamily="34" charset="-122"/>
                  <a:cs typeface="Calibri" pitchFamily="34" charset="-120"/>
                </a:rPr>
                <a:t>Max</a:t>
              </a:r>
              <a:endParaRPr lang="en-US" sz="950">
                <a:latin typeface="Gill Sans Nova Light" panose="020B0302020104020203" pitchFamily="34" charset="0"/>
              </a:endParaRPr>
            </a:p>
          </p:txBody>
        </p:sp>
        <p:sp>
          <p:nvSpPr>
            <p:cNvPr id="21" name="Shape 17">
              <a:extLst>
                <a:ext uri="{FF2B5EF4-FFF2-40B4-BE49-F238E27FC236}">
                  <a16:creationId xmlns:a16="http://schemas.microsoft.com/office/drawing/2014/main" id="{21620FDE-6157-559B-1374-4C75BAF3BE26}"/>
                </a:ext>
              </a:extLst>
            </p:cNvPr>
            <p:cNvSpPr/>
            <p:nvPr/>
          </p:nvSpPr>
          <p:spPr>
            <a:xfrm>
              <a:off x="6419088" y="877824"/>
              <a:ext cx="2267712" cy="23774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22" name="Text 18">
              <a:extLst>
                <a:ext uri="{FF2B5EF4-FFF2-40B4-BE49-F238E27FC236}">
                  <a16:creationId xmlns:a16="http://schemas.microsoft.com/office/drawing/2014/main" id="{2C18EE32-0267-0B4D-0142-68AE49DDCC57}"/>
                </a:ext>
              </a:extLst>
            </p:cNvPr>
            <p:cNvSpPr/>
            <p:nvPr/>
          </p:nvSpPr>
          <p:spPr>
            <a:xfrm>
              <a:off x="6464808" y="877824"/>
              <a:ext cx="2194560" cy="237744"/>
            </a:xfrm>
            <a:prstGeom prst="rect">
              <a:avLst/>
            </a:prstGeom>
            <a:noFill/>
            <a:ln/>
          </p:spPr>
          <p:txBody>
            <a:bodyPr wrap="square" lIns="0" tIns="0" rIns="0" bIns="0" rtlCol="0" anchor="ctr"/>
            <a:lstStyle/>
            <a:p>
              <a:pPr marL="0" indent="0" algn="l">
                <a:buNone/>
              </a:pPr>
              <a:r>
                <a:rPr lang="en-US" sz="950" b="1">
                  <a:solidFill>
                    <a:srgbClr val="FFFFFF"/>
                  </a:solidFill>
                  <a:latin typeface="Gill Sans Nova Light" panose="020B0302020104020203" pitchFamily="34" charset="0"/>
                  <a:ea typeface="Calibri" pitchFamily="34" charset="-122"/>
                  <a:cs typeface="Calibri" pitchFamily="34" charset="-120"/>
                </a:rPr>
                <a:t>Note</a:t>
              </a:r>
              <a:endParaRPr lang="en-US" sz="950">
                <a:latin typeface="Gill Sans Nova Light" panose="020B0302020104020203" pitchFamily="34" charset="0"/>
              </a:endParaRPr>
            </a:p>
          </p:txBody>
        </p:sp>
        <p:sp>
          <p:nvSpPr>
            <p:cNvPr id="23" name="Shape 19">
              <a:extLst>
                <a:ext uri="{FF2B5EF4-FFF2-40B4-BE49-F238E27FC236}">
                  <a16:creationId xmlns:a16="http://schemas.microsoft.com/office/drawing/2014/main" id="{1544A0DD-9CB0-A9BB-F28E-26BB3CD1F886}"/>
                </a:ext>
              </a:extLst>
            </p:cNvPr>
            <p:cNvSpPr/>
            <p:nvPr/>
          </p:nvSpPr>
          <p:spPr>
            <a:xfrm>
              <a:off x="457200" y="1152144"/>
              <a:ext cx="8229600" cy="502920"/>
            </a:xfrm>
            <a:prstGeom prst="rect">
              <a:avLst/>
            </a:prstGeom>
            <a:solidFill>
              <a:srgbClr val="F4F6F9"/>
            </a:solidFill>
            <a:ln w="6350">
              <a:solidFill>
                <a:srgbClr val="D0D7E3"/>
              </a:solidFill>
              <a:prstDash val="solid"/>
            </a:ln>
          </p:spPr>
          <p:txBody>
            <a:bodyPr/>
            <a:lstStyle/>
            <a:p>
              <a:endParaRPr lang="en-CH">
                <a:latin typeface="Gill Sans Nova Light" panose="020B0302020104020203" pitchFamily="34" charset="0"/>
              </a:endParaRPr>
            </a:p>
          </p:txBody>
        </p:sp>
        <p:sp>
          <p:nvSpPr>
            <p:cNvPr id="24" name="Text 20">
              <a:extLst>
                <a:ext uri="{FF2B5EF4-FFF2-40B4-BE49-F238E27FC236}">
                  <a16:creationId xmlns:a16="http://schemas.microsoft.com/office/drawing/2014/main" id="{D8969903-F82E-0CE7-3DAC-DD38DAC6B3F1}"/>
                </a:ext>
              </a:extLst>
            </p:cNvPr>
            <p:cNvSpPr/>
            <p:nvPr/>
          </p:nvSpPr>
          <p:spPr>
            <a:xfrm>
              <a:off x="566928" y="1207008"/>
              <a:ext cx="182880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Deposit Ratio</a:t>
              </a:r>
              <a:endParaRPr lang="en-US" sz="1000">
                <a:latin typeface="Gill Sans Nova Light" panose="020B0302020104020203" pitchFamily="34" charset="0"/>
              </a:endParaRPr>
            </a:p>
          </p:txBody>
        </p:sp>
        <p:sp>
          <p:nvSpPr>
            <p:cNvPr id="25" name="Text 21">
              <a:extLst>
                <a:ext uri="{FF2B5EF4-FFF2-40B4-BE49-F238E27FC236}">
                  <a16:creationId xmlns:a16="http://schemas.microsoft.com/office/drawing/2014/main" id="{C276474B-C085-082C-701F-44D932A72E94}"/>
                </a:ext>
              </a:extLst>
            </p:cNvPr>
            <p:cNvSpPr/>
            <p:nvPr/>
          </p:nvSpPr>
          <p:spPr>
            <a:xfrm>
              <a:off x="2514600" y="12801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31,439</a:t>
              </a:r>
              <a:endParaRPr lang="en-US" sz="1050">
                <a:latin typeface="Gill Sans Nova Light" panose="020B0302020104020203" pitchFamily="34" charset="0"/>
              </a:endParaRPr>
            </a:p>
          </p:txBody>
        </p:sp>
        <p:sp>
          <p:nvSpPr>
            <p:cNvPr id="26" name="Text 22">
              <a:extLst>
                <a:ext uri="{FF2B5EF4-FFF2-40B4-BE49-F238E27FC236}">
                  <a16:creationId xmlns:a16="http://schemas.microsoft.com/office/drawing/2014/main" id="{74CAEC02-C51C-7DCC-646B-59F5DE100A3B}"/>
                </a:ext>
              </a:extLst>
            </p:cNvPr>
            <p:cNvSpPr/>
            <p:nvPr/>
          </p:nvSpPr>
          <p:spPr>
            <a:xfrm>
              <a:off x="3172968" y="1280160"/>
              <a:ext cx="585216" cy="237744"/>
            </a:xfrm>
            <a:prstGeom prst="rect">
              <a:avLst/>
            </a:prstGeom>
            <a:noFill/>
            <a:ln/>
          </p:spPr>
          <p:txBody>
            <a:bodyPr wrap="square" lIns="0" tIns="0" rIns="0" bIns="0" rtlCol="0" anchor="ctr"/>
            <a:lstStyle/>
            <a:p>
              <a:pPr marL="0" indent="0" algn="ctr">
                <a:buNone/>
              </a:pPr>
              <a:r>
                <a:rPr lang="en-US" sz="1050" b="1">
                  <a:solidFill>
                    <a:srgbClr val="2E5FA3"/>
                  </a:solidFill>
                  <a:latin typeface="Gill Sans Nova Light" panose="020B0302020104020203" pitchFamily="34" charset="0"/>
                  <a:ea typeface="Calibri" pitchFamily="34" charset="-122"/>
                  <a:cs typeface="Calibri" pitchFamily="34" charset="-120"/>
                </a:rPr>
                <a:t>0.732</a:t>
              </a:r>
              <a:endParaRPr lang="en-US" sz="1050">
                <a:latin typeface="Gill Sans Nova Light" panose="020B0302020104020203" pitchFamily="34" charset="0"/>
              </a:endParaRPr>
            </a:p>
          </p:txBody>
        </p:sp>
        <p:sp>
          <p:nvSpPr>
            <p:cNvPr id="27" name="Text 23">
              <a:extLst>
                <a:ext uri="{FF2B5EF4-FFF2-40B4-BE49-F238E27FC236}">
                  <a16:creationId xmlns:a16="http://schemas.microsoft.com/office/drawing/2014/main" id="{C3B62060-D2E6-EB0E-B5D8-27B7CB93702F}"/>
                </a:ext>
              </a:extLst>
            </p:cNvPr>
            <p:cNvSpPr/>
            <p:nvPr/>
          </p:nvSpPr>
          <p:spPr>
            <a:xfrm>
              <a:off x="3831336" y="12801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0.136</a:t>
              </a:r>
              <a:endParaRPr lang="en-US" sz="1050">
                <a:latin typeface="Gill Sans Nova Light" panose="020B0302020104020203" pitchFamily="34" charset="0"/>
              </a:endParaRPr>
            </a:p>
          </p:txBody>
        </p:sp>
        <p:sp>
          <p:nvSpPr>
            <p:cNvPr id="28" name="Text 24">
              <a:extLst>
                <a:ext uri="{FF2B5EF4-FFF2-40B4-BE49-F238E27FC236}">
                  <a16:creationId xmlns:a16="http://schemas.microsoft.com/office/drawing/2014/main" id="{E321AAEA-760E-A934-E175-1D06B4EF91A7}"/>
                </a:ext>
              </a:extLst>
            </p:cNvPr>
            <p:cNvSpPr/>
            <p:nvPr/>
          </p:nvSpPr>
          <p:spPr>
            <a:xfrm>
              <a:off x="4489704" y="12801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0.000</a:t>
              </a:r>
              <a:endParaRPr lang="en-US" sz="1050">
                <a:latin typeface="Gill Sans Nova Light" panose="020B0302020104020203" pitchFamily="34" charset="0"/>
              </a:endParaRPr>
            </a:p>
          </p:txBody>
        </p:sp>
        <p:sp>
          <p:nvSpPr>
            <p:cNvPr id="29" name="Text 25">
              <a:extLst>
                <a:ext uri="{FF2B5EF4-FFF2-40B4-BE49-F238E27FC236}">
                  <a16:creationId xmlns:a16="http://schemas.microsoft.com/office/drawing/2014/main" id="{617AF251-74BC-3548-C250-55104972F0C3}"/>
                </a:ext>
              </a:extLst>
            </p:cNvPr>
            <p:cNvSpPr/>
            <p:nvPr/>
          </p:nvSpPr>
          <p:spPr>
            <a:xfrm>
              <a:off x="5148072" y="12801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0.762</a:t>
              </a:r>
              <a:endParaRPr lang="en-US" sz="1050">
                <a:latin typeface="Gill Sans Nova Light" panose="020B0302020104020203" pitchFamily="34" charset="0"/>
              </a:endParaRPr>
            </a:p>
          </p:txBody>
        </p:sp>
        <p:sp>
          <p:nvSpPr>
            <p:cNvPr id="30" name="Text 26">
              <a:extLst>
                <a:ext uri="{FF2B5EF4-FFF2-40B4-BE49-F238E27FC236}">
                  <a16:creationId xmlns:a16="http://schemas.microsoft.com/office/drawing/2014/main" id="{E327AB42-675A-2AAF-689D-F1C2193F29B4}"/>
                </a:ext>
              </a:extLst>
            </p:cNvPr>
            <p:cNvSpPr/>
            <p:nvPr/>
          </p:nvSpPr>
          <p:spPr>
            <a:xfrm>
              <a:off x="5806440" y="12801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0.983</a:t>
              </a:r>
              <a:endParaRPr lang="en-US" sz="1050">
                <a:latin typeface="Gill Sans Nova Light" panose="020B0302020104020203" pitchFamily="34" charset="0"/>
              </a:endParaRPr>
            </a:p>
          </p:txBody>
        </p:sp>
        <p:sp>
          <p:nvSpPr>
            <p:cNvPr id="31" name="Text 27">
              <a:extLst>
                <a:ext uri="{FF2B5EF4-FFF2-40B4-BE49-F238E27FC236}">
                  <a16:creationId xmlns:a16="http://schemas.microsoft.com/office/drawing/2014/main" id="{8B48038B-CC04-D8AA-5C57-DCD4E92963D4}"/>
                </a:ext>
              </a:extLst>
            </p:cNvPr>
            <p:cNvSpPr/>
            <p:nvPr/>
          </p:nvSpPr>
          <p:spPr>
            <a:xfrm>
              <a:off x="6464808" y="1207008"/>
              <a:ext cx="2176272" cy="393192"/>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73% of assets funded via deposits — as expected for retail savings banks</a:t>
              </a:r>
              <a:endParaRPr lang="en-US" sz="850">
                <a:latin typeface="Gill Sans Nova Light" panose="020B0302020104020203" pitchFamily="34" charset="0"/>
              </a:endParaRPr>
            </a:p>
          </p:txBody>
        </p:sp>
        <p:sp>
          <p:nvSpPr>
            <p:cNvPr id="32" name="Shape 28">
              <a:extLst>
                <a:ext uri="{FF2B5EF4-FFF2-40B4-BE49-F238E27FC236}">
                  <a16:creationId xmlns:a16="http://schemas.microsoft.com/office/drawing/2014/main" id="{9049D17A-5D95-E02C-6F39-67A9299AD021}"/>
                </a:ext>
              </a:extLst>
            </p:cNvPr>
            <p:cNvSpPr/>
            <p:nvPr/>
          </p:nvSpPr>
          <p:spPr>
            <a:xfrm>
              <a:off x="457200" y="1655064"/>
              <a:ext cx="8229600"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33" name="Shape 29">
              <a:extLst>
                <a:ext uri="{FF2B5EF4-FFF2-40B4-BE49-F238E27FC236}">
                  <a16:creationId xmlns:a16="http://schemas.microsoft.com/office/drawing/2014/main" id="{18717172-A1A4-9C6A-D7FF-1080665BF6B7}"/>
                </a:ext>
              </a:extLst>
            </p:cNvPr>
            <p:cNvSpPr/>
            <p:nvPr/>
          </p:nvSpPr>
          <p:spPr>
            <a:xfrm>
              <a:off x="457200" y="1655064"/>
              <a:ext cx="54864" cy="502920"/>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34" name="Text 30">
              <a:extLst>
                <a:ext uri="{FF2B5EF4-FFF2-40B4-BE49-F238E27FC236}">
                  <a16:creationId xmlns:a16="http://schemas.microsoft.com/office/drawing/2014/main" id="{9F54CFCB-0B3C-9818-3ACD-D98D4E10D3F8}"/>
                </a:ext>
              </a:extLst>
            </p:cNvPr>
            <p:cNvSpPr/>
            <p:nvPr/>
          </p:nvSpPr>
          <p:spPr>
            <a:xfrm>
              <a:off x="566928" y="1709928"/>
              <a:ext cx="182880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Age65 (%)</a:t>
              </a:r>
              <a:endParaRPr lang="en-US" sz="1000">
                <a:latin typeface="Gill Sans Nova Light" panose="020B0302020104020203" pitchFamily="34" charset="0"/>
              </a:endParaRPr>
            </a:p>
          </p:txBody>
        </p:sp>
        <p:sp>
          <p:nvSpPr>
            <p:cNvPr id="35" name="Text 31">
              <a:extLst>
                <a:ext uri="{FF2B5EF4-FFF2-40B4-BE49-F238E27FC236}">
                  <a16:creationId xmlns:a16="http://schemas.microsoft.com/office/drawing/2014/main" id="{9D8671B5-CAA3-66E1-4F0C-8914BC51CF5C}"/>
                </a:ext>
              </a:extLst>
            </p:cNvPr>
            <p:cNvSpPr/>
            <p:nvPr/>
          </p:nvSpPr>
          <p:spPr>
            <a:xfrm>
              <a:off x="2514600" y="178308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31,438</a:t>
              </a:r>
              <a:endParaRPr lang="en-US" sz="1050">
                <a:latin typeface="Gill Sans Nova Light" panose="020B0302020104020203" pitchFamily="34" charset="0"/>
              </a:endParaRPr>
            </a:p>
          </p:txBody>
        </p:sp>
        <p:sp>
          <p:nvSpPr>
            <p:cNvPr id="36" name="Text 32">
              <a:extLst>
                <a:ext uri="{FF2B5EF4-FFF2-40B4-BE49-F238E27FC236}">
                  <a16:creationId xmlns:a16="http://schemas.microsoft.com/office/drawing/2014/main" id="{8963021A-B510-9EEF-6159-DE3CA1641380}"/>
                </a:ext>
              </a:extLst>
            </p:cNvPr>
            <p:cNvSpPr/>
            <p:nvPr/>
          </p:nvSpPr>
          <p:spPr>
            <a:xfrm>
              <a:off x="3172968" y="1783080"/>
              <a:ext cx="585216" cy="237744"/>
            </a:xfrm>
            <a:prstGeom prst="rect">
              <a:avLst/>
            </a:prstGeom>
            <a:noFill/>
            <a:ln/>
          </p:spPr>
          <p:txBody>
            <a:bodyPr wrap="square" lIns="0" tIns="0" rIns="0" bIns="0" rtlCol="0" anchor="ctr"/>
            <a:lstStyle/>
            <a:p>
              <a:pPr marL="0" indent="0" algn="ctr">
                <a:buNone/>
              </a:pPr>
              <a:r>
                <a:rPr lang="en-US" sz="1050" b="1">
                  <a:solidFill>
                    <a:srgbClr val="2E5FA3"/>
                  </a:solidFill>
                  <a:latin typeface="Gill Sans Nova Light" panose="020B0302020104020203" pitchFamily="34" charset="0"/>
                  <a:ea typeface="Calibri" pitchFamily="34" charset="-122"/>
                  <a:cs typeface="Calibri" pitchFamily="34" charset="-120"/>
                </a:rPr>
                <a:t>20.6</a:t>
              </a:r>
              <a:endParaRPr lang="en-US" sz="1050">
                <a:latin typeface="Gill Sans Nova Light" panose="020B0302020104020203" pitchFamily="34" charset="0"/>
              </a:endParaRPr>
            </a:p>
          </p:txBody>
        </p:sp>
        <p:sp>
          <p:nvSpPr>
            <p:cNvPr id="37" name="Text 33">
              <a:extLst>
                <a:ext uri="{FF2B5EF4-FFF2-40B4-BE49-F238E27FC236}">
                  <a16:creationId xmlns:a16="http://schemas.microsoft.com/office/drawing/2014/main" id="{19A1A234-4AC0-7B32-63E7-C9FF58568ECF}"/>
                </a:ext>
              </a:extLst>
            </p:cNvPr>
            <p:cNvSpPr/>
            <p:nvPr/>
          </p:nvSpPr>
          <p:spPr>
            <a:xfrm>
              <a:off x="3831336" y="178308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1.74</a:t>
              </a:r>
              <a:endParaRPr lang="en-US" sz="1050">
                <a:latin typeface="Gill Sans Nova Light" panose="020B0302020104020203" pitchFamily="34" charset="0"/>
              </a:endParaRPr>
            </a:p>
          </p:txBody>
        </p:sp>
        <p:sp>
          <p:nvSpPr>
            <p:cNvPr id="38" name="Text 34">
              <a:extLst>
                <a:ext uri="{FF2B5EF4-FFF2-40B4-BE49-F238E27FC236}">
                  <a16:creationId xmlns:a16="http://schemas.microsoft.com/office/drawing/2014/main" id="{058D5974-1477-5C8E-238A-06D202CD6C55}"/>
                </a:ext>
              </a:extLst>
            </p:cNvPr>
            <p:cNvSpPr/>
            <p:nvPr/>
          </p:nvSpPr>
          <p:spPr>
            <a:xfrm>
              <a:off x="4489704" y="178308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11.3</a:t>
              </a:r>
              <a:endParaRPr lang="en-US" sz="1050">
                <a:latin typeface="Gill Sans Nova Light" panose="020B0302020104020203" pitchFamily="34" charset="0"/>
              </a:endParaRPr>
            </a:p>
          </p:txBody>
        </p:sp>
        <p:sp>
          <p:nvSpPr>
            <p:cNvPr id="39" name="Text 35">
              <a:extLst>
                <a:ext uri="{FF2B5EF4-FFF2-40B4-BE49-F238E27FC236}">
                  <a16:creationId xmlns:a16="http://schemas.microsoft.com/office/drawing/2014/main" id="{7C0A865A-0464-79AF-D6A2-49F873437BF9}"/>
                </a:ext>
              </a:extLst>
            </p:cNvPr>
            <p:cNvSpPr/>
            <p:nvPr/>
          </p:nvSpPr>
          <p:spPr>
            <a:xfrm>
              <a:off x="5148072" y="178308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20.8</a:t>
              </a:r>
              <a:endParaRPr lang="en-US" sz="1050">
                <a:latin typeface="Gill Sans Nova Light" panose="020B0302020104020203" pitchFamily="34" charset="0"/>
              </a:endParaRPr>
            </a:p>
          </p:txBody>
        </p:sp>
        <p:sp>
          <p:nvSpPr>
            <p:cNvPr id="40" name="Text 36">
              <a:extLst>
                <a:ext uri="{FF2B5EF4-FFF2-40B4-BE49-F238E27FC236}">
                  <a16:creationId xmlns:a16="http://schemas.microsoft.com/office/drawing/2014/main" id="{8F7F082D-9D77-B5C9-A019-84320ADFC6AE}"/>
                </a:ext>
              </a:extLst>
            </p:cNvPr>
            <p:cNvSpPr/>
            <p:nvPr/>
          </p:nvSpPr>
          <p:spPr>
            <a:xfrm>
              <a:off x="5806440" y="178308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24.6</a:t>
              </a:r>
              <a:endParaRPr lang="en-US" sz="1050">
                <a:latin typeface="Gill Sans Nova Light" panose="020B0302020104020203" pitchFamily="34" charset="0"/>
              </a:endParaRPr>
            </a:p>
          </p:txBody>
        </p:sp>
        <p:sp>
          <p:nvSpPr>
            <p:cNvPr id="41" name="Text 37">
              <a:extLst>
                <a:ext uri="{FF2B5EF4-FFF2-40B4-BE49-F238E27FC236}">
                  <a16:creationId xmlns:a16="http://schemas.microsoft.com/office/drawing/2014/main" id="{A5A68C0D-1CB9-B48A-B685-B763B78922E9}"/>
                </a:ext>
              </a:extLst>
            </p:cNvPr>
            <p:cNvSpPr/>
            <p:nvPr/>
          </p:nvSpPr>
          <p:spPr>
            <a:xfrm>
              <a:off x="6464808" y="1709928"/>
              <a:ext cx="2176272" cy="393192"/>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Wide cross-country range. Within-variation (0.718) validates FE strategy ✓</a:t>
              </a:r>
              <a:endParaRPr lang="en-US" sz="850">
                <a:latin typeface="Gill Sans Nova Light" panose="020B0302020104020203" pitchFamily="34" charset="0"/>
              </a:endParaRPr>
            </a:p>
          </p:txBody>
        </p:sp>
        <p:sp>
          <p:nvSpPr>
            <p:cNvPr id="42" name="Shape 38">
              <a:extLst>
                <a:ext uri="{FF2B5EF4-FFF2-40B4-BE49-F238E27FC236}">
                  <a16:creationId xmlns:a16="http://schemas.microsoft.com/office/drawing/2014/main" id="{12B643A5-B795-6821-48CB-C61B5E879F29}"/>
                </a:ext>
              </a:extLst>
            </p:cNvPr>
            <p:cNvSpPr/>
            <p:nvPr/>
          </p:nvSpPr>
          <p:spPr>
            <a:xfrm>
              <a:off x="457200" y="2157984"/>
              <a:ext cx="8229600" cy="502920"/>
            </a:xfrm>
            <a:prstGeom prst="rect">
              <a:avLst/>
            </a:prstGeom>
            <a:solidFill>
              <a:srgbClr val="F4F6F9"/>
            </a:solidFill>
            <a:ln w="6350">
              <a:solidFill>
                <a:srgbClr val="D0D7E3"/>
              </a:solidFill>
              <a:prstDash val="solid"/>
            </a:ln>
          </p:spPr>
          <p:txBody>
            <a:bodyPr/>
            <a:lstStyle/>
            <a:p>
              <a:endParaRPr lang="en-CH">
                <a:latin typeface="Gill Sans Nova Light" panose="020B0302020104020203" pitchFamily="34" charset="0"/>
              </a:endParaRPr>
            </a:p>
          </p:txBody>
        </p:sp>
        <p:sp>
          <p:nvSpPr>
            <p:cNvPr id="43" name="Shape 39">
              <a:extLst>
                <a:ext uri="{FF2B5EF4-FFF2-40B4-BE49-F238E27FC236}">
                  <a16:creationId xmlns:a16="http://schemas.microsoft.com/office/drawing/2014/main" id="{5A97709C-73A7-0F17-7CAE-8DABAC6BE4A3}"/>
                </a:ext>
              </a:extLst>
            </p:cNvPr>
            <p:cNvSpPr/>
            <p:nvPr/>
          </p:nvSpPr>
          <p:spPr>
            <a:xfrm>
              <a:off x="457200" y="2157984"/>
              <a:ext cx="54864" cy="502920"/>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44" name="Text 40">
              <a:extLst>
                <a:ext uri="{FF2B5EF4-FFF2-40B4-BE49-F238E27FC236}">
                  <a16:creationId xmlns:a16="http://schemas.microsoft.com/office/drawing/2014/main" id="{6D6780F3-C35C-421B-9837-C6CCA7858E88}"/>
                </a:ext>
              </a:extLst>
            </p:cNvPr>
            <p:cNvSpPr/>
            <p:nvPr/>
          </p:nvSpPr>
          <p:spPr>
            <a:xfrm>
              <a:off x="566928" y="2212848"/>
              <a:ext cx="182880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FinStructure</a:t>
              </a:r>
              <a:endParaRPr lang="en-US" sz="1000">
                <a:latin typeface="Gill Sans Nova Light" panose="020B0302020104020203" pitchFamily="34" charset="0"/>
              </a:endParaRPr>
            </a:p>
          </p:txBody>
        </p:sp>
        <p:sp>
          <p:nvSpPr>
            <p:cNvPr id="45" name="Text 41">
              <a:extLst>
                <a:ext uri="{FF2B5EF4-FFF2-40B4-BE49-F238E27FC236}">
                  <a16:creationId xmlns:a16="http://schemas.microsoft.com/office/drawing/2014/main" id="{1B75435A-F1D5-7874-A6A8-2D1B789D6504}"/>
                </a:ext>
              </a:extLst>
            </p:cNvPr>
            <p:cNvSpPr/>
            <p:nvPr/>
          </p:nvSpPr>
          <p:spPr>
            <a:xfrm>
              <a:off x="2514600" y="228600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29,906</a:t>
              </a:r>
              <a:endParaRPr lang="en-US" sz="1050">
                <a:latin typeface="Gill Sans Nova Light" panose="020B0302020104020203" pitchFamily="34" charset="0"/>
              </a:endParaRPr>
            </a:p>
          </p:txBody>
        </p:sp>
        <p:sp>
          <p:nvSpPr>
            <p:cNvPr id="46" name="Text 42">
              <a:extLst>
                <a:ext uri="{FF2B5EF4-FFF2-40B4-BE49-F238E27FC236}">
                  <a16:creationId xmlns:a16="http://schemas.microsoft.com/office/drawing/2014/main" id="{05027306-4649-7BE1-1AAB-3E064CBD5B33}"/>
                </a:ext>
              </a:extLst>
            </p:cNvPr>
            <p:cNvSpPr/>
            <p:nvPr/>
          </p:nvSpPr>
          <p:spPr>
            <a:xfrm>
              <a:off x="3172968" y="2286000"/>
              <a:ext cx="585216" cy="237744"/>
            </a:xfrm>
            <a:prstGeom prst="rect">
              <a:avLst/>
            </a:prstGeom>
            <a:noFill/>
            <a:ln/>
          </p:spPr>
          <p:txBody>
            <a:bodyPr wrap="square" lIns="0" tIns="0" rIns="0" bIns="0" rtlCol="0" anchor="ctr"/>
            <a:lstStyle/>
            <a:p>
              <a:pPr marL="0" indent="0" algn="ctr">
                <a:buNone/>
              </a:pPr>
              <a:r>
                <a:rPr lang="en-US" sz="1050" b="1">
                  <a:solidFill>
                    <a:srgbClr val="2E5FA3"/>
                  </a:solidFill>
                  <a:latin typeface="Gill Sans Nova Light" panose="020B0302020104020203" pitchFamily="34" charset="0"/>
                  <a:ea typeface="Calibri" pitchFamily="34" charset="-122"/>
                  <a:cs typeface="Calibri" pitchFamily="34" charset="-120"/>
                </a:rPr>
                <a:t>−0.211</a:t>
              </a:r>
              <a:endParaRPr lang="en-US" sz="1050">
                <a:latin typeface="Gill Sans Nova Light" panose="020B0302020104020203" pitchFamily="34" charset="0"/>
              </a:endParaRPr>
            </a:p>
          </p:txBody>
        </p:sp>
        <p:sp>
          <p:nvSpPr>
            <p:cNvPr id="47" name="Text 43">
              <a:extLst>
                <a:ext uri="{FF2B5EF4-FFF2-40B4-BE49-F238E27FC236}">
                  <a16:creationId xmlns:a16="http://schemas.microsoft.com/office/drawing/2014/main" id="{069ECAD7-C4B2-1932-3821-78EC5716A866}"/>
                </a:ext>
              </a:extLst>
            </p:cNvPr>
            <p:cNvSpPr/>
            <p:nvPr/>
          </p:nvSpPr>
          <p:spPr>
            <a:xfrm>
              <a:off x="3831336" y="228600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0.175</a:t>
              </a:r>
              <a:endParaRPr lang="en-US" sz="1050">
                <a:latin typeface="Gill Sans Nova Light" panose="020B0302020104020203" pitchFamily="34" charset="0"/>
              </a:endParaRPr>
            </a:p>
          </p:txBody>
        </p:sp>
        <p:sp>
          <p:nvSpPr>
            <p:cNvPr id="48" name="Text 44">
              <a:extLst>
                <a:ext uri="{FF2B5EF4-FFF2-40B4-BE49-F238E27FC236}">
                  <a16:creationId xmlns:a16="http://schemas.microsoft.com/office/drawing/2014/main" id="{9B9F442D-0673-BAFC-08E0-FBE3F3EEA606}"/>
                </a:ext>
              </a:extLst>
            </p:cNvPr>
            <p:cNvSpPr/>
            <p:nvPr/>
          </p:nvSpPr>
          <p:spPr>
            <a:xfrm>
              <a:off x="4489704" y="228600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−1.18</a:t>
              </a:r>
              <a:endParaRPr lang="en-US" sz="1050">
                <a:latin typeface="Gill Sans Nova Light" panose="020B0302020104020203" pitchFamily="34" charset="0"/>
              </a:endParaRPr>
            </a:p>
          </p:txBody>
        </p:sp>
        <p:sp>
          <p:nvSpPr>
            <p:cNvPr id="49" name="Text 45">
              <a:extLst>
                <a:ext uri="{FF2B5EF4-FFF2-40B4-BE49-F238E27FC236}">
                  <a16:creationId xmlns:a16="http://schemas.microsoft.com/office/drawing/2014/main" id="{EF57055E-2BB5-4930-825E-F85FA2EC7A8D}"/>
                </a:ext>
              </a:extLst>
            </p:cNvPr>
            <p:cNvSpPr/>
            <p:nvPr/>
          </p:nvSpPr>
          <p:spPr>
            <a:xfrm>
              <a:off x="5148072" y="228600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−0.207</a:t>
              </a:r>
              <a:endParaRPr lang="en-US" sz="1050">
                <a:latin typeface="Gill Sans Nova Light" panose="020B0302020104020203" pitchFamily="34" charset="0"/>
              </a:endParaRPr>
            </a:p>
          </p:txBody>
        </p:sp>
        <p:sp>
          <p:nvSpPr>
            <p:cNvPr id="50" name="Text 46">
              <a:extLst>
                <a:ext uri="{FF2B5EF4-FFF2-40B4-BE49-F238E27FC236}">
                  <a16:creationId xmlns:a16="http://schemas.microsoft.com/office/drawing/2014/main" id="{783409EB-AE7F-1125-327E-2A6776860F54}"/>
                </a:ext>
              </a:extLst>
            </p:cNvPr>
            <p:cNvSpPr/>
            <p:nvPr/>
          </p:nvSpPr>
          <p:spPr>
            <a:xfrm>
              <a:off x="5806440" y="228600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+0.408</a:t>
              </a:r>
              <a:endParaRPr lang="en-US" sz="1050">
                <a:latin typeface="Gill Sans Nova Light" panose="020B0302020104020203" pitchFamily="34" charset="0"/>
              </a:endParaRPr>
            </a:p>
          </p:txBody>
        </p:sp>
        <p:sp>
          <p:nvSpPr>
            <p:cNvPr id="51" name="Text 47">
              <a:extLst>
                <a:ext uri="{FF2B5EF4-FFF2-40B4-BE49-F238E27FC236}">
                  <a16:creationId xmlns:a16="http://schemas.microsoft.com/office/drawing/2014/main" id="{93BE572D-B2A1-D7F3-544C-F7AD8E78B9CD}"/>
                </a:ext>
              </a:extLst>
            </p:cNvPr>
            <p:cNvSpPr/>
            <p:nvPr/>
          </p:nvSpPr>
          <p:spPr>
            <a:xfrm>
              <a:off x="6464808" y="2212848"/>
              <a:ext cx="2176272" cy="393192"/>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Negative mean → sample is bank-based (Continental Europe). Weakest within-variation (0.359) — flag in methodology</a:t>
              </a:r>
              <a:endParaRPr lang="en-US" sz="850">
                <a:latin typeface="Gill Sans Nova Light" panose="020B0302020104020203" pitchFamily="34" charset="0"/>
              </a:endParaRPr>
            </a:p>
          </p:txBody>
        </p:sp>
        <p:sp>
          <p:nvSpPr>
            <p:cNvPr id="52" name="Shape 48">
              <a:extLst>
                <a:ext uri="{FF2B5EF4-FFF2-40B4-BE49-F238E27FC236}">
                  <a16:creationId xmlns:a16="http://schemas.microsoft.com/office/drawing/2014/main" id="{7CF7C473-03FD-FB92-2EB6-1B4628B4ADCD}"/>
                </a:ext>
              </a:extLst>
            </p:cNvPr>
            <p:cNvSpPr/>
            <p:nvPr/>
          </p:nvSpPr>
          <p:spPr>
            <a:xfrm>
              <a:off x="457200" y="2660904"/>
              <a:ext cx="8229600"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53" name="Text 49">
              <a:extLst>
                <a:ext uri="{FF2B5EF4-FFF2-40B4-BE49-F238E27FC236}">
                  <a16:creationId xmlns:a16="http://schemas.microsoft.com/office/drawing/2014/main" id="{63ED3A74-FBB0-12D6-C533-911BCF4DDE5C}"/>
                </a:ext>
              </a:extLst>
            </p:cNvPr>
            <p:cNvSpPr/>
            <p:nvPr/>
          </p:nvSpPr>
          <p:spPr>
            <a:xfrm>
              <a:off x="566928" y="2715768"/>
              <a:ext cx="182880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ARR</a:t>
              </a:r>
              <a:endParaRPr lang="en-US" sz="1000">
                <a:latin typeface="Gill Sans Nova Light" panose="020B0302020104020203" pitchFamily="34" charset="0"/>
              </a:endParaRPr>
            </a:p>
          </p:txBody>
        </p:sp>
        <p:sp>
          <p:nvSpPr>
            <p:cNvPr id="54" name="Text 50">
              <a:extLst>
                <a:ext uri="{FF2B5EF4-FFF2-40B4-BE49-F238E27FC236}">
                  <a16:creationId xmlns:a16="http://schemas.microsoft.com/office/drawing/2014/main" id="{74F93AE6-337F-A893-0CF2-945FBF11B8E9}"/>
                </a:ext>
              </a:extLst>
            </p:cNvPr>
            <p:cNvSpPr/>
            <p:nvPr/>
          </p:nvSpPr>
          <p:spPr>
            <a:xfrm>
              <a:off x="2514600" y="278892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31,435</a:t>
              </a:r>
              <a:endParaRPr lang="en-US" sz="1050">
                <a:latin typeface="Gill Sans Nova Light" panose="020B0302020104020203" pitchFamily="34" charset="0"/>
              </a:endParaRPr>
            </a:p>
          </p:txBody>
        </p:sp>
        <p:sp>
          <p:nvSpPr>
            <p:cNvPr id="55" name="Text 51">
              <a:extLst>
                <a:ext uri="{FF2B5EF4-FFF2-40B4-BE49-F238E27FC236}">
                  <a16:creationId xmlns:a16="http://schemas.microsoft.com/office/drawing/2014/main" id="{3014C4C5-C8B6-4DCF-0BA3-40E2ABD08FB7}"/>
                </a:ext>
              </a:extLst>
            </p:cNvPr>
            <p:cNvSpPr/>
            <p:nvPr/>
          </p:nvSpPr>
          <p:spPr>
            <a:xfrm>
              <a:off x="3172968" y="2788920"/>
              <a:ext cx="585216" cy="237744"/>
            </a:xfrm>
            <a:prstGeom prst="rect">
              <a:avLst/>
            </a:prstGeom>
            <a:noFill/>
            <a:ln/>
          </p:spPr>
          <p:txBody>
            <a:bodyPr wrap="square" lIns="0" tIns="0" rIns="0" bIns="0" rtlCol="0" anchor="ctr"/>
            <a:lstStyle/>
            <a:p>
              <a:pPr marL="0" indent="0" algn="ctr">
                <a:buNone/>
              </a:pPr>
              <a:r>
                <a:rPr lang="en-US" sz="1050" b="1">
                  <a:solidFill>
                    <a:srgbClr val="2E5FA3"/>
                  </a:solidFill>
                  <a:latin typeface="Gill Sans Nova Light" panose="020B0302020104020203" pitchFamily="34" charset="0"/>
                  <a:ea typeface="Calibri" pitchFamily="34" charset="-122"/>
                  <a:cs typeface="Calibri" pitchFamily="34" charset="-120"/>
                </a:rPr>
                <a:t>0.541</a:t>
              </a:r>
              <a:endParaRPr lang="en-US" sz="1050">
                <a:latin typeface="Gill Sans Nova Light" panose="020B0302020104020203" pitchFamily="34" charset="0"/>
              </a:endParaRPr>
            </a:p>
          </p:txBody>
        </p:sp>
        <p:sp>
          <p:nvSpPr>
            <p:cNvPr id="56" name="Text 52">
              <a:extLst>
                <a:ext uri="{FF2B5EF4-FFF2-40B4-BE49-F238E27FC236}">
                  <a16:creationId xmlns:a16="http://schemas.microsoft.com/office/drawing/2014/main" id="{A481A2ED-5990-700C-22F6-4A0436C7BA18}"/>
                </a:ext>
              </a:extLst>
            </p:cNvPr>
            <p:cNvSpPr/>
            <p:nvPr/>
          </p:nvSpPr>
          <p:spPr>
            <a:xfrm>
              <a:off x="3831336" y="278892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0.075</a:t>
              </a:r>
              <a:endParaRPr lang="en-US" sz="1050">
                <a:latin typeface="Gill Sans Nova Light" panose="020B0302020104020203" pitchFamily="34" charset="0"/>
              </a:endParaRPr>
            </a:p>
          </p:txBody>
        </p:sp>
        <p:sp>
          <p:nvSpPr>
            <p:cNvPr id="57" name="Text 53">
              <a:extLst>
                <a:ext uri="{FF2B5EF4-FFF2-40B4-BE49-F238E27FC236}">
                  <a16:creationId xmlns:a16="http://schemas.microsoft.com/office/drawing/2014/main" id="{AB7106ED-FEE2-9289-EBCA-828308A8BD01}"/>
                </a:ext>
              </a:extLst>
            </p:cNvPr>
            <p:cNvSpPr/>
            <p:nvPr/>
          </p:nvSpPr>
          <p:spPr>
            <a:xfrm>
              <a:off x="4489704" y="278892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0.29</a:t>
              </a:r>
              <a:endParaRPr lang="en-US" sz="1050">
                <a:latin typeface="Gill Sans Nova Light" panose="020B0302020104020203" pitchFamily="34" charset="0"/>
              </a:endParaRPr>
            </a:p>
          </p:txBody>
        </p:sp>
        <p:sp>
          <p:nvSpPr>
            <p:cNvPr id="58" name="Text 54">
              <a:extLst>
                <a:ext uri="{FF2B5EF4-FFF2-40B4-BE49-F238E27FC236}">
                  <a16:creationId xmlns:a16="http://schemas.microsoft.com/office/drawing/2014/main" id="{8C4FD89F-DA75-B8F9-0047-D03CD14BF368}"/>
                </a:ext>
              </a:extLst>
            </p:cNvPr>
            <p:cNvSpPr/>
            <p:nvPr/>
          </p:nvSpPr>
          <p:spPr>
            <a:xfrm>
              <a:off x="5148072" y="278892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0.510</a:t>
              </a:r>
              <a:endParaRPr lang="en-US" sz="1050">
                <a:latin typeface="Gill Sans Nova Light" panose="020B0302020104020203" pitchFamily="34" charset="0"/>
              </a:endParaRPr>
            </a:p>
          </p:txBody>
        </p:sp>
        <p:sp>
          <p:nvSpPr>
            <p:cNvPr id="59" name="Text 55">
              <a:extLst>
                <a:ext uri="{FF2B5EF4-FFF2-40B4-BE49-F238E27FC236}">
                  <a16:creationId xmlns:a16="http://schemas.microsoft.com/office/drawing/2014/main" id="{8208A048-F544-1819-3EF2-250B35140326}"/>
                </a:ext>
              </a:extLst>
            </p:cNvPr>
            <p:cNvSpPr/>
            <p:nvPr/>
          </p:nvSpPr>
          <p:spPr>
            <a:xfrm>
              <a:off x="5806440" y="278892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1.04</a:t>
              </a:r>
              <a:endParaRPr lang="en-US" sz="1050">
                <a:latin typeface="Gill Sans Nova Light" panose="020B0302020104020203" pitchFamily="34" charset="0"/>
              </a:endParaRPr>
            </a:p>
          </p:txBody>
        </p:sp>
        <p:sp>
          <p:nvSpPr>
            <p:cNvPr id="60" name="Text 56">
              <a:extLst>
                <a:ext uri="{FF2B5EF4-FFF2-40B4-BE49-F238E27FC236}">
                  <a16:creationId xmlns:a16="http://schemas.microsoft.com/office/drawing/2014/main" id="{DC6095A4-C29B-6B57-FB02-C0822F281765}"/>
                </a:ext>
              </a:extLst>
            </p:cNvPr>
            <p:cNvSpPr/>
            <p:nvPr/>
          </p:nvSpPr>
          <p:spPr>
            <a:xfrm>
              <a:off x="6464808" y="2715768"/>
              <a:ext cx="2176272" cy="393192"/>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54% avg. replacement rate. Post-GFC pension reforms drive within-variation (0.498)</a:t>
              </a:r>
              <a:endParaRPr lang="en-US" sz="850">
                <a:latin typeface="Gill Sans Nova Light" panose="020B0302020104020203" pitchFamily="34" charset="0"/>
              </a:endParaRPr>
            </a:p>
          </p:txBody>
        </p:sp>
        <p:sp>
          <p:nvSpPr>
            <p:cNvPr id="61" name="Shape 57">
              <a:extLst>
                <a:ext uri="{FF2B5EF4-FFF2-40B4-BE49-F238E27FC236}">
                  <a16:creationId xmlns:a16="http://schemas.microsoft.com/office/drawing/2014/main" id="{4811BEE0-23D9-84F8-BB0E-7227BF4DDC2A}"/>
                </a:ext>
              </a:extLst>
            </p:cNvPr>
            <p:cNvSpPr/>
            <p:nvPr/>
          </p:nvSpPr>
          <p:spPr>
            <a:xfrm>
              <a:off x="457200" y="3163824"/>
              <a:ext cx="8229600" cy="502920"/>
            </a:xfrm>
            <a:prstGeom prst="rect">
              <a:avLst/>
            </a:prstGeom>
            <a:solidFill>
              <a:srgbClr val="F4F6F9"/>
            </a:solidFill>
            <a:ln w="6350">
              <a:solidFill>
                <a:srgbClr val="D0D7E3"/>
              </a:solidFill>
              <a:prstDash val="solid"/>
            </a:ln>
          </p:spPr>
          <p:txBody>
            <a:bodyPr/>
            <a:lstStyle/>
            <a:p>
              <a:endParaRPr lang="en-CH">
                <a:latin typeface="Gill Sans Nova Light" panose="020B0302020104020203" pitchFamily="34" charset="0"/>
              </a:endParaRPr>
            </a:p>
          </p:txBody>
        </p:sp>
        <p:sp>
          <p:nvSpPr>
            <p:cNvPr id="62" name="Text 58">
              <a:extLst>
                <a:ext uri="{FF2B5EF4-FFF2-40B4-BE49-F238E27FC236}">
                  <a16:creationId xmlns:a16="http://schemas.microsoft.com/office/drawing/2014/main" id="{7B92B8EC-7198-7319-6A0A-5A04F4BA8428}"/>
                </a:ext>
              </a:extLst>
            </p:cNvPr>
            <p:cNvSpPr/>
            <p:nvPr/>
          </p:nvSpPr>
          <p:spPr>
            <a:xfrm>
              <a:off x="566928" y="3218688"/>
              <a:ext cx="182880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Bismarckian (dummy)</a:t>
              </a:r>
              <a:endParaRPr lang="en-US" sz="1000">
                <a:latin typeface="Gill Sans Nova Light" panose="020B0302020104020203" pitchFamily="34" charset="0"/>
              </a:endParaRPr>
            </a:p>
          </p:txBody>
        </p:sp>
        <p:sp>
          <p:nvSpPr>
            <p:cNvPr id="63" name="Text 59">
              <a:extLst>
                <a:ext uri="{FF2B5EF4-FFF2-40B4-BE49-F238E27FC236}">
                  <a16:creationId xmlns:a16="http://schemas.microsoft.com/office/drawing/2014/main" id="{434E461A-EF8E-B8C3-267E-CB9FE2BC6DD0}"/>
                </a:ext>
              </a:extLst>
            </p:cNvPr>
            <p:cNvSpPr/>
            <p:nvPr/>
          </p:nvSpPr>
          <p:spPr>
            <a:xfrm>
              <a:off x="2514600" y="329184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31,439</a:t>
              </a:r>
              <a:endParaRPr lang="en-US" sz="1050">
                <a:latin typeface="Gill Sans Nova Light" panose="020B0302020104020203" pitchFamily="34" charset="0"/>
              </a:endParaRPr>
            </a:p>
          </p:txBody>
        </p:sp>
        <p:sp>
          <p:nvSpPr>
            <p:cNvPr id="64" name="Text 60">
              <a:extLst>
                <a:ext uri="{FF2B5EF4-FFF2-40B4-BE49-F238E27FC236}">
                  <a16:creationId xmlns:a16="http://schemas.microsoft.com/office/drawing/2014/main" id="{6D9A7A63-25CC-25AE-58F3-F35B6CF2F3DF}"/>
                </a:ext>
              </a:extLst>
            </p:cNvPr>
            <p:cNvSpPr/>
            <p:nvPr/>
          </p:nvSpPr>
          <p:spPr>
            <a:xfrm>
              <a:off x="3172968" y="3291840"/>
              <a:ext cx="585216" cy="237744"/>
            </a:xfrm>
            <a:prstGeom prst="rect">
              <a:avLst/>
            </a:prstGeom>
            <a:noFill/>
            <a:ln/>
          </p:spPr>
          <p:txBody>
            <a:bodyPr wrap="square" lIns="0" tIns="0" rIns="0" bIns="0" rtlCol="0" anchor="ctr"/>
            <a:lstStyle/>
            <a:p>
              <a:pPr marL="0" indent="0" algn="ctr">
                <a:buNone/>
              </a:pPr>
              <a:r>
                <a:rPr lang="en-US" sz="1050" b="1">
                  <a:solidFill>
                    <a:srgbClr val="2E5FA3"/>
                  </a:solidFill>
                  <a:latin typeface="Gill Sans Nova Light" panose="020B0302020104020203" pitchFamily="34" charset="0"/>
                  <a:ea typeface="Calibri" pitchFamily="34" charset="-122"/>
                  <a:cs typeface="Calibri" pitchFamily="34" charset="-120"/>
                </a:rPr>
                <a:t>0.825</a:t>
              </a:r>
              <a:endParaRPr lang="en-US" sz="1050">
                <a:latin typeface="Gill Sans Nova Light" panose="020B0302020104020203" pitchFamily="34" charset="0"/>
              </a:endParaRPr>
            </a:p>
          </p:txBody>
        </p:sp>
        <p:sp>
          <p:nvSpPr>
            <p:cNvPr id="65" name="Text 61">
              <a:extLst>
                <a:ext uri="{FF2B5EF4-FFF2-40B4-BE49-F238E27FC236}">
                  <a16:creationId xmlns:a16="http://schemas.microsoft.com/office/drawing/2014/main" id="{4E5C9566-8553-D4DF-07F9-68C3506245F2}"/>
                </a:ext>
              </a:extLst>
            </p:cNvPr>
            <p:cNvSpPr/>
            <p:nvPr/>
          </p:nvSpPr>
          <p:spPr>
            <a:xfrm>
              <a:off x="3831336" y="329184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0.380</a:t>
              </a:r>
              <a:endParaRPr lang="en-US" sz="1050">
                <a:latin typeface="Gill Sans Nova Light" panose="020B0302020104020203" pitchFamily="34" charset="0"/>
              </a:endParaRPr>
            </a:p>
          </p:txBody>
        </p:sp>
        <p:sp>
          <p:nvSpPr>
            <p:cNvPr id="66" name="Text 62">
              <a:extLst>
                <a:ext uri="{FF2B5EF4-FFF2-40B4-BE49-F238E27FC236}">
                  <a16:creationId xmlns:a16="http://schemas.microsoft.com/office/drawing/2014/main" id="{B5403D43-83DB-73B1-20FE-36AA3BC553A1}"/>
                </a:ext>
              </a:extLst>
            </p:cNvPr>
            <p:cNvSpPr/>
            <p:nvPr/>
          </p:nvSpPr>
          <p:spPr>
            <a:xfrm>
              <a:off x="4489704" y="329184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a:t>
              </a:r>
              <a:endParaRPr lang="en-US" sz="1050">
                <a:latin typeface="Gill Sans Nova Light" panose="020B0302020104020203" pitchFamily="34" charset="0"/>
              </a:endParaRPr>
            </a:p>
          </p:txBody>
        </p:sp>
        <p:sp>
          <p:nvSpPr>
            <p:cNvPr id="67" name="Text 63">
              <a:extLst>
                <a:ext uri="{FF2B5EF4-FFF2-40B4-BE49-F238E27FC236}">
                  <a16:creationId xmlns:a16="http://schemas.microsoft.com/office/drawing/2014/main" id="{7F08506F-8AD7-404F-3B97-DC16BE3E15B6}"/>
                </a:ext>
              </a:extLst>
            </p:cNvPr>
            <p:cNvSpPr/>
            <p:nvPr/>
          </p:nvSpPr>
          <p:spPr>
            <a:xfrm>
              <a:off x="5148072" y="329184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1</a:t>
              </a:r>
              <a:endParaRPr lang="en-US" sz="1050">
                <a:latin typeface="Gill Sans Nova Light" panose="020B0302020104020203" pitchFamily="34" charset="0"/>
              </a:endParaRPr>
            </a:p>
          </p:txBody>
        </p:sp>
        <p:sp>
          <p:nvSpPr>
            <p:cNvPr id="68" name="Text 64">
              <a:extLst>
                <a:ext uri="{FF2B5EF4-FFF2-40B4-BE49-F238E27FC236}">
                  <a16:creationId xmlns:a16="http://schemas.microsoft.com/office/drawing/2014/main" id="{2BC8AD01-A834-98A6-C5A1-7BF7E02B6AC0}"/>
                </a:ext>
              </a:extLst>
            </p:cNvPr>
            <p:cNvSpPr/>
            <p:nvPr/>
          </p:nvSpPr>
          <p:spPr>
            <a:xfrm>
              <a:off x="5806440" y="329184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1</a:t>
              </a:r>
              <a:endParaRPr lang="en-US" sz="1050">
                <a:latin typeface="Gill Sans Nova Light" panose="020B0302020104020203" pitchFamily="34" charset="0"/>
              </a:endParaRPr>
            </a:p>
          </p:txBody>
        </p:sp>
        <p:sp>
          <p:nvSpPr>
            <p:cNvPr id="69" name="Text 65">
              <a:extLst>
                <a:ext uri="{FF2B5EF4-FFF2-40B4-BE49-F238E27FC236}">
                  <a16:creationId xmlns:a16="http://schemas.microsoft.com/office/drawing/2014/main" id="{1A557C62-94F3-629F-1CC1-45C2A4824863}"/>
                </a:ext>
              </a:extLst>
            </p:cNvPr>
            <p:cNvSpPr/>
            <p:nvPr/>
          </p:nvSpPr>
          <p:spPr>
            <a:xfrm>
              <a:off x="6464808" y="3218688"/>
              <a:ext cx="2176272" cy="393192"/>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82.5% of obs — reflects Germany’s dominance (~49%). Structural, not sampling artifact</a:t>
              </a:r>
              <a:endParaRPr lang="en-US" sz="850">
                <a:latin typeface="Gill Sans Nova Light" panose="020B0302020104020203" pitchFamily="34" charset="0"/>
              </a:endParaRPr>
            </a:p>
          </p:txBody>
        </p:sp>
        <p:sp>
          <p:nvSpPr>
            <p:cNvPr id="70" name="Shape 66">
              <a:extLst>
                <a:ext uri="{FF2B5EF4-FFF2-40B4-BE49-F238E27FC236}">
                  <a16:creationId xmlns:a16="http://schemas.microsoft.com/office/drawing/2014/main" id="{24B02F76-3CFC-7B8D-9218-4E990838373D}"/>
                </a:ext>
              </a:extLst>
            </p:cNvPr>
            <p:cNvSpPr/>
            <p:nvPr/>
          </p:nvSpPr>
          <p:spPr>
            <a:xfrm>
              <a:off x="457200" y="3666744"/>
              <a:ext cx="8229600"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71" name="Shape 67">
              <a:extLst>
                <a:ext uri="{FF2B5EF4-FFF2-40B4-BE49-F238E27FC236}">
                  <a16:creationId xmlns:a16="http://schemas.microsoft.com/office/drawing/2014/main" id="{45D9170B-D64E-7619-134F-B970AACDB96D}"/>
                </a:ext>
              </a:extLst>
            </p:cNvPr>
            <p:cNvSpPr/>
            <p:nvPr/>
          </p:nvSpPr>
          <p:spPr>
            <a:xfrm>
              <a:off x="457200" y="3666744"/>
              <a:ext cx="54864" cy="502920"/>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72" name="Text 68">
              <a:extLst>
                <a:ext uri="{FF2B5EF4-FFF2-40B4-BE49-F238E27FC236}">
                  <a16:creationId xmlns:a16="http://schemas.microsoft.com/office/drawing/2014/main" id="{29002FB0-ECB5-1527-28E7-379AC413E3AC}"/>
                </a:ext>
              </a:extLst>
            </p:cNvPr>
            <p:cNvSpPr/>
            <p:nvPr/>
          </p:nvSpPr>
          <p:spPr>
            <a:xfrm>
              <a:off x="566928" y="3721608"/>
              <a:ext cx="1828800" cy="219456"/>
            </a:xfrm>
            <a:prstGeom prst="rect">
              <a:avLst/>
            </a:prstGeom>
            <a:noFill/>
            <a:ln/>
          </p:spPr>
          <p:txBody>
            <a:bodyPr wrap="square" lIns="0" tIns="0" rIns="0" bIns="0" rtlCol="0" anchor="ctr"/>
            <a:lstStyle/>
            <a:p>
              <a:pPr marL="0" indent="0">
                <a:buNone/>
              </a:pPr>
              <a:r>
                <a:rPr lang="en-US" sz="1000" b="1">
                  <a:solidFill>
                    <a:srgbClr val="1A1A1A"/>
                  </a:solidFill>
                  <a:latin typeface="Gill Sans Nova Light" panose="020B0302020104020203" pitchFamily="34" charset="0"/>
                  <a:ea typeface="Calibri" pitchFamily="34" charset="-122"/>
                  <a:cs typeface="Calibri" pitchFamily="34" charset="-120"/>
                </a:rPr>
                <a:t>Beveridgean (dummy)</a:t>
              </a:r>
              <a:endParaRPr lang="en-US" sz="1000">
                <a:latin typeface="Gill Sans Nova Light" panose="020B0302020104020203" pitchFamily="34" charset="0"/>
              </a:endParaRPr>
            </a:p>
          </p:txBody>
        </p:sp>
        <p:sp>
          <p:nvSpPr>
            <p:cNvPr id="73" name="Text 69">
              <a:extLst>
                <a:ext uri="{FF2B5EF4-FFF2-40B4-BE49-F238E27FC236}">
                  <a16:creationId xmlns:a16="http://schemas.microsoft.com/office/drawing/2014/main" id="{8964CE9E-2CB9-DEA7-713E-B82E3C7F876C}"/>
                </a:ext>
              </a:extLst>
            </p:cNvPr>
            <p:cNvSpPr/>
            <p:nvPr/>
          </p:nvSpPr>
          <p:spPr>
            <a:xfrm>
              <a:off x="2514600" y="37947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31,439</a:t>
              </a:r>
              <a:endParaRPr lang="en-US" sz="1050">
                <a:latin typeface="Gill Sans Nova Light" panose="020B0302020104020203" pitchFamily="34" charset="0"/>
              </a:endParaRPr>
            </a:p>
          </p:txBody>
        </p:sp>
        <p:sp>
          <p:nvSpPr>
            <p:cNvPr id="74" name="Text 70">
              <a:extLst>
                <a:ext uri="{FF2B5EF4-FFF2-40B4-BE49-F238E27FC236}">
                  <a16:creationId xmlns:a16="http://schemas.microsoft.com/office/drawing/2014/main" id="{CE7288C8-3B63-150D-965D-6D0C58770ECF}"/>
                </a:ext>
              </a:extLst>
            </p:cNvPr>
            <p:cNvSpPr/>
            <p:nvPr/>
          </p:nvSpPr>
          <p:spPr>
            <a:xfrm>
              <a:off x="3172968" y="3794760"/>
              <a:ext cx="585216" cy="237744"/>
            </a:xfrm>
            <a:prstGeom prst="rect">
              <a:avLst/>
            </a:prstGeom>
            <a:noFill/>
            <a:ln/>
          </p:spPr>
          <p:txBody>
            <a:bodyPr wrap="square" lIns="0" tIns="0" rIns="0" bIns="0" rtlCol="0" anchor="ctr"/>
            <a:lstStyle/>
            <a:p>
              <a:pPr marL="0" indent="0" algn="ctr">
                <a:buNone/>
              </a:pPr>
              <a:r>
                <a:rPr lang="en-US" sz="1050" b="1">
                  <a:solidFill>
                    <a:srgbClr val="2E5FA3"/>
                  </a:solidFill>
                  <a:latin typeface="Gill Sans Nova Light" panose="020B0302020104020203" pitchFamily="34" charset="0"/>
                  <a:ea typeface="Calibri" pitchFamily="34" charset="-122"/>
                  <a:cs typeface="Calibri" pitchFamily="34" charset="-120"/>
                </a:rPr>
                <a:t>0.105</a:t>
              </a:r>
              <a:endParaRPr lang="en-US" sz="1050">
                <a:latin typeface="Gill Sans Nova Light" panose="020B0302020104020203" pitchFamily="34" charset="0"/>
              </a:endParaRPr>
            </a:p>
          </p:txBody>
        </p:sp>
        <p:sp>
          <p:nvSpPr>
            <p:cNvPr id="75" name="Text 71">
              <a:extLst>
                <a:ext uri="{FF2B5EF4-FFF2-40B4-BE49-F238E27FC236}">
                  <a16:creationId xmlns:a16="http://schemas.microsoft.com/office/drawing/2014/main" id="{6C92F749-FD0F-7205-0227-AB2E46869308}"/>
                </a:ext>
              </a:extLst>
            </p:cNvPr>
            <p:cNvSpPr/>
            <p:nvPr/>
          </p:nvSpPr>
          <p:spPr>
            <a:xfrm>
              <a:off x="3831336" y="37947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0.307</a:t>
              </a:r>
              <a:endParaRPr lang="en-US" sz="1050">
                <a:latin typeface="Gill Sans Nova Light" panose="020B0302020104020203" pitchFamily="34" charset="0"/>
              </a:endParaRPr>
            </a:p>
          </p:txBody>
        </p:sp>
        <p:sp>
          <p:nvSpPr>
            <p:cNvPr id="76" name="Text 72">
              <a:extLst>
                <a:ext uri="{FF2B5EF4-FFF2-40B4-BE49-F238E27FC236}">
                  <a16:creationId xmlns:a16="http://schemas.microsoft.com/office/drawing/2014/main" id="{08DA5AFE-90A9-5922-F2CF-070351DB2B8C}"/>
                </a:ext>
              </a:extLst>
            </p:cNvPr>
            <p:cNvSpPr/>
            <p:nvPr/>
          </p:nvSpPr>
          <p:spPr>
            <a:xfrm>
              <a:off x="4489704" y="37947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a:t>
              </a:r>
              <a:endParaRPr lang="en-US" sz="1050">
                <a:latin typeface="Gill Sans Nova Light" panose="020B0302020104020203" pitchFamily="34" charset="0"/>
              </a:endParaRPr>
            </a:p>
          </p:txBody>
        </p:sp>
        <p:sp>
          <p:nvSpPr>
            <p:cNvPr id="77" name="Text 73">
              <a:extLst>
                <a:ext uri="{FF2B5EF4-FFF2-40B4-BE49-F238E27FC236}">
                  <a16:creationId xmlns:a16="http://schemas.microsoft.com/office/drawing/2014/main" id="{C80DE6D0-27CC-7EE9-A7B8-70F18B5A5E15}"/>
                </a:ext>
              </a:extLst>
            </p:cNvPr>
            <p:cNvSpPr/>
            <p:nvPr/>
          </p:nvSpPr>
          <p:spPr>
            <a:xfrm>
              <a:off x="5148072" y="37947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0</a:t>
              </a:r>
              <a:endParaRPr lang="en-US" sz="1050">
                <a:latin typeface="Gill Sans Nova Light" panose="020B0302020104020203" pitchFamily="34" charset="0"/>
              </a:endParaRPr>
            </a:p>
          </p:txBody>
        </p:sp>
        <p:sp>
          <p:nvSpPr>
            <p:cNvPr id="78" name="Text 74">
              <a:extLst>
                <a:ext uri="{FF2B5EF4-FFF2-40B4-BE49-F238E27FC236}">
                  <a16:creationId xmlns:a16="http://schemas.microsoft.com/office/drawing/2014/main" id="{0B72A7BC-B08B-CBDD-6D5F-27377E13BDC8}"/>
                </a:ext>
              </a:extLst>
            </p:cNvPr>
            <p:cNvSpPr/>
            <p:nvPr/>
          </p:nvSpPr>
          <p:spPr>
            <a:xfrm>
              <a:off x="5806440" y="3794760"/>
              <a:ext cx="585216" cy="237744"/>
            </a:xfrm>
            <a:prstGeom prst="rect">
              <a:avLst/>
            </a:prstGeom>
            <a:noFill/>
            <a:ln/>
          </p:spPr>
          <p:txBody>
            <a:bodyPr wrap="square" lIns="0" tIns="0" rIns="0" bIns="0" rtlCol="0" anchor="ctr"/>
            <a:lstStyle/>
            <a:p>
              <a:pPr marL="0" indent="0" algn="ctr">
                <a:buNone/>
              </a:pPr>
              <a:r>
                <a:rPr lang="en-US" sz="1050">
                  <a:solidFill>
                    <a:srgbClr val="1A1A1A"/>
                  </a:solidFill>
                  <a:latin typeface="Gill Sans Nova Light" panose="020B0302020104020203" pitchFamily="34" charset="0"/>
                  <a:ea typeface="Calibri" pitchFamily="34" charset="-122"/>
                  <a:cs typeface="Calibri" pitchFamily="34" charset="-120"/>
                </a:rPr>
                <a:t>1</a:t>
              </a:r>
              <a:endParaRPr lang="en-US" sz="1050">
                <a:latin typeface="Gill Sans Nova Light" panose="020B0302020104020203" pitchFamily="34" charset="0"/>
              </a:endParaRPr>
            </a:p>
          </p:txBody>
        </p:sp>
        <p:sp>
          <p:nvSpPr>
            <p:cNvPr id="79" name="Text 75">
              <a:extLst>
                <a:ext uri="{FF2B5EF4-FFF2-40B4-BE49-F238E27FC236}">
                  <a16:creationId xmlns:a16="http://schemas.microsoft.com/office/drawing/2014/main" id="{1251E452-B016-3627-6157-2EE8EC8B98BF}"/>
                </a:ext>
              </a:extLst>
            </p:cNvPr>
            <p:cNvSpPr/>
            <p:nvPr/>
          </p:nvSpPr>
          <p:spPr>
            <a:xfrm>
              <a:off x="6464808" y="3721608"/>
              <a:ext cx="2176272" cy="393192"/>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10.5% of obs. Denmark absent from Models 2–5 — flag as limitation</a:t>
              </a:r>
              <a:endParaRPr lang="en-US" sz="850">
                <a:latin typeface="Gill Sans Nova Light" panose="020B0302020104020203" pitchFamily="34" charset="0"/>
              </a:endParaRPr>
            </a:p>
          </p:txBody>
        </p:sp>
        <p:sp>
          <p:nvSpPr>
            <p:cNvPr id="80" name="Shape 76">
              <a:extLst>
                <a:ext uri="{FF2B5EF4-FFF2-40B4-BE49-F238E27FC236}">
                  <a16:creationId xmlns:a16="http://schemas.microsoft.com/office/drawing/2014/main" id="{8B18B37C-5AAD-6C8D-6207-17029F4B2445}"/>
                </a:ext>
              </a:extLst>
            </p:cNvPr>
            <p:cNvSpPr/>
            <p:nvPr/>
          </p:nvSpPr>
          <p:spPr>
            <a:xfrm>
              <a:off x="457200" y="4242816"/>
              <a:ext cx="8229600" cy="274320"/>
            </a:xfrm>
            <a:prstGeom prst="rect">
              <a:avLst/>
            </a:prstGeom>
            <a:solidFill>
              <a:srgbClr val="FFFBEB"/>
            </a:solidFill>
            <a:ln w="12700">
              <a:solidFill>
                <a:srgbClr val="D97706"/>
              </a:solidFill>
              <a:prstDash val="solid"/>
            </a:ln>
          </p:spPr>
          <p:txBody>
            <a:bodyPr/>
            <a:lstStyle/>
            <a:p>
              <a:endParaRPr lang="en-CH">
                <a:latin typeface="Gill Sans Nova Light" panose="020B0302020104020203" pitchFamily="34" charset="0"/>
              </a:endParaRPr>
            </a:p>
          </p:txBody>
        </p:sp>
        <p:sp>
          <p:nvSpPr>
            <p:cNvPr id="81" name="Shape 77">
              <a:extLst>
                <a:ext uri="{FF2B5EF4-FFF2-40B4-BE49-F238E27FC236}">
                  <a16:creationId xmlns:a16="http://schemas.microsoft.com/office/drawing/2014/main" id="{05E95CFB-DD01-A417-C91A-CC017F6E0C61}"/>
                </a:ext>
              </a:extLst>
            </p:cNvPr>
            <p:cNvSpPr/>
            <p:nvPr/>
          </p:nvSpPr>
          <p:spPr>
            <a:xfrm>
              <a:off x="457200" y="4242816"/>
              <a:ext cx="54864" cy="274320"/>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82" name="Text 78">
              <a:extLst>
                <a:ext uri="{FF2B5EF4-FFF2-40B4-BE49-F238E27FC236}">
                  <a16:creationId xmlns:a16="http://schemas.microsoft.com/office/drawing/2014/main" id="{DB78A845-24BD-98B1-E90A-835F22A88FE4}"/>
                </a:ext>
              </a:extLst>
            </p:cNvPr>
            <p:cNvSpPr/>
            <p:nvPr/>
          </p:nvSpPr>
          <p:spPr>
            <a:xfrm>
              <a:off x="585216" y="4261104"/>
              <a:ext cx="8046720" cy="237744"/>
            </a:xfrm>
            <a:prstGeom prst="rect">
              <a:avLst/>
            </a:prstGeom>
            <a:noFill/>
            <a:ln/>
          </p:spPr>
          <p:txBody>
            <a:bodyPr wrap="square" lIns="0" tIns="0" rIns="0" bIns="0" rtlCol="0" anchor="ctr"/>
            <a:lstStyle/>
            <a:p>
              <a:pPr marL="0" indent="0">
                <a:buNone/>
              </a:pPr>
              <a:r>
                <a:rPr lang="en-US" sz="900" b="1">
                  <a:solidFill>
                    <a:srgbClr val="D97706"/>
                  </a:solidFill>
                  <a:latin typeface="Gill Sans Nova Light" panose="020B0302020104020203" pitchFamily="34" charset="0"/>
                  <a:ea typeface="Calibri" pitchFamily="34" charset="-122"/>
                  <a:cs typeface="Calibri" pitchFamily="34" charset="-120"/>
                </a:rPr>
                <a:t>Baseline category (both dummies = 0): </a:t>
              </a:r>
              <a:r>
                <a:rPr lang="en-US" sz="900">
                  <a:solidFill>
                    <a:srgbClr val="1A1A1A"/>
                  </a:solidFill>
                  <a:latin typeface="Gill Sans Nova Light" panose="020B0302020104020203" pitchFamily="34" charset="0"/>
                  <a:ea typeface="Calibri" pitchFamily="34" charset="-122"/>
                  <a:cs typeface="Calibri" pitchFamily="34" charset="-120"/>
                </a:rPr>
                <a:t>Multipillar/Mixed — dominated by Switzerland (2,107 obs vs. Estonia 7, Latvia 4, Cyprus 22, Malta 49). </a:t>
              </a:r>
              <a:r>
                <a:rPr lang="en-US" sz="900" i="1">
                  <a:solidFill>
                    <a:srgbClr val="6B7280"/>
                  </a:solidFill>
                  <a:latin typeface="Gill Sans Nova Light" panose="020B0302020104020203" pitchFamily="34" charset="0"/>
                  <a:ea typeface="Calibri" pitchFamily="34" charset="-122"/>
                  <a:cs typeface="Calibri" pitchFamily="34" charset="-120"/>
                </a:rPr>
                <a:t>Consider recoding baseline to Beveridgean for easier economic interpretation — raise with professor.</a:t>
              </a:r>
              <a:endParaRPr lang="en-US" sz="900">
                <a:latin typeface="Gill Sans Nova Light" panose="020B0302020104020203" pitchFamily="34" charset="0"/>
              </a:endParaRPr>
            </a:p>
          </p:txBody>
        </p:sp>
      </p:grpSp>
      <p:sp>
        <p:nvSpPr>
          <p:cNvPr id="84" name="Rectangle 83">
            <a:extLst>
              <a:ext uri="{FF2B5EF4-FFF2-40B4-BE49-F238E27FC236}">
                <a16:creationId xmlns:a16="http://schemas.microsoft.com/office/drawing/2014/main" id="{7A1D60E7-1522-2513-DD69-574456AD050C}"/>
              </a:ext>
            </a:extLst>
          </p:cNvPr>
          <p:cNvSpPr/>
          <p:nvPr/>
        </p:nvSpPr>
        <p:spPr>
          <a:xfrm>
            <a:off x="8186928" y="25146"/>
            <a:ext cx="914400" cy="33966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Fix layout</a:t>
            </a:r>
          </a:p>
        </p:txBody>
      </p:sp>
    </p:spTree>
    <p:extLst>
      <p:ext uri="{BB962C8B-B14F-4D97-AF65-F5344CB8AC3E}">
        <p14:creationId xmlns:p14="http://schemas.microsoft.com/office/powerpoint/2010/main" val="1515341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094B-ABA8-69CE-787C-982B16FCC5F9}"/>
              </a:ext>
            </a:extLst>
          </p:cNvPr>
          <p:cNvSpPr>
            <a:spLocks noGrp="1"/>
          </p:cNvSpPr>
          <p:nvPr>
            <p:ph type="title"/>
          </p:nvPr>
        </p:nvSpPr>
        <p:spPr/>
        <p:txBody>
          <a:bodyPr/>
          <a:lstStyle/>
          <a:p>
            <a:r>
              <a:rPr lang="en-GB"/>
              <a:t>Step 4b: Descriptive statistics by financial system type</a:t>
            </a:r>
            <a:br>
              <a:rPr lang="en-GB"/>
            </a:br>
            <a:br>
              <a:rPr lang="en-GB"/>
            </a:br>
            <a:endParaRPr lang="en-CH"/>
          </a:p>
        </p:txBody>
      </p:sp>
      <p:sp>
        <p:nvSpPr>
          <p:cNvPr id="4" name="Slide Number Placeholder 3">
            <a:extLst>
              <a:ext uri="{FF2B5EF4-FFF2-40B4-BE49-F238E27FC236}">
                <a16:creationId xmlns:a16="http://schemas.microsoft.com/office/drawing/2014/main" id="{33517727-2282-D935-172D-D56F2732871D}"/>
              </a:ext>
            </a:extLst>
          </p:cNvPr>
          <p:cNvSpPr>
            <a:spLocks noGrp="1"/>
          </p:cNvSpPr>
          <p:nvPr>
            <p:ph type="sldNum" sz="quarter" idx="12"/>
          </p:nvPr>
        </p:nvSpPr>
        <p:spPr/>
        <p:txBody>
          <a:bodyPr/>
          <a:lstStyle/>
          <a:p>
            <a:fld id="{7559FC98-AF75-4A00-A03C-DF9FEBF6BCB9}" type="slidenum">
              <a:rPr lang="en-GB" smtClean="0"/>
              <a:t>38</a:t>
            </a:fld>
            <a:endParaRPr lang="en-GB"/>
          </a:p>
        </p:txBody>
      </p:sp>
      <p:sp>
        <p:nvSpPr>
          <p:cNvPr id="5" name="Text 1">
            <a:extLst>
              <a:ext uri="{FF2B5EF4-FFF2-40B4-BE49-F238E27FC236}">
                <a16:creationId xmlns:a16="http://schemas.microsoft.com/office/drawing/2014/main" id="{04CB3B95-EF26-99CF-0856-B6DF2177D454}"/>
              </a:ext>
            </a:extLst>
          </p:cNvPr>
          <p:cNvSpPr/>
          <p:nvPr/>
        </p:nvSpPr>
        <p:spPr>
          <a:xfrm>
            <a:off x="402882" y="865511"/>
            <a:ext cx="8229600" cy="201168"/>
          </a:xfrm>
          <a:prstGeom prst="rect">
            <a:avLst/>
          </a:prstGeom>
          <a:noFill/>
          <a:ln/>
        </p:spPr>
        <p:txBody>
          <a:bodyPr wrap="square" lIns="0" tIns="0" rIns="0" bIns="0" rtlCol="0" anchor="ctr"/>
          <a:lstStyle/>
          <a:p>
            <a:pPr marL="0" indent="0">
              <a:buNone/>
            </a:pPr>
            <a:r>
              <a:rPr lang="en-US" sz="1000" i="1">
                <a:solidFill>
                  <a:srgbClr val="6B7280"/>
                </a:solidFill>
                <a:latin typeface="Gill Sans Nova Light" panose="020B0302020104020203" pitchFamily="34" charset="0"/>
                <a:ea typeface="Calibri" pitchFamily="34" charset="-122"/>
                <a:cs typeface="Calibri" pitchFamily="34" charset="-120"/>
              </a:rPr>
              <a:t>Motivation for H1  ·  Split at FinStructure = 0  ·  Analytical sample (excl. missing FinStructure)</a:t>
            </a:r>
            <a:endParaRPr lang="en-US" sz="1000">
              <a:latin typeface="Gill Sans Nova Light" panose="020B0302020104020203" pitchFamily="34" charset="0"/>
            </a:endParaRPr>
          </a:p>
        </p:txBody>
      </p:sp>
      <p:sp>
        <p:nvSpPr>
          <p:cNvPr id="6" name="Shape 2">
            <a:extLst>
              <a:ext uri="{FF2B5EF4-FFF2-40B4-BE49-F238E27FC236}">
                <a16:creationId xmlns:a16="http://schemas.microsoft.com/office/drawing/2014/main" id="{2A52626C-5AA9-A393-3770-BA256505A1E7}"/>
              </a:ext>
            </a:extLst>
          </p:cNvPr>
          <p:cNvSpPr/>
          <p:nvPr/>
        </p:nvSpPr>
        <p:spPr>
          <a:xfrm>
            <a:off x="402882" y="1094111"/>
            <a:ext cx="8229600" cy="0"/>
          </a:xfrm>
          <a:prstGeom prst="line">
            <a:avLst/>
          </a:prstGeom>
          <a:noFill/>
          <a:ln w="12700">
            <a:solidFill>
              <a:srgbClr val="D0D7E3"/>
            </a:solidFill>
            <a:prstDash val="solid"/>
          </a:ln>
        </p:spPr>
        <p:txBody>
          <a:bodyPr/>
          <a:lstStyle/>
          <a:p>
            <a:endParaRPr lang="en-CH">
              <a:latin typeface="Gill Sans Nova Light" panose="020B0302020104020203" pitchFamily="34" charset="0"/>
            </a:endParaRPr>
          </a:p>
        </p:txBody>
      </p:sp>
      <p:sp>
        <p:nvSpPr>
          <p:cNvPr id="7" name="Shape 3">
            <a:extLst>
              <a:ext uri="{FF2B5EF4-FFF2-40B4-BE49-F238E27FC236}">
                <a16:creationId xmlns:a16="http://schemas.microsoft.com/office/drawing/2014/main" id="{229952BD-F720-A11D-7572-DA2A81CBFBFE}"/>
              </a:ext>
            </a:extLst>
          </p:cNvPr>
          <p:cNvSpPr/>
          <p:nvPr/>
        </p:nvSpPr>
        <p:spPr>
          <a:xfrm>
            <a:off x="402882" y="1194695"/>
            <a:ext cx="164592" cy="164592"/>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8" name="Text 4">
            <a:extLst>
              <a:ext uri="{FF2B5EF4-FFF2-40B4-BE49-F238E27FC236}">
                <a16:creationId xmlns:a16="http://schemas.microsoft.com/office/drawing/2014/main" id="{B2211A87-B2ED-EE07-6E4F-B38A176E9E5B}"/>
              </a:ext>
            </a:extLst>
          </p:cNvPr>
          <p:cNvSpPr/>
          <p:nvPr/>
        </p:nvSpPr>
        <p:spPr>
          <a:xfrm>
            <a:off x="604050" y="1194695"/>
            <a:ext cx="1188720" cy="164592"/>
          </a:xfrm>
          <a:prstGeom prst="rect">
            <a:avLst/>
          </a:prstGeom>
          <a:noFill/>
          <a:ln/>
        </p:spPr>
        <p:txBody>
          <a:bodyPr wrap="square" lIns="0" tIns="0" rIns="0" bIns="0" rtlCol="0" anchor="ctr"/>
          <a:lstStyle/>
          <a:p>
            <a:pPr marL="0" indent="0">
              <a:buNone/>
            </a:pPr>
            <a:r>
              <a:rPr lang="en-US" sz="950">
                <a:solidFill>
                  <a:srgbClr val="1A1A1A"/>
                </a:solidFill>
                <a:latin typeface="Gill Sans Nova Light" panose="020B0302020104020203" pitchFamily="34" charset="0"/>
                <a:ea typeface="Calibri" pitchFamily="34" charset="-122"/>
                <a:cs typeface="Calibri" pitchFamily="34" charset="-120"/>
              </a:rPr>
              <a:t>Bank-based</a:t>
            </a:r>
            <a:endParaRPr lang="en-US" sz="950">
              <a:latin typeface="Gill Sans Nova Light" panose="020B0302020104020203" pitchFamily="34" charset="0"/>
            </a:endParaRPr>
          </a:p>
        </p:txBody>
      </p:sp>
      <p:sp>
        <p:nvSpPr>
          <p:cNvPr id="9" name="Shape 5">
            <a:extLst>
              <a:ext uri="{FF2B5EF4-FFF2-40B4-BE49-F238E27FC236}">
                <a16:creationId xmlns:a16="http://schemas.microsoft.com/office/drawing/2014/main" id="{ABF90184-E117-1EC3-1AA6-53F0A39849A6}"/>
              </a:ext>
            </a:extLst>
          </p:cNvPr>
          <p:cNvSpPr/>
          <p:nvPr/>
        </p:nvSpPr>
        <p:spPr>
          <a:xfrm>
            <a:off x="1865922" y="1194695"/>
            <a:ext cx="164592" cy="164592"/>
          </a:xfrm>
          <a:prstGeom prst="rect">
            <a:avLst/>
          </a:prstGeom>
          <a:solidFill>
            <a:srgbClr val="0E7490"/>
          </a:solidFill>
          <a:ln w="12700">
            <a:solidFill>
              <a:srgbClr val="0E7490"/>
            </a:solidFill>
            <a:prstDash val="solid"/>
          </a:ln>
        </p:spPr>
        <p:txBody>
          <a:bodyPr/>
          <a:lstStyle/>
          <a:p>
            <a:endParaRPr lang="en-CH">
              <a:latin typeface="Gill Sans Nova Light" panose="020B0302020104020203" pitchFamily="34" charset="0"/>
            </a:endParaRPr>
          </a:p>
        </p:txBody>
      </p:sp>
      <p:sp>
        <p:nvSpPr>
          <p:cNvPr id="10" name="Text 6">
            <a:extLst>
              <a:ext uri="{FF2B5EF4-FFF2-40B4-BE49-F238E27FC236}">
                <a16:creationId xmlns:a16="http://schemas.microsoft.com/office/drawing/2014/main" id="{A07640AD-7809-38B4-D96C-5A677166CF36}"/>
              </a:ext>
            </a:extLst>
          </p:cNvPr>
          <p:cNvSpPr/>
          <p:nvPr/>
        </p:nvSpPr>
        <p:spPr>
          <a:xfrm>
            <a:off x="2067090" y="1194695"/>
            <a:ext cx="1188720" cy="164592"/>
          </a:xfrm>
          <a:prstGeom prst="rect">
            <a:avLst/>
          </a:prstGeom>
          <a:noFill/>
          <a:ln/>
        </p:spPr>
        <p:txBody>
          <a:bodyPr wrap="square" lIns="0" tIns="0" rIns="0" bIns="0" rtlCol="0" anchor="ctr"/>
          <a:lstStyle/>
          <a:p>
            <a:pPr marL="0" indent="0">
              <a:buNone/>
            </a:pPr>
            <a:r>
              <a:rPr lang="en-US" sz="950">
                <a:solidFill>
                  <a:srgbClr val="1A1A1A"/>
                </a:solidFill>
                <a:latin typeface="Gill Sans Nova Light" panose="020B0302020104020203" pitchFamily="34" charset="0"/>
                <a:ea typeface="Calibri" pitchFamily="34" charset="-122"/>
                <a:cs typeface="Calibri" pitchFamily="34" charset="-120"/>
              </a:rPr>
              <a:t>Market-based</a:t>
            </a:r>
            <a:endParaRPr lang="en-US" sz="950">
              <a:latin typeface="Gill Sans Nova Light" panose="020B0302020104020203" pitchFamily="34" charset="0"/>
            </a:endParaRPr>
          </a:p>
        </p:txBody>
      </p:sp>
      <p:sp>
        <p:nvSpPr>
          <p:cNvPr id="11" name="Shape 7">
            <a:extLst>
              <a:ext uri="{FF2B5EF4-FFF2-40B4-BE49-F238E27FC236}">
                <a16:creationId xmlns:a16="http://schemas.microsoft.com/office/drawing/2014/main" id="{37ED6F66-02D3-E61E-0068-218CAA4BCF21}"/>
              </a:ext>
            </a:extLst>
          </p:cNvPr>
          <p:cNvSpPr/>
          <p:nvPr/>
        </p:nvSpPr>
        <p:spPr>
          <a:xfrm>
            <a:off x="402882" y="1432439"/>
            <a:ext cx="1737360" cy="32918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2" name="Text 8">
            <a:extLst>
              <a:ext uri="{FF2B5EF4-FFF2-40B4-BE49-F238E27FC236}">
                <a16:creationId xmlns:a16="http://schemas.microsoft.com/office/drawing/2014/main" id="{AB793A86-4F74-CFFF-2D92-3F4040E3944E}"/>
              </a:ext>
            </a:extLst>
          </p:cNvPr>
          <p:cNvSpPr/>
          <p:nvPr/>
        </p:nvSpPr>
        <p:spPr>
          <a:xfrm>
            <a:off x="457746" y="1432439"/>
            <a:ext cx="1645920" cy="329184"/>
          </a:xfrm>
          <a:prstGeom prst="rect">
            <a:avLst/>
          </a:prstGeom>
          <a:noFill/>
          <a:ln/>
        </p:spPr>
        <p:txBody>
          <a:bodyPr wrap="square" lIns="0" tIns="0" rIns="0" bIns="0" rtlCol="0" anchor="ctr"/>
          <a:lstStyle/>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Variable</a:t>
            </a:r>
            <a:endParaRPr lang="en-US" sz="900">
              <a:latin typeface="Gill Sans Nova Light" panose="020B0302020104020203" pitchFamily="34" charset="0"/>
            </a:endParaRPr>
          </a:p>
        </p:txBody>
      </p:sp>
      <p:sp>
        <p:nvSpPr>
          <p:cNvPr id="13" name="Shape 9">
            <a:extLst>
              <a:ext uri="{FF2B5EF4-FFF2-40B4-BE49-F238E27FC236}">
                <a16:creationId xmlns:a16="http://schemas.microsoft.com/office/drawing/2014/main" id="{32DDB733-B5DC-A7E2-651F-1D7B10E29C5E}"/>
              </a:ext>
            </a:extLst>
          </p:cNvPr>
          <p:cNvSpPr/>
          <p:nvPr/>
        </p:nvSpPr>
        <p:spPr>
          <a:xfrm>
            <a:off x="2140242" y="1432439"/>
            <a:ext cx="2011680" cy="32918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4" name="Text 10">
            <a:extLst>
              <a:ext uri="{FF2B5EF4-FFF2-40B4-BE49-F238E27FC236}">
                <a16:creationId xmlns:a16="http://schemas.microsoft.com/office/drawing/2014/main" id="{BF95A41F-9267-54B2-C0CF-C90D8DD231F5}"/>
              </a:ext>
            </a:extLst>
          </p:cNvPr>
          <p:cNvSpPr/>
          <p:nvPr/>
        </p:nvSpPr>
        <p:spPr>
          <a:xfrm>
            <a:off x="2195106" y="1432439"/>
            <a:ext cx="1920240" cy="329184"/>
          </a:xfrm>
          <a:prstGeom prst="rect">
            <a:avLst/>
          </a:prstGeom>
          <a:noFill/>
          <a:ln/>
        </p:spPr>
        <p:txBody>
          <a:bodyPr wrap="square" lIns="0" tIns="0" rIns="0" bIns="0" rtlCol="0" anchor="ctr"/>
          <a:lstStyle/>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Bank-based</a:t>
            </a:r>
            <a:endParaRPr lang="en-US" sz="900">
              <a:latin typeface="Gill Sans Nova Light" panose="020B0302020104020203" pitchFamily="34" charset="0"/>
            </a:endParaRPr>
          </a:p>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(n=26,540 · 25 countries)</a:t>
            </a:r>
            <a:endParaRPr lang="en-US" sz="900">
              <a:latin typeface="Gill Sans Nova Light" panose="020B0302020104020203" pitchFamily="34" charset="0"/>
            </a:endParaRPr>
          </a:p>
        </p:txBody>
      </p:sp>
      <p:sp>
        <p:nvSpPr>
          <p:cNvPr id="15" name="Shape 11">
            <a:extLst>
              <a:ext uri="{FF2B5EF4-FFF2-40B4-BE49-F238E27FC236}">
                <a16:creationId xmlns:a16="http://schemas.microsoft.com/office/drawing/2014/main" id="{52F7C2CB-00B1-2DC7-5D8A-54645572D55A}"/>
              </a:ext>
            </a:extLst>
          </p:cNvPr>
          <p:cNvSpPr/>
          <p:nvPr/>
        </p:nvSpPr>
        <p:spPr>
          <a:xfrm>
            <a:off x="4151922" y="1432439"/>
            <a:ext cx="2011680" cy="32918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6" name="Text 12">
            <a:extLst>
              <a:ext uri="{FF2B5EF4-FFF2-40B4-BE49-F238E27FC236}">
                <a16:creationId xmlns:a16="http://schemas.microsoft.com/office/drawing/2014/main" id="{758B1F9F-1208-5ED8-149A-983307070CAF}"/>
              </a:ext>
            </a:extLst>
          </p:cNvPr>
          <p:cNvSpPr/>
          <p:nvPr/>
        </p:nvSpPr>
        <p:spPr>
          <a:xfrm>
            <a:off x="4206786" y="1432439"/>
            <a:ext cx="1920240" cy="329184"/>
          </a:xfrm>
          <a:prstGeom prst="rect">
            <a:avLst/>
          </a:prstGeom>
          <a:noFill/>
          <a:ln/>
        </p:spPr>
        <p:txBody>
          <a:bodyPr wrap="square" lIns="0" tIns="0" rIns="0" bIns="0" rtlCol="0" anchor="ctr"/>
          <a:lstStyle/>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Market-based</a:t>
            </a:r>
            <a:endParaRPr lang="en-US" sz="900">
              <a:latin typeface="Gill Sans Nova Light" panose="020B0302020104020203" pitchFamily="34" charset="0"/>
            </a:endParaRPr>
          </a:p>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(n=3,366 · 7 countries)</a:t>
            </a:r>
            <a:endParaRPr lang="en-US" sz="900">
              <a:latin typeface="Gill Sans Nova Light" panose="020B0302020104020203" pitchFamily="34" charset="0"/>
            </a:endParaRPr>
          </a:p>
        </p:txBody>
      </p:sp>
      <p:sp>
        <p:nvSpPr>
          <p:cNvPr id="17" name="Shape 13">
            <a:extLst>
              <a:ext uri="{FF2B5EF4-FFF2-40B4-BE49-F238E27FC236}">
                <a16:creationId xmlns:a16="http://schemas.microsoft.com/office/drawing/2014/main" id="{4351E5C4-4CA0-6ACC-A164-C88B0D54AF64}"/>
              </a:ext>
            </a:extLst>
          </p:cNvPr>
          <p:cNvSpPr/>
          <p:nvPr/>
        </p:nvSpPr>
        <p:spPr>
          <a:xfrm>
            <a:off x="6163602" y="1432439"/>
            <a:ext cx="2468880" cy="329184"/>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18" name="Text 14">
            <a:extLst>
              <a:ext uri="{FF2B5EF4-FFF2-40B4-BE49-F238E27FC236}">
                <a16:creationId xmlns:a16="http://schemas.microsoft.com/office/drawing/2014/main" id="{A5E5E8D8-1ADF-F81D-F473-D77EA1C596CA}"/>
              </a:ext>
            </a:extLst>
          </p:cNvPr>
          <p:cNvSpPr/>
          <p:nvPr/>
        </p:nvSpPr>
        <p:spPr>
          <a:xfrm>
            <a:off x="6218466" y="1432439"/>
            <a:ext cx="2377440" cy="329184"/>
          </a:xfrm>
          <a:prstGeom prst="rect">
            <a:avLst/>
          </a:prstGeom>
          <a:noFill/>
          <a:ln/>
        </p:spPr>
        <p:txBody>
          <a:bodyPr wrap="square" lIns="0" tIns="0" rIns="0" bIns="0" rtlCol="0" anchor="ctr"/>
          <a:lstStyle/>
          <a:p>
            <a:pPr marL="0" indent="0" algn="ctr">
              <a:buNone/>
            </a:pPr>
            <a:r>
              <a:rPr lang="en-US" sz="900" b="1">
                <a:solidFill>
                  <a:srgbClr val="FFFFFF"/>
                </a:solidFill>
                <a:latin typeface="Gill Sans Nova Light" panose="020B0302020104020203" pitchFamily="34" charset="0"/>
                <a:ea typeface="Calibri" pitchFamily="34" charset="-122"/>
                <a:cs typeface="Calibri" pitchFamily="34" charset="-120"/>
              </a:rPr>
              <a:t>Comment</a:t>
            </a:r>
            <a:endParaRPr lang="en-US" sz="900">
              <a:latin typeface="Gill Sans Nova Light" panose="020B0302020104020203" pitchFamily="34" charset="0"/>
            </a:endParaRPr>
          </a:p>
        </p:txBody>
      </p:sp>
      <p:sp>
        <p:nvSpPr>
          <p:cNvPr id="19" name="Shape 15">
            <a:extLst>
              <a:ext uri="{FF2B5EF4-FFF2-40B4-BE49-F238E27FC236}">
                <a16:creationId xmlns:a16="http://schemas.microsoft.com/office/drawing/2014/main" id="{7DDFFA69-39CE-8B35-1D96-CB64CA373168}"/>
              </a:ext>
            </a:extLst>
          </p:cNvPr>
          <p:cNvSpPr/>
          <p:nvPr/>
        </p:nvSpPr>
        <p:spPr>
          <a:xfrm>
            <a:off x="402882" y="1761623"/>
            <a:ext cx="8229600" cy="548640"/>
          </a:xfrm>
          <a:prstGeom prst="rect">
            <a:avLst/>
          </a:prstGeom>
          <a:solidFill>
            <a:srgbClr val="F4F6F9"/>
          </a:solidFill>
          <a:ln w="6350">
            <a:solidFill>
              <a:srgbClr val="D0D7E3"/>
            </a:solidFill>
            <a:prstDash val="solid"/>
          </a:ln>
        </p:spPr>
        <p:txBody>
          <a:bodyPr/>
          <a:lstStyle/>
          <a:p>
            <a:endParaRPr lang="en-CH">
              <a:latin typeface="Gill Sans Nova Light" panose="020B0302020104020203" pitchFamily="34" charset="0"/>
            </a:endParaRPr>
          </a:p>
        </p:txBody>
      </p:sp>
      <p:sp>
        <p:nvSpPr>
          <p:cNvPr id="20" name="Text 16">
            <a:extLst>
              <a:ext uri="{FF2B5EF4-FFF2-40B4-BE49-F238E27FC236}">
                <a16:creationId xmlns:a16="http://schemas.microsoft.com/office/drawing/2014/main" id="{51B372B0-5286-7DDF-D1E9-B5CF7FC6853B}"/>
              </a:ext>
            </a:extLst>
          </p:cNvPr>
          <p:cNvSpPr/>
          <p:nvPr/>
        </p:nvSpPr>
        <p:spPr>
          <a:xfrm>
            <a:off x="476034" y="1907927"/>
            <a:ext cx="1627632" cy="237744"/>
          </a:xfrm>
          <a:prstGeom prst="rect">
            <a:avLst/>
          </a:prstGeom>
          <a:noFill/>
          <a:ln/>
        </p:spPr>
        <p:txBody>
          <a:bodyPr wrap="square" lIns="0" tIns="0" rIns="0" bIns="0" rtlCol="0" anchor="ctr"/>
          <a:lstStyle/>
          <a:p>
            <a:pPr marL="0" indent="0">
              <a:buNone/>
            </a:pPr>
            <a:r>
              <a:rPr lang="en-US" sz="1050" b="1">
                <a:solidFill>
                  <a:srgbClr val="1A1A1A"/>
                </a:solidFill>
                <a:latin typeface="Gill Sans Nova Light" panose="020B0302020104020203" pitchFamily="34" charset="0"/>
                <a:ea typeface="Calibri" pitchFamily="34" charset="-122"/>
                <a:cs typeface="Calibri" pitchFamily="34" charset="-120"/>
              </a:rPr>
              <a:t>Deposit Ratio</a:t>
            </a:r>
            <a:endParaRPr lang="en-US" sz="1050">
              <a:latin typeface="Gill Sans Nova Light" panose="020B0302020104020203" pitchFamily="34" charset="0"/>
            </a:endParaRPr>
          </a:p>
        </p:txBody>
      </p:sp>
      <p:sp>
        <p:nvSpPr>
          <p:cNvPr id="21" name="Shape 17">
            <a:extLst>
              <a:ext uri="{FF2B5EF4-FFF2-40B4-BE49-F238E27FC236}">
                <a16:creationId xmlns:a16="http://schemas.microsoft.com/office/drawing/2014/main" id="{2E420F12-8E33-4B00-FE0D-3DBDC94C956C}"/>
              </a:ext>
            </a:extLst>
          </p:cNvPr>
          <p:cNvSpPr/>
          <p:nvPr/>
        </p:nvSpPr>
        <p:spPr>
          <a:xfrm>
            <a:off x="2140242" y="1853063"/>
            <a:ext cx="2011680" cy="365760"/>
          </a:xfrm>
          <a:prstGeom prst="rect">
            <a:avLst/>
          </a:prstGeom>
          <a:solidFill>
            <a:srgbClr val="EBF0FA"/>
          </a:solidFill>
          <a:ln w="6350">
            <a:solidFill>
              <a:srgbClr val="C5D0E8"/>
            </a:solidFill>
            <a:prstDash val="solid"/>
          </a:ln>
        </p:spPr>
        <p:txBody>
          <a:bodyPr/>
          <a:lstStyle/>
          <a:p>
            <a:endParaRPr lang="en-CH">
              <a:latin typeface="Gill Sans Nova Light" panose="020B0302020104020203" pitchFamily="34" charset="0"/>
            </a:endParaRPr>
          </a:p>
        </p:txBody>
      </p:sp>
      <p:sp>
        <p:nvSpPr>
          <p:cNvPr id="22" name="Text 18">
            <a:extLst>
              <a:ext uri="{FF2B5EF4-FFF2-40B4-BE49-F238E27FC236}">
                <a16:creationId xmlns:a16="http://schemas.microsoft.com/office/drawing/2014/main" id="{FC757A21-C514-92FF-BB23-B1C8B2F7D928}"/>
              </a:ext>
            </a:extLst>
          </p:cNvPr>
          <p:cNvSpPr/>
          <p:nvPr/>
        </p:nvSpPr>
        <p:spPr>
          <a:xfrm>
            <a:off x="2140242" y="1853063"/>
            <a:ext cx="2011680" cy="365760"/>
          </a:xfrm>
          <a:prstGeom prst="rect">
            <a:avLst/>
          </a:prstGeom>
          <a:noFill/>
          <a:ln/>
        </p:spPr>
        <p:txBody>
          <a:bodyPr wrap="square" lIns="0" tIns="0" rIns="0" bIns="0" rtlCol="0" anchor="ctr"/>
          <a:lstStyle/>
          <a:p>
            <a:pPr marL="0" indent="0" algn="ctr">
              <a:buNone/>
            </a:pPr>
            <a:r>
              <a:rPr lang="en-US" sz="1600" b="1">
                <a:solidFill>
                  <a:srgbClr val="1B3A6B"/>
                </a:solidFill>
                <a:latin typeface="Gill Sans Nova Light" panose="020B0302020104020203" pitchFamily="34" charset="0"/>
                <a:ea typeface="Calibri" pitchFamily="34" charset="-122"/>
                <a:cs typeface="Calibri" pitchFamily="34" charset="-120"/>
              </a:rPr>
              <a:t>0.730</a:t>
            </a:r>
            <a:endParaRPr lang="en-US" sz="1600">
              <a:latin typeface="Gill Sans Nova Light" panose="020B0302020104020203" pitchFamily="34" charset="0"/>
            </a:endParaRPr>
          </a:p>
        </p:txBody>
      </p:sp>
      <p:sp>
        <p:nvSpPr>
          <p:cNvPr id="23" name="Shape 19">
            <a:extLst>
              <a:ext uri="{FF2B5EF4-FFF2-40B4-BE49-F238E27FC236}">
                <a16:creationId xmlns:a16="http://schemas.microsoft.com/office/drawing/2014/main" id="{691E71C0-A4CB-4A83-182A-59A2666CB5E0}"/>
              </a:ext>
            </a:extLst>
          </p:cNvPr>
          <p:cNvSpPr/>
          <p:nvPr/>
        </p:nvSpPr>
        <p:spPr>
          <a:xfrm>
            <a:off x="4151922" y="1853063"/>
            <a:ext cx="2011680" cy="365760"/>
          </a:xfrm>
          <a:prstGeom prst="rect">
            <a:avLst/>
          </a:prstGeom>
          <a:solidFill>
            <a:srgbClr val="E0F4F8"/>
          </a:solidFill>
          <a:ln w="6350">
            <a:solidFill>
              <a:srgbClr val="A8D8E0"/>
            </a:solidFill>
            <a:prstDash val="solid"/>
          </a:ln>
        </p:spPr>
        <p:txBody>
          <a:bodyPr/>
          <a:lstStyle/>
          <a:p>
            <a:endParaRPr lang="en-CH">
              <a:latin typeface="Gill Sans Nova Light" panose="020B0302020104020203" pitchFamily="34" charset="0"/>
            </a:endParaRPr>
          </a:p>
        </p:txBody>
      </p:sp>
      <p:sp>
        <p:nvSpPr>
          <p:cNvPr id="24" name="Text 20">
            <a:extLst>
              <a:ext uri="{FF2B5EF4-FFF2-40B4-BE49-F238E27FC236}">
                <a16:creationId xmlns:a16="http://schemas.microsoft.com/office/drawing/2014/main" id="{F4B90EB5-6E7F-85F1-5BBF-13EFAB7BB8FA}"/>
              </a:ext>
            </a:extLst>
          </p:cNvPr>
          <p:cNvSpPr/>
          <p:nvPr/>
        </p:nvSpPr>
        <p:spPr>
          <a:xfrm>
            <a:off x="4151922" y="1853063"/>
            <a:ext cx="2011680" cy="365760"/>
          </a:xfrm>
          <a:prstGeom prst="rect">
            <a:avLst/>
          </a:prstGeom>
          <a:noFill/>
          <a:ln/>
        </p:spPr>
        <p:txBody>
          <a:bodyPr wrap="square" lIns="0" tIns="0" rIns="0" bIns="0" rtlCol="0" anchor="ctr"/>
          <a:lstStyle/>
          <a:p>
            <a:pPr marL="0" indent="0" algn="ctr">
              <a:buNone/>
            </a:pPr>
            <a:r>
              <a:rPr lang="en-US" sz="1600" b="1">
                <a:solidFill>
                  <a:srgbClr val="0E7490"/>
                </a:solidFill>
                <a:latin typeface="Gill Sans Nova Light" panose="020B0302020104020203" pitchFamily="34" charset="0"/>
                <a:ea typeface="Calibri" pitchFamily="34" charset="-122"/>
                <a:cs typeface="Calibri" pitchFamily="34" charset="-120"/>
              </a:rPr>
              <a:t>0.738</a:t>
            </a:r>
            <a:endParaRPr lang="en-US" sz="1600">
              <a:latin typeface="Gill Sans Nova Light" panose="020B0302020104020203" pitchFamily="34" charset="0"/>
            </a:endParaRPr>
          </a:p>
        </p:txBody>
      </p:sp>
      <p:sp>
        <p:nvSpPr>
          <p:cNvPr id="25" name="Text 21">
            <a:extLst>
              <a:ext uri="{FF2B5EF4-FFF2-40B4-BE49-F238E27FC236}">
                <a16:creationId xmlns:a16="http://schemas.microsoft.com/office/drawing/2014/main" id="{647D1C84-F065-3CFE-4B2B-1C9A123E39FB}"/>
              </a:ext>
            </a:extLst>
          </p:cNvPr>
          <p:cNvSpPr/>
          <p:nvPr/>
        </p:nvSpPr>
        <p:spPr>
          <a:xfrm>
            <a:off x="6208867" y="1798199"/>
            <a:ext cx="822960" cy="201168"/>
          </a:xfrm>
          <a:prstGeom prst="rect">
            <a:avLst/>
          </a:prstGeom>
          <a:noFill/>
          <a:ln/>
        </p:spPr>
        <p:txBody>
          <a:bodyPr wrap="square" lIns="0" tIns="0" rIns="0" bIns="0" rtlCol="0" anchor="ctr"/>
          <a:lstStyle/>
          <a:p>
            <a:pPr marL="0" indent="0">
              <a:buNone/>
            </a:pPr>
            <a:r>
              <a:rPr lang="en-US" sz="850" b="1">
                <a:solidFill>
                  <a:srgbClr val="D97706"/>
                </a:solidFill>
                <a:latin typeface="Gill Sans Nova Light" panose="020B0302020104020203" pitchFamily="34" charset="0"/>
                <a:ea typeface="Calibri" pitchFamily="34" charset="-122"/>
                <a:cs typeface="Calibri" pitchFamily="34" charset="-120"/>
              </a:rPr>
              <a:t>∆ +0.8 pp</a:t>
            </a:r>
            <a:endParaRPr lang="en-US" sz="850">
              <a:latin typeface="Gill Sans Nova Light" panose="020B0302020104020203" pitchFamily="34" charset="0"/>
            </a:endParaRPr>
          </a:p>
        </p:txBody>
      </p:sp>
      <p:sp>
        <p:nvSpPr>
          <p:cNvPr id="26" name="Text 22">
            <a:extLst>
              <a:ext uri="{FF2B5EF4-FFF2-40B4-BE49-F238E27FC236}">
                <a16:creationId xmlns:a16="http://schemas.microsoft.com/office/drawing/2014/main" id="{7A026A04-B400-0789-15A6-6EB90A45D3C7}"/>
              </a:ext>
            </a:extLst>
          </p:cNvPr>
          <p:cNvSpPr/>
          <p:nvPr/>
        </p:nvSpPr>
        <p:spPr>
          <a:xfrm>
            <a:off x="6208867" y="1981079"/>
            <a:ext cx="2432304"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Market-based slightly higher — raw unconditional mean. H1 is about the aging interaction, not the level. Regression required.</a:t>
            </a:r>
            <a:endParaRPr lang="en-US" sz="850">
              <a:latin typeface="Gill Sans Nova Light" panose="020B0302020104020203" pitchFamily="34" charset="0"/>
            </a:endParaRPr>
          </a:p>
        </p:txBody>
      </p:sp>
      <p:sp>
        <p:nvSpPr>
          <p:cNvPr id="27" name="Shape 23">
            <a:extLst>
              <a:ext uri="{FF2B5EF4-FFF2-40B4-BE49-F238E27FC236}">
                <a16:creationId xmlns:a16="http://schemas.microsoft.com/office/drawing/2014/main" id="{2E1CB7F6-EA73-6953-56DB-A442C364629D}"/>
              </a:ext>
            </a:extLst>
          </p:cNvPr>
          <p:cNvSpPr/>
          <p:nvPr/>
        </p:nvSpPr>
        <p:spPr>
          <a:xfrm>
            <a:off x="402882" y="2310263"/>
            <a:ext cx="8229600" cy="54864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28" name="Text 24">
            <a:extLst>
              <a:ext uri="{FF2B5EF4-FFF2-40B4-BE49-F238E27FC236}">
                <a16:creationId xmlns:a16="http://schemas.microsoft.com/office/drawing/2014/main" id="{EC0862B0-85B0-E024-088A-CE2987FB9813}"/>
              </a:ext>
            </a:extLst>
          </p:cNvPr>
          <p:cNvSpPr/>
          <p:nvPr/>
        </p:nvSpPr>
        <p:spPr>
          <a:xfrm>
            <a:off x="476034" y="2456567"/>
            <a:ext cx="1627632" cy="237744"/>
          </a:xfrm>
          <a:prstGeom prst="rect">
            <a:avLst/>
          </a:prstGeom>
          <a:noFill/>
          <a:ln/>
        </p:spPr>
        <p:txBody>
          <a:bodyPr wrap="square" lIns="0" tIns="0" rIns="0" bIns="0" rtlCol="0" anchor="ctr"/>
          <a:lstStyle/>
          <a:p>
            <a:pPr marL="0" indent="0">
              <a:buNone/>
            </a:pPr>
            <a:r>
              <a:rPr lang="en-US" sz="1050" b="1">
                <a:solidFill>
                  <a:srgbClr val="1A1A1A"/>
                </a:solidFill>
                <a:latin typeface="Gill Sans Nova Light" panose="020B0302020104020203" pitchFamily="34" charset="0"/>
                <a:ea typeface="Calibri" pitchFamily="34" charset="-122"/>
                <a:cs typeface="Calibri" pitchFamily="34" charset="-120"/>
              </a:rPr>
              <a:t>Age65 (%)</a:t>
            </a:r>
            <a:endParaRPr lang="en-US" sz="1050">
              <a:latin typeface="Gill Sans Nova Light" panose="020B0302020104020203" pitchFamily="34" charset="0"/>
            </a:endParaRPr>
          </a:p>
        </p:txBody>
      </p:sp>
      <p:sp>
        <p:nvSpPr>
          <p:cNvPr id="29" name="Shape 25">
            <a:extLst>
              <a:ext uri="{FF2B5EF4-FFF2-40B4-BE49-F238E27FC236}">
                <a16:creationId xmlns:a16="http://schemas.microsoft.com/office/drawing/2014/main" id="{3E0372AE-42EA-3E96-FAD0-4A244070B13B}"/>
              </a:ext>
            </a:extLst>
          </p:cNvPr>
          <p:cNvSpPr/>
          <p:nvPr/>
        </p:nvSpPr>
        <p:spPr>
          <a:xfrm>
            <a:off x="2140242" y="2401703"/>
            <a:ext cx="2011680" cy="365760"/>
          </a:xfrm>
          <a:prstGeom prst="rect">
            <a:avLst/>
          </a:prstGeom>
          <a:solidFill>
            <a:srgbClr val="EBF0FA"/>
          </a:solidFill>
          <a:ln w="6350">
            <a:solidFill>
              <a:srgbClr val="C5D0E8"/>
            </a:solidFill>
            <a:prstDash val="solid"/>
          </a:ln>
        </p:spPr>
        <p:txBody>
          <a:bodyPr/>
          <a:lstStyle/>
          <a:p>
            <a:endParaRPr lang="en-CH">
              <a:latin typeface="Gill Sans Nova Light" panose="020B0302020104020203" pitchFamily="34" charset="0"/>
            </a:endParaRPr>
          </a:p>
        </p:txBody>
      </p:sp>
      <p:sp>
        <p:nvSpPr>
          <p:cNvPr id="30" name="Text 26">
            <a:extLst>
              <a:ext uri="{FF2B5EF4-FFF2-40B4-BE49-F238E27FC236}">
                <a16:creationId xmlns:a16="http://schemas.microsoft.com/office/drawing/2014/main" id="{702BAC2C-4AA3-A4A9-96C6-ACA904A86BE4}"/>
              </a:ext>
            </a:extLst>
          </p:cNvPr>
          <p:cNvSpPr/>
          <p:nvPr/>
        </p:nvSpPr>
        <p:spPr>
          <a:xfrm>
            <a:off x="2140242" y="2401703"/>
            <a:ext cx="2011680" cy="365760"/>
          </a:xfrm>
          <a:prstGeom prst="rect">
            <a:avLst/>
          </a:prstGeom>
          <a:noFill/>
          <a:ln/>
        </p:spPr>
        <p:txBody>
          <a:bodyPr wrap="square" lIns="0" tIns="0" rIns="0" bIns="0" rtlCol="0" anchor="ctr"/>
          <a:lstStyle/>
          <a:p>
            <a:pPr marL="0" indent="0" algn="ctr">
              <a:buNone/>
            </a:pPr>
            <a:r>
              <a:rPr lang="en-US" sz="1600" b="1">
                <a:solidFill>
                  <a:srgbClr val="1B3A6B"/>
                </a:solidFill>
                <a:latin typeface="Gill Sans Nova Light" panose="020B0302020104020203" pitchFamily="34" charset="0"/>
                <a:ea typeface="Calibri" pitchFamily="34" charset="-122"/>
                <a:cs typeface="Calibri" pitchFamily="34" charset="-120"/>
              </a:rPr>
              <a:t>20.7%</a:t>
            </a:r>
            <a:endParaRPr lang="en-US" sz="1600">
              <a:latin typeface="Gill Sans Nova Light" panose="020B0302020104020203" pitchFamily="34" charset="0"/>
            </a:endParaRPr>
          </a:p>
        </p:txBody>
      </p:sp>
      <p:sp>
        <p:nvSpPr>
          <p:cNvPr id="31" name="Shape 27">
            <a:extLst>
              <a:ext uri="{FF2B5EF4-FFF2-40B4-BE49-F238E27FC236}">
                <a16:creationId xmlns:a16="http://schemas.microsoft.com/office/drawing/2014/main" id="{CD2E56AE-D9A1-D01A-90F0-62B4AAD73315}"/>
              </a:ext>
            </a:extLst>
          </p:cNvPr>
          <p:cNvSpPr/>
          <p:nvPr/>
        </p:nvSpPr>
        <p:spPr>
          <a:xfrm>
            <a:off x="4151922" y="2401703"/>
            <a:ext cx="2011680" cy="365760"/>
          </a:xfrm>
          <a:prstGeom prst="rect">
            <a:avLst/>
          </a:prstGeom>
          <a:solidFill>
            <a:srgbClr val="E0F4F8"/>
          </a:solidFill>
          <a:ln w="6350">
            <a:solidFill>
              <a:srgbClr val="A8D8E0"/>
            </a:solidFill>
            <a:prstDash val="solid"/>
          </a:ln>
        </p:spPr>
        <p:txBody>
          <a:bodyPr/>
          <a:lstStyle/>
          <a:p>
            <a:endParaRPr lang="en-CH">
              <a:latin typeface="Gill Sans Nova Light" panose="020B0302020104020203" pitchFamily="34" charset="0"/>
            </a:endParaRPr>
          </a:p>
        </p:txBody>
      </p:sp>
      <p:sp>
        <p:nvSpPr>
          <p:cNvPr id="32" name="Text 28">
            <a:extLst>
              <a:ext uri="{FF2B5EF4-FFF2-40B4-BE49-F238E27FC236}">
                <a16:creationId xmlns:a16="http://schemas.microsoft.com/office/drawing/2014/main" id="{100D338F-F8EC-3D4C-165F-24790B8F4A7B}"/>
              </a:ext>
            </a:extLst>
          </p:cNvPr>
          <p:cNvSpPr/>
          <p:nvPr/>
        </p:nvSpPr>
        <p:spPr>
          <a:xfrm>
            <a:off x="4151922" y="2401703"/>
            <a:ext cx="2011680" cy="365760"/>
          </a:xfrm>
          <a:prstGeom prst="rect">
            <a:avLst/>
          </a:prstGeom>
          <a:noFill/>
          <a:ln/>
        </p:spPr>
        <p:txBody>
          <a:bodyPr wrap="square" lIns="0" tIns="0" rIns="0" bIns="0" rtlCol="0" anchor="ctr"/>
          <a:lstStyle/>
          <a:p>
            <a:pPr marL="0" indent="0" algn="ctr">
              <a:buNone/>
            </a:pPr>
            <a:r>
              <a:rPr lang="en-US" sz="1600" b="1">
                <a:solidFill>
                  <a:srgbClr val="0E7490"/>
                </a:solidFill>
                <a:latin typeface="Gill Sans Nova Light" panose="020B0302020104020203" pitchFamily="34" charset="0"/>
                <a:ea typeface="Calibri" pitchFamily="34" charset="-122"/>
                <a:cs typeface="Calibri" pitchFamily="34" charset="-120"/>
              </a:rPr>
              <a:t>19.6%</a:t>
            </a:r>
            <a:endParaRPr lang="en-US" sz="1600">
              <a:latin typeface="Gill Sans Nova Light" panose="020B0302020104020203" pitchFamily="34" charset="0"/>
            </a:endParaRPr>
          </a:p>
        </p:txBody>
      </p:sp>
      <p:sp>
        <p:nvSpPr>
          <p:cNvPr id="33" name="Text 29">
            <a:extLst>
              <a:ext uri="{FF2B5EF4-FFF2-40B4-BE49-F238E27FC236}">
                <a16:creationId xmlns:a16="http://schemas.microsoft.com/office/drawing/2014/main" id="{E205FE1E-DA20-363B-865C-348AD93FB1CF}"/>
              </a:ext>
            </a:extLst>
          </p:cNvPr>
          <p:cNvSpPr/>
          <p:nvPr/>
        </p:nvSpPr>
        <p:spPr>
          <a:xfrm>
            <a:off x="6208867" y="2346839"/>
            <a:ext cx="822960" cy="201168"/>
          </a:xfrm>
          <a:prstGeom prst="rect">
            <a:avLst/>
          </a:prstGeom>
          <a:noFill/>
          <a:ln/>
        </p:spPr>
        <p:txBody>
          <a:bodyPr wrap="square" lIns="0" tIns="0" rIns="0" bIns="0" rtlCol="0" anchor="ctr"/>
          <a:lstStyle/>
          <a:p>
            <a:pPr marL="0" indent="0">
              <a:buNone/>
            </a:pPr>
            <a:r>
              <a:rPr lang="en-US" sz="850" b="1">
                <a:solidFill>
                  <a:srgbClr val="2E5FA3"/>
                </a:solidFill>
                <a:latin typeface="Gill Sans Nova Light" panose="020B0302020104020203" pitchFamily="34" charset="0"/>
                <a:ea typeface="Calibri" pitchFamily="34" charset="-122"/>
                <a:cs typeface="Calibri" pitchFamily="34" charset="-120"/>
              </a:rPr>
              <a:t>∆ −1.1 pp</a:t>
            </a:r>
            <a:endParaRPr lang="en-US" sz="850">
              <a:latin typeface="Gill Sans Nova Light" panose="020B0302020104020203" pitchFamily="34" charset="0"/>
            </a:endParaRPr>
          </a:p>
        </p:txBody>
      </p:sp>
      <p:sp>
        <p:nvSpPr>
          <p:cNvPr id="34" name="Text 30">
            <a:extLst>
              <a:ext uri="{FF2B5EF4-FFF2-40B4-BE49-F238E27FC236}">
                <a16:creationId xmlns:a16="http://schemas.microsoft.com/office/drawing/2014/main" id="{F2268E41-C775-4BE6-313C-BD954617B2B5}"/>
              </a:ext>
            </a:extLst>
          </p:cNvPr>
          <p:cNvSpPr/>
          <p:nvPr/>
        </p:nvSpPr>
        <p:spPr>
          <a:xfrm>
            <a:off x="6208867" y="2529719"/>
            <a:ext cx="2432304"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Bank-based countries are older on avg. ⇒ aging &amp; FinStructure correlated in cross-section. Watch for multicollinearity.</a:t>
            </a:r>
            <a:endParaRPr lang="en-US" sz="850">
              <a:latin typeface="Gill Sans Nova Light" panose="020B0302020104020203" pitchFamily="34" charset="0"/>
            </a:endParaRPr>
          </a:p>
        </p:txBody>
      </p:sp>
      <p:sp>
        <p:nvSpPr>
          <p:cNvPr id="35" name="Shape 31">
            <a:extLst>
              <a:ext uri="{FF2B5EF4-FFF2-40B4-BE49-F238E27FC236}">
                <a16:creationId xmlns:a16="http://schemas.microsoft.com/office/drawing/2014/main" id="{101ADB87-AC40-CDE6-F976-35CD9B994C7C}"/>
              </a:ext>
            </a:extLst>
          </p:cNvPr>
          <p:cNvSpPr/>
          <p:nvPr/>
        </p:nvSpPr>
        <p:spPr>
          <a:xfrm>
            <a:off x="402882" y="2858903"/>
            <a:ext cx="8229600" cy="548640"/>
          </a:xfrm>
          <a:prstGeom prst="rect">
            <a:avLst/>
          </a:prstGeom>
          <a:solidFill>
            <a:srgbClr val="F4F6F9"/>
          </a:solidFill>
          <a:ln w="6350">
            <a:solidFill>
              <a:srgbClr val="D0D7E3"/>
            </a:solidFill>
            <a:prstDash val="solid"/>
          </a:ln>
        </p:spPr>
        <p:txBody>
          <a:bodyPr/>
          <a:lstStyle/>
          <a:p>
            <a:endParaRPr lang="en-CH">
              <a:latin typeface="Gill Sans Nova Light" panose="020B0302020104020203" pitchFamily="34" charset="0"/>
            </a:endParaRPr>
          </a:p>
        </p:txBody>
      </p:sp>
      <p:sp>
        <p:nvSpPr>
          <p:cNvPr id="36" name="Text 32">
            <a:extLst>
              <a:ext uri="{FF2B5EF4-FFF2-40B4-BE49-F238E27FC236}">
                <a16:creationId xmlns:a16="http://schemas.microsoft.com/office/drawing/2014/main" id="{BE7CD238-F30B-B61B-DA24-C7C12417E2C8}"/>
              </a:ext>
            </a:extLst>
          </p:cNvPr>
          <p:cNvSpPr/>
          <p:nvPr/>
        </p:nvSpPr>
        <p:spPr>
          <a:xfrm>
            <a:off x="476034" y="3005207"/>
            <a:ext cx="1627632" cy="237744"/>
          </a:xfrm>
          <a:prstGeom prst="rect">
            <a:avLst/>
          </a:prstGeom>
          <a:noFill/>
          <a:ln/>
        </p:spPr>
        <p:txBody>
          <a:bodyPr wrap="square" lIns="0" tIns="0" rIns="0" bIns="0" rtlCol="0" anchor="ctr"/>
          <a:lstStyle/>
          <a:p>
            <a:pPr marL="0" indent="0">
              <a:buNone/>
            </a:pPr>
            <a:r>
              <a:rPr lang="en-US" sz="1050" b="1">
                <a:solidFill>
                  <a:srgbClr val="1A1A1A"/>
                </a:solidFill>
                <a:latin typeface="Gill Sans Nova Light" panose="020B0302020104020203" pitchFamily="34" charset="0"/>
                <a:ea typeface="Calibri" pitchFamily="34" charset="-122"/>
                <a:cs typeface="Calibri" pitchFamily="34" charset="-120"/>
              </a:rPr>
              <a:t>FinStructure</a:t>
            </a:r>
            <a:endParaRPr lang="en-US" sz="1050">
              <a:latin typeface="Gill Sans Nova Light" panose="020B0302020104020203" pitchFamily="34" charset="0"/>
            </a:endParaRPr>
          </a:p>
        </p:txBody>
      </p:sp>
      <p:sp>
        <p:nvSpPr>
          <p:cNvPr id="37" name="Shape 33">
            <a:extLst>
              <a:ext uri="{FF2B5EF4-FFF2-40B4-BE49-F238E27FC236}">
                <a16:creationId xmlns:a16="http://schemas.microsoft.com/office/drawing/2014/main" id="{AB273A4F-D5FE-8E63-659E-2F733E4CF79B}"/>
              </a:ext>
            </a:extLst>
          </p:cNvPr>
          <p:cNvSpPr/>
          <p:nvPr/>
        </p:nvSpPr>
        <p:spPr>
          <a:xfrm>
            <a:off x="2140242" y="2950343"/>
            <a:ext cx="2011680" cy="365760"/>
          </a:xfrm>
          <a:prstGeom prst="rect">
            <a:avLst/>
          </a:prstGeom>
          <a:solidFill>
            <a:srgbClr val="EBF0FA"/>
          </a:solidFill>
          <a:ln w="6350">
            <a:solidFill>
              <a:srgbClr val="C5D0E8"/>
            </a:solidFill>
            <a:prstDash val="solid"/>
          </a:ln>
        </p:spPr>
        <p:txBody>
          <a:bodyPr/>
          <a:lstStyle/>
          <a:p>
            <a:endParaRPr lang="en-CH">
              <a:latin typeface="Gill Sans Nova Light" panose="020B0302020104020203" pitchFamily="34" charset="0"/>
            </a:endParaRPr>
          </a:p>
        </p:txBody>
      </p:sp>
      <p:sp>
        <p:nvSpPr>
          <p:cNvPr id="38" name="Text 34">
            <a:extLst>
              <a:ext uri="{FF2B5EF4-FFF2-40B4-BE49-F238E27FC236}">
                <a16:creationId xmlns:a16="http://schemas.microsoft.com/office/drawing/2014/main" id="{43450B67-7D4A-3614-ECFE-730280934385}"/>
              </a:ext>
            </a:extLst>
          </p:cNvPr>
          <p:cNvSpPr/>
          <p:nvPr/>
        </p:nvSpPr>
        <p:spPr>
          <a:xfrm>
            <a:off x="2140242" y="2950343"/>
            <a:ext cx="2011680" cy="365760"/>
          </a:xfrm>
          <a:prstGeom prst="rect">
            <a:avLst/>
          </a:prstGeom>
          <a:noFill/>
          <a:ln/>
        </p:spPr>
        <p:txBody>
          <a:bodyPr wrap="square" lIns="0" tIns="0" rIns="0" bIns="0" rtlCol="0" anchor="ctr"/>
          <a:lstStyle/>
          <a:p>
            <a:pPr marL="0" indent="0" algn="ctr">
              <a:buNone/>
            </a:pPr>
            <a:r>
              <a:rPr lang="en-US" sz="1600" b="1">
                <a:solidFill>
                  <a:srgbClr val="1B3A6B"/>
                </a:solidFill>
                <a:latin typeface="Gill Sans Nova Light" panose="020B0302020104020203" pitchFamily="34" charset="0"/>
                <a:ea typeface="Calibri" pitchFamily="34" charset="-122"/>
                <a:cs typeface="Calibri" pitchFamily="34" charset="-120"/>
              </a:rPr>
              <a:t>−0.255</a:t>
            </a:r>
            <a:endParaRPr lang="en-US" sz="1600">
              <a:latin typeface="Gill Sans Nova Light" panose="020B0302020104020203" pitchFamily="34" charset="0"/>
            </a:endParaRPr>
          </a:p>
        </p:txBody>
      </p:sp>
      <p:sp>
        <p:nvSpPr>
          <p:cNvPr id="39" name="Shape 35">
            <a:extLst>
              <a:ext uri="{FF2B5EF4-FFF2-40B4-BE49-F238E27FC236}">
                <a16:creationId xmlns:a16="http://schemas.microsoft.com/office/drawing/2014/main" id="{22239E4F-AB19-EE7D-ECAA-A795C296EDB2}"/>
              </a:ext>
            </a:extLst>
          </p:cNvPr>
          <p:cNvSpPr/>
          <p:nvPr/>
        </p:nvSpPr>
        <p:spPr>
          <a:xfrm>
            <a:off x="4151922" y="2950343"/>
            <a:ext cx="2011680" cy="365760"/>
          </a:xfrm>
          <a:prstGeom prst="rect">
            <a:avLst/>
          </a:prstGeom>
          <a:solidFill>
            <a:srgbClr val="E0F4F8"/>
          </a:solidFill>
          <a:ln w="6350">
            <a:solidFill>
              <a:srgbClr val="A8D8E0"/>
            </a:solidFill>
            <a:prstDash val="solid"/>
          </a:ln>
        </p:spPr>
        <p:txBody>
          <a:bodyPr/>
          <a:lstStyle/>
          <a:p>
            <a:endParaRPr lang="en-CH">
              <a:latin typeface="Gill Sans Nova Light" panose="020B0302020104020203" pitchFamily="34" charset="0"/>
            </a:endParaRPr>
          </a:p>
        </p:txBody>
      </p:sp>
      <p:sp>
        <p:nvSpPr>
          <p:cNvPr id="40" name="Text 36">
            <a:extLst>
              <a:ext uri="{FF2B5EF4-FFF2-40B4-BE49-F238E27FC236}">
                <a16:creationId xmlns:a16="http://schemas.microsoft.com/office/drawing/2014/main" id="{A8C24BBB-4212-3BB3-0E7E-1ED82196523A}"/>
              </a:ext>
            </a:extLst>
          </p:cNvPr>
          <p:cNvSpPr/>
          <p:nvPr/>
        </p:nvSpPr>
        <p:spPr>
          <a:xfrm>
            <a:off x="4151922" y="2950343"/>
            <a:ext cx="2011680" cy="365760"/>
          </a:xfrm>
          <a:prstGeom prst="rect">
            <a:avLst/>
          </a:prstGeom>
          <a:noFill/>
          <a:ln/>
        </p:spPr>
        <p:txBody>
          <a:bodyPr wrap="square" lIns="0" tIns="0" rIns="0" bIns="0" rtlCol="0" anchor="ctr"/>
          <a:lstStyle/>
          <a:p>
            <a:pPr marL="0" indent="0" algn="ctr">
              <a:buNone/>
            </a:pPr>
            <a:r>
              <a:rPr lang="en-US" sz="1600" b="1">
                <a:solidFill>
                  <a:srgbClr val="0E7490"/>
                </a:solidFill>
                <a:latin typeface="Gill Sans Nova Light" panose="020B0302020104020203" pitchFamily="34" charset="0"/>
                <a:ea typeface="Calibri" pitchFamily="34" charset="-122"/>
                <a:cs typeface="Calibri" pitchFamily="34" charset="-120"/>
              </a:rPr>
              <a:t>+0.136</a:t>
            </a:r>
            <a:endParaRPr lang="en-US" sz="1600">
              <a:latin typeface="Gill Sans Nova Light" panose="020B0302020104020203" pitchFamily="34" charset="0"/>
            </a:endParaRPr>
          </a:p>
        </p:txBody>
      </p:sp>
      <p:sp>
        <p:nvSpPr>
          <p:cNvPr id="41" name="Text 37">
            <a:extLst>
              <a:ext uri="{FF2B5EF4-FFF2-40B4-BE49-F238E27FC236}">
                <a16:creationId xmlns:a16="http://schemas.microsoft.com/office/drawing/2014/main" id="{155C615B-681C-72EE-36D0-7F26879F6B64}"/>
              </a:ext>
            </a:extLst>
          </p:cNvPr>
          <p:cNvSpPr/>
          <p:nvPr/>
        </p:nvSpPr>
        <p:spPr>
          <a:xfrm>
            <a:off x="6208867" y="2895479"/>
            <a:ext cx="822960" cy="201168"/>
          </a:xfrm>
          <a:prstGeom prst="rect">
            <a:avLst/>
          </a:prstGeom>
          <a:noFill/>
          <a:ln/>
        </p:spPr>
        <p:txBody>
          <a:bodyPr wrap="square" lIns="0" tIns="0" rIns="0" bIns="0" rtlCol="0" anchor="ctr"/>
          <a:lstStyle/>
          <a:p>
            <a:pPr marL="0" indent="0">
              <a:buNone/>
            </a:pPr>
            <a:r>
              <a:rPr lang="en-US" sz="850" b="1">
                <a:solidFill>
                  <a:srgbClr val="1B7A4A"/>
                </a:solidFill>
                <a:latin typeface="Gill Sans Nova Light" panose="020B0302020104020203" pitchFamily="34" charset="0"/>
                <a:ea typeface="Calibri" pitchFamily="34" charset="-122"/>
                <a:cs typeface="Calibri" pitchFamily="34" charset="-120"/>
              </a:rPr>
              <a:t>Split clean</a:t>
            </a:r>
            <a:endParaRPr lang="en-US" sz="850">
              <a:latin typeface="Gill Sans Nova Light" panose="020B0302020104020203" pitchFamily="34" charset="0"/>
            </a:endParaRPr>
          </a:p>
        </p:txBody>
      </p:sp>
      <p:sp>
        <p:nvSpPr>
          <p:cNvPr id="42" name="Text 38">
            <a:extLst>
              <a:ext uri="{FF2B5EF4-FFF2-40B4-BE49-F238E27FC236}">
                <a16:creationId xmlns:a16="http://schemas.microsoft.com/office/drawing/2014/main" id="{8BE6F0A8-3CBA-5B71-834B-E76B87872B60}"/>
              </a:ext>
            </a:extLst>
          </p:cNvPr>
          <p:cNvSpPr/>
          <p:nvPr/>
        </p:nvSpPr>
        <p:spPr>
          <a:xfrm>
            <a:off x="6208867" y="3078359"/>
            <a:ext cx="2432304"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Binary classification at zero is meaningful — not driven by borderline cases.</a:t>
            </a:r>
            <a:endParaRPr lang="en-US" sz="850">
              <a:latin typeface="Gill Sans Nova Light" panose="020B0302020104020203" pitchFamily="34" charset="0"/>
            </a:endParaRPr>
          </a:p>
        </p:txBody>
      </p:sp>
      <p:sp>
        <p:nvSpPr>
          <p:cNvPr id="43" name="Shape 39">
            <a:extLst>
              <a:ext uri="{FF2B5EF4-FFF2-40B4-BE49-F238E27FC236}">
                <a16:creationId xmlns:a16="http://schemas.microsoft.com/office/drawing/2014/main" id="{86A38231-5FAD-BB21-C373-ABF55FF16A18}"/>
              </a:ext>
            </a:extLst>
          </p:cNvPr>
          <p:cNvSpPr/>
          <p:nvPr/>
        </p:nvSpPr>
        <p:spPr>
          <a:xfrm>
            <a:off x="402882" y="3407543"/>
            <a:ext cx="8229600" cy="54864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44" name="Text 40">
            <a:extLst>
              <a:ext uri="{FF2B5EF4-FFF2-40B4-BE49-F238E27FC236}">
                <a16:creationId xmlns:a16="http://schemas.microsoft.com/office/drawing/2014/main" id="{0CBF1376-8610-7F93-1982-5C3848EA0477}"/>
              </a:ext>
            </a:extLst>
          </p:cNvPr>
          <p:cNvSpPr/>
          <p:nvPr/>
        </p:nvSpPr>
        <p:spPr>
          <a:xfrm>
            <a:off x="476034" y="3553847"/>
            <a:ext cx="1627632" cy="237744"/>
          </a:xfrm>
          <a:prstGeom prst="rect">
            <a:avLst/>
          </a:prstGeom>
          <a:noFill/>
          <a:ln/>
        </p:spPr>
        <p:txBody>
          <a:bodyPr wrap="square" lIns="0" tIns="0" rIns="0" bIns="0" rtlCol="0" anchor="ctr"/>
          <a:lstStyle/>
          <a:p>
            <a:pPr marL="0" indent="0">
              <a:buNone/>
            </a:pPr>
            <a:r>
              <a:rPr lang="en-US" sz="1050" b="1">
                <a:solidFill>
                  <a:srgbClr val="1A1A1A"/>
                </a:solidFill>
                <a:latin typeface="Gill Sans Nova Light" panose="020B0302020104020203" pitchFamily="34" charset="0"/>
                <a:ea typeface="Calibri" pitchFamily="34" charset="-122"/>
                <a:cs typeface="Calibri" pitchFamily="34" charset="-120"/>
              </a:rPr>
              <a:t>ARR</a:t>
            </a:r>
            <a:endParaRPr lang="en-US" sz="1050">
              <a:latin typeface="Gill Sans Nova Light" panose="020B0302020104020203" pitchFamily="34" charset="0"/>
            </a:endParaRPr>
          </a:p>
        </p:txBody>
      </p:sp>
      <p:sp>
        <p:nvSpPr>
          <p:cNvPr id="45" name="Shape 41">
            <a:extLst>
              <a:ext uri="{FF2B5EF4-FFF2-40B4-BE49-F238E27FC236}">
                <a16:creationId xmlns:a16="http://schemas.microsoft.com/office/drawing/2014/main" id="{B4013021-70B3-791D-A680-1E224A2FC058}"/>
              </a:ext>
            </a:extLst>
          </p:cNvPr>
          <p:cNvSpPr/>
          <p:nvPr/>
        </p:nvSpPr>
        <p:spPr>
          <a:xfrm>
            <a:off x="2140242" y="3498983"/>
            <a:ext cx="2011680" cy="365760"/>
          </a:xfrm>
          <a:prstGeom prst="rect">
            <a:avLst/>
          </a:prstGeom>
          <a:solidFill>
            <a:srgbClr val="EBF0FA"/>
          </a:solidFill>
          <a:ln w="6350">
            <a:solidFill>
              <a:srgbClr val="C5D0E8"/>
            </a:solidFill>
            <a:prstDash val="solid"/>
          </a:ln>
        </p:spPr>
        <p:txBody>
          <a:bodyPr/>
          <a:lstStyle/>
          <a:p>
            <a:endParaRPr lang="en-CH">
              <a:latin typeface="Gill Sans Nova Light" panose="020B0302020104020203" pitchFamily="34" charset="0"/>
            </a:endParaRPr>
          </a:p>
        </p:txBody>
      </p:sp>
      <p:sp>
        <p:nvSpPr>
          <p:cNvPr id="46" name="Text 42">
            <a:extLst>
              <a:ext uri="{FF2B5EF4-FFF2-40B4-BE49-F238E27FC236}">
                <a16:creationId xmlns:a16="http://schemas.microsoft.com/office/drawing/2014/main" id="{E265D0D1-508B-C1C0-BF88-2AE98E4BB0C9}"/>
              </a:ext>
            </a:extLst>
          </p:cNvPr>
          <p:cNvSpPr/>
          <p:nvPr/>
        </p:nvSpPr>
        <p:spPr>
          <a:xfrm>
            <a:off x="2140242" y="3498983"/>
            <a:ext cx="2011680" cy="365760"/>
          </a:xfrm>
          <a:prstGeom prst="rect">
            <a:avLst/>
          </a:prstGeom>
          <a:noFill/>
          <a:ln/>
        </p:spPr>
        <p:txBody>
          <a:bodyPr wrap="square" lIns="0" tIns="0" rIns="0" bIns="0" rtlCol="0" anchor="ctr"/>
          <a:lstStyle/>
          <a:p>
            <a:pPr marL="0" indent="0" algn="ctr">
              <a:buNone/>
            </a:pPr>
            <a:r>
              <a:rPr lang="en-US" sz="1600" b="1">
                <a:solidFill>
                  <a:srgbClr val="1B3A6B"/>
                </a:solidFill>
                <a:latin typeface="Gill Sans Nova Light" panose="020B0302020104020203" pitchFamily="34" charset="0"/>
                <a:ea typeface="Calibri" pitchFamily="34" charset="-122"/>
                <a:cs typeface="Calibri" pitchFamily="34" charset="-120"/>
              </a:rPr>
              <a:t>0.549</a:t>
            </a:r>
            <a:endParaRPr lang="en-US" sz="1600">
              <a:latin typeface="Gill Sans Nova Light" panose="020B0302020104020203" pitchFamily="34" charset="0"/>
            </a:endParaRPr>
          </a:p>
        </p:txBody>
      </p:sp>
      <p:sp>
        <p:nvSpPr>
          <p:cNvPr id="47" name="Shape 43">
            <a:extLst>
              <a:ext uri="{FF2B5EF4-FFF2-40B4-BE49-F238E27FC236}">
                <a16:creationId xmlns:a16="http://schemas.microsoft.com/office/drawing/2014/main" id="{17E6A79F-A40C-2AAA-AF59-268E3A656038}"/>
              </a:ext>
            </a:extLst>
          </p:cNvPr>
          <p:cNvSpPr/>
          <p:nvPr/>
        </p:nvSpPr>
        <p:spPr>
          <a:xfrm>
            <a:off x="4151922" y="3498983"/>
            <a:ext cx="2011680" cy="365760"/>
          </a:xfrm>
          <a:prstGeom prst="rect">
            <a:avLst/>
          </a:prstGeom>
          <a:solidFill>
            <a:srgbClr val="E0F4F8"/>
          </a:solidFill>
          <a:ln w="6350">
            <a:solidFill>
              <a:srgbClr val="A8D8E0"/>
            </a:solidFill>
            <a:prstDash val="solid"/>
          </a:ln>
        </p:spPr>
        <p:txBody>
          <a:bodyPr/>
          <a:lstStyle/>
          <a:p>
            <a:endParaRPr lang="en-CH">
              <a:latin typeface="Gill Sans Nova Light" panose="020B0302020104020203" pitchFamily="34" charset="0"/>
            </a:endParaRPr>
          </a:p>
        </p:txBody>
      </p:sp>
      <p:sp>
        <p:nvSpPr>
          <p:cNvPr id="48" name="Text 44">
            <a:extLst>
              <a:ext uri="{FF2B5EF4-FFF2-40B4-BE49-F238E27FC236}">
                <a16:creationId xmlns:a16="http://schemas.microsoft.com/office/drawing/2014/main" id="{736578D0-3F68-BDD0-23EF-0E0CBCF9B5F7}"/>
              </a:ext>
            </a:extLst>
          </p:cNvPr>
          <p:cNvSpPr/>
          <p:nvPr/>
        </p:nvSpPr>
        <p:spPr>
          <a:xfrm>
            <a:off x="4151922" y="3498983"/>
            <a:ext cx="2011680" cy="365760"/>
          </a:xfrm>
          <a:prstGeom prst="rect">
            <a:avLst/>
          </a:prstGeom>
          <a:noFill/>
          <a:ln/>
        </p:spPr>
        <p:txBody>
          <a:bodyPr wrap="square" lIns="0" tIns="0" rIns="0" bIns="0" rtlCol="0" anchor="ctr"/>
          <a:lstStyle/>
          <a:p>
            <a:pPr marL="0" indent="0" algn="ctr">
              <a:buNone/>
            </a:pPr>
            <a:r>
              <a:rPr lang="en-US" sz="1600" b="1">
                <a:solidFill>
                  <a:srgbClr val="0E7490"/>
                </a:solidFill>
                <a:latin typeface="Gill Sans Nova Light" panose="020B0302020104020203" pitchFamily="34" charset="0"/>
                <a:ea typeface="Calibri" pitchFamily="34" charset="-122"/>
                <a:cs typeface="Calibri" pitchFamily="34" charset="-120"/>
              </a:rPr>
              <a:t>0.507</a:t>
            </a:r>
            <a:endParaRPr lang="en-US" sz="1600">
              <a:latin typeface="Gill Sans Nova Light" panose="020B0302020104020203" pitchFamily="34" charset="0"/>
            </a:endParaRPr>
          </a:p>
        </p:txBody>
      </p:sp>
      <p:sp>
        <p:nvSpPr>
          <p:cNvPr id="49" name="Text 45">
            <a:extLst>
              <a:ext uri="{FF2B5EF4-FFF2-40B4-BE49-F238E27FC236}">
                <a16:creationId xmlns:a16="http://schemas.microsoft.com/office/drawing/2014/main" id="{C9F4163A-92E3-5DD7-7475-CFB1E0A2A226}"/>
              </a:ext>
            </a:extLst>
          </p:cNvPr>
          <p:cNvSpPr/>
          <p:nvPr/>
        </p:nvSpPr>
        <p:spPr>
          <a:xfrm>
            <a:off x="6208867" y="3444119"/>
            <a:ext cx="822960" cy="201168"/>
          </a:xfrm>
          <a:prstGeom prst="rect">
            <a:avLst/>
          </a:prstGeom>
          <a:noFill/>
          <a:ln/>
        </p:spPr>
        <p:txBody>
          <a:bodyPr wrap="square" lIns="0" tIns="0" rIns="0" bIns="0" rtlCol="0" anchor="ctr"/>
          <a:lstStyle/>
          <a:p>
            <a:pPr marL="0" indent="0">
              <a:buNone/>
            </a:pPr>
            <a:r>
              <a:rPr lang="en-US" sz="850" b="1">
                <a:solidFill>
                  <a:srgbClr val="2E5FA3"/>
                </a:solidFill>
                <a:latin typeface="Gill Sans Nova Light" panose="020B0302020104020203" pitchFamily="34" charset="0"/>
                <a:ea typeface="Calibri" pitchFamily="34" charset="-122"/>
                <a:cs typeface="Calibri" pitchFamily="34" charset="-120"/>
              </a:rPr>
              <a:t>∆ −4.2 pp</a:t>
            </a:r>
            <a:endParaRPr lang="en-US" sz="850">
              <a:latin typeface="Gill Sans Nova Light" panose="020B0302020104020203" pitchFamily="34" charset="0"/>
            </a:endParaRPr>
          </a:p>
        </p:txBody>
      </p:sp>
      <p:sp>
        <p:nvSpPr>
          <p:cNvPr id="50" name="Text 46">
            <a:extLst>
              <a:ext uri="{FF2B5EF4-FFF2-40B4-BE49-F238E27FC236}">
                <a16:creationId xmlns:a16="http://schemas.microsoft.com/office/drawing/2014/main" id="{62CF8F34-00E4-B75F-28BB-C3BCCA37FF8E}"/>
              </a:ext>
            </a:extLst>
          </p:cNvPr>
          <p:cNvSpPr/>
          <p:nvPr/>
        </p:nvSpPr>
        <p:spPr>
          <a:xfrm>
            <a:off x="6208867" y="3626999"/>
            <a:ext cx="2432304"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Bank-based systems have more generous pensions (Bismarckian link). Watch ARR–FinStructure correlation in VIF diagnostics.</a:t>
            </a:r>
            <a:endParaRPr lang="en-US" sz="850">
              <a:latin typeface="Gill Sans Nova Light" panose="020B0302020104020203" pitchFamily="34" charset="0"/>
            </a:endParaRPr>
          </a:p>
        </p:txBody>
      </p:sp>
      <p:sp>
        <p:nvSpPr>
          <p:cNvPr id="51" name="Shape 47">
            <a:extLst>
              <a:ext uri="{FF2B5EF4-FFF2-40B4-BE49-F238E27FC236}">
                <a16:creationId xmlns:a16="http://schemas.microsoft.com/office/drawing/2014/main" id="{DAF6947E-BAD9-E1BB-D6D0-5C706041B218}"/>
              </a:ext>
            </a:extLst>
          </p:cNvPr>
          <p:cNvSpPr/>
          <p:nvPr/>
        </p:nvSpPr>
        <p:spPr>
          <a:xfrm>
            <a:off x="402882" y="4009997"/>
            <a:ext cx="3931920" cy="509626"/>
          </a:xfrm>
          <a:prstGeom prst="rect">
            <a:avLst/>
          </a:prstGeom>
          <a:solidFill>
            <a:srgbClr val="F4F6F9"/>
          </a:solidFill>
          <a:ln w="12700">
            <a:solidFill>
              <a:srgbClr val="D0D7E3"/>
            </a:solidFill>
            <a:prstDash val="solid"/>
          </a:ln>
        </p:spPr>
        <p:txBody>
          <a:bodyPr/>
          <a:lstStyle/>
          <a:p>
            <a:endParaRPr lang="en-CH">
              <a:latin typeface="Gill Sans Nova Light" panose="020B0302020104020203" pitchFamily="34" charset="0"/>
            </a:endParaRPr>
          </a:p>
        </p:txBody>
      </p:sp>
      <p:sp>
        <p:nvSpPr>
          <p:cNvPr id="52" name="Text 48">
            <a:extLst>
              <a:ext uri="{FF2B5EF4-FFF2-40B4-BE49-F238E27FC236}">
                <a16:creationId xmlns:a16="http://schemas.microsoft.com/office/drawing/2014/main" id="{CCA6F5F9-5AF9-00C0-2D61-7F5C61B256C2}"/>
              </a:ext>
            </a:extLst>
          </p:cNvPr>
          <p:cNvSpPr/>
          <p:nvPr/>
        </p:nvSpPr>
        <p:spPr>
          <a:xfrm>
            <a:off x="494322" y="4049199"/>
            <a:ext cx="3749040" cy="431222"/>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  88% of obs are bank-based — market-based group (7 countries) is thin → wider SEs on market-based estimates.</a:t>
            </a:r>
            <a:endParaRPr lang="en-US" sz="850">
              <a:latin typeface="Gill Sans Nova Light" panose="020B0302020104020203" pitchFamily="34" charset="0"/>
            </a:endParaRPr>
          </a:p>
        </p:txBody>
      </p:sp>
      <p:sp>
        <p:nvSpPr>
          <p:cNvPr id="53" name="Shape 49">
            <a:extLst>
              <a:ext uri="{FF2B5EF4-FFF2-40B4-BE49-F238E27FC236}">
                <a16:creationId xmlns:a16="http://schemas.microsoft.com/office/drawing/2014/main" id="{CB9D3D47-FABF-DF9E-927E-BC096FD0EDDB}"/>
              </a:ext>
            </a:extLst>
          </p:cNvPr>
          <p:cNvSpPr/>
          <p:nvPr/>
        </p:nvSpPr>
        <p:spPr>
          <a:xfrm>
            <a:off x="4426242" y="4009997"/>
            <a:ext cx="4206240" cy="509626"/>
          </a:xfrm>
          <a:prstGeom prst="rect">
            <a:avLst/>
          </a:prstGeom>
          <a:solidFill>
            <a:srgbClr val="D4EDE1"/>
          </a:solidFill>
          <a:ln w="12700">
            <a:solidFill>
              <a:srgbClr val="1B7A4A"/>
            </a:solidFill>
            <a:prstDash val="solid"/>
          </a:ln>
        </p:spPr>
        <p:txBody>
          <a:bodyPr/>
          <a:lstStyle/>
          <a:p>
            <a:endParaRPr lang="en-CH">
              <a:latin typeface="Gill Sans Nova Light" panose="020B0302020104020203" pitchFamily="34" charset="0"/>
            </a:endParaRPr>
          </a:p>
        </p:txBody>
      </p:sp>
      <p:sp>
        <p:nvSpPr>
          <p:cNvPr id="54" name="Shape 50">
            <a:extLst>
              <a:ext uri="{FF2B5EF4-FFF2-40B4-BE49-F238E27FC236}">
                <a16:creationId xmlns:a16="http://schemas.microsoft.com/office/drawing/2014/main" id="{F6449482-77A0-C1F7-9684-615905654967}"/>
              </a:ext>
            </a:extLst>
          </p:cNvPr>
          <p:cNvSpPr/>
          <p:nvPr/>
        </p:nvSpPr>
        <p:spPr>
          <a:xfrm>
            <a:off x="4426242" y="4009997"/>
            <a:ext cx="54864" cy="509626"/>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55" name="Text 51">
            <a:extLst>
              <a:ext uri="{FF2B5EF4-FFF2-40B4-BE49-F238E27FC236}">
                <a16:creationId xmlns:a16="http://schemas.microsoft.com/office/drawing/2014/main" id="{2F52C2B6-5FF3-9B95-619A-C3E75F6677A1}"/>
              </a:ext>
            </a:extLst>
          </p:cNvPr>
          <p:cNvSpPr/>
          <p:nvPr/>
        </p:nvSpPr>
        <p:spPr>
          <a:xfrm>
            <a:off x="4554258" y="4049199"/>
            <a:ext cx="4005072" cy="431222"/>
          </a:xfrm>
          <a:prstGeom prst="rect">
            <a:avLst/>
          </a:prstGeom>
          <a:noFill/>
          <a:ln/>
        </p:spPr>
        <p:txBody>
          <a:bodyPr wrap="square" lIns="0" tIns="0" rIns="0" bIns="0" rtlCol="0" anchor="ctr"/>
          <a:lstStyle/>
          <a:p>
            <a:pPr marL="0" indent="0">
              <a:buNone/>
            </a:pPr>
            <a:r>
              <a:rPr lang="en-US" sz="850" b="1">
                <a:solidFill>
                  <a:srgbClr val="1B7A4A"/>
                </a:solidFill>
                <a:latin typeface="Gill Sans Nova Light" panose="020B0302020104020203" pitchFamily="34" charset="0"/>
                <a:ea typeface="Calibri" pitchFamily="34" charset="-122"/>
                <a:cs typeface="Calibri" pitchFamily="34" charset="-120"/>
              </a:rPr>
              <a:t>Takeaway  </a:t>
            </a:r>
            <a:r>
              <a:rPr lang="en-US" sz="850">
                <a:solidFill>
                  <a:srgbClr val="1A1A1A"/>
                </a:solidFill>
                <a:latin typeface="Gill Sans Nova Light" panose="020B0302020104020203" pitchFamily="34" charset="0"/>
                <a:ea typeface="Calibri" pitchFamily="34" charset="-122"/>
                <a:cs typeface="Calibri" pitchFamily="34" charset="-120"/>
              </a:rPr>
              <a:t>No level difference in deposit ratios — this is exactly why the regression is necessary. H1 tests the aging–FinStructure </a:t>
            </a:r>
            <a:r>
              <a:rPr lang="en-US" sz="850" b="1">
                <a:solidFill>
                  <a:srgbClr val="1A1A1A"/>
                </a:solidFill>
                <a:latin typeface="Gill Sans Nova Light" panose="020B0302020104020203" pitchFamily="34" charset="0"/>
                <a:ea typeface="Calibri" pitchFamily="34" charset="-122"/>
                <a:cs typeface="Calibri" pitchFamily="34" charset="-120"/>
              </a:rPr>
              <a:t>interaction</a:t>
            </a:r>
            <a:r>
              <a:rPr lang="en-US" sz="850">
                <a:solidFill>
                  <a:srgbClr val="1A1A1A"/>
                </a:solidFill>
                <a:latin typeface="Gill Sans Nova Light" panose="020B0302020104020203" pitchFamily="34" charset="0"/>
                <a:ea typeface="Calibri" pitchFamily="34" charset="-122"/>
                <a:cs typeface="Calibri" pitchFamily="34" charset="-120"/>
              </a:rPr>
              <a:t>, which is invisible in unconditional means.</a:t>
            </a:r>
            <a:endParaRPr lang="en-US" sz="850">
              <a:latin typeface="Gill Sans Nova Light" panose="020B0302020104020203" pitchFamily="34" charset="0"/>
            </a:endParaRPr>
          </a:p>
        </p:txBody>
      </p:sp>
      <p:sp>
        <p:nvSpPr>
          <p:cNvPr id="57" name="Rectangle 56">
            <a:extLst>
              <a:ext uri="{FF2B5EF4-FFF2-40B4-BE49-F238E27FC236}">
                <a16:creationId xmlns:a16="http://schemas.microsoft.com/office/drawing/2014/main" id="{6B51FA96-52DC-222F-791E-FF0928C169D0}"/>
              </a:ext>
            </a:extLst>
          </p:cNvPr>
          <p:cNvSpPr/>
          <p:nvPr/>
        </p:nvSpPr>
        <p:spPr>
          <a:xfrm>
            <a:off x="8186928" y="25146"/>
            <a:ext cx="914400" cy="33966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Fix layout</a:t>
            </a:r>
          </a:p>
        </p:txBody>
      </p:sp>
    </p:spTree>
    <p:extLst>
      <p:ext uri="{BB962C8B-B14F-4D97-AF65-F5344CB8AC3E}">
        <p14:creationId xmlns:p14="http://schemas.microsoft.com/office/powerpoint/2010/main" val="33651720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7785F-2CAB-A6BE-E937-AC267BA628E4}"/>
              </a:ext>
            </a:extLst>
          </p:cNvPr>
          <p:cNvSpPr>
            <a:spLocks noGrp="1"/>
          </p:cNvSpPr>
          <p:nvPr>
            <p:ph type="title"/>
          </p:nvPr>
        </p:nvSpPr>
        <p:spPr/>
        <p:txBody>
          <a:bodyPr/>
          <a:lstStyle/>
          <a:p>
            <a:r>
              <a:rPr lang="en-GB"/>
              <a:t>Step 4c: Correlation matrix, key regressors</a:t>
            </a:r>
            <a:endParaRPr lang="en-CH"/>
          </a:p>
        </p:txBody>
      </p:sp>
      <p:sp>
        <p:nvSpPr>
          <p:cNvPr id="4" name="Slide Number Placeholder 3">
            <a:extLst>
              <a:ext uri="{FF2B5EF4-FFF2-40B4-BE49-F238E27FC236}">
                <a16:creationId xmlns:a16="http://schemas.microsoft.com/office/drawing/2014/main" id="{008D2045-1000-B451-8DEC-8DFB319EDFA7}"/>
              </a:ext>
            </a:extLst>
          </p:cNvPr>
          <p:cNvSpPr>
            <a:spLocks noGrp="1"/>
          </p:cNvSpPr>
          <p:nvPr>
            <p:ph type="sldNum" sz="quarter" idx="12"/>
          </p:nvPr>
        </p:nvSpPr>
        <p:spPr/>
        <p:txBody>
          <a:bodyPr/>
          <a:lstStyle/>
          <a:p>
            <a:fld id="{7559FC98-AF75-4A00-A03C-DF9FEBF6BCB9}" type="slidenum">
              <a:rPr lang="en-GB" smtClean="0"/>
              <a:t>39</a:t>
            </a:fld>
            <a:endParaRPr lang="en-GB"/>
          </a:p>
        </p:txBody>
      </p:sp>
      <p:grpSp>
        <p:nvGrpSpPr>
          <p:cNvPr id="100" name="Group 99">
            <a:extLst>
              <a:ext uri="{FF2B5EF4-FFF2-40B4-BE49-F238E27FC236}">
                <a16:creationId xmlns:a16="http://schemas.microsoft.com/office/drawing/2014/main" id="{E38FC6F1-4B9E-5E86-B3D6-2E4E3F1B00CE}"/>
              </a:ext>
            </a:extLst>
          </p:cNvPr>
          <p:cNvGrpSpPr>
            <a:grpSpLocks noChangeAspect="1"/>
          </p:cNvGrpSpPr>
          <p:nvPr/>
        </p:nvGrpSpPr>
        <p:grpSpPr>
          <a:xfrm>
            <a:off x="457200" y="693495"/>
            <a:ext cx="8229600" cy="3969040"/>
            <a:chOff x="457200" y="394736"/>
            <a:chExt cx="8229600" cy="3969040"/>
          </a:xfrm>
        </p:grpSpPr>
        <p:sp>
          <p:nvSpPr>
            <p:cNvPr id="5" name="Text 1">
              <a:extLst>
                <a:ext uri="{FF2B5EF4-FFF2-40B4-BE49-F238E27FC236}">
                  <a16:creationId xmlns:a16="http://schemas.microsoft.com/office/drawing/2014/main" id="{51A5CD50-A04B-DEC2-4899-C24F920CF244}"/>
                </a:ext>
              </a:extLst>
            </p:cNvPr>
            <p:cNvSpPr/>
            <p:nvPr/>
          </p:nvSpPr>
          <p:spPr>
            <a:xfrm>
              <a:off x="457200" y="394736"/>
              <a:ext cx="8229600" cy="201168"/>
            </a:xfrm>
            <a:prstGeom prst="rect">
              <a:avLst/>
            </a:prstGeom>
            <a:noFill/>
            <a:ln/>
          </p:spPr>
          <p:txBody>
            <a:bodyPr wrap="square" lIns="0" tIns="0" rIns="0" bIns="0" rtlCol="0" anchor="ctr"/>
            <a:lstStyle/>
            <a:p>
              <a:pPr marL="0" indent="0">
                <a:buNone/>
              </a:pPr>
              <a:r>
                <a:rPr lang="en-US" sz="1000" i="1">
                  <a:solidFill>
                    <a:srgbClr val="6B7280"/>
                  </a:solidFill>
                  <a:latin typeface="Gill Sans Nova Light" panose="020B0302020104020203" pitchFamily="34" charset="0"/>
                  <a:ea typeface="Calibri" pitchFamily="34" charset="-122"/>
                  <a:cs typeface="Calibri" pitchFamily="34" charset="-120"/>
                </a:rPr>
                <a:t>Analytical sample  ·  Pearson correlations  ·  Pairwise complete observations</a:t>
              </a:r>
              <a:endParaRPr lang="en-US" sz="1000">
                <a:latin typeface="Gill Sans Nova Light" panose="020B0302020104020203" pitchFamily="34" charset="0"/>
              </a:endParaRPr>
            </a:p>
          </p:txBody>
        </p:sp>
        <p:sp>
          <p:nvSpPr>
            <p:cNvPr id="6" name="Shape 2">
              <a:extLst>
                <a:ext uri="{FF2B5EF4-FFF2-40B4-BE49-F238E27FC236}">
                  <a16:creationId xmlns:a16="http://schemas.microsoft.com/office/drawing/2014/main" id="{E3BFE7E6-070B-4026-5907-C369C8EF3BF2}"/>
                </a:ext>
              </a:extLst>
            </p:cNvPr>
            <p:cNvSpPr/>
            <p:nvPr/>
          </p:nvSpPr>
          <p:spPr>
            <a:xfrm>
              <a:off x="457200" y="623336"/>
              <a:ext cx="8229600" cy="0"/>
            </a:xfrm>
            <a:prstGeom prst="line">
              <a:avLst/>
            </a:prstGeom>
            <a:noFill/>
            <a:ln w="12700">
              <a:solidFill>
                <a:srgbClr val="D0D7E3"/>
              </a:solidFill>
              <a:prstDash val="solid"/>
            </a:ln>
          </p:spPr>
          <p:txBody>
            <a:bodyPr/>
            <a:lstStyle/>
            <a:p>
              <a:endParaRPr lang="en-CH">
                <a:latin typeface="Gill Sans Nova Light" panose="020B0302020104020203" pitchFamily="34" charset="0"/>
              </a:endParaRPr>
            </a:p>
          </p:txBody>
        </p:sp>
        <p:sp>
          <p:nvSpPr>
            <p:cNvPr id="7" name="Text 3">
              <a:extLst>
                <a:ext uri="{FF2B5EF4-FFF2-40B4-BE49-F238E27FC236}">
                  <a16:creationId xmlns:a16="http://schemas.microsoft.com/office/drawing/2014/main" id="{05C9870A-F842-8168-A672-2B64E7A5AE44}"/>
                </a:ext>
              </a:extLst>
            </p:cNvPr>
            <p:cNvSpPr/>
            <p:nvPr/>
          </p:nvSpPr>
          <p:spPr>
            <a:xfrm>
              <a:off x="457200" y="877824"/>
              <a:ext cx="731520" cy="502920"/>
            </a:xfrm>
            <a:prstGeom prst="rect">
              <a:avLst/>
            </a:prstGeom>
            <a:noFill/>
            <a:ln/>
          </p:spPr>
          <p:txBody>
            <a:bodyPr wrap="square" lIns="0" tIns="0" rIns="0" bIns="0" rtlCol="0" anchor="ctr"/>
            <a:lstStyle/>
            <a:p>
              <a:pPr marL="0" indent="0" algn="r">
                <a:buNone/>
              </a:pPr>
              <a:r>
                <a:rPr lang="en-US" sz="850" b="1">
                  <a:solidFill>
                    <a:srgbClr val="1B3A6B"/>
                  </a:solidFill>
                  <a:latin typeface="Gill Sans Nova Light" panose="020B0302020104020203" pitchFamily="34" charset="0"/>
                  <a:ea typeface="Calibri" pitchFamily="34" charset="-122"/>
                  <a:cs typeface="Calibri" pitchFamily="34" charset="-120"/>
                </a:rPr>
                <a:t>Dep. Ratio</a:t>
              </a:r>
              <a:endParaRPr lang="en-US" sz="850">
                <a:latin typeface="Gill Sans Nova Light" panose="020B0302020104020203" pitchFamily="34" charset="0"/>
              </a:endParaRPr>
            </a:p>
          </p:txBody>
        </p:sp>
        <p:sp>
          <p:nvSpPr>
            <p:cNvPr id="8" name="Text 4">
              <a:extLst>
                <a:ext uri="{FF2B5EF4-FFF2-40B4-BE49-F238E27FC236}">
                  <a16:creationId xmlns:a16="http://schemas.microsoft.com/office/drawing/2014/main" id="{2DFB5BA5-8CFB-467E-4FF3-1DCB79ECBA8F}"/>
                </a:ext>
              </a:extLst>
            </p:cNvPr>
            <p:cNvSpPr/>
            <p:nvPr/>
          </p:nvSpPr>
          <p:spPr>
            <a:xfrm>
              <a:off x="457200" y="1380744"/>
              <a:ext cx="731520" cy="502920"/>
            </a:xfrm>
            <a:prstGeom prst="rect">
              <a:avLst/>
            </a:prstGeom>
            <a:noFill/>
            <a:ln/>
          </p:spPr>
          <p:txBody>
            <a:bodyPr wrap="square" lIns="0" tIns="0" rIns="0" bIns="0" rtlCol="0" anchor="ctr"/>
            <a:lstStyle/>
            <a:p>
              <a:pPr marL="0" indent="0" algn="r">
                <a:buNone/>
              </a:pPr>
              <a:r>
                <a:rPr lang="en-US" sz="850" b="1">
                  <a:solidFill>
                    <a:srgbClr val="1B3A6B"/>
                  </a:solidFill>
                  <a:latin typeface="Gill Sans Nova Light" panose="020B0302020104020203" pitchFamily="34" charset="0"/>
                  <a:ea typeface="Calibri" pitchFamily="34" charset="-122"/>
                  <a:cs typeface="Calibri" pitchFamily="34" charset="-120"/>
                </a:rPr>
                <a:t>Age65</a:t>
              </a:r>
              <a:endParaRPr lang="en-US" sz="850">
                <a:latin typeface="Gill Sans Nova Light" panose="020B0302020104020203" pitchFamily="34" charset="0"/>
              </a:endParaRPr>
            </a:p>
          </p:txBody>
        </p:sp>
        <p:sp>
          <p:nvSpPr>
            <p:cNvPr id="9" name="Text 5">
              <a:extLst>
                <a:ext uri="{FF2B5EF4-FFF2-40B4-BE49-F238E27FC236}">
                  <a16:creationId xmlns:a16="http://schemas.microsoft.com/office/drawing/2014/main" id="{55A500B9-869E-0182-7873-2240DC45CB43}"/>
                </a:ext>
              </a:extLst>
            </p:cNvPr>
            <p:cNvSpPr/>
            <p:nvPr/>
          </p:nvSpPr>
          <p:spPr>
            <a:xfrm>
              <a:off x="457200" y="1883664"/>
              <a:ext cx="731520" cy="502920"/>
            </a:xfrm>
            <a:prstGeom prst="rect">
              <a:avLst/>
            </a:prstGeom>
            <a:noFill/>
            <a:ln/>
          </p:spPr>
          <p:txBody>
            <a:bodyPr wrap="square" lIns="0" tIns="0" rIns="0" bIns="0" rtlCol="0" anchor="ctr"/>
            <a:lstStyle/>
            <a:p>
              <a:pPr marL="0" indent="0" algn="r">
                <a:buNone/>
              </a:pPr>
              <a:r>
                <a:rPr lang="en-US" sz="850" b="1">
                  <a:solidFill>
                    <a:srgbClr val="1B3A6B"/>
                  </a:solidFill>
                  <a:latin typeface="Gill Sans Nova Light" panose="020B0302020104020203" pitchFamily="34" charset="0"/>
                  <a:ea typeface="Calibri" pitchFamily="34" charset="-122"/>
                  <a:cs typeface="Calibri" pitchFamily="34" charset="-120"/>
                </a:rPr>
                <a:t>FinStr.</a:t>
              </a:r>
              <a:endParaRPr lang="en-US" sz="850">
                <a:latin typeface="Gill Sans Nova Light" panose="020B0302020104020203" pitchFamily="34" charset="0"/>
              </a:endParaRPr>
            </a:p>
          </p:txBody>
        </p:sp>
        <p:sp>
          <p:nvSpPr>
            <p:cNvPr id="10" name="Text 6">
              <a:extLst>
                <a:ext uri="{FF2B5EF4-FFF2-40B4-BE49-F238E27FC236}">
                  <a16:creationId xmlns:a16="http://schemas.microsoft.com/office/drawing/2014/main" id="{36D6D0DC-27AE-3E9A-5DD8-E8AC19767A3B}"/>
                </a:ext>
              </a:extLst>
            </p:cNvPr>
            <p:cNvSpPr/>
            <p:nvPr/>
          </p:nvSpPr>
          <p:spPr>
            <a:xfrm>
              <a:off x="457200" y="2386584"/>
              <a:ext cx="731520" cy="502920"/>
            </a:xfrm>
            <a:prstGeom prst="rect">
              <a:avLst/>
            </a:prstGeom>
            <a:noFill/>
            <a:ln/>
          </p:spPr>
          <p:txBody>
            <a:bodyPr wrap="square" lIns="0" tIns="0" rIns="0" bIns="0" rtlCol="0" anchor="ctr"/>
            <a:lstStyle/>
            <a:p>
              <a:pPr marL="0" indent="0" algn="r">
                <a:buNone/>
              </a:pPr>
              <a:r>
                <a:rPr lang="en-US" sz="850" b="1">
                  <a:solidFill>
                    <a:srgbClr val="1B3A6B"/>
                  </a:solidFill>
                  <a:latin typeface="Gill Sans Nova Light" panose="020B0302020104020203" pitchFamily="34" charset="0"/>
                  <a:ea typeface="Calibri" pitchFamily="34" charset="-122"/>
                  <a:cs typeface="Calibri" pitchFamily="34" charset="-120"/>
                </a:rPr>
                <a:t>ARR</a:t>
              </a:r>
              <a:endParaRPr lang="en-US" sz="850">
                <a:latin typeface="Gill Sans Nova Light" panose="020B0302020104020203" pitchFamily="34" charset="0"/>
              </a:endParaRPr>
            </a:p>
          </p:txBody>
        </p:sp>
        <p:sp>
          <p:nvSpPr>
            <p:cNvPr id="11" name="Text 7">
              <a:extLst>
                <a:ext uri="{FF2B5EF4-FFF2-40B4-BE49-F238E27FC236}">
                  <a16:creationId xmlns:a16="http://schemas.microsoft.com/office/drawing/2014/main" id="{6C0D55A5-39B8-3A22-560C-5BFB0FC85DFF}"/>
                </a:ext>
              </a:extLst>
            </p:cNvPr>
            <p:cNvSpPr/>
            <p:nvPr/>
          </p:nvSpPr>
          <p:spPr>
            <a:xfrm>
              <a:off x="457200" y="2889504"/>
              <a:ext cx="731520" cy="502920"/>
            </a:xfrm>
            <a:prstGeom prst="rect">
              <a:avLst/>
            </a:prstGeom>
            <a:noFill/>
            <a:ln/>
          </p:spPr>
          <p:txBody>
            <a:bodyPr wrap="square" lIns="0" tIns="0" rIns="0" bIns="0" rtlCol="0" anchor="ctr"/>
            <a:lstStyle/>
            <a:p>
              <a:pPr marL="0" indent="0" algn="r">
                <a:buNone/>
              </a:pPr>
              <a:r>
                <a:rPr lang="en-US" sz="850" b="1">
                  <a:solidFill>
                    <a:srgbClr val="1B3A6B"/>
                  </a:solidFill>
                  <a:latin typeface="Gill Sans Nova Light" panose="020B0302020104020203" pitchFamily="34" charset="0"/>
                  <a:ea typeface="Calibri" pitchFamily="34" charset="-122"/>
                  <a:cs typeface="Calibri" pitchFamily="34" charset="-120"/>
                </a:rPr>
                <a:t>Bismarck.</a:t>
              </a:r>
              <a:endParaRPr lang="en-US" sz="850">
                <a:latin typeface="Gill Sans Nova Light" panose="020B0302020104020203" pitchFamily="34" charset="0"/>
              </a:endParaRPr>
            </a:p>
          </p:txBody>
        </p:sp>
        <p:sp>
          <p:nvSpPr>
            <p:cNvPr id="12" name="Text 8">
              <a:extLst>
                <a:ext uri="{FF2B5EF4-FFF2-40B4-BE49-F238E27FC236}">
                  <a16:creationId xmlns:a16="http://schemas.microsoft.com/office/drawing/2014/main" id="{004F12B8-0C88-7725-627A-7A917F9776A3}"/>
                </a:ext>
              </a:extLst>
            </p:cNvPr>
            <p:cNvSpPr/>
            <p:nvPr/>
          </p:nvSpPr>
          <p:spPr>
            <a:xfrm>
              <a:off x="457200" y="3392424"/>
              <a:ext cx="731520" cy="502920"/>
            </a:xfrm>
            <a:prstGeom prst="rect">
              <a:avLst/>
            </a:prstGeom>
            <a:noFill/>
            <a:ln/>
          </p:spPr>
          <p:txBody>
            <a:bodyPr wrap="square" lIns="0" tIns="0" rIns="0" bIns="0" rtlCol="0" anchor="ctr"/>
            <a:lstStyle/>
            <a:p>
              <a:pPr marL="0" indent="0" algn="r">
                <a:buNone/>
              </a:pPr>
              <a:r>
                <a:rPr lang="en-US" sz="850" b="1">
                  <a:solidFill>
                    <a:srgbClr val="1B3A6B"/>
                  </a:solidFill>
                  <a:latin typeface="Gill Sans Nova Light" panose="020B0302020104020203" pitchFamily="34" charset="0"/>
                  <a:ea typeface="Calibri" pitchFamily="34" charset="-122"/>
                  <a:cs typeface="Calibri" pitchFamily="34" charset="-120"/>
                </a:rPr>
                <a:t>Beveridg.</a:t>
              </a:r>
              <a:endParaRPr lang="en-US" sz="850">
                <a:latin typeface="Gill Sans Nova Light" panose="020B0302020104020203" pitchFamily="34" charset="0"/>
              </a:endParaRPr>
            </a:p>
          </p:txBody>
        </p:sp>
        <p:sp>
          <p:nvSpPr>
            <p:cNvPr id="13" name="Text 9">
              <a:extLst>
                <a:ext uri="{FF2B5EF4-FFF2-40B4-BE49-F238E27FC236}">
                  <a16:creationId xmlns:a16="http://schemas.microsoft.com/office/drawing/2014/main" id="{2D1D2727-026A-78CB-4DC2-E7215A17692E}"/>
                </a:ext>
              </a:extLst>
            </p:cNvPr>
            <p:cNvSpPr/>
            <p:nvPr/>
          </p:nvSpPr>
          <p:spPr>
            <a:xfrm>
              <a:off x="1207008" y="621792"/>
              <a:ext cx="749808" cy="237744"/>
            </a:xfrm>
            <a:prstGeom prst="rect">
              <a:avLst/>
            </a:prstGeom>
            <a:noFill/>
            <a:ln/>
          </p:spPr>
          <p:txBody>
            <a:bodyPr wrap="square" lIns="0" tIns="0" rIns="0" bIns="0" rtlCol="0" anchor="ctr"/>
            <a:lstStyle/>
            <a:p>
              <a:pPr marL="0" indent="0" algn="ctr">
                <a:buNone/>
              </a:pPr>
              <a:r>
                <a:rPr lang="en-US" sz="850" b="1">
                  <a:solidFill>
                    <a:srgbClr val="1B3A6B"/>
                  </a:solidFill>
                  <a:latin typeface="Gill Sans Nova Light" panose="020B0302020104020203" pitchFamily="34" charset="0"/>
                  <a:ea typeface="Calibri" pitchFamily="34" charset="-122"/>
                  <a:cs typeface="Calibri" pitchFamily="34" charset="-120"/>
                </a:rPr>
                <a:t>Dep. Ratio</a:t>
              </a:r>
              <a:endParaRPr lang="en-US" sz="850">
                <a:latin typeface="Gill Sans Nova Light" panose="020B0302020104020203" pitchFamily="34" charset="0"/>
              </a:endParaRPr>
            </a:p>
          </p:txBody>
        </p:sp>
        <p:sp>
          <p:nvSpPr>
            <p:cNvPr id="14" name="Text 10">
              <a:extLst>
                <a:ext uri="{FF2B5EF4-FFF2-40B4-BE49-F238E27FC236}">
                  <a16:creationId xmlns:a16="http://schemas.microsoft.com/office/drawing/2014/main" id="{6DDD253B-20C2-FD8D-AFEF-1C76A8DAED6D}"/>
                </a:ext>
              </a:extLst>
            </p:cNvPr>
            <p:cNvSpPr/>
            <p:nvPr/>
          </p:nvSpPr>
          <p:spPr>
            <a:xfrm>
              <a:off x="1956816" y="621792"/>
              <a:ext cx="749808" cy="237744"/>
            </a:xfrm>
            <a:prstGeom prst="rect">
              <a:avLst/>
            </a:prstGeom>
            <a:noFill/>
            <a:ln/>
          </p:spPr>
          <p:txBody>
            <a:bodyPr wrap="square" lIns="0" tIns="0" rIns="0" bIns="0" rtlCol="0" anchor="ctr"/>
            <a:lstStyle/>
            <a:p>
              <a:pPr marL="0" indent="0" algn="ctr">
                <a:buNone/>
              </a:pPr>
              <a:r>
                <a:rPr lang="en-US" sz="850" b="1">
                  <a:solidFill>
                    <a:srgbClr val="1B3A6B"/>
                  </a:solidFill>
                  <a:latin typeface="Gill Sans Nova Light" panose="020B0302020104020203" pitchFamily="34" charset="0"/>
                  <a:ea typeface="Calibri" pitchFamily="34" charset="-122"/>
                  <a:cs typeface="Calibri" pitchFamily="34" charset="-120"/>
                </a:rPr>
                <a:t>Age65</a:t>
              </a:r>
              <a:endParaRPr lang="en-US" sz="850">
                <a:latin typeface="Gill Sans Nova Light" panose="020B0302020104020203" pitchFamily="34" charset="0"/>
              </a:endParaRPr>
            </a:p>
          </p:txBody>
        </p:sp>
        <p:sp>
          <p:nvSpPr>
            <p:cNvPr id="15" name="Text 11">
              <a:extLst>
                <a:ext uri="{FF2B5EF4-FFF2-40B4-BE49-F238E27FC236}">
                  <a16:creationId xmlns:a16="http://schemas.microsoft.com/office/drawing/2014/main" id="{A3089D85-AD90-9810-19CB-2EDA46F5D6E2}"/>
                </a:ext>
              </a:extLst>
            </p:cNvPr>
            <p:cNvSpPr/>
            <p:nvPr/>
          </p:nvSpPr>
          <p:spPr>
            <a:xfrm>
              <a:off x="2706624" y="621792"/>
              <a:ext cx="749808" cy="237744"/>
            </a:xfrm>
            <a:prstGeom prst="rect">
              <a:avLst/>
            </a:prstGeom>
            <a:noFill/>
            <a:ln/>
          </p:spPr>
          <p:txBody>
            <a:bodyPr wrap="square" lIns="0" tIns="0" rIns="0" bIns="0" rtlCol="0" anchor="ctr"/>
            <a:lstStyle/>
            <a:p>
              <a:pPr marL="0" indent="0" algn="ctr">
                <a:buNone/>
              </a:pPr>
              <a:r>
                <a:rPr lang="en-US" sz="850" b="1">
                  <a:solidFill>
                    <a:srgbClr val="1B3A6B"/>
                  </a:solidFill>
                  <a:latin typeface="Gill Sans Nova Light" panose="020B0302020104020203" pitchFamily="34" charset="0"/>
                  <a:ea typeface="Calibri" pitchFamily="34" charset="-122"/>
                  <a:cs typeface="Calibri" pitchFamily="34" charset="-120"/>
                </a:rPr>
                <a:t>FinStr.</a:t>
              </a:r>
              <a:endParaRPr lang="en-US" sz="850">
                <a:latin typeface="Gill Sans Nova Light" panose="020B0302020104020203" pitchFamily="34" charset="0"/>
              </a:endParaRPr>
            </a:p>
          </p:txBody>
        </p:sp>
        <p:sp>
          <p:nvSpPr>
            <p:cNvPr id="16" name="Text 12">
              <a:extLst>
                <a:ext uri="{FF2B5EF4-FFF2-40B4-BE49-F238E27FC236}">
                  <a16:creationId xmlns:a16="http://schemas.microsoft.com/office/drawing/2014/main" id="{40A67341-8B26-BFA5-4C62-BFDEBC943E83}"/>
                </a:ext>
              </a:extLst>
            </p:cNvPr>
            <p:cNvSpPr/>
            <p:nvPr/>
          </p:nvSpPr>
          <p:spPr>
            <a:xfrm>
              <a:off x="3456432" y="621792"/>
              <a:ext cx="749808" cy="237744"/>
            </a:xfrm>
            <a:prstGeom prst="rect">
              <a:avLst/>
            </a:prstGeom>
            <a:noFill/>
            <a:ln/>
          </p:spPr>
          <p:txBody>
            <a:bodyPr wrap="square" lIns="0" tIns="0" rIns="0" bIns="0" rtlCol="0" anchor="ctr"/>
            <a:lstStyle/>
            <a:p>
              <a:pPr marL="0" indent="0" algn="ctr">
                <a:buNone/>
              </a:pPr>
              <a:r>
                <a:rPr lang="en-US" sz="850" b="1">
                  <a:solidFill>
                    <a:srgbClr val="1B3A6B"/>
                  </a:solidFill>
                  <a:latin typeface="Gill Sans Nova Light" panose="020B0302020104020203" pitchFamily="34" charset="0"/>
                  <a:ea typeface="Calibri" pitchFamily="34" charset="-122"/>
                  <a:cs typeface="Calibri" pitchFamily="34" charset="-120"/>
                </a:rPr>
                <a:t>ARR</a:t>
              </a:r>
              <a:endParaRPr lang="en-US" sz="850">
                <a:latin typeface="Gill Sans Nova Light" panose="020B0302020104020203" pitchFamily="34" charset="0"/>
              </a:endParaRPr>
            </a:p>
          </p:txBody>
        </p:sp>
        <p:sp>
          <p:nvSpPr>
            <p:cNvPr id="17" name="Text 13">
              <a:extLst>
                <a:ext uri="{FF2B5EF4-FFF2-40B4-BE49-F238E27FC236}">
                  <a16:creationId xmlns:a16="http://schemas.microsoft.com/office/drawing/2014/main" id="{A1642FDE-6C5C-C904-39E8-C74C11915B18}"/>
                </a:ext>
              </a:extLst>
            </p:cNvPr>
            <p:cNvSpPr/>
            <p:nvPr/>
          </p:nvSpPr>
          <p:spPr>
            <a:xfrm>
              <a:off x="4206240" y="621792"/>
              <a:ext cx="749808" cy="237744"/>
            </a:xfrm>
            <a:prstGeom prst="rect">
              <a:avLst/>
            </a:prstGeom>
            <a:noFill/>
            <a:ln/>
          </p:spPr>
          <p:txBody>
            <a:bodyPr wrap="square" lIns="0" tIns="0" rIns="0" bIns="0" rtlCol="0" anchor="ctr"/>
            <a:lstStyle/>
            <a:p>
              <a:pPr marL="0" indent="0" algn="ctr">
                <a:buNone/>
              </a:pPr>
              <a:r>
                <a:rPr lang="en-US" sz="850" b="1">
                  <a:solidFill>
                    <a:srgbClr val="1B3A6B"/>
                  </a:solidFill>
                  <a:latin typeface="Gill Sans Nova Light" panose="020B0302020104020203" pitchFamily="34" charset="0"/>
                  <a:ea typeface="Calibri" pitchFamily="34" charset="-122"/>
                  <a:cs typeface="Calibri" pitchFamily="34" charset="-120"/>
                </a:rPr>
                <a:t>Bismarck.</a:t>
              </a:r>
              <a:endParaRPr lang="en-US" sz="850">
                <a:latin typeface="Gill Sans Nova Light" panose="020B0302020104020203" pitchFamily="34" charset="0"/>
              </a:endParaRPr>
            </a:p>
          </p:txBody>
        </p:sp>
        <p:sp>
          <p:nvSpPr>
            <p:cNvPr id="18" name="Text 14">
              <a:extLst>
                <a:ext uri="{FF2B5EF4-FFF2-40B4-BE49-F238E27FC236}">
                  <a16:creationId xmlns:a16="http://schemas.microsoft.com/office/drawing/2014/main" id="{E21C767D-0BEE-831F-A65A-53ABB4CCF071}"/>
                </a:ext>
              </a:extLst>
            </p:cNvPr>
            <p:cNvSpPr/>
            <p:nvPr/>
          </p:nvSpPr>
          <p:spPr>
            <a:xfrm>
              <a:off x="4956048" y="621792"/>
              <a:ext cx="749808" cy="237744"/>
            </a:xfrm>
            <a:prstGeom prst="rect">
              <a:avLst/>
            </a:prstGeom>
            <a:noFill/>
            <a:ln/>
          </p:spPr>
          <p:txBody>
            <a:bodyPr wrap="square" lIns="0" tIns="0" rIns="0" bIns="0" rtlCol="0" anchor="ctr"/>
            <a:lstStyle/>
            <a:p>
              <a:pPr marL="0" indent="0" algn="ctr">
                <a:buNone/>
              </a:pPr>
              <a:r>
                <a:rPr lang="en-US" sz="850" b="1">
                  <a:solidFill>
                    <a:srgbClr val="1B3A6B"/>
                  </a:solidFill>
                  <a:latin typeface="Gill Sans Nova Light" panose="020B0302020104020203" pitchFamily="34" charset="0"/>
                  <a:ea typeface="Calibri" pitchFamily="34" charset="-122"/>
                  <a:cs typeface="Calibri" pitchFamily="34" charset="-120"/>
                </a:rPr>
                <a:t>Beveridg.</a:t>
              </a:r>
              <a:endParaRPr lang="en-US" sz="850">
                <a:latin typeface="Gill Sans Nova Light" panose="020B0302020104020203" pitchFamily="34" charset="0"/>
              </a:endParaRPr>
            </a:p>
          </p:txBody>
        </p:sp>
        <p:sp>
          <p:nvSpPr>
            <p:cNvPr id="19" name="Shape 15">
              <a:extLst>
                <a:ext uri="{FF2B5EF4-FFF2-40B4-BE49-F238E27FC236}">
                  <a16:creationId xmlns:a16="http://schemas.microsoft.com/office/drawing/2014/main" id="{6E8B8E10-9EE2-A119-557B-5E6FB2AB1707}"/>
                </a:ext>
              </a:extLst>
            </p:cNvPr>
            <p:cNvSpPr/>
            <p:nvPr/>
          </p:nvSpPr>
          <p:spPr>
            <a:xfrm>
              <a:off x="1207008" y="877824"/>
              <a:ext cx="749808" cy="502920"/>
            </a:xfrm>
            <a:prstGeom prst="rect">
              <a:avLst/>
            </a:prstGeom>
            <a:solidFill>
              <a:srgbClr val="E8EDF5"/>
            </a:solidFill>
            <a:ln w="6350">
              <a:solidFill>
                <a:srgbClr val="D0D7E3"/>
              </a:solidFill>
              <a:prstDash val="solid"/>
            </a:ln>
          </p:spPr>
          <p:txBody>
            <a:bodyPr/>
            <a:lstStyle/>
            <a:p>
              <a:endParaRPr lang="en-CH">
                <a:latin typeface="Gill Sans Nova Light" panose="020B0302020104020203" pitchFamily="34" charset="0"/>
              </a:endParaRPr>
            </a:p>
          </p:txBody>
        </p:sp>
        <p:sp>
          <p:nvSpPr>
            <p:cNvPr id="20" name="Text 16">
              <a:extLst>
                <a:ext uri="{FF2B5EF4-FFF2-40B4-BE49-F238E27FC236}">
                  <a16:creationId xmlns:a16="http://schemas.microsoft.com/office/drawing/2014/main" id="{290AA2A5-DDC6-A2D3-105F-5053D6E5D28B}"/>
                </a:ext>
              </a:extLst>
            </p:cNvPr>
            <p:cNvSpPr/>
            <p:nvPr/>
          </p:nvSpPr>
          <p:spPr>
            <a:xfrm>
              <a:off x="1207008" y="877824"/>
              <a:ext cx="749808" cy="502920"/>
            </a:xfrm>
            <a:prstGeom prst="rect">
              <a:avLst/>
            </a:prstGeom>
            <a:noFill/>
            <a:ln/>
          </p:spPr>
          <p:txBody>
            <a:bodyPr wrap="square" lIns="0" tIns="0" rIns="0" bIns="0" rtlCol="0" anchor="ctr"/>
            <a:lstStyle/>
            <a:p>
              <a:pPr marL="0" indent="0" algn="ctr">
                <a:buNone/>
              </a:pPr>
              <a:r>
                <a:rPr lang="en-US" sz="1300">
                  <a:solidFill>
                    <a:srgbClr val="1B3A6B"/>
                  </a:solidFill>
                  <a:latin typeface="Gill Sans Nova Light" panose="020B0302020104020203" pitchFamily="34" charset="0"/>
                  <a:ea typeface="Calibri" pitchFamily="34" charset="-122"/>
                  <a:cs typeface="Calibri" pitchFamily="34" charset="-120"/>
                </a:rPr>
                <a:t>—</a:t>
              </a:r>
              <a:endParaRPr lang="en-US" sz="1300">
                <a:latin typeface="Gill Sans Nova Light" panose="020B0302020104020203" pitchFamily="34" charset="0"/>
              </a:endParaRPr>
            </a:p>
          </p:txBody>
        </p:sp>
        <p:sp>
          <p:nvSpPr>
            <p:cNvPr id="21" name="Shape 17">
              <a:extLst>
                <a:ext uri="{FF2B5EF4-FFF2-40B4-BE49-F238E27FC236}">
                  <a16:creationId xmlns:a16="http://schemas.microsoft.com/office/drawing/2014/main" id="{801CE373-B09B-2CAF-A1A1-ECACEADE92E1}"/>
                </a:ext>
              </a:extLst>
            </p:cNvPr>
            <p:cNvSpPr/>
            <p:nvPr/>
          </p:nvSpPr>
          <p:spPr>
            <a:xfrm>
              <a:off x="1956816" y="87782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22" name="Shape 18">
              <a:extLst>
                <a:ext uri="{FF2B5EF4-FFF2-40B4-BE49-F238E27FC236}">
                  <a16:creationId xmlns:a16="http://schemas.microsoft.com/office/drawing/2014/main" id="{783E11E7-AFB7-4FFF-D6B1-15724FA6CD59}"/>
                </a:ext>
              </a:extLst>
            </p:cNvPr>
            <p:cNvSpPr/>
            <p:nvPr/>
          </p:nvSpPr>
          <p:spPr>
            <a:xfrm>
              <a:off x="2706624" y="87782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23" name="Shape 19">
              <a:extLst>
                <a:ext uri="{FF2B5EF4-FFF2-40B4-BE49-F238E27FC236}">
                  <a16:creationId xmlns:a16="http://schemas.microsoft.com/office/drawing/2014/main" id="{FB8ECCDC-A231-38B1-B449-AE285F8A3815}"/>
                </a:ext>
              </a:extLst>
            </p:cNvPr>
            <p:cNvSpPr/>
            <p:nvPr/>
          </p:nvSpPr>
          <p:spPr>
            <a:xfrm>
              <a:off x="3456432" y="87782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24" name="Shape 20">
              <a:extLst>
                <a:ext uri="{FF2B5EF4-FFF2-40B4-BE49-F238E27FC236}">
                  <a16:creationId xmlns:a16="http://schemas.microsoft.com/office/drawing/2014/main" id="{841B545C-8AE4-9A75-72EA-8551DBA3AFAC}"/>
                </a:ext>
              </a:extLst>
            </p:cNvPr>
            <p:cNvSpPr/>
            <p:nvPr/>
          </p:nvSpPr>
          <p:spPr>
            <a:xfrm>
              <a:off x="4206240" y="87782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25" name="Shape 21">
              <a:extLst>
                <a:ext uri="{FF2B5EF4-FFF2-40B4-BE49-F238E27FC236}">
                  <a16:creationId xmlns:a16="http://schemas.microsoft.com/office/drawing/2014/main" id="{53AE7650-4EF9-B210-6F20-AE19289C8F65}"/>
                </a:ext>
              </a:extLst>
            </p:cNvPr>
            <p:cNvSpPr/>
            <p:nvPr/>
          </p:nvSpPr>
          <p:spPr>
            <a:xfrm>
              <a:off x="4956048" y="87782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26" name="Shape 22">
              <a:extLst>
                <a:ext uri="{FF2B5EF4-FFF2-40B4-BE49-F238E27FC236}">
                  <a16:creationId xmlns:a16="http://schemas.microsoft.com/office/drawing/2014/main" id="{6E19B77B-17E9-181F-AE4C-0EE77A99A374}"/>
                </a:ext>
              </a:extLst>
            </p:cNvPr>
            <p:cNvSpPr/>
            <p:nvPr/>
          </p:nvSpPr>
          <p:spPr>
            <a:xfrm>
              <a:off x="1207008" y="138074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27" name="Text 23">
              <a:extLst>
                <a:ext uri="{FF2B5EF4-FFF2-40B4-BE49-F238E27FC236}">
                  <a16:creationId xmlns:a16="http://schemas.microsoft.com/office/drawing/2014/main" id="{7E6E104A-CEB8-217D-0700-59309955E0BC}"/>
                </a:ext>
              </a:extLst>
            </p:cNvPr>
            <p:cNvSpPr/>
            <p:nvPr/>
          </p:nvSpPr>
          <p:spPr>
            <a:xfrm>
              <a:off x="1207008" y="138074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-0.060</a:t>
              </a:r>
              <a:endParaRPr lang="en-US" sz="1100">
                <a:latin typeface="Gill Sans Nova Light" panose="020B0302020104020203" pitchFamily="34" charset="0"/>
              </a:endParaRPr>
            </a:p>
          </p:txBody>
        </p:sp>
        <p:sp>
          <p:nvSpPr>
            <p:cNvPr id="28" name="Shape 24">
              <a:extLst>
                <a:ext uri="{FF2B5EF4-FFF2-40B4-BE49-F238E27FC236}">
                  <a16:creationId xmlns:a16="http://schemas.microsoft.com/office/drawing/2014/main" id="{B9C66EEE-717C-19AE-1B42-E819BA54295B}"/>
                </a:ext>
              </a:extLst>
            </p:cNvPr>
            <p:cNvSpPr/>
            <p:nvPr/>
          </p:nvSpPr>
          <p:spPr>
            <a:xfrm>
              <a:off x="1956816" y="1380744"/>
              <a:ext cx="749808" cy="502920"/>
            </a:xfrm>
            <a:prstGeom prst="rect">
              <a:avLst/>
            </a:prstGeom>
            <a:solidFill>
              <a:srgbClr val="E8EDF5"/>
            </a:solidFill>
            <a:ln w="6350">
              <a:solidFill>
                <a:srgbClr val="D0D7E3"/>
              </a:solidFill>
              <a:prstDash val="solid"/>
            </a:ln>
          </p:spPr>
          <p:txBody>
            <a:bodyPr/>
            <a:lstStyle/>
            <a:p>
              <a:endParaRPr lang="en-CH">
                <a:latin typeface="Gill Sans Nova Light" panose="020B0302020104020203" pitchFamily="34" charset="0"/>
              </a:endParaRPr>
            </a:p>
          </p:txBody>
        </p:sp>
        <p:sp>
          <p:nvSpPr>
            <p:cNvPr id="29" name="Text 25">
              <a:extLst>
                <a:ext uri="{FF2B5EF4-FFF2-40B4-BE49-F238E27FC236}">
                  <a16:creationId xmlns:a16="http://schemas.microsoft.com/office/drawing/2014/main" id="{405399C0-6403-4FE4-A56E-C8E663465345}"/>
                </a:ext>
              </a:extLst>
            </p:cNvPr>
            <p:cNvSpPr/>
            <p:nvPr/>
          </p:nvSpPr>
          <p:spPr>
            <a:xfrm>
              <a:off x="1956816" y="1380744"/>
              <a:ext cx="749808" cy="502920"/>
            </a:xfrm>
            <a:prstGeom prst="rect">
              <a:avLst/>
            </a:prstGeom>
            <a:noFill/>
            <a:ln/>
          </p:spPr>
          <p:txBody>
            <a:bodyPr wrap="square" lIns="0" tIns="0" rIns="0" bIns="0" rtlCol="0" anchor="ctr"/>
            <a:lstStyle/>
            <a:p>
              <a:pPr marL="0" indent="0" algn="ctr">
                <a:buNone/>
              </a:pPr>
              <a:r>
                <a:rPr lang="en-US" sz="1300">
                  <a:solidFill>
                    <a:srgbClr val="1B3A6B"/>
                  </a:solidFill>
                  <a:latin typeface="Gill Sans Nova Light" panose="020B0302020104020203" pitchFamily="34" charset="0"/>
                  <a:ea typeface="Calibri" pitchFamily="34" charset="-122"/>
                  <a:cs typeface="Calibri" pitchFamily="34" charset="-120"/>
                </a:rPr>
                <a:t>—</a:t>
              </a:r>
              <a:endParaRPr lang="en-US" sz="1300">
                <a:latin typeface="Gill Sans Nova Light" panose="020B0302020104020203" pitchFamily="34" charset="0"/>
              </a:endParaRPr>
            </a:p>
          </p:txBody>
        </p:sp>
        <p:sp>
          <p:nvSpPr>
            <p:cNvPr id="30" name="Shape 26">
              <a:extLst>
                <a:ext uri="{FF2B5EF4-FFF2-40B4-BE49-F238E27FC236}">
                  <a16:creationId xmlns:a16="http://schemas.microsoft.com/office/drawing/2014/main" id="{2790A3D5-AB13-C1F7-78D4-466DD0B5CA30}"/>
                </a:ext>
              </a:extLst>
            </p:cNvPr>
            <p:cNvSpPr/>
            <p:nvPr/>
          </p:nvSpPr>
          <p:spPr>
            <a:xfrm>
              <a:off x="2706624" y="138074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31" name="Shape 27">
              <a:extLst>
                <a:ext uri="{FF2B5EF4-FFF2-40B4-BE49-F238E27FC236}">
                  <a16:creationId xmlns:a16="http://schemas.microsoft.com/office/drawing/2014/main" id="{D4FF47AC-6D1F-ABDE-F6C4-1B2625989DB5}"/>
                </a:ext>
              </a:extLst>
            </p:cNvPr>
            <p:cNvSpPr/>
            <p:nvPr/>
          </p:nvSpPr>
          <p:spPr>
            <a:xfrm>
              <a:off x="3456432" y="138074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32" name="Shape 28">
              <a:extLst>
                <a:ext uri="{FF2B5EF4-FFF2-40B4-BE49-F238E27FC236}">
                  <a16:creationId xmlns:a16="http://schemas.microsoft.com/office/drawing/2014/main" id="{18282DBC-C994-5BFD-7AE8-06BBC6F562DD}"/>
                </a:ext>
              </a:extLst>
            </p:cNvPr>
            <p:cNvSpPr/>
            <p:nvPr/>
          </p:nvSpPr>
          <p:spPr>
            <a:xfrm>
              <a:off x="4206240" y="138074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33" name="Shape 29">
              <a:extLst>
                <a:ext uri="{FF2B5EF4-FFF2-40B4-BE49-F238E27FC236}">
                  <a16:creationId xmlns:a16="http://schemas.microsoft.com/office/drawing/2014/main" id="{55C60DEA-6A95-3649-8657-F8646C0EC5FB}"/>
                </a:ext>
              </a:extLst>
            </p:cNvPr>
            <p:cNvSpPr/>
            <p:nvPr/>
          </p:nvSpPr>
          <p:spPr>
            <a:xfrm>
              <a:off x="4956048" y="138074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34" name="Shape 30">
              <a:extLst>
                <a:ext uri="{FF2B5EF4-FFF2-40B4-BE49-F238E27FC236}">
                  <a16:creationId xmlns:a16="http://schemas.microsoft.com/office/drawing/2014/main" id="{5A9F5563-F7BD-47B1-4FAA-FD5836774D72}"/>
                </a:ext>
              </a:extLst>
            </p:cNvPr>
            <p:cNvSpPr/>
            <p:nvPr/>
          </p:nvSpPr>
          <p:spPr>
            <a:xfrm>
              <a:off x="1207008" y="188366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35" name="Text 31">
              <a:extLst>
                <a:ext uri="{FF2B5EF4-FFF2-40B4-BE49-F238E27FC236}">
                  <a16:creationId xmlns:a16="http://schemas.microsoft.com/office/drawing/2014/main" id="{D681E40A-1ED9-E5C7-C183-C958C4590906}"/>
                </a:ext>
              </a:extLst>
            </p:cNvPr>
            <p:cNvSpPr/>
            <p:nvPr/>
          </p:nvSpPr>
          <p:spPr>
            <a:xfrm>
              <a:off x="1207008" y="188366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0.000</a:t>
              </a:r>
              <a:endParaRPr lang="en-US" sz="1100">
                <a:latin typeface="Gill Sans Nova Light" panose="020B0302020104020203" pitchFamily="34" charset="0"/>
              </a:endParaRPr>
            </a:p>
          </p:txBody>
        </p:sp>
        <p:sp>
          <p:nvSpPr>
            <p:cNvPr id="36" name="Shape 32">
              <a:extLst>
                <a:ext uri="{FF2B5EF4-FFF2-40B4-BE49-F238E27FC236}">
                  <a16:creationId xmlns:a16="http://schemas.microsoft.com/office/drawing/2014/main" id="{7C0FF946-05DB-2BE8-2138-86DCDAB8968F}"/>
                </a:ext>
              </a:extLst>
            </p:cNvPr>
            <p:cNvSpPr/>
            <p:nvPr/>
          </p:nvSpPr>
          <p:spPr>
            <a:xfrm>
              <a:off x="1956816" y="188366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37" name="Text 33">
              <a:extLst>
                <a:ext uri="{FF2B5EF4-FFF2-40B4-BE49-F238E27FC236}">
                  <a16:creationId xmlns:a16="http://schemas.microsoft.com/office/drawing/2014/main" id="{6E7E770E-A881-EEB8-6A87-E81FD8982A80}"/>
                </a:ext>
              </a:extLst>
            </p:cNvPr>
            <p:cNvSpPr/>
            <p:nvPr/>
          </p:nvSpPr>
          <p:spPr>
            <a:xfrm>
              <a:off x="1956816" y="188366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0.022</a:t>
              </a:r>
              <a:endParaRPr lang="en-US" sz="1100">
                <a:latin typeface="Gill Sans Nova Light" panose="020B0302020104020203" pitchFamily="34" charset="0"/>
              </a:endParaRPr>
            </a:p>
          </p:txBody>
        </p:sp>
        <p:sp>
          <p:nvSpPr>
            <p:cNvPr id="38" name="Shape 34">
              <a:extLst>
                <a:ext uri="{FF2B5EF4-FFF2-40B4-BE49-F238E27FC236}">
                  <a16:creationId xmlns:a16="http://schemas.microsoft.com/office/drawing/2014/main" id="{9E78831E-981B-A6DB-1467-39BC775C4F8D}"/>
                </a:ext>
              </a:extLst>
            </p:cNvPr>
            <p:cNvSpPr/>
            <p:nvPr/>
          </p:nvSpPr>
          <p:spPr>
            <a:xfrm>
              <a:off x="2706624" y="1883664"/>
              <a:ext cx="749808" cy="502920"/>
            </a:xfrm>
            <a:prstGeom prst="rect">
              <a:avLst/>
            </a:prstGeom>
            <a:solidFill>
              <a:srgbClr val="E8EDF5"/>
            </a:solidFill>
            <a:ln w="6350">
              <a:solidFill>
                <a:srgbClr val="D0D7E3"/>
              </a:solidFill>
              <a:prstDash val="solid"/>
            </a:ln>
          </p:spPr>
          <p:txBody>
            <a:bodyPr/>
            <a:lstStyle/>
            <a:p>
              <a:endParaRPr lang="en-CH">
                <a:latin typeface="Gill Sans Nova Light" panose="020B0302020104020203" pitchFamily="34" charset="0"/>
              </a:endParaRPr>
            </a:p>
          </p:txBody>
        </p:sp>
        <p:sp>
          <p:nvSpPr>
            <p:cNvPr id="39" name="Text 35">
              <a:extLst>
                <a:ext uri="{FF2B5EF4-FFF2-40B4-BE49-F238E27FC236}">
                  <a16:creationId xmlns:a16="http://schemas.microsoft.com/office/drawing/2014/main" id="{07EAEA35-E10A-2631-E959-2A69A05B1582}"/>
                </a:ext>
              </a:extLst>
            </p:cNvPr>
            <p:cNvSpPr/>
            <p:nvPr/>
          </p:nvSpPr>
          <p:spPr>
            <a:xfrm>
              <a:off x="2706624" y="1883664"/>
              <a:ext cx="749808" cy="502920"/>
            </a:xfrm>
            <a:prstGeom prst="rect">
              <a:avLst/>
            </a:prstGeom>
            <a:noFill/>
            <a:ln/>
          </p:spPr>
          <p:txBody>
            <a:bodyPr wrap="square" lIns="0" tIns="0" rIns="0" bIns="0" rtlCol="0" anchor="ctr"/>
            <a:lstStyle/>
            <a:p>
              <a:pPr marL="0" indent="0" algn="ctr">
                <a:buNone/>
              </a:pPr>
              <a:r>
                <a:rPr lang="en-US" sz="1300">
                  <a:solidFill>
                    <a:srgbClr val="1B3A6B"/>
                  </a:solidFill>
                  <a:latin typeface="Gill Sans Nova Light" panose="020B0302020104020203" pitchFamily="34" charset="0"/>
                  <a:ea typeface="Calibri" pitchFamily="34" charset="-122"/>
                  <a:cs typeface="Calibri" pitchFamily="34" charset="-120"/>
                </a:rPr>
                <a:t>—</a:t>
              </a:r>
              <a:endParaRPr lang="en-US" sz="1300">
                <a:latin typeface="Gill Sans Nova Light" panose="020B0302020104020203" pitchFamily="34" charset="0"/>
              </a:endParaRPr>
            </a:p>
          </p:txBody>
        </p:sp>
        <p:sp>
          <p:nvSpPr>
            <p:cNvPr id="40" name="Shape 36">
              <a:extLst>
                <a:ext uri="{FF2B5EF4-FFF2-40B4-BE49-F238E27FC236}">
                  <a16:creationId xmlns:a16="http://schemas.microsoft.com/office/drawing/2014/main" id="{CBB3598B-5E76-0BCA-97CE-E0D1553C7458}"/>
                </a:ext>
              </a:extLst>
            </p:cNvPr>
            <p:cNvSpPr/>
            <p:nvPr/>
          </p:nvSpPr>
          <p:spPr>
            <a:xfrm>
              <a:off x="3456432" y="188366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41" name="Shape 37">
              <a:extLst>
                <a:ext uri="{FF2B5EF4-FFF2-40B4-BE49-F238E27FC236}">
                  <a16:creationId xmlns:a16="http://schemas.microsoft.com/office/drawing/2014/main" id="{7D2A04A6-4024-845A-49F5-0E94A650F63A}"/>
                </a:ext>
              </a:extLst>
            </p:cNvPr>
            <p:cNvSpPr/>
            <p:nvPr/>
          </p:nvSpPr>
          <p:spPr>
            <a:xfrm>
              <a:off x="4206240" y="188366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42" name="Shape 38">
              <a:extLst>
                <a:ext uri="{FF2B5EF4-FFF2-40B4-BE49-F238E27FC236}">
                  <a16:creationId xmlns:a16="http://schemas.microsoft.com/office/drawing/2014/main" id="{02B83AFB-3422-DF0F-CF5F-366F2BB9BC9F}"/>
                </a:ext>
              </a:extLst>
            </p:cNvPr>
            <p:cNvSpPr/>
            <p:nvPr/>
          </p:nvSpPr>
          <p:spPr>
            <a:xfrm>
              <a:off x="4956048" y="188366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43" name="Shape 39">
              <a:extLst>
                <a:ext uri="{FF2B5EF4-FFF2-40B4-BE49-F238E27FC236}">
                  <a16:creationId xmlns:a16="http://schemas.microsoft.com/office/drawing/2014/main" id="{9C17919E-C377-D7BA-1744-F269A106ED81}"/>
                </a:ext>
              </a:extLst>
            </p:cNvPr>
            <p:cNvSpPr/>
            <p:nvPr/>
          </p:nvSpPr>
          <p:spPr>
            <a:xfrm>
              <a:off x="1207008" y="238658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44" name="Text 40">
              <a:extLst>
                <a:ext uri="{FF2B5EF4-FFF2-40B4-BE49-F238E27FC236}">
                  <a16:creationId xmlns:a16="http://schemas.microsoft.com/office/drawing/2014/main" id="{320D178E-ABCD-40E4-9040-B51FDCF4B424}"/>
                </a:ext>
              </a:extLst>
            </p:cNvPr>
            <p:cNvSpPr/>
            <p:nvPr/>
          </p:nvSpPr>
          <p:spPr>
            <a:xfrm>
              <a:off x="1207008" y="238658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-0.170</a:t>
              </a:r>
              <a:endParaRPr lang="en-US" sz="1100">
                <a:latin typeface="Gill Sans Nova Light" panose="020B0302020104020203" pitchFamily="34" charset="0"/>
              </a:endParaRPr>
            </a:p>
          </p:txBody>
        </p:sp>
        <p:sp>
          <p:nvSpPr>
            <p:cNvPr id="45" name="Shape 41">
              <a:extLst>
                <a:ext uri="{FF2B5EF4-FFF2-40B4-BE49-F238E27FC236}">
                  <a16:creationId xmlns:a16="http://schemas.microsoft.com/office/drawing/2014/main" id="{39BD2DCB-061D-BEF0-3A7F-E97EDD761BF1}"/>
                </a:ext>
              </a:extLst>
            </p:cNvPr>
            <p:cNvSpPr/>
            <p:nvPr/>
          </p:nvSpPr>
          <p:spPr>
            <a:xfrm>
              <a:off x="1956816" y="238658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46" name="Text 42">
              <a:extLst>
                <a:ext uri="{FF2B5EF4-FFF2-40B4-BE49-F238E27FC236}">
                  <a16:creationId xmlns:a16="http://schemas.microsoft.com/office/drawing/2014/main" id="{58C16FB2-96EC-595C-E188-65B513B5234A}"/>
                </a:ext>
              </a:extLst>
            </p:cNvPr>
            <p:cNvSpPr/>
            <p:nvPr/>
          </p:nvSpPr>
          <p:spPr>
            <a:xfrm>
              <a:off x="1956816" y="238658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0.037</a:t>
              </a:r>
              <a:endParaRPr lang="en-US" sz="1100">
                <a:latin typeface="Gill Sans Nova Light" panose="020B0302020104020203" pitchFamily="34" charset="0"/>
              </a:endParaRPr>
            </a:p>
          </p:txBody>
        </p:sp>
        <p:sp>
          <p:nvSpPr>
            <p:cNvPr id="47" name="Shape 43">
              <a:extLst>
                <a:ext uri="{FF2B5EF4-FFF2-40B4-BE49-F238E27FC236}">
                  <a16:creationId xmlns:a16="http://schemas.microsoft.com/office/drawing/2014/main" id="{D16D7E53-94BF-1E33-3AF8-27EE6A1BACEF}"/>
                </a:ext>
              </a:extLst>
            </p:cNvPr>
            <p:cNvSpPr/>
            <p:nvPr/>
          </p:nvSpPr>
          <p:spPr>
            <a:xfrm>
              <a:off x="2706624" y="2386584"/>
              <a:ext cx="749808" cy="502920"/>
            </a:xfrm>
            <a:prstGeom prst="rect">
              <a:avLst/>
            </a:prstGeom>
            <a:solidFill>
              <a:srgbClr val="FDE8E4"/>
            </a:solidFill>
            <a:ln w="6350">
              <a:solidFill>
                <a:srgbClr val="D0D7E3"/>
              </a:solidFill>
              <a:prstDash val="solid"/>
            </a:ln>
          </p:spPr>
          <p:txBody>
            <a:bodyPr/>
            <a:lstStyle/>
            <a:p>
              <a:endParaRPr lang="en-CH">
                <a:latin typeface="Gill Sans Nova Light" panose="020B0302020104020203" pitchFamily="34" charset="0"/>
              </a:endParaRPr>
            </a:p>
          </p:txBody>
        </p:sp>
        <p:sp>
          <p:nvSpPr>
            <p:cNvPr id="48" name="Text 44">
              <a:extLst>
                <a:ext uri="{FF2B5EF4-FFF2-40B4-BE49-F238E27FC236}">
                  <a16:creationId xmlns:a16="http://schemas.microsoft.com/office/drawing/2014/main" id="{FFB233A3-194A-7599-64E2-032974DE6918}"/>
                </a:ext>
              </a:extLst>
            </p:cNvPr>
            <p:cNvSpPr/>
            <p:nvPr/>
          </p:nvSpPr>
          <p:spPr>
            <a:xfrm>
              <a:off x="2706624" y="2386584"/>
              <a:ext cx="749808" cy="502920"/>
            </a:xfrm>
            <a:prstGeom prst="rect">
              <a:avLst/>
            </a:prstGeom>
            <a:noFill/>
            <a:ln/>
          </p:spPr>
          <p:txBody>
            <a:bodyPr wrap="square" lIns="0" tIns="0" rIns="0" bIns="0" rtlCol="0" anchor="ctr"/>
            <a:lstStyle/>
            <a:p>
              <a:pPr marL="0" indent="0" algn="ctr">
                <a:buNone/>
              </a:pPr>
              <a:r>
                <a:rPr lang="en-US" sz="1100" b="1">
                  <a:solidFill>
                    <a:srgbClr val="C0392B"/>
                  </a:solidFill>
                  <a:latin typeface="Gill Sans Nova Light" panose="020B0302020104020203" pitchFamily="34" charset="0"/>
                  <a:ea typeface="Calibri" pitchFamily="34" charset="-122"/>
                  <a:cs typeface="Calibri" pitchFamily="34" charset="-120"/>
                </a:rPr>
                <a:t>-0.421</a:t>
              </a:r>
              <a:endParaRPr lang="en-US" sz="1100">
                <a:latin typeface="Gill Sans Nova Light" panose="020B0302020104020203" pitchFamily="34" charset="0"/>
              </a:endParaRPr>
            </a:p>
          </p:txBody>
        </p:sp>
        <p:sp>
          <p:nvSpPr>
            <p:cNvPr id="49" name="Shape 45">
              <a:extLst>
                <a:ext uri="{FF2B5EF4-FFF2-40B4-BE49-F238E27FC236}">
                  <a16:creationId xmlns:a16="http://schemas.microsoft.com/office/drawing/2014/main" id="{3A3945D0-ECCC-F1EB-DFDA-03F09AC39954}"/>
                </a:ext>
              </a:extLst>
            </p:cNvPr>
            <p:cNvSpPr/>
            <p:nvPr/>
          </p:nvSpPr>
          <p:spPr>
            <a:xfrm>
              <a:off x="3456432" y="2386584"/>
              <a:ext cx="749808" cy="502920"/>
            </a:xfrm>
            <a:prstGeom prst="rect">
              <a:avLst/>
            </a:prstGeom>
            <a:solidFill>
              <a:srgbClr val="E8EDF5"/>
            </a:solidFill>
            <a:ln w="6350">
              <a:solidFill>
                <a:srgbClr val="D0D7E3"/>
              </a:solidFill>
              <a:prstDash val="solid"/>
            </a:ln>
          </p:spPr>
          <p:txBody>
            <a:bodyPr/>
            <a:lstStyle/>
            <a:p>
              <a:endParaRPr lang="en-CH">
                <a:latin typeface="Gill Sans Nova Light" panose="020B0302020104020203" pitchFamily="34" charset="0"/>
              </a:endParaRPr>
            </a:p>
          </p:txBody>
        </p:sp>
        <p:sp>
          <p:nvSpPr>
            <p:cNvPr id="50" name="Text 46">
              <a:extLst>
                <a:ext uri="{FF2B5EF4-FFF2-40B4-BE49-F238E27FC236}">
                  <a16:creationId xmlns:a16="http://schemas.microsoft.com/office/drawing/2014/main" id="{1C0503D7-6D90-ABC1-E044-B2164411D709}"/>
                </a:ext>
              </a:extLst>
            </p:cNvPr>
            <p:cNvSpPr/>
            <p:nvPr/>
          </p:nvSpPr>
          <p:spPr>
            <a:xfrm>
              <a:off x="3456432" y="2386584"/>
              <a:ext cx="749808" cy="502920"/>
            </a:xfrm>
            <a:prstGeom prst="rect">
              <a:avLst/>
            </a:prstGeom>
            <a:noFill/>
            <a:ln/>
          </p:spPr>
          <p:txBody>
            <a:bodyPr wrap="square" lIns="0" tIns="0" rIns="0" bIns="0" rtlCol="0" anchor="ctr"/>
            <a:lstStyle/>
            <a:p>
              <a:pPr marL="0" indent="0" algn="ctr">
                <a:buNone/>
              </a:pPr>
              <a:r>
                <a:rPr lang="en-US" sz="1300">
                  <a:solidFill>
                    <a:srgbClr val="1B3A6B"/>
                  </a:solidFill>
                  <a:latin typeface="Gill Sans Nova Light" panose="020B0302020104020203" pitchFamily="34" charset="0"/>
                  <a:ea typeface="Calibri" pitchFamily="34" charset="-122"/>
                  <a:cs typeface="Calibri" pitchFamily="34" charset="-120"/>
                </a:rPr>
                <a:t>—</a:t>
              </a:r>
              <a:endParaRPr lang="en-US" sz="1300">
                <a:latin typeface="Gill Sans Nova Light" panose="020B0302020104020203" pitchFamily="34" charset="0"/>
              </a:endParaRPr>
            </a:p>
          </p:txBody>
        </p:sp>
        <p:sp>
          <p:nvSpPr>
            <p:cNvPr id="51" name="Shape 47">
              <a:extLst>
                <a:ext uri="{FF2B5EF4-FFF2-40B4-BE49-F238E27FC236}">
                  <a16:creationId xmlns:a16="http://schemas.microsoft.com/office/drawing/2014/main" id="{005BEC04-A596-7913-9728-475F17DC8D6C}"/>
                </a:ext>
              </a:extLst>
            </p:cNvPr>
            <p:cNvSpPr/>
            <p:nvPr/>
          </p:nvSpPr>
          <p:spPr>
            <a:xfrm>
              <a:off x="4206240" y="238658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52" name="Shape 48">
              <a:extLst>
                <a:ext uri="{FF2B5EF4-FFF2-40B4-BE49-F238E27FC236}">
                  <a16:creationId xmlns:a16="http://schemas.microsoft.com/office/drawing/2014/main" id="{ADF3CFAF-A94D-610B-4617-872D4B4E7494}"/>
                </a:ext>
              </a:extLst>
            </p:cNvPr>
            <p:cNvSpPr/>
            <p:nvPr/>
          </p:nvSpPr>
          <p:spPr>
            <a:xfrm>
              <a:off x="4956048" y="238658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53" name="Shape 49">
              <a:extLst>
                <a:ext uri="{FF2B5EF4-FFF2-40B4-BE49-F238E27FC236}">
                  <a16:creationId xmlns:a16="http://schemas.microsoft.com/office/drawing/2014/main" id="{7331F46D-0D73-3EBF-ED3A-0BBC9284A03A}"/>
                </a:ext>
              </a:extLst>
            </p:cNvPr>
            <p:cNvSpPr/>
            <p:nvPr/>
          </p:nvSpPr>
          <p:spPr>
            <a:xfrm>
              <a:off x="1207008" y="288950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54" name="Text 50">
              <a:extLst>
                <a:ext uri="{FF2B5EF4-FFF2-40B4-BE49-F238E27FC236}">
                  <a16:creationId xmlns:a16="http://schemas.microsoft.com/office/drawing/2014/main" id="{CF48804A-FEA7-53E6-9A66-7238D6DD8E36}"/>
                </a:ext>
              </a:extLst>
            </p:cNvPr>
            <p:cNvSpPr/>
            <p:nvPr/>
          </p:nvSpPr>
          <p:spPr>
            <a:xfrm>
              <a:off x="1207008" y="288950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-0.052</a:t>
              </a:r>
              <a:endParaRPr lang="en-US" sz="1100">
                <a:latin typeface="Gill Sans Nova Light" panose="020B0302020104020203" pitchFamily="34" charset="0"/>
              </a:endParaRPr>
            </a:p>
          </p:txBody>
        </p:sp>
        <p:sp>
          <p:nvSpPr>
            <p:cNvPr id="55" name="Shape 51">
              <a:extLst>
                <a:ext uri="{FF2B5EF4-FFF2-40B4-BE49-F238E27FC236}">
                  <a16:creationId xmlns:a16="http://schemas.microsoft.com/office/drawing/2014/main" id="{346E25DB-3C26-31E9-0DAE-25B305EF9786}"/>
                </a:ext>
              </a:extLst>
            </p:cNvPr>
            <p:cNvSpPr/>
            <p:nvPr/>
          </p:nvSpPr>
          <p:spPr>
            <a:xfrm>
              <a:off x="1956816" y="288950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56" name="Text 52">
              <a:extLst>
                <a:ext uri="{FF2B5EF4-FFF2-40B4-BE49-F238E27FC236}">
                  <a16:creationId xmlns:a16="http://schemas.microsoft.com/office/drawing/2014/main" id="{4FA2415D-A739-3DC2-DFAB-B61D4D0AB5AF}"/>
                </a:ext>
              </a:extLst>
            </p:cNvPr>
            <p:cNvSpPr/>
            <p:nvPr/>
          </p:nvSpPr>
          <p:spPr>
            <a:xfrm>
              <a:off x="1956816" y="288950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0.336</a:t>
              </a:r>
              <a:endParaRPr lang="en-US" sz="1100">
                <a:latin typeface="Gill Sans Nova Light" panose="020B0302020104020203" pitchFamily="34" charset="0"/>
              </a:endParaRPr>
            </a:p>
          </p:txBody>
        </p:sp>
        <p:sp>
          <p:nvSpPr>
            <p:cNvPr id="57" name="Shape 53">
              <a:extLst>
                <a:ext uri="{FF2B5EF4-FFF2-40B4-BE49-F238E27FC236}">
                  <a16:creationId xmlns:a16="http://schemas.microsoft.com/office/drawing/2014/main" id="{3CDD6FF4-204F-4ED1-E627-9A015B5A5B6C}"/>
                </a:ext>
              </a:extLst>
            </p:cNvPr>
            <p:cNvSpPr/>
            <p:nvPr/>
          </p:nvSpPr>
          <p:spPr>
            <a:xfrm>
              <a:off x="2706624" y="2889504"/>
              <a:ext cx="749808" cy="502920"/>
            </a:xfrm>
            <a:prstGeom prst="rect">
              <a:avLst/>
            </a:prstGeom>
            <a:solidFill>
              <a:srgbClr val="FDECEA"/>
            </a:solidFill>
            <a:ln w="6350">
              <a:solidFill>
                <a:srgbClr val="D0D7E3"/>
              </a:solidFill>
              <a:prstDash val="solid"/>
            </a:ln>
          </p:spPr>
          <p:txBody>
            <a:bodyPr/>
            <a:lstStyle/>
            <a:p>
              <a:endParaRPr lang="en-CH">
                <a:latin typeface="Gill Sans Nova Light" panose="020B0302020104020203" pitchFamily="34" charset="0"/>
              </a:endParaRPr>
            </a:p>
          </p:txBody>
        </p:sp>
        <p:sp>
          <p:nvSpPr>
            <p:cNvPr id="58" name="Text 54">
              <a:extLst>
                <a:ext uri="{FF2B5EF4-FFF2-40B4-BE49-F238E27FC236}">
                  <a16:creationId xmlns:a16="http://schemas.microsoft.com/office/drawing/2014/main" id="{EF0FDC8D-A6BF-0CE9-3992-F4BDA5EBF1F8}"/>
                </a:ext>
              </a:extLst>
            </p:cNvPr>
            <p:cNvSpPr/>
            <p:nvPr/>
          </p:nvSpPr>
          <p:spPr>
            <a:xfrm>
              <a:off x="2706624" y="2889504"/>
              <a:ext cx="749808" cy="502920"/>
            </a:xfrm>
            <a:prstGeom prst="rect">
              <a:avLst/>
            </a:prstGeom>
            <a:noFill/>
            <a:ln/>
          </p:spPr>
          <p:txBody>
            <a:bodyPr wrap="square" lIns="0" tIns="0" rIns="0" bIns="0" rtlCol="0" anchor="ctr"/>
            <a:lstStyle/>
            <a:p>
              <a:pPr marL="0" indent="0" algn="ctr">
                <a:buNone/>
              </a:pPr>
              <a:r>
                <a:rPr lang="en-US" sz="1100" b="1">
                  <a:solidFill>
                    <a:srgbClr val="C0392B"/>
                  </a:solidFill>
                  <a:latin typeface="Gill Sans Nova Light" panose="020B0302020104020203" pitchFamily="34" charset="0"/>
                  <a:ea typeface="Calibri" pitchFamily="34" charset="-122"/>
                  <a:cs typeface="Calibri" pitchFamily="34" charset="-120"/>
                </a:rPr>
                <a:t>-0.680</a:t>
              </a:r>
              <a:endParaRPr lang="en-US" sz="1100">
                <a:latin typeface="Gill Sans Nova Light" panose="020B0302020104020203" pitchFamily="34" charset="0"/>
              </a:endParaRPr>
            </a:p>
          </p:txBody>
        </p:sp>
        <p:sp>
          <p:nvSpPr>
            <p:cNvPr id="59" name="Shape 55">
              <a:extLst>
                <a:ext uri="{FF2B5EF4-FFF2-40B4-BE49-F238E27FC236}">
                  <a16:creationId xmlns:a16="http://schemas.microsoft.com/office/drawing/2014/main" id="{0FF17044-1EF2-CF09-E669-0480FAB1291A}"/>
                </a:ext>
              </a:extLst>
            </p:cNvPr>
            <p:cNvSpPr/>
            <p:nvPr/>
          </p:nvSpPr>
          <p:spPr>
            <a:xfrm>
              <a:off x="3456432" y="288950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60" name="Text 56">
              <a:extLst>
                <a:ext uri="{FF2B5EF4-FFF2-40B4-BE49-F238E27FC236}">
                  <a16:creationId xmlns:a16="http://schemas.microsoft.com/office/drawing/2014/main" id="{96ECED24-E713-C5B7-C593-08726C24DA88}"/>
                </a:ext>
              </a:extLst>
            </p:cNvPr>
            <p:cNvSpPr/>
            <p:nvPr/>
          </p:nvSpPr>
          <p:spPr>
            <a:xfrm>
              <a:off x="3456432" y="288950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0.247</a:t>
              </a:r>
              <a:endParaRPr lang="en-US" sz="1100">
                <a:latin typeface="Gill Sans Nova Light" panose="020B0302020104020203" pitchFamily="34" charset="0"/>
              </a:endParaRPr>
            </a:p>
          </p:txBody>
        </p:sp>
        <p:sp>
          <p:nvSpPr>
            <p:cNvPr id="61" name="Shape 57">
              <a:extLst>
                <a:ext uri="{FF2B5EF4-FFF2-40B4-BE49-F238E27FC236}">
                  <a16:creationId xmlns:a16="http://schemas.microsoft.com/office/drawing/2014/main" id="{AC75EB5A-BD0B-27C0-22A1-DE2A3E9A85C8}"/>
                </a:ext>
              </a:extLst>
            </p:cNvPr>
            <p:cNvSpPr/>
            <p:nvPr/>
          </p:nvSpPr>
          <p:spPr>
            <a:xfrm>
              <a:off x="4206240" y="2889504"/>
              <a:ext cx="749808" cy="502920"/>
            </a:xfrm>
            <a:prstGeom prst="rect">
              <a:avLst/>
            </a:prstGeom>
            <a:solidFill>
              <a:srgbClr val="E8EDF5"/>
            </a:solidFill>
            <a:ln w="6350">
              <a:solidFill>
                <a:srgbClr val="D0D7E3"/>
              </a:solidFill>
              <a:prstDash val="solid"/>
            </a:ln>
          </p:spPr>
          <p:txBody>
            <a:bodyPr/>
            <a:lstStyle/>
            <a:p>
              <a:endParaRPr lang="en-CH">
                <a:latin typeface="Gill Sans Nova Light" panose="020B0302020104020203" pitchFamily="34" charset="0"/>
              </a:endParaRPr>
            </a:p>
          </p:txBody>
        </p:sp>
        <p:sp>
          <p:nvSpPr>
            <p:cNvPr id="62" name="Text 58">
              <a:extLst>
                <a:ext uri="{FF2B5EF4-FFF2-40B4-BE49-F238E27FC236}">
                  <a16:creationId xmlns:a16="http://schemas.microsoft.com/office/drawing/2014/main" id="{5FCB7E74-354C-D13F-C43E-4B88A5EAB0B7}"/>
                </a:ext>
              </a:extLst>
            </p:cNvPr>
            <p:cNvSpPr/>
            <p:nvPr/>
          </p:nvSpPr>
          <p:spPr>
            <a:xfrm>
              <a:off x="4206240" y="2889504"/>
              <a:ext cx="749808" cy="502920"/>
            </a:xfrm>
            <a:prstGeom prst="rect">
              <a:avLst/>
            </a:prstGeom>
            <a:noFill/>
            <a:ln/>
          </p:spPr>
          <p:txBody>
            <a:bodyPr wrap="square" lIns="0" tIns="0" rIns="0" bIns="0" rtlCol="0" anchor="ctr"/>
            <a:lstStyle/>
            <a:p>
              <a:pPr marL="0" indent="0" algn="ctr">
                <a:buNone/>
              </a:pPr>
              <a:r>
                <a:rPr lang="en-US" sz="1300">
                  <a:solidFill>
                    <a:srgbClr val="1B3A6B"/>
                  </a:solidFill>
                  <a:latin typeface="Gill Sans Nova Light" panose="020B0302020104020203" pitchFamily="34" charset="0"/>
                  <a:ea typeface="Calibri" pitchFamily="34" charset="-122"/>
                  <a:cs typeface="Calibri" pitchFamily="34" charset="-120"/>
                </a:rPr>
                <a:t>—</a:t>
              </a:r>
              <a:endParaRPr lang="en-US" sz="1300">
                <a:latin typeface="Gill Sans Nova Light" panose="020B0302020104020203" pitchFamily="34" charset="0"/>
              </a:endParaRPr>
            </a:p>
          </p:txBody>
        </p:sp>
        <p:sp>
          <p:nvSpPr>
            <p:cNvPr id="63" name="Shape 59">
              <a:extLst>
                <a:ext uri="{FF2B5EF4-FFF2-40B4-BE49-F238E27FC236}">
                  <a16:creationId xmlns:a16="http://schemas.microsoft.com/office/drawing/2014/main" id="{7167B84F-9DE0-177F-FDB1-387F5EC3173D}"/>
                </a:ext>
              </a:extLst>
            </p:cNvPr>
            <p:cNvSpPr/>
            <p:nvPr/>
          </p:nvSpPr>
          <p:spPr>
            <a:xfrm>
              <a:off x="4956048" y="2889504"/>
              <a:ext cx="749808" cy="502920"/>
            </a:xfrm>
            <a:prstGeom prst="rect">
              <a:avLst/>
            </a:prstGeom>
            <a:solidFill>
              <a:srgbClr val="F0F2F6"/>
            </a:solidFill>
            <a:ln w="6350">
              <a:solidFill>
                <a:srgbClr val="D0D7E3"/>
              </a:solidFill>
              <a:prstDash val="solid"/>
            </a:ln>
          </p:spPr>
          <p:txBody>
            <a:bodyPr/>
            <a:lstStyle/>
            <a:p>
              <a:endParaRPr lang="en-CH">
                <a:latin typeface="Gill Sans Nova Light" panose="020B0302020104020203" pitchFamily="34" charset="0"/>
              </a:endParaRPr>
            </a:p>
          </p:txBody>
        </p:sp>
        <p:sp>
          <p:nvSpPr>
            <p:cNvPr id="64" name="Shape 60">
              <a:extLst>
                <a:ext uri="{FF2B5EF4-FFF2-40B4-BE49-F238E27FC236}">
                  <a16:creationId xmlns:a16="http://schemas.microsoft.com/office/drawing/2014/main" id="{08248682-7FB6-CE70-7F5E-9AC1B550F9AD}"/>
                </a:ext>
              </a:extLst>
            </p:cNvPr>
            <p:cNvSpPr/>
            <p:nvPr/>
          </p:nvSpPr>
          <p:spPr>
            <a:xfrm>
              <a:off x="1207008" y="339242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65" name="Text 61">
              <a:extLst>
                <a:ext uri="{FF2B5EF4-FFF2-40B4-BE49-F238E27FC236}">
                  <a16:creationId xmlns:a16="http://schemas.microsoft.com/office/drawing/2014/main" id="{EB7FBC10-E361-30B1-AB88-7013471B2315}"/>
                </a:ext>
              </a:extLst>
            </p:cNvPr>
            <p:cNvSpPr/>
            <p:nvPr/>
          </p:nvSpPr>
          <p:spPr>
            <a:xfrm>
              <a:off x="1207008" y="339242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-0.002</a:t>
              </a:r>
              <a:endParaRPr lang="en-US" sz="1100">
                <a:latin typeface="Gill Sans Nova Light" panose="020B0302020104020203" pitchFamily="34" charset="0"/>
              </a:endParaRPr>
            </a:p>
          </p:txBody>
        </p:sp>
        <p:sp>
          <p:nvSpPr>
            <p:cNvPr id="66" name="Shape 62">
              <a:extLst>
                <a:ext uri="{FF2B5EF4-FFF2-40B4-BE49-F238E27FC236}">
                  <a16:creationId xmlns:a16="http://schemas.microsoft.com/office/drawing/2014/main" id="{FD6FEBC7-3BC3-9304-126E-9BB7BEC4C0E9}"/>
                </a:ext>
              </a:extLst>
            </p:cNvPr>
            <p:cNvSpPr/>
            <p:nvPr/>
          </p:nvSpPr>
          <p:spPr>
            <a:xfrm>
              <a:off x="1956816" y="339242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67" name="Text 63">
              <a:extLst>
                <a:ext uri="{FF2B5EF4-FFF2-40B4-BE49-F238E27FC236}">
                  <a16:creationId xmlns:a16="http://schemas.microsoft.com/office/drawing/2014/main" id="{D102981E-84DD-749A-6DEB-5036D89E5D5B}"/>
                </a:ext>
              </a:extLst>
            </p:cNvPr>
            <p:cNvSpPr/>
            <p:nvPr/>
          </p:nvSpPr>
          <p:spPr>
            <a:xfrm>
              <a:off x="1956816" y="339242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-0.104</a:t>
              </a:r>
              <a:endParaRPr lang="en-US" sz="1100">
                <a:latin typeface="Gill Sans Nova Light" panose="020B0302020104020203" pitchFamily="34" charset="0"/>
              </a:endParaRPr>
            </a:p>
          </p:txBody>
        </p:sp>
        <p:sp>
          <p:nvSpPr>
            <p:cNvPr id="68" name="Shape 64">
              <a:extLst>
                <a:ext uri="{FF2B5EF4-FFF2-40B4-BE49-F238E27FC236}">
                  <a16:creationId xmlns:a16="http://schemas.microsoft.com/office/drawing/2014/main" id="{1BF3A953-3F36-8F40-6321-EFCC4F09A249}"/>
                </a:ext>
              </a:extLst>
            </p:cNvPr>
            <p:cNvSpPr/>
            <p:nvPr/>
          </p:nvSpPr>
          <p:spPr>
            <a:xfrm>
              <a:off x="2706624" y="3392424"/>
              <a:ext cx="749808" cy="502920"/>
            </a:xfrm>
            <a:prstGeom prst="rect">
              <a:avLst/>
            </a:prstGeom>
            <a:solidFill>
              <a:srgbClr val="DDF0E6"/>
            </a:solidFill>
            <a:ln w="6350">
              <a:solidFill>
                <a:srgbClr val="D0D7E3"/>
              </a:solidFill>
              <a:prstDash val="solid"/>
            </a:ln>
          </p:spPr>
          <p:txBody>
            <a:bodyPr/>
            <a:lstStyle/>
            <a:p>
              <a:endParaRPr lang="en-CH">
                <a:latin typeface="Gill Sans Nova Light" panose="020B0302020104020203" pitchFamily="34" charset="0"/>
              </a:endParaRPr>
            </a:p>
          </p:txBody>
        </p:sp>
        <p:sp>
          <p:nvSpPr>
            <p:cNvPr id="69" name="Text 65">
              <a:extLst>
                <a:ext uri="{FF2B5EF4-FFF2-40B4-BE49-F238E27FC236}">
                  <a16:creationId xmlns:a16="http://schemas.microsoft.com/office/drawing/2014/main" id="{56FE82AE-CA60-0F50-03E6-62376A3CDFFB}"/>
                </a:ext>
              </a:extLst>
            </p:cNvPr>
            <p:cNvSpPr/>
            <p:nvPr/>
          </p:nvSpPr>
          <p:spPr>
            <a:xfrm>
              <a:off x="2706624" y="3392424"/>
              <a:ext cx="749808" cy="502920"/>
            </a:xfrm>
            <a:prstGeom prst="rect">
              <a:avLst/>
            </a:prstGeom>
            <a:noFill/>
            <a:ln/>
          </p:spPr>
          <p:txBody>
            <a:bodyPr wrap="square" lIns="0" tIns="0" rIns="0" bIns="0" rtlCol="0" anchor="ctr"/>
            <a:lstStyle/>
            <a:p>
              <a:pPr marL="0" indent="0" algn="ctr">
                <a:buNone/>
              </a:pPr>
              <a:r>
                <a:rPr lang="en-US" sz="1100" b="1">
                  <a:solidFill>
                    <a:srgbClr val="2E7D52"/>
                  </a:solidFill>
                  <a:latin typeface="Gill Sans Nova Light" panose="020B0302020104020203" pitchFamily="34" charset="0"/>
                  <a:ea typeface="Calibri" pitchFamily="34" charset="-122"/>
                  <a:cs typeface="Calibri" pitchFamily="34" charset="-120"/>
                </a:rPr>
                <a:t>0.362</a:t>
              </a:r>
              <a:endParaRPr lang="en-US" sz="1100">
                <a:latin typeface="Gill Sans Nova Light" panose="020B0302020104020203" pitchFamily="34" charset="0"/>
              </a:endParaRPr>
            </a:p>
          </p:txBody>
        </p:sp>
        <p:sp>
          <p:nvSpPr>
            <p:cNvPr id="70" name="Shape 66">
              <a:extLst>
                <a:ext uri="{FF2B5EF4-FFF2-40B4-BE49-F238E27FC236}">
                  <a16:creationId xmlns:a16="http://schemas.microsoft.com/office/drawing/2014/main" id="{D9B222BD-33F0-E919-0B6F-A89DAE09F57C}"/>
                </a:ext>
              </a:extLst>
            </p:cNvPr>
            <p:cNvSpPr/>
            <p:nvPr/>
          </p:nvSpPr>
          <p:spPr>
            <a:xfrm>
              <a:off x="3456432" y="3392424"/>
              <a:ext cx="749808" cy="502920"/>
            </a:xfrm>
            <a:prstGeom prst="rect">
              <a:avLst/>
            </a:prstGeom>
            <a:solidFill>
              <a:srgbClr val="FFFFFF"/>
            </a:solidFill>
            <a:ln w="6350">
              <a:solidFill>
                <a:srgbClr val="D0D7E3"/>
              </a:solidFill>
              <a:prstDash val="solid"/>
            </a:ln>
          </p:spPr>
          <p:txBody>
            <a:bodyPr/>
            <a:lstStyle/>
            <a:p>
              <a:endParaRPr lang="en-CH">
                <a:latin typeface="Gill Sans Nova Light" panose="020B0302020104020203" pitchFamily="34" charset="0"/>
              </a:endParaRPr>
            </a:p>
          </p:txBody>
        </p:sp>
        <p:sp>
          <p:nvSpPr>
            <p:cNvPr id="71" name="Text 67">
              <a:extLst>
                <a:ext uri="{FF2B5EF4-FFF2-40B4-BE49-F238E27FC236}">
                  <a16:creationId xmlns:a16="http://schemas.microsoft.com/office/drawing/2014/main" id="{CDD6BD93-79F6-C72E-A47E-DEA3018A5035}"/>
                </a:ext>
              </a:extLst>
            </p:cNvPr>
            <p:cNvSpPr/>
            <p:nvPr/>
          </p:nvSpPr>
          <p:spPr>
            <a:xfrm>
              <a:off x="3456432" y="3392424"/>
              <a:ext cx="749808" cy="502920"/>
            </a:xfrm>
            <a:prstGeom prst="rect">
              <a:avLst/>
            </a:prstGeom>
            <a:noFill/>
            <a:ln/>
          </p:spPr>
          <p:txBody>
            <a:bodyPr wrap="square" lIns="0" tIns="0" rIns="0" bIns="0" rtlCol="0" anchor="ctr"/>
            <a:lstStyle/>
            <a:p>
              <a:pPr marL="0" indent="0" algn="ctr">
                <a:buNone/>
              </a:pPr>
              <a:r>
                <a:rPr lang="en-US" sz="1100">
                  <a:solidFill>
                    <a:srgbClr val="1A1A1A"/>
                  </a:solidFill>
                  <a:latin typeface="Gill Sans Nova Light" panose="020B0302020104020203" pitchFamily="34" charset="0"/>
                  <a:ea typeface="Calibri" pitchFamily="34" charset="-122"/>
                  <a:cs typeface="Calibri" pitchFamily="34" charset="-120"/>
                </a:rPr>
                <a:t>-0.085</a:t>
              </a:r>
              <a:endParaRPr lang="en-US" sz="1100">
                <a:latin typeface="Gill Sans Nova Light" panose="020B0302020104020203" pitchFamily="34" charset="0"/>
              </a:endParaRPr>
            </a:p>
          </p:txBody>
        </p:sp>
        <p:sp>
          <p:nvSpPr>
            <p:cNvPr id="72" name="Shape 68">
              <a:extLst>
                <a:ext uri="{FF2B5EF4-FFF2-40B4-BE49-F238E27FC236}">
                  <a16:creationId xmlns:a16="http://schemas.microsoft.com/office/drawing/2014/main" id="{5C199439-B0D1-0CFE-25BB-E88C9246324F}"/>
                </a:ext>
              </a:extLst>
            </p:cNvPr>
            <p:cNvSpPr/>
            <p:nvPr/>
          </p:nvSpPr>
          <p:spPr>
            <a:xfrm>
              <a:off x="4206240" y="3392424"/>
              <a:ext cx="749808" cy="502920"/>
            </a:xfrm>
            <a:prstGeom prst="rect">
              <a:avLst/>
            </a:prstGeom>
            <a:solidFill>
              <a:srgbClr val="FDECEA"/>
            </a:solidFill>
            <a:ln w="6350">
              <a:solidFill>
                <a:srgbClr val="D0D7E3"/>
              </a:solidFill>
              <a:prstDash val="solid"/>
            </a:ln>
          </p:spPr>
          <p:txBody>
            <a:bodyPr/>
            <a:lstStyle/>
            <a:p>
              <a:endParaRPr lang="en-CH">
                <a:latin typeface="Gill Sans Nova Light" panose="020B0302020104020203" pitchFamily="34" charset="0"/>
              </a:endParaRPr>
            </a:p>
          </p:txBody>
        </p:sp>
        <p:sp>
          <p:nvSpPr>
            <p:cNvPr id="73" name="Text 69">
              <a:extLst>
                <a:ext uri="{FF2B5EF4-FFF2-40B4-BE49-F238E27FC236}">
                  <a16:creationId xmlns:a16="http://schemas.microsoft.com/office/drawing/2014/main" id="{AE4DF4C5-8E1C-883A-9027-C673C5C16D60}"/>
                </a:ext>
              </a:extLst>
            </p:cNvPr>
            <p:cNvSpPr/>
            <p:nvPr/>
          </p:nvSpPr>
          <p:spPr>
            <a:xfrm>
              <a:off x="4206240" y="3392424"/>
              <a:ext cx="749808" cy="502920"/>
            </a:xfrm>
            <a:prstGeom prst="rect">
              <a:avLst/>
            </a:prstGeom>
            <a:noFill/>
            <a:ln/>
          </p:spPr>
          <p:txBody>
            <a:bodyPr wrap="square" lIns="0" tIns="0" rIns="0" bIns="0" rtlCol="0" anchor="ctr"/>
            <a:lstStyle/>
            <a:p>
              <a:pPr marL="0" indent="0" algn="ctr">
                <a:buNone/>
              </a:pPr>
              <a:r>
                <a:rPr lang="en-US" sz="1100" b="1">
                  <a:solidFill>
                    <a:srgbClr val="C0392B"/>
                  </a:solidFill>
                  <a:latin typeface="Gill Sans Nova Light" panose="020B0302020104020203" pitchFamily="34" charset="0"/>
                  <a:ea typeface="Calibri" pitchFamily="34" charset="-122"/>
                  <a:cs typeface="Calibri" pitchFamily="34" charset="-120"/>
                </a:rPr>
                <a:t>-0.745</a:t>
              </a:r>
              <a:endParaRPr lang="en-US" sz="1100">
                <a:latin typeface="Gill Sans Nova Light" panose="020B0302020104020203" pitchFamily="34" charset="0"/>
              </a:endParaRPr>
            </a:p>
          </p:txBody>
        </p:sp>
        <p:sp>
          <p:nvSpPr>
            <p:cNvPr id="74" name="Shape 70">
              <a:extLst>
                <a:ext uri="{FF2B5EF4-FFF2-40B4-BE49-F238E27FC236}">
                  <a16:creationId xmlns:a16="http://schemas.microsoft.com/office/drawing/2014/main" id="{2DB41BBA-16C9-A83A-0374-6C6388922C21}"/>
                </a:ext>
              </a:extLst>
            </p:cNvPr>
            <p:cNvSpPr/>
            <p:nvPr/>
          </p:nvSpPr>
          <p:spPr>
            <a:xfrm>
              <a:off x="4956048" y="3392424"/>
              <a:ext cx="749808" cy="502920"/>
            </a:xfrm>
            <a:prstGeom prst="rect">
              <a:avLst/>
            </a:prstGeom>
            <a:solidFill>
              <a:srgbClr val="E8EDF5"/>
            </a:solidFill>
            <a:ln w="6350">
              <a:solidFill>
                <a:srgbClr val="D0D7E3"/>
              </a:solidFill>
              <a:prstDash val="solid"/>
            </a:ln>
          </p:spPr>
          <p:txBody>
            <a:bodyPr/>
            <a:lstStyle/>
            <a:p>
              <a:endParaRPr lang="en-CH">
                <a:latin typeface="Gill Sans Nova Light" panose="020B0302020104020203" pitchFamily="34" charset="0"/>
              </a:endParaRPr>
            </a:p>
          </p:txBody>
        </p:sp>
        <p:sp>
          <p:nvSpPr>
            <p:cNvPr id="75" name="Text 71">
              <a:extLst>
                <a:ext uri="{FF2B5EF4-FFF2-40B4-BE49-F238E27FC236}">
                  <a16:creationId xmlns:a16="http://schemas.microsoft.com/office/drawing/2014/main" id="{A0DAF7B0-355F-C574-AD86-85BB95BFC410}"/>
                </a:ext>
              </a:extLst>
            </p:cNvPr>
            <p:cNvSpPr/>
            <p:nvPr/>
          </p:nvSpPr>
          <p:spPr>
            <a:xfrm>
              <a:off x="4956048" y="3392424"/>
              <a:ext cx="749808" cy="502920"/>
            </a:xfrm>
            <a:prstGeom prst="rect">
              <a:avLst/>
            </a:prstGeom>
            <a:noFill/>
            <a:ln/>
          </p:spPr>
          <p:txBody>
            <a:bodyPr wrap="square" lIns="0" tIns="0" rIns="0" bIns="0" rtlCol="0" anchor="ctr"/>
            <a:lstStyle/>
            <a:p>
              <a:pPr marL="0" indent="0" algn="ctr">
                <a:buNone/>
              </a:pPr>
              <a:r>
                <a:rPr lang="en-US" sz="1300">
                  <a:solidFill>
                    <a:srgbClr val="1B3A6B"/>
                  </a:solidFill>
                  <a:latin typeface="Gill Sans Nova Light" panose="020B0302020104020203" pitchFamily="34" charset="0"/>
                  <a:ea typeface="Calibri" pitchFamily="34" charset="-122"/>
                  <a:cs typeface="Calibri" pitchFamily="34" charset="-120"/>
                </a:rPr>
                <a:t>—</a:t>
              </a:r>
              <a:endParaRPr lang="en-US" sz="1300">
                <a:latin typeface="Gill Sans Nova Light" panose="020B0302020104020203" pitchFamily="34" charset="0"/>
              </a:endParaRPr>
            </a:p>
          </p:txBody>
        </p:sp>
        <p:sp>
          <p:nvSpPr>
            <p:cNvPr id="76" name="Text 72">
              <a:extLst>
                <a:ext uri="{FF2B5EF4-FFF2-40B4-BE49-F238E27FC236}">
                  <a16:creationId xmlns:a16="http://schemas.microsoft.com/office/drawing/2014/main" id="{FC774E7B-FD13-EDFD-8B21-2C8D0F41BB29}"/>
                </a:ext>
              </a:extLst>
            </p:cNvPr>
            <p:cNvSpPr/>
            <p:nvPr/>
          </p:nvSpPr>
          <p:spPr>
            <a:xfrm>
              <a:off x="5870448" y="841248"/>
              <a:ext cx="2340864" cy="237744"/>
            </a:xfrm>
            <a:prstGeom prst="rect">
              <a:avLst/>
            </a:prstGeom>
            <a:noFill/>
            <a:ln/>
          </p:spPr>
          <p:txBody>
            <a:bodyPr wrap="square" lIns="0" tIns="0" rIns="0" bIns="0" rtlCol="0" anchor="ctr"/>
            <a:lstStyle/>
            <a:p>
              <a:pPr marL="0" indent="0">
                <a:buNone/>
              </a:pPr>
              <a:r>
                <a:rPr lang="en-US" sz="1100" b="1">
                  <a:solidFill>
                    <a:srgbClr val="1B3A6B"/>
                  </a:solidFill>
                  <a:latin typeface="Gill Sans Nova Light" panose="020B0302020104020203" pitchFamily="34" charset="0"/>
                  <a:ea typeface="Calibri" pitchFamily="34" charset="-122"/>
                  <a:cs typeface="Calibri" pitchFamily="34" charset="-120"/>
                </a:rPr>
                <a:t>Key Findings</a:t>
              </a:r>
              <a:endParaRPr lang="en-US" sz="1100">
                <a:latin typeface="Gill Sans Nova Light" panose="020B0302020104020203" pitchFamily="34" charset="0"/>
              </a:endParaRPr>
            </a:p>
          </p:txBody>
        </p:sp>
        <p:sp>
          <p:nvSpPr>
            <p:cNvPr id="77" name="Shape 73">
              <a:extLst>
                <a:ext uri="{FF2B5EF4-FFF2-40B4-BE49-F238E27FC236}">
                  <a16:creationId xmlns:a16="http://schemas.microsoft.com/office/drawing/2014/main" id="{086D41FC-9976-D44E-5B1C-B39327E00B06}"/>
                </a:ext>
              </a:extLst>
            </p:cNvPr>
            <p:cNvSpPr/>
            <p:nvPr/>
          </p:nvSpPr>
          <p:spPr>
            <a:xfrm>
              <a:off x="5870448" y="1133856"/>
              <a:ext cx="2340864" cy="585216"/>
            </a:xfrm>
            <a:prstGeom prst="rect">
              <a:avLst/>
            </a:prstGeom>
            <a:solidFill>
              <a:srgbClr val="FDECEA"/>
            </a:solidFill>
            <a:ln w="12700">
              <a:solidFill>
                <a:srgbClr val="C0392B"/>
              </a:solidFill>
              <a:prstDash val="solid"/>
            </a:ln>
          </p:spPr>
          <p:txBody>
            <a:bodyPr/>
            <a:lstStyle/>
            <a:p>
              <a:endParaRPr lang="en-CH">
                <a:latin typeface="Gill Sans Nova Light" panose="020B0302020104020203" pitchFamily="34" charset="0"/>
              </a:endParaRPr>
            </a:p>
          </p:txBody>
        </p:sp>
        <p:sp>
          <p:nvSpPr>
            <p:cNvPr id="78" name="Shape 74">
              <a:extLst>
                <a:ext uri="{FF2B5EF4-FFF2-40B4-BE49-F238E27FC236}">
                  <a16:creationId xmlns:a16="http://schemas.microsoft.com/office/drawing/2014/main" id="{2E51D9E6-3398-AB63-A793-4B29E1513080}"/>
                </a:ext>
              </a:extLst>
            </p:cNvPr>
            <p:cNvSpPr/>
            <p:nvPr/>
          </p:nvSpPr>
          <p:spPr>
            <a:xfrm>
              <a:off x="5870448" y="1133856"/>
              <a:ext cx="45720" cy="585216"/>
            </a:xfrm>
            <a:prstGeom prst="rect">
              <a:avLst/>
            </a:prstGeom>
            <a:solidFill>
              <a:srgbClr val="C0392B"/>
            </a:solidFill>
            <a:ln w="12700">
              <a:solidFill>
                <a:srgbClr val="C0392B"/>
              </a:solidFill>
              <a:prstDash val="solid"/>
            </a:ln>
          </p:spPr>
          <p:txBody>
            <a:bodyPr/>
            <a:lstStyle/>
            <a:p>
              <a:endParaRPr lang="en-CH">
                <a:latin typeface="Gill Sans Nova Light" panose="020B0302020104020203" pitchFamily="34" charset="0"/>
              </a:endParaRPr>
            </a:p>
          </p:txBody>
        </p:sp>
        <p:sp>
          <p:nvSpPr>
            <p:cNvPr id="79" name="Text 75">
              <a:extLst>
                <a:ext uri="{FF2B5EF4-FFF2-40B4-BE49-F238E27FC236}">
                  <a16:creationId xmlns:a16="http://schemas.microsoft.com/office/drawing/2014/main" id="{789FF8B6-AC3A-0158-55CA-04DD30F91B58}"/>
                </a:ext>
              </a:extLst>
            </p:cNvPr>
            <p:cNvSpPr/>
            <p:nvPr/>
          </p:nvSpPr>
          <p:spPr>
            <a:xfrm>
              <a:off x="5961888" y="1134311"/>
              <a:ext cx="2212848" cy="201168"/>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Bismarck. × FinStr.  − 0.680</a:t>
              </a:r>
              <a:endParaRPr lang="en-US" sz="950">
                <a:latin typeface="Gill Sans Nova Light" panose="020B0302020104020203" pitchFamily="34" charset="0"/>
              </a:endParaRPr>
            </a:p>
          </p:txBody>
        </p:sp>
        <p:sp>
          <p:nvSpPr>
            <p:cNvPr id="80" name="Text 76">
              <a:extLst>
                <a:ext uri="{FF2B5EF4-FFF2-40B4-BE49-F238E27FC236}">
                  <a16:creationId xmlns:a16="http://schemas.microsoft.com/office/drawing/2014/main" id="{09756F5E-52C1-D823-C946-512702129CF0}"/>
                </a:ext>
              </a:extLst>
            </p:cNvPr>
            <p:cNvSpPr/>
            <p:nvPr/>
          </p:nvSpPr>
          <p:spPr>
            <a:xfrm>
              <a:off x="5961888" y="1344623"/>
              <a:ext cx="2212848"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High collinearity — both capture the same Continental European institutional reality. Interpret in isolation with caution.</a:t>
              </a:r>
              <a:endParaRPr lang="en-US" sz="850">
                <a:latin typeface="Gill Sans Nova Light" panose="020B0302020104020203" pitchFamily="34" charset="0"/>
              </a:endParaRPr>
            </a:p>
          </p:txBody>
        </p:sp>
        <p:sp>
          <p:nvSpPr>
            <p:cNvPr id="81" name="Shape 77">
              <a:extLst>
                <a:ext uri="{FF2B5EF4-FFF2-40B4-BE49-F238E27FC236}">
                  <a16:creationId xmlns:a16="http://schemas.microsoft.com/office/drawing/2014/main" id="{900FFD6D-DB57-DBF2-506D-D94C8F23675B}"/>
                </a:ext>
              </a:extLst>
            </p:cNvPr>
            <p:cNvSpPr/>
            <p:nvPr/>
          </p:nvSpPr>
          <p:spPr>
            <a:xfrm>
              <a:off x="5870448" y="1792224"/>
              <a:ext cx="2340864" cy="585216"/>
            </a:xfrm>
            <a:prstGeom prst="rect">
              <a:avLst/>
            </a:prstGeom>
            <a:solidFill>
              <a:srgbClr val="FFFBEB"/>
            </a:solidFill>
            <a:ln w="12700">
              <a:solidFill>
                <a:srgbClr val="D97706"/>
              </a:solidFill>
              <a:prstDash val="solid"/>
            </a:ln>
          </p:spPr>
          <p:txBody>
            <a:bodyPr/>
            <a:lstStyle/>
            <a:p>
              <a:endParaRPr lang="en-CH">
                <a:latin typeface="Gill Sans Nova Light" panose="020B0302020104020203" pitchFamily="34" charset="0"/>
              </a:endParaRPr>
            </a:p>
          </p:txBody>
        </p:sp>
        <p:sp>
          <p:nvSpPr>
            <p:cNvPr id="82" name="Shape 78">
              <a:extLst>
                <a:ext uri="{FF2B5EF4-FFF2-40B4-BE49-F238E27FC236}">
                  <a16:creationId xmlns:a16="http://schemas.microsoft.com/office/drawing/2014/main" id="{AD1CCC2D-2ABA-9F5B-50A5-6A96BB95CD91}"/>
                </a:ext>
              </a:extLst>
            </p:cNvPr>
            <p:cNvSpPr/>
            <p:nvPr/>
          </p:nvSpPr>
          <p:spPr>
            <a:xfrm>
              <a:off x="5870448" y="1792224"/>
              <a:ext cx="45720" cy="585216"/>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83" name="Text 79">
              <a:extLst>
                <a:ext uri="{FF2B5EF4-FFF2-40B4-BE49-F238E27FC236}">
                  <a16:creationId xmlns:a16="http://schemas.microsoft.com/office/drawing/2014/main" id="{B990E134-CC00-EAD6-DDC6-0075DAB10D2C}"/>
                </a:ext>
              </a:extLst>
            </p:cNvPr>
            <p:cNvSpPr/>
            <p:nvPr/>
          </p:nvSpPr>
          <p:spPr>
            <a:xfrm>
              <a:off x="5961888" y="1792679"/>
              <a:ext cx="2212848" cy="201168"/>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ARR × FinStr.  − 0.421</a:t>
              </a:r>
              <a:endParaRPr lang="en-US" sz="950">
                <a:latin typeface="Gill Sans Nova Light" panose="020B0302020104020203" pitchFamily="34" charset="0"/>
              </a:endParaRPr>
            </a:p>
          </p:txBody>
        </p:sp>
        <p:sp>
          <p:nvSpPr>
            <p:cNvPr id="84" name="Text 80">
              <a:extLst>
                <a:ext uri="{FF2B5EF4-FFF2-40B4-BE49-F238E27FC236}">
                  <a16:creationId xmlns:a16="http://schemas.microsoft.com/office/drawing/2014/main" id="{5560F509-8B23-9796-E7F7-863B1124A983}"/>
                </a:ext>
              </a:extLst>
            </p:cNvPr>
            <p:cNvSpPr/>
            <p:nvPr/>
          </p:nvSpPr>
          <p:spPr>
            <a:xfrm>
              <a:off x="5961888" y="2002991"/>
              <a:ext cx="2212848"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Moderate collinearity — bank-based countries have more generous pensions (Scharfstein 2018). Run VIF after Model 3.</a:t>
              </a:r>
              <a:endParaRPr lang="en-US" sz="850">
                <a:latin typeface="Gill Sans Nova Light" panose="020B0302020104020203" pitchFamily="34" charset="0"/>
              </a:endParaRPr>
            </a:p>
          </p:txBody>
        </p:sp>
        <p:sp>
          <p:nvSpPr>
            <p:cNvPr id="85" name="Shape 81">
              <a:extLst>
                <a:ext uri="{FF2B5EF4-FFF2-40B4-BE49-F238E27FC236}">
                  <a16:creationId xmlns:a16="http://schemas.microsoft.com/office/drawing/2014/main" id="{18033783-B205-51AF-7D51-09CAA5B72DF3}"/>
                </a:ext>
              </a:extLst>
            </p:cNvPr>
            <p:cNvSpPr/>
            <p:nvPr/>
          </p:nvSpPr>
          <p:spPr>
            <a:xfrm>
              <a:off x="5870448" y="2450592"/>
              <a:ext cx="2340864" cy="585216"/>
            </a:xfrm>
            <a:prstGeom prst="rect">
              <a:avLst/>
            </a:prstGeom>
            <a:solidFill>
              <a:srgbClr val="F4F6F9"/>
            </a:solidFill>
            <a:ln w="12700">
              <a:solidFill>
                <a:srgbClr val="D0D7E3"/>
              </a:solidFill>
              <a:prstDash val="solid"/>
            </a:ln>
          </p:spPr>
          <p:txBody>
            <a:bodyPr/>
            <a:lstStyle/>
            <a:p>
              <a:endParaRPr lang="en-CH">
                <a:latin typeface="Gill Sans Nova Light" panose="020B0302020104020203" pitchFamily="34" charset="0"/>
              </a:endParaRPr>
            </a:p>
          </p:txBody>
        </p:sp>
        <p:sp>
          <p:nvSpPr>
            <p:cNvPr id="86" name="Shape 82">
              <a:extLst>
                <a:ext uri="{FF2B5EF4-FFF2-40B4-BE49-F238E27FC236}">
                  <a16:creationId xmlns:a16="http://schemas.microsoft.com/office/drawing/2014/main" id="{34F34F46-554D-2AD4-906E-3E491FA01F79}"/>
                </a:ext>
              </a:extLst>
            </p:cNvPr>
            <p:cNvSpPr/>
            <p:nvPr/>
          </p:nvSpPr>
          <p:spPr>
            <a:xfrm>
              <a:off x="5870448" y="2450592"/>
              <a:ext cx="45720" cy="585216"/>
            </a:xfrm>
            <a:prstGeom prst="rect">
              <a:avLst/>
            </a:prstGeom>
            <a:solidFill>
              <a:srgbClr val="D0D7E3"/>
            </a:solidFill>
            <a:ln w="12700">
              <a:solidFill>
                <a:srgbClr val="D0D7E3"/>
              </a:solidFill>
              <a:prstDash val="solid"/>
            </a:ln>
          </p:spPr>
          <p:txBody>
            <a:bodyPr/>
            <a:lstStyle/>
            <a:p>
              <a:endParaRPr lang="en-CH">
                <a:latin typeface="Gill Sans Nova Light" panose="020B0302020104020203" pitchFamily="34" charset="0"/>
              </a:endParaRPr>
            </a:p>
          </p:txBody>
        </p:sp>
        <p:sp>
          <p:nvSpPr>
            <p:cNvPr id="87" name="Text 83">
              <a:extLst>
                <a:ext uri="{FF2B5EF4-FFF2-40B4-BE49-F238E27FC236}">
                  <a16:creationId xmlns:a16="http://schemas.microsoft.com/office/drawing/2014/main" id="{2FE795ED-0941-6FA1-EA9E-0791B1A48CBE}"/>
                </a:ext>
              </a:extLst>
            </p:cNvPr>
            <p:cNvSpPr/>
            <p:nvPr/>
          </p:nvSpPr>
          <p:spPr>
            <a:xfrm>
              <a:off x="5961888" y="2451047"/>
              <a:ext cx="2212848" cy="201168"/>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Beveridg. × Bismarck.  − 0.745</a:t>
              </a:r>
              <a:endParaRPr lang="en-US" sz="950">
                <a:latin typeface="Gill Sans Nova Light" panose="020B0302020104020203" pitchFamily="34" charset="0"/>
              </a:endParaRPr>
            </a:p>
          </p:txBody>
        </p:sp>
        <p:sp>
          <p:nvSpPr>
            <p:cNvPr id="88" name="Text 84">
              <a:extLst>
                <a:ext uri="{FF2B5EF4-FFF2-40B4-BE49-F238E27FC236}">
                  <a16:creationId xmlns:a16="http://schemas.microsoft.com/office/drawing/2014/main" id="{D444A8C1-8834-6492-59A5-08E1AFD3A24C}"/>
                </a:ext>
              </a:extLst>
            </p:cNvPr>
            <p:cNvSpPr/>
            <p:nvPr/>
          </p:nvSpPr>
          <p:spPr>
            <a:xfrm>
              <a:off x="5961888" y="2661359"/>
              <a:ext cx="2212848"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Mechanical by construction (mutually exclusive dummies). Not a concern.</a:t>
              </a:r>
              <a:endParaRPr lang="en-US" sz="850">
                <a:latin typeface="Gill Sans Nova Light" panose="020B0302020104020203" pitchFamily="34" charset="0"/>
              </a:endParaRPr>
            </a:p>
          </p:txBody>
        </p:sp>
        <p:sp>
          <p:nvSpPr>
            <p:cNvPr id="89" name="Shape 85">
              <a:extLst>
                <a:ext uri="{FF2B5EF4-FFF2-40B4-BE49-F238E27FC236}">
                  <a16:creationId xmlns:a16="http://schemas.microsoft.com/office/drawing/2014/main" id="{4DCE0729-054E-C478-4CB7-4297403AD068}"/>
                </a:ext>
              </a:extLst>
            </p:cNvPr>
            <p:cNvSpPr/>
            <p:nvPr/>
          </p:nvSpPr>
          <p:spPr>
            <a:xfrm>
              <a:off x="5870448" y="3108960"/>
              <a:ext cx="2340864" cy="585216"/>
            </a:xfrm>
            <a:prstGeom prst="rect">
              <a:avLst/>
            </a:prstGeom>
            <a:solidFill>
              <a:srgbClr val="D4EDE1"/>
            </a:solidFill>
            <a:ln w="12700">
              <a:solidFill>
                <a:srgbClr val="1B7A4A"/>
              </a:solidFill>
              <a:prstDash val="solid"/>
            </a:ln>
          </p:spPr>
          <p:txBody>
            <a:bodyPr/>
            <a:lstStyle/>
            <a:p>
              <a:endParaRPr lang="en-CH">
                <a:latin typeface="Gill Sans Nova Light" panose="020B0302020104020203" pitchFamily="34" charset="0"/>
              </a:endParaRPr>
            </a:p>
          </p:txBody>
        </p:sp>
        <p:sp>
          <p:nvSpPr>
            <p:cNvPr id="90" name="Shape 86">
              <a:extLst>
                <a:ext uri="{FF2B5EF4-FFF2-40B4-BE49-F238E27FC236}">
                  <a16:creationId xmlns:a16="http://schemas.microsoft.com/office/drawing/2014/main" id="{C59FF233-A7E3-6846-D21D-992D337DFC9E}"/>
                </a:ext>
              </a:extLst>
            </p:cNvPr>
            <p:cNvSpPr/>
            <p:nvPr/>
          </p:nvSpPr>
          <p:spPr>
            <a:xfrm>
              <a:off x="5870448" y="3108960"/>
              <a:ext cx="45720" cy="585216"/>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91" name="Text 87">
              <a:extLst>
                <a:ext uri="{FF2B5EF4-FFF2-40B4-BE49-F238E27FC236}">
                  <a16:creationId xmlns:a16="http://schemas.microsoft.com/office/drawing/2014/main" id="{E9BCF5FB-D8E6-C701-5611-9D17F9724EBE}"/>
                </a:ext>
              </a:extLst>
            </p:cNvPr>
            <p:cNvSpPr/>
            <p:nvPr/>
          </p:nvSpPr>
          <p:spPr>
            <a:xfrm>
              <a:off x="5961888" y="3109415"/>
              <a:ext cx="2212848" cy="201168"/>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Age65 × FinStr.  +0.022</a:t>
              </a:r>
              <a:endParaRPr lang="en-US" sz="950">
                <a:latin typeface="Gill Sans Nova Light" panose="020B0302020104020203" pitchFamily="34" charset="0"/>
              </a:endParaRPr>
            </a:p>
          </p:txBody>
        </p:sp>
        <p:sp>
          <p:nvSpPr>
            <p:cNvPr id="92" name="Text 88">
              <a:extLst>
                <a:ext uri="{FF2B5EF4-FFF2-40B4-BE49-F238E27FC236}">
                  <a16:creationId xmlns:a16="http://schemas.microsoft.com/office/drawing/2014/main" id="{416C4786-46EF-C7A6-7B97-AB1A10AE96C1}"/>
                </a:ext>
              </a:extLst>
            </p:cNvPr>
            <p:cNvSpPr/>
            <p:nvPr/>
          </p:nvSpPr>
          <p:spPr>
            <a:xfrm>
              <a:off x="5961888" y="3319727"/>
              <a:ext cx="2212848"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Near zero — older countries are not systematically more bank-based. Interaction term β₃ is cleanly identified.</a:t>
              </a:r>
              <a:endParaRPr lang="en-US" sz="850">
                <a:latin typeface="Gill Sans Nova Light" panose="020B0302020104020203" pitchFamily="34" charset="0"/>
              </a:endParaRPr>
            </a:p>
          </p:txBody>
        </p:sp>
        <p:sp>
          <p:nvSpPr>
            <p:cNvPr id="93" name="Shape 89">
              <a:extLst>
                <a:ext uri="{FF2B5EF4-FFF2-40B4-BE49-F238E27FC236}">
                  <a16:creationId xmlns:a16="http://schemas.microsoft.com/office/drawing/2014/main" id="{C402740D-AD09-6B5C-DF5F-B639569B43C5}"/>
                </a:ext>
              </a:extLst>
            </p:cNvPr>
            <p:cNvSpPr/>
            <p:nvPr/>
          </p:nvSpPr>
          <p:spPr>
            <a:xfrm>
              <a:off x="5870448" y="3767328"/>
              <a:ext cx="2340864" cy="585216"/>
            </a:xfrm>
            <a:prstGeom prst="rect">
              <a:avLst/>
            </a:prstGeom>
            <a:solidFill>
              <a:srgbClr val="D4EDE1"/>
            </a:solidFill>
            <a:ln w="12700">
              <a:solidFill>
                <a:srgbClr val="1B7A4A"/>
              </a:solidFill>
              <a:prstDash val="solid"/>
            </a:ln>
          </p:spPr>
          <p:txBody>
            <a:bodyPr/>
            <a:lstStyle/>
            <a:p>
              <a:endParaRPr lang="en-CH">
                <a:latin typeface="Gill Sans Nova Light" panose="020B0302020104020203" pitchFamily="34" charset="0"/>
              </a:endParaRPr>
            </a:p>
          </p:txBody>
        </p:sp>
        <p:sp>
          <p:nvSpPr>
            <p:cNvPr id="94" name="Shape 90">
              <a:extLst>
                <a:ext uri="{FF2B5EF4-FFF2-40B4-BE49-F238E27FC236}">
                  <a16:creationId xmlns:a16="http://schemas.microsoft.com/office/drawing/2014/main" id="{7C6ED94A-FFF6-BA33-23DE-04EE01A31A60}"/>
                </a:ext>
              </a:extLst>
            </p:cNvPr>
            <p:cNvSpPr/>
            <p:nvPr/>
          </p:nvSpPr>
          <p:spPr>
            <a:xfrm>
              <a:off x="5870448" y="3767328"/>
              <a:ext cx="45720" cy="585216"/>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95" name="Text 91">
              <a:extLst>
                <a:ext uri="{FF2B5EF4-FFF2-40B4-BE49-F238E27FC236}">
                  <a16:creationId xmlns:a16="http://schemas.microsoft.com/office/drawing/2014/main" id="{47D522A7-36AB-EE42-4090-9D1F7D40E703}"/>
                </a:ext>
              </a:extLst>
            </p:cNvPr>
            <p:cNvSpPr/>
            <p:nvPr/>
          </p:nvSpPr>
          <p:spPr>
            <a:xfrm>
              <a:off x="5961888" y="3767783"/>
              <a:ext cx="2212848" cy="201168"/>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ARR × Age65  +0.037</a:t>
              </a:r>
              <a:endParaRPr lang="en-US" sz="950">
                <a:latin typeface="Gill Sans Nova Light" panose="020B0302020104020203" pitchFamily="34" charset="0"/>
              </a:endParaRPr>
            </a:p>
          </p:txBody>
        </p:sp>
        <p:sp>
          <p:nvSpPr>
            <p:cNvPr id="96" name="Text 92">
              <a:extLst>
                <a:ext uri="{FF2B5EF4-FFF2-40B4-BE49-F238E27FC236}">
                  <a16:creationId xmlns:a16="http://schemas.microsoft.com/office/drawing/2014/main" id="{B1E4CC8D-882F-01A7-591E-A9615A725400}"/>
                </a:ext>
              </a:extLst>
            </p:cNvPr>
            <p:cNvSpPr/>
            <p:nvPr/>
          </p:nvSpPr>
          <p:spPr>
            <a:xfrm>
              <a:off x="5961888" y="3978095"/>
              <a:ext cx="2212848" cy="292608"/>
            </a:xfrm>
            <a:prstGeom prst="rect">
              <a:avLst/>
            </a:prstGeom>
            <a:noFill/>
            <a:ln/>
          </p:spPr>
          <p:txBody>
            <a:bodyPr wrap="square" lIns="0" tIns="0" rIns="0" bIns="0" rtlCol="0" anchor="ctr"/>
            <a:lstStyle/>
            <a:p>
              <a:pPr marL="0" indent="0">
                <a:buNone/>
              </a:pPr>
              <a:r>
                <a:rPr lang="en-US" sz="850" i="1">
                  <a:solidFill>
                    <a:srgbClr val="6B7280"/>
                  </a:solidFill>
                  <a:latin typeface="Gill Sans Nova Light" panose="020B0302020104020203" pitchFamily="34" charset="0"/>
                  <a:ea typeface="Calibri" pitchFamily="34" charset="-122"/>
                  <a:cs typeface="Calibri" pitchFamily="34" charset="-120"/>
                </a:rPr>
                <a:t>Near zero — older countries do not have more generous pensions in this sample. Clean.</a:t>
              </a:r>
              <a:endParaRPr lang="en-US" sz="850">
                <a:latin typeface="Gill Sans Nova Light" panose="020B0302020104020203" pitchFamily="34" charset="0"/>
              </a:endParaRPr>
            </a:p>
          </p:txBody>
        </p:sp>
        <p:sp>
          <p:nvSpPr>
            <p:cNvPr id="97" name="Shape 93">
              <a:extLst>
                <a:ext uri="{FF2B5EF4-FFF2-40B4-BE49-F238E27FC236}">
                  <a16:creationId xmlns:a16="http://schemas.microsoft.com/office/drawing/2014/main" id="{F21EFD51-EE45-2D35-1548-8D1D86E59F6B}"/>
                </a:ext>
              </a:extLst>
            </p:cNvPr>
            <p:cNvSpPr/>
            <p:nvPr/>
          </p:nvSpPr>
          <p:spPr>
            <a:xfrm>
              <a:off x="457200" y="3986784"/>
              <a:ext cx="5248656" cy="376992"/>
            </a:xfrm>
            <a:prstGeom prst="rect">
              <a:avLst/>
            </a:prstGeom>
            <a:solidFill>
              <a:srgbClr val="D4EDE1"/>
            </a:solidFill>
            <a:ln w="12700">
              <a:solidFill>
                <a:srgbClr val="1B7A4A"/>
              </a:solidFill>
              <a:prstDash val="solid"/>
            </a:ln>
          </p:spPr>
          <p:txBody>
            <a:bodyPr/>
            <a:lstStyle/>
            <a:p>
              <a:endParaRPr lang="en-CH">
                <a:latin typeface="Gill Sans Nova Light" panose="020B0302020104020203" pitchFamily="34" charset="0"/>
              </a:endParaRPr>
            </a:p>
          </p:txBody>
        </p:sp>
        <p:sp>
          <p:nvSpPr>
            <p:cNvPr id="98" name="Shape 94">
              <a:extLst>
                <a:ext uri="{FF2B5EF4-FFF2-40B4-BE49-F238E27FC236}">
                  <a16:creationId xmlns:a16="http://schemas.microsoft.com/office/drawing/2014/main" id="{412D0582-185E-0245-C5CA-D77751BAC565}"/>
                </a:ext>
              </a:extLst>
            </p:cNvPr>
            <p:cNvSpPr/>
            <p:nvPr/>
          </p:nvSpPr>
          <p:spPr>
            <a:xfrm>
              <a:off x="457200" y="3986784"/>
              <a:ext cx="45720" cy="376992"/>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99" name="Text 95">
              <a:extLst>
                <a:ext uri="{FF2B5EF4-FFF2-40B4-BE49-F238E27FC236}">
                  <a16:creationId xmlns:a16="http://schemas.microsoft.com/office/drawing/2014/main" id="{3339F31E-7698-7106-38FF-76A59BC796A7}"/>
                </a:ext>
              </a:extLst>
            </p:cNvPr>
            <p:cNvSpPr/>
            <p:nvPr/>
          </p:nvSpPr>
          <p:spPr>
            <a:xfrm>
              <a:off x="566928" y="4059481"/>
              <a:ext cx="5065776" cy="201168"/>
            </a:xfrm>
            <a:prstGeom prst="rect">
              <a:avLst/>
            </a:prstGeom>
            <a:noFill/>
            <a:ln/>
          </p:spPr>
          <p:txBody>
            <a:bodyPr wrap="square" lIns="0" tIns="0" rIns="0" bIns="0" rtlCol="0" anchor="ctr"/>
            <a:lstStyle/>
            <a:p>
              <a:pPr marL="0" indent="0">
                <a:buNone/>
              </a:pPr>
              <a:r>
                <a:rPr lang="en-US" sz="900" b="1">
                  <a:solidFill>
                    <a:srgbClr val="1B7A4A"/>
                  </a:solidFill>
                  <a:latin typeface="Gill Sans Nova Light" panose="020B0302020104020203" pitchFamily="34" charset="0"/>
                  <a:ea typeface="Calibri" pitchFamily="34" charset="-122"/>
                  <a:cs typeface="Calibri" pitchFamily="34" charset="-120"/>
                </a:rPr>
                <a:t>Takeaway  </a:t>
              </a:r>
              <a:r>
                <a:rPr lang="en-US" sz="900">
                  <a:solidFill>
                    <a:srgbClr val="1A1A1A"/>
                  </a:solidFill>
                  <a:latin typeface="Gill Sans Nova Light" panose="020B0302020104020203" pitchFamily="34" charset="0"/>
                  <a:ea typeface="Calibri" pitchFamily="34" charset="-122"/>
                  <a:cs typeface="Calibri" pitchFamily="34" charset="-120"/>
                </a:rPr>
                <a:t>Age65×FinStructure ≈ 0 — interaction term well-identified. Flag ARR–FinStructure (−0.421) and Bismarckian–FinStructure (−0.680) collinearity. Report VIF after Model 3.</a:t>
              </a:r>
              <a:endParaRPr lang="en-US" sz="900">
                <a:latin typeface="Gill Sans Nova Light" panose="020B0302020104020203" pitchFamily="34" charset="0"/>
              </a:endParaRPr>
            </a:p>
          </p:txBody>
        </p:sp>
      </p:grpSp>
      <p:sp>
        <p:nvSpPr>
          <p:cNvPr id="101" name="Rectangle 100">
            <a:extLst>
              <a:ext uri="{FF2B5EF4-FFF2-40B4-BE49-F238E27FC236}">
                <a16:creationId xmlns:a16="http://schemas.microsoft.com/office/drawing/2014/main" id="{05AB6F70-834E-4C29-D046-AE2C27EE4D8D}"/>
              </a:ext>
            </a:extLst>
          </p:cNvPr>
          <p:cNvSpPr/>
          <p:nvPr/>
        </p:nvSpPr>
        <p:spPr>
          <a:xfrm>
            <a:off x="8186928" y="25146"/>
            <a:ext cx="914400" cy="33966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Fix layout</a:t>
            </a:r>
          </a:p>
        </p:txBody>
      </p:sp>
    </p:spTree>
    <p:extLst>
      <p:ext uri="{BB962C8B-B14F-4D97-AF65-F5344CB8AC3E}">
        <p14:creationId xmlns:p14="http://schemas.microsoft.com/office/powerpoint/2010/main" val="15931030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B01FB-D88B-A1E3-C7F2-0A16EECC7EAF}"/>
              </a:ext>
            </a:extLst>
          </p:cNvPr>
          <p:cNvSpPr>
            <a:spLocks noGrp="1"/>
          </p:cNvSpPr>
          <p:nvPr>
            <p:ph type="title"/>
          </p:nvPr>
        </p:nvSpPr>
        <p:spPr/>
        <p:txBody>
          <a:bodyPr/>
          <a:lstStyle/>
          <a:p>
            <a:r>
              <a:rPr lang="en-CH"/>
              <a:t>Step 4d: Descriptive plots</a:t>
            </a:r>
          </a:p>
        </p:txBody>
      </p:sp>
      <p:pic>
        <p:nvPicPr>
          <p:cNvPr id="6" name="Content Placeholder 5" descr="A collage of graphs and charts&#10;&#10;AI-generated content may be incorrect.">
            <a:extLst>
              <a:ext uri="{FF2B5EF4-FFF2-40B4-BE49-F238E27FC236}">
                <a16:creationId xmlns:a16="http://schemas.microsoft.com/office/drawing/2014/main" id="{4D814242-C84D-69FB-1C94-389CEC7805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72832" y="820738"/>
            <a:ext cx="5023771" cy="3767829"/>
          </a:xfrm>
          <a:ln>
            <a:solidFill>
              <a:srgbClr val="00802F"/>
            </a:solidFill>
          </a:ln>
        </p:spPr>
      </p:pic>
      <p:sp>
        <p:nvSpPr>
          <p:cNvPr id="4" name="Slide Number Placeholder 3">
            <a:extLst>
              <a:ext uri="{FF2B5EF4-FFF2-40B4-BE49-F238E27FC236}">
                <a16:creationId xmlns:a16="http://schemas.microsoft.com/office/drawing/2014/main" id="{1D4152AD-45FE-18CA-434C-EED340FC57A5}"/>
              </a:ext>
            </a:extLst>
          </p:cNvPr>
          <p:cNvSpPr>
            <a:spLocks noGrp="1"/>
          </p:cNvSpPr>
          <p:nvPr>
            <p:ph type="sldNum" sz="quarter" idx="12"/>
          </p:nvPr>
        </p:nvSpPr>
        <p:spPr/>
        <p:txBody>
          <a:bodyPr/>
          <a:lstStyle/>
          <a:p>
            <a:fld id="{7559FC98-AF75-4A00-A03C-DF9FEBF6BCB9}" type="slidenum">
              <a:rPr lang="en-GB" smtClean="0"/>
              <a:t>40</a:t>
            </a:fld>
            <a:endParaRPr lang="en-GB"/>
          </a:p>
        </p:txBody>
      </p:sp>
      <p:sp>
        <p:nvSpPr>
          <p:cNvPr id="7" name="Rectangle 6">
            <a:extLst>
              <a:ext uri="{FF2B5EF4-FFF2-40B4-BE49-F238E27FC236}">
                <a16:creationId xmlns:a16="http://schemas.microsoft.com/office/drawing/2014/main" id="{5C8E4B22-DAFE-760F-62E9-C895C786BC6C}"/>
              </a:ext>
            </a:extLst>
          </p:cNvPr>
          <p:cNvSpPr/>
          <p:nvPr/>
        </p:nvSpPr>
        <p:spPr>
          <a:xfrm>
            <a:off x="8186928" y="25146"/>
            <a:ext cx="914400" cy="33966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H">
                <a:solidFill>
                  <a:sysClr val="windowText" lastClr="000000"/>
                </a:solidFill>
              </a:rPr>
              <a:t>Fix layout</a:t>
            </a:r>
          </a:p>
        </p:txBody>
      </p:sp>
    </p:spTree>
    <p:extLst>
      <p:ext uri="{BB962C8B-B14F-4D97-AF65-F5344CB8AC3E}">
        <p14:creationId xmlns:p14="http://schemas.microsoft.com/office/powerpoint/2010/main" val="5692205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E1A05-9F85-7A61-2F6F-7CBA27093F88}"/>
              </a:ext>
            </a:extLst>
          </p:cNvPr>
          <p:cNvSpPr>
            <a:spLocks noGrp="1"/>
          </p:cNvSpPr>
          <p:nvPr>
            <p:ph type="title"/>
          </p:nvPr>
        </p:nvSpPr>
        <p:spPr/>
        <p:txBody>
          <a:bodyPr/>
          <a:lstStyle/>
          <a:p>
            <a:r>
              <a:rPr lang="en-CH"/>
              <a:t>Step 4d: Descriptive plots, commentary</a:t>
            </a:r>
          </a:p>
        </p:txBody>
      </p:sp>
      <p:sp>
        <p:nvSpPr>
          <p:cNvPr id="4" name="Slide Number Placeholder 3">
            <a:extLst>
              <a:ext uri="{FF2B5EF4-FFF2-40B4-BE49-F238E27FC236}">
                <a16:creationId xmlns:a16="http://schemas.microsoft.com/office/drawing/2014/main" id="{0FD27AA6-A146-BFBD-9F52-F74598C759D3}"/>
              </a:ext>
            </a:extLst>
          </p:cNvPr>
          <p:cNvSpPr>
            <a:spLocks noGrp="1"/>
          </p:cNvSpPr>
          <p:nvPr>
            <p:ph type="sldNum" sz="quarter" idx="12"/>
          </p:nvPr>
        </p:nvSpPr>
        <p:spPr/>
        <p:txBody>
          <a:bodyPr/>
          <a:lstStyle/>
          <a:p>
            <a:fld id="{7559FC98-AF75-4A00-A03C-DF9FEBF6BCB9}" type="slidenum">
              <a:rPr lang="en-GB" smtClean="0"/>
              <a:t>41</a:t>
            </a:fld>
            <a:endParaRPr lang="en-GB"/>
          </a:p>
        </p:txBody>
      </p:sp>
      <p:grpSp>
        <p:nvGrpSpPr>
          <p:cNvPr id="32" name="Group 31">
            <a:extLst>
              <a:ext uri="{FF2B5EF4-FFF2-40B4-BE49-F238E27FC236}">
                <a16:creationId xmlns:a16="http://schemas.microsoft.com/office/drawing/2014/main" id="{655A99F5-31CD-BF25-4A16-9D858083B5AE}"/>
              </a:ext>
            </a:extLst>
          </p:cNvPr>
          <p:cNvGrpSpPr>
            <a:grpSpLocks noChangeAspect="1"/>
          </p:cNvGrpSpPr>
          <p:nvPr/>
        </p:nvGrpSpPr>
        <p:grpSpPr>
          <a:xfrm>
            <a:off x="585161" y="756880"/>
            <a:ext cx="7669106" cy="4306733"/>
            <a:chOff x="231346" y="621792"/>
            <a:chExt cx="8318294" cy="4671288"/>
          </a:xfrm>
        </p:grpSpPr>
        <p:sp>
          <p:nvSpPr>
            <p:cNvPr id="6" name="Shape 2">
              <a:extLst>
                <a:ext uri="{FF2B5EF4-FFF2-40B4-BE49-F238E27FC236}">
                  <a16:creationId xmlns:a16="http://schemas.microsoft.com/office/drawing/2014/main" id="{09F13CC3-DBBE-92DB-71DE-45983BB06818}"/>
                </a:ext>
              </a:extLst>
            </p:cNvPr>
            <p:cNvSpPr/>
            <p:nvPr/>
          </p:nvSpPr>
          <p:spPr>
            <a:xfrm>
              <a:off x="274320" y="621792"/>
              <a:ext cx="3977640" cy="2029968"/>
            </a:xfrm>
            <a:prstGeom prst="rect">
              <a:avLst/>
            </a:prstGeom>
            <a:solidFill>
              <a:srgbClr val="EBF2FC"/>
            </a:solidFill>
            <a:ln w="12700">
              <a:solidFill>
                <a:srgbClr val="2E5FA3"/>
              </a:solidFill>
              <a:prstDash val="solid"/>
            </a:ln>
          </p:spPr>
          <p:txBody>
            <a:bodyPr/>
            <a:lstStyle/>
            <a:p>
              <a:endParaRPr lang="en-CH">
                <a:latin typeface="Gill Sans Nova Light" panose="020B0302020104020203" pitchFamily="34" charset="0"/>
              </a:endParaRPr>
            </a:p>
          </p:txBody>
        </p:sp>
        <p:sp>
          <p:nvSpPr>
            <p:cNvPr id="7" name="Shape 3">
              <a:extLst>
                <a:ext uri="{FF2B5EF4-FFF2-40B4-BE49-F238E27FC236}">
                  <a16:creationId xmlns:a16="http://schemas.microsoft.com/office/drawing/2014/main" id="{A8E459D7-D5DA-1ED8-F0A4-5A0EAFE677FA}"/>
                </a:ext>
              </a:extLst>
            </p:cNvPr>
            <p:cNvSpPr/>
            <p:nvPr/>
          </p:nvSpPr>
          <p:spPr>
            <a:xfrm>
              <a:off x="274320" y="621792"/>
              <a:ext cx="45720" cy="2029968"/>
            </a:xfrm>
            <a:prstGeom prst="rect">
              <a:avLst/>
            </a:prstGeom>
            <a:solidFill>
              <a:srgbClr val="2E5FA3"/>
            </a:solidFill>
            <a:ln w="12700">
              <a:solidFill>
                <a:srgbClr val="2E5FA3"/>
              </a:solidFill>
              <a:prstDash val="solid"/>
            </a:ln>
          </p:spPr>
          <p:txBody>
            <a:bodyPr/>
            <a:lstStyle/>
            <a:p>
              <a:endParaRPr lang="en-CH">
                <a:latin typeface="Gill Sans Nova Light" panose="020B0302020104020203" pitchFamily="34" charset="0"/>
              </a:endParaRPr>
            </a:p>
          </p:txBody>
        </p:sp>
        <p:sp>
          <p:nvSpPr>
            <p:cNvPr id="8" name="Shape 4">
              <a:extLst>
                <a:ext uri="{FF2B5EF4-FFF2-40B4-BE49-F238E27FC236}">
                  <a16:creationId xmlns:a16="http://schemas.microsoft.com/office/drawing/2014/main" id="{8A108E19-6683-F8C3-D353-62E7DB27E94C}"/>
                </a:ext>
              </a:extLst>
            </p:cNvPr>
            <p:cNvSpPr/>
            <p:nvPr/>
          </p:nvSpPr>
          <p:spPr>
            <a:xfrm>
              <a:off x="384048" y="694944"/>
              <a:ext cx="237744" cy="237744"/>
            </a:xfrm>
            <a:prstGeom prst="ellipse">
              <a:avLst/>
            </a:prstGeom>
            <a:solidFill>
              <a:srgbClr val="2E5FA3"/>
            </a:solidFill>
            <a:ln w="12700">
              <a:solidFill>
                <a:srgbClr val="2E5FA3"/>
              </a:solidFill>
              <a:prstDash val="solid"/>
            </a:ln>
          </p:spPr>
          <p:txBody>
            <a:bodyPr/>
            <a:lstStyle/>
            <a:p>
              <a:endParaRPr lang="en-CH">
                <a:latin typeface="Gill Sans Nova Light" panose="020B0302020104020203" pitchFamily="34" charset="0"/>
              </a:endParaRPr>
            </a:p>
          </p:txBody>
        </p:sp>
        <p:sp>
          <p:nvSpPr>
            <p:cNvPr id="9" name="Text 5">
              <a:extLst>
                <a:ext uri="{FF2B5EF4-FFF2-40B4-BE49-F238E27FC236}">
                  <a16:creationId xmlns:a16="http://schemas.microsoft.com/office/drawing/2014/main" id="{3F19FD20-F2AA-E852-62EC-5DA29F1A91E6}"/>
                </a:ext>
              </a:extLst>
            </p:cNvPr>
            <p:cNvSpPr/>
            <p:nvPr/>
          </p:nvSpPr>
          <p:spPr>
            <a:xfrm>
              <a:off x="384048" y="694944"/>
              <a:ext cx="237744" cy="237744"/>
            </a:xfrm>
            <a:prstGeom prst="rect">
              <a:avLst/>
            </a:prstGeom>
            <a:noFill/>
            <a:ln/>
          </p:spPr>
          <p:txBody>
            <a:bodyPr wrap="square" lIns="0" tIns="0" rIns="0" bIns="0" rtlCol="0" anchor="ctr"/>
            <a:lstStyle/>
            <a:p>
              <a:pPr marL="0" indent="0" algn="ctr">
                <a:buNone/>
              </a:pPr>
              <a:r>
                <a:rPr lang="en-US" sz="1000" b="1">
                  <a:solidFill>
                    <a:srgbClr val="FFFFFF"/>
                  </a:solidFill>
                  <a:latin typeface="Gill Sans Nova Light" panose="020B0302020104020203" pitchFamily="34" charset="0"/>
                  <a:ea typeface="Calibri" pitchFamily="34" charset="-122"/>
                  <a:cs typeface="Calibri" pitchFamily="34" charset="-120"/>
                </a:rPr>
                <a:t>1</a:t>
              </a:r>
              <a:endParaRPr lang="en-US" sz="1000">
                <a:latin typeface="Gill Sans Nova Light" panose="020B0302020104020203" pitchFamily="34" charset="0"/>
              </a:endParaRPr>
            </a:p>
          </p:txBody>
        </p:sp>
        <p:sp>
          <p:nvSpPr>
            <p:cNvPr id="10" name="Text 6">
              <a:extLst>
                <a:ext uri="{FF2B5EF4-FFF2-40B4-BE49-F238E27FC236}">
                  <a16:creationId xmlns:a16="http://schemas.microsoft.com/office/drawing/2014/main" id="{400E7F91-580E-3F82-3404-FF388E0E9B64}"/>
                </a:ext>
              </a:extLst>
            </p:cNvPr>
            <p:cNvSpPr/>
            <p:nvPr/>
          </p:nvSpPr>
          <p:spPr>
            <a:xfrm>
              <a:off x="676656" y="704088"/>
              <a:ext cx="3502152" cy="219456"/>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 Deposit Ratio by Financial System Type</a:t>
              </a:r>
              <a:endParaRPr lang="en-US" sz="950">
                <a:latin typeface="Gill Sans Nova Light" panose="020B0302020104020203" pitchFamily="34" charset="0"/>
              </a:endParaRPr>
            </a:p>
          </p:txBody>
        </p:sp>
        <p:sp>
          <p:nvSpPr>
            <p:cNvPr id="11" name="Text 7">
              <a:extLst>
                <a:ext uri="{FF2B5EF4-FFF2-40B4-BE49-F238E27FC236}">
                  <a16:creationId xmlns:a16="http://schemas.microsoft.com/office/drawing/2014/main" id="{3EE5E74E-3422-679F-D900-3F14FD6E0F5B}"/>
                </a:ext>
              </a:extLst>
            </p:cNvPr>
            <p:cNvSpPr/>
            <p:nvPr/>
          </p:nvSpPr>
          <p:spPr>
            <a:xfrm>
              <a:off x="402336" y="969264"/>
              <a:ext cx="3758184" cy="1609344"/>
            </a:xfrm>
            <a:prstGeom prst="rect">
              <a:avLst/>
            </a:prstGeom>
            <a:noFill/>
            <a:ln/>
          </p:spPr>
          <p:txBody>
            <a:bodyPr wrap="square" lIns="0" tIns="0" rIns="0" bIns="0" rtlCol="0" anchor="t"/>
            <a:lstStyle/>
            <a:p>
              <a:pPr marL="0" indent="0">
                <a:buNone/>
              </a:pPr>
              <a:r>
                <a:rPr lang="en-US" sz="750">
                  <a:solidFill>
                    <a:srgbClr val="1A1A1A"/>
                  </a:solidFill>
                  <a:latin typeface="Gill Sans Nova Light" panose="020B0302020104020203" pitchFamily="34" charset="0"/>
                  <a:ea typeface="Calibri" pitchFamily="34" charset="-122"/>
                  <a:cs typeface="Calibri" pitchFamily="34" charset="-120"/>
                </a:rPr>
                <a:t>Both distributions peak around 0.75–0.80 — virtually identical in shape and location. Unconditionally, financial system type does not differentiate deposit ratios. This is the key motivating argument: the system effect only surfaces when interacted with aging. A simple level comparison is insufficient; your interaction design is necessary.</a:t>
              </a:r>
              <a:endParaRPr lang="en-US" sz="750">
                <a:latin typeface="Gill Sans Nova Light" panose="020B0302020104020203" pitchFamily="34" charset="0"/>
              </a:endParaRPr>
            </a:p>
          </p:txBody>
        </p:sp>
        <p:sp>
          <p:nvSpPr>
            <p:cNvPr id="12" name="Shape 8">
              <a:extLst>
                <a:ext uri="{FF2B5EF4-FFF2-40B4-BE49-F238E27FC236}">
                  <a16:creationId xmlns:a16="http://schemas.microsoft.com/office/drawing/2014/main" id="{8DC2C0B1-827C-97F9-85D0-F355ED33BD1A}"/>
                </a:ext>
              </a:extLst>
            </p:cNvPr>
            <p:cNvSpPr/>
            <p:nvPr/>
          </p:nvSpPr>
          <p:spPr>
            <a:xfrm>
              <a:off x="4572000" y="621792"/>
              <a:ext cx="3977640" cy="2029968"/>
            </a:xfrm>
            <a:prstGeom prst="rect">
              <a:avLst/>
            </a:prstGeom>
            <a:solidFill>
              <a:srgbClr val="D4EDE1"/>
            </a:solidFill>
            <a:ln w="12700">
              <a:solidFill>
                <a:srgbClr val="1B7A4A"/>
              </a:solidFill>
              <a:prstDash val="solid"/>
            </a:ln>
          </p:spPr>
          <p:txBody>
            <a:bodyPr/>
            <a:lstStyle/>
            <a:p>
              <a:endParaRPr lang="en-CH">
                <a:latin typeface="Gill Sans Nova Light" panose="020B0302020104020203" pitchFamily="34" charset="0"/>
              </a:endParaRPr>
            </a:p>
          </p:txBody>
        </p:sp>
        <p:sp>
          <p:nvSpPr>
            <p:cNvPr id="13" name="Shape 9">
              <a:extLst>
                <a:ext uri="{FF2B5EF4-FFF2-40B4-BE49-F238E27FC236}">
                  <a16:creationId xmlns:a16="http://schemas.microsoft.com/office/drawing/2014/main" id="{F86AABEE-8096-CA23-2B42-58CA710BBC11}"/>
                </a:ext>
              </a:extLst>
            </p:cNvPr>
            <p:cNvSpPr/>
            <p:nvPr/>
          </p:nvSpPr>
          <p:spPr>
            <a:xfrm>
              <a:off x="4572000" y="621792"/>
              <a:ext cx="45720" cy="2029968"/>
            </a:xfrm>
            <a:prstGeom prst="rect">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14" name="Shape 10">
              <a:extLst>
                <a:ext uri="{FF2B5EF4-FFF2-40B4-BE49-F238E27FC236}">
                  <a16:creationId xmlns:a16="http://schemas.microsoft.com/office/drawing/2014/main" id="{57E54D34-4A25-77CA-2AC5-7AEA8F9645D8}"/>
                </a:ext>
              </a:extLst>
            </p:cNvPr>
            <p:cNvSpPr/>
            <p:nvPr/>
          </p:nvSpPr>
          <p:spPr>
            <a:xfrm>
              <a:off x="4681728" y="694944"/>
              <a:ext cx="237744" cy="237744"/>
            </a:xfrm>
            <a:prstGeom prst="ellipse">
              <a:avLst/>
            </a:prstGeom>
            <a:solidFill>
              <a:srgbClr val="1B7A4A"/>
            </a:solidFill>
            <a:ln w="12700">
              <a:solidFill>
                <a:srgbClr val="1B7A4A"/>
              </a:solidFill>
              <a:prstDash val="solid"/>
            </a:ln>
          </p:spPr>
          <p:txBody>
            <a:bodyPr/>
            <a:lstStyle/>
            <a:p>
              <a:endParaRPr lang="en-CH">
                <a:latin typeface="Gill Sans Nova Light" panose="020B0302020104020203" pitchFamily="34" charset="0"/>
              </a:endParaRPr>
            </a:p>
          </p:txBody>
        </p:sp>
        <p:sp>
          <p:nvSpPr>
            <p:cNvPr id="15" name="Text 11">
              <a:extLst>
                <a:ext uri="{FF2B5EF4-FFF2-40B4-BE49-F238E27FC236}">
                  <a16:creationId xmlns:a16="http://schemas.microsoft.com/office/drawing/2014/main" id="{AF65643A-BFCC-8BC0-FFF9-00982A3C6A29}"/>
                </a:ext>
              </a:extLst>
            </p:cNvPr>
            <p:cNvSpPr/>
            <p:nvPr/>
          </p:nvSpPr>
          <p:spPr>
            <a:xfrm>
              <a:off x="4681728" y="694944"/>
              <a:ext cx="237744" cy="237744"/>
            </a:xfrm>
            <a:prstGeom prst="rect">
              <a:avLst/>
            </a:prstGeom>
            <a:noFill/>
            <a:ln/>
          </p:spPr>
          <p:txBody>
            <a:bodyPr wrap="square" lIns="0" tIns="0" rIns="0" bIns="0" rtlCol="0" anchor="ctr"/>
            <a:lstStyle/>
            <a:p>
              <a:pPr marL="0" indent="0" algn="ctr">
                <a:buNone/>
              </a:pPr>
              <a:r>
                <a:rPr lang="en-US" sz="1000" b="1">
                  <a:solidFill>
                    <a:srgbClr val="FFFFFF"/>
                  </a:solidFill>
                  <a:latin typeface="Gill Sans Nova Light" panose="020B0302020104020203" pitchFamily="34" charset="0"/>
                  <a:ea typeface="Calibri" pitchFamily="34" charset="-122"/>
                  <a:cs typeface="Calibri" pitchFamily="34" charset="-120"/>
                </a:rPr>
                <a:t>2</a:t>
              </a:r>
              <a:endParaRPr lang="en-US" sz="1000">
                <a:latin typeface="Gill Sans Nova Light" panose="020B0302020104020203" pitchFamily="34" charset="0"/>
              </a:endParaRPr>
            </a:p>
          </p:txBody>
        </p:sp>
        <p:sp>
          <p:nvSpPr>
            <p:cNvPr id="16" name="Text 12">
              <a:extLst>
                <a:ext uri="{FF2B5EF4-FFF2-40B4-BE49-F238E27FC236}">
                  <a16:creationId xmlns:a16="http://schemas.microsoft.com/office/drawing/2014/main" id="{B6AF8A69-C321-74EE-1510-B9D76D84EE10}"/>
                </a:ext>
              </a:extLst>
            </p:cNvPr>
            <p:cNvSpPr/>
            <p:nvPr/>
          </p:nvSpPr>
          <p:spPr>
            <a:xfrm>
              <a:off x="4974336" y="704088"/>
              <a:ext cx="3502152" cy="219456"/>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 Population Aged 65+ Over Time</a:t>
              </a:r>
              <a:endParaRPr lang="en-US" sz="950">
                <a:latin typeface="Gill Sans Nova Light" panose="020B0302020104020203" pitchFamily="34" charset="0"/>
              </a:endParaRPr>
            </a:p>
          </p:txBody>
        </p:sp>
        <p:sp>
          <p:nvSpPr>
            <p:cNvPr id="17" name="Text 13">
              <a:extLst>
                <a:ext uri="{FF2B5EF4-FFF2-40B4-BE49-F238E27FC236}">
                  <a16:creationId xmlns:a16="http://schemas.microsoft.com/office/drawing/2014/main" id="{1B474608-A7C7-1888-C4A6-0407F4F22382}"/>
                </a:ext>
              </a:extLst>
            </p:cNvPr>
            <p:cNvSpPr/>
            <p:nvPr/>
          </p:nvSpPr>
          <p:spPr>
            <a:xfrm>
              <a:off x="4700016" y="969264"/>
              <a:ext cx="3758184" cy="1609344"/>
            </a:xfrm>
            <a:prstGeom prst="rect">
              <a:avLst/>
            </a:prstGeom>
            <a:noFill/>
            <a:ln/>
          </p:spPr>
          <p:txBody>
            <a:bodyPr wrap="square" lIns="0" tIns="0" rIns="0" bIns="0" rtlCol="0" anchor="t"/>
            <a:lstStyle/>
            <a:p>
              <a:pPr marL="0" indent="0">
                <a:buNone/>
              </a:pPr>
              <a:r>
                <a:rPr lang="en-US" sz="750">
                  <a:solidFill>
                    <a:srgbClr val="1A1A1A"/>
                  </a:solidFill>
                  <a:latin typeface="Gill Sans Nova Light" panose="020B0302020104020203" pitchFamily="34" charset="0"/>
                  <a:ea typeface="Calibri" pitchFamily="34" charset="-122"/>
                  <a:cs typeface="Calibri" pitchFamily="34" charset="-120"/>
                </a:rPr>
                <a:t>All countries trend upward monotonically — aging is universal and consistent across the sample. Meaningful cross-country dispersion persists throughout: Italy reaches ~25% by 2024, Ireland stays below 16%. The unlabeled countries cluster tightly in 18–22%, confirming highlighted countries capture the extremes. Clean variable, no anomalies.</a:t>
              </a:r>
              <a:endParaRPr lang="en-US" sz="750">
                <a:latin typeface="Gill Sans Nova Light" panose="020B0302020104020203" pitchFamily="34" charset="0"/>
              </a:endParaRPr>
            </a:p>
          </p:txBody>
        </p:sp>
        <p:sp>
          <p:nvSpPr>
            <p:cNvPr id="18" name="Shape 14">
              <a:extLst>
                <a:ext uri="{FF2B5EF4-FFF2-40B4-BE49-F238E27FC236}">
                  <a16:creationId xmlns:a16="http://schemas.microsoft.com/office/drawing/2014/main" id="{9FC9445A-C595-C212-83FF-0D4EE69B18AD}"/>
                </a:ext>
              </a:extLst>
            </p:cNvPr>
            <p:cNvSpPr/>
            <p:nvPr/>
          </p:nvSpPr>
          <p:spPr>
            <a:xfrm>
              <a:off x="274320" y="2798064"/>
              <a:ext cx="3977640" cy="2029968"/>
            </a:xfrm>
            <a:prstGeom prst="rect">
              <a:avLst/>
            </a:prstGeom>
            <a:solidFill>
              <a:srgbClr val="FFFBEB"/>
            </a:solidFill>
            <a:ln w="12700">
              <a:solidFill>
                <a:srgbClr val="D97706"/>
              </a:solidFill>
              <a:prstDash val="solid"/>
            </a:ln>
          </p:spPr>
          <p:txBody>
            <a:bodyPr/>
            <a:lstStyle/>
            <a:p>
              <a:endParaRPr lang="en-CH">
                <a:latin typeface="Gill Sans Nova Light" panose="020B0302020104020203" pitchFamily="34" charset="0"/>
              </a:endParaRPr>
            </a:p>
          </p:txBody>
        </p:sp>
        <p:sp>
          <p:nvSpPr>
            <p:cNvPr id="19" name="Shape 15">
              <a:extLst>
                <a:ext uri="{FF2B5EF4-FFF2-40B4-BE49-F238E27FC236}">
                  <a16:creationId xmlns:a16="http://schemas.microsoft.com/office/drawing/2014/main" id="{D5F42BE6-967B-1587-811B-DA75593487BE}"/>
                </a:ext>
              </a:extLst>
            </p:cNvPr>
            <p:cNvSpPr/>
            <p:nvPr/>
          </p:nvSpPr>
          <p:spPr>
            <a:xfrm>
              <a:off x="274320" y="2798064"/>
              <a:ext cx="45720" cy="2029968"/>
            </a:xfrm>
            <a:prstGeom prst="rect">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20" name="Shape 16">
              <a:extLst>
                <a:ext uri="{FF2B5EF4-FFF2-40B4-BE49-F238E27FC236}">
                  <a16:creationId xmlns:a16="http://schemas.microsoft.com/office/drawing/2014/main" id="{6FD69325-312E-10F5-F3DA-F1F59F906141}"/>
                </a:ext>
              </a:extLst>
            </p:cNvPr>
            <p:cNvSpPr/>
            <p:nvPr/>
          </p:nvSpPr>
          <p:spPr>
            <a:xfrm>
              <a:off x="384048" y="2871216"/>
              <a:ext cx="237744" cy="237744"/>
            </a:xfrm>
            <a:prstGeom prst="ellipse">
              <a:avLst/>
            </a:prstGeom>
            <a:solidFill>
              <a:srgbClr val="D97706"/>
            </a:solidFill>
            <a:ln w="12700">
              <a:solidFill>
                <a:srgbClr val="D97706"/>
              </a:solidFill>
              <a:prstDash val="solid"/>
            </a:ln>
          </p:spPr>
          <p:txBody>
            <a:bodyPr/>
            <a:lstStyle/>
            <a:p>
              <a:endParaRPr lang="en-CH">
                <a:latin typeface="Gill Sans Nova Light" panose="020B0302020104020203" pitchFamily="34" charset="0"/>
              </a:endParaRPr>
            </a:p>
          </p:txBody>
        </p:sp>
        <p:sp>
          <p:nvSpPr>
            <p:cNvPr id="21" name="Text 17">
              <a:extLst>
                <a:ext uri="{FF2B5EF4-FFF2-40B4-BE49-F238E27FC236}">
                  <a16:creationId xmlns:a16="http://schemas.microsoft.com/office/drawing/2014/main" id="{E79543B7-5D3E-C65B-2787-DDCB5E522BE4}"/>
                </a:ext>
              </a:extLst>
            </p:cNvPr>
            <p:cNvSpPr/>
            <p:nvPr/>
          </p:nvSpPr>
          <p:spPr>
            <a:xfrm>
              <a:off x="384048" y="2871216"/>
              <a:ext cx="237744" cy="237744"/>
            </a:xfrm>
            <a:prstGeom prst="rect">
              <a:avLst/>
            </a:prstGeom>
            <a:noFill/>
            <a:ln/>
          </p:spPr>
          <p:txBody>
            <a:bodyPr wrap="square" lIns="0" tIns="0" rIns="0" bIns="0" rtlCol="0" anchor="ctr"/>
            <a:lstStyle/>
            <a:p>
              <a:pPr marL="0" indent="0" algn="ctr">
                <a:buNone/>
              </a:pPr>
              <a:r>
                <a:rPr lang="en-US" sz="1000" b="1">
                  <a:solidFill>
                    <a:srgbClr val="FFFFFF"/>
                  </a:solidFill>
                  <a:latin typeface="Gill Sans Nova Light" panose="020B0302020104020203" pitchFamily="34" charset="0"/>
                  <a:ea typeface="Calibri" pitchFamily="34" charset="-122"/>
                  <a:cs typeface="Calibri" pitchFamily="34" charset="-120"/>
                </a:rPr>
                <a:t>3</a:t>
              </a:r>
              <a:endParaRPr lang="en-US" sz="1000">
                <a:latin typeface="Gill Sans Nova Light" panose="020B0302020104020203" pitchFamily="34" charset="0"/>
              </a:endParaRPr>
            </a:p>
          </p:txBody>
        </p:sp>
        <p:sp>
          <p:nvSpPr>
            <p:cNvPr id="22" name="Text 18">
              <a:extLst>
                <a:ext uri="{FF2B5EF4-FFF2-40B4-BE49-F238E27FC236}">
                  <a16:creationId xmlns:a16="http://schemas.microsoft.com/office/drawing/2014/main" id="{66B37047-E112-5EA9-E945-E0A83A9DACD4}"/>
                </a:ext>
              </a:extLst>
            </p:cNvPr>
            <p:cNvSpPr/>
            <p:nvPr/>
          </p:nvSpPr>
          <p:spPr>
            <a:xfrm>
              <a:off x="676656" y="2880360"/>
              <a:ext cx="3502152" cy="219456"/>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 Financial Structure Over Time</a:t>
              </a:r>
              <a:endParaRPr lang="en-US" sz="950">
                <a:latin typeface="Gill Sans Nova Light" panose="020B0302020104020203" pitchFamily="34" charset="0"/>
              </a:endParaRPr>
            </a:p>
          </p:txBody>
        </p:sp>
        <p:sp>
          <p:nvSpPr>
            <p:cNvPr id="23" name="Text 19">
              <a:extLst>
                <a:ext uri="{FF2B5EF4-FFF2-40B4-BE49-F238E27FC236}">
                  <a16:creationId xmlns:a16="http://schemas.microsoft.com/office/drawing/2014/main" id="{F131EB23-65ED-8724-CC66-F98EA0A80DFE}"/>
                </a:ext>
              </a:extLst>
            </p:cNvPr>
            <p:cNvSpPr/>
            <p:nvPr/>
          </p:nvSpPr>
          <p:spPr>
            <a:xfrm>
              <a:off x="402336" y="3145536"/>
              <a:ext cx="3758184" cy="1609344"/>
            </a:xfrm>
            <a:prstGeom prst="rect">
              <a:avLst/>
            </a:prstGeom>
            <a:noFill/>
            <a:ln/>
          </p:spPr>
          <p:txBody>
            <a:bodyPr wrap="square" lIns="0" tIns="0" rIns="0" bIns="0" rtlCol="0" anchor="t"/>
            <a:lstStyle/>
            <a:p>
              <a:pPr marL="0" indent="0">
                <a:buNone/>
              </a:pPr>
              <a:r>
                <a:rPr lang="en-US" sz="750">
                  <a:solidFill>
                    <a:srgbClr val="1A1A1A"/>
                  </a:solidFill>
                  <a:latin typeface="Gill Sans Nova Light" panose="020B0302020104020203" pitchFamily="34" charset="0"/>
                  <a:ea typeface="Calibri" pitchFamily="34" charset="-122"/>
                  <a:cs typeface="Calibri" pitchFamily="34" charset="-120"/>
                </a:rPr>
                <a:t>Bank-based (green) vs. market-based (red) separation is clean — the binary classification is meaningful. Green lines drift upward post-GFC — bank-based countries gradually becoming less bank-based, directly evidencing within-country FinStructure variation under fixed effects. Note: the highly volatile line at the bottom is Cyprus (2012–13 banking crisis) — worth a footnote.</a:t>
              </a:r>
              <a:endParaRPr lang="en-US" sz="750">
                <a:latin typeface="Gill Sans Nova Light" panose="020B0302020104020203" pitchFamily="34" charset="0"/>
              </a:endParaRPr>
            </a:p>
          </p:txBody>
        </p:sp>
        <p:sp>
          <p:nvSpPr>
            <p:cNvPr id="24" name="Shape 20">
              <a:extLst>
                <a:ext uri="{FF2B5EF4-FFF2-40B4-BE49-F238E27FC236}">
                  <a16:creationId xmlns:a16="http://schemas.microsoft.com/office/drawing/2014/main" id="{E6B2BAAB-5BBC-88A4-E5C7-417D698867DC}"/>
                </a:ext>
              </a:extLst>
            </p:cNvPr>
            <p:cNvSpPr/>
            <p:nvPr/>
          </p:nvSpPr>
          <p:spPr>
            <a:xfrm>
              <a:off x="4572000" y="2798064"/>
              <a:ext cx="3977640" cy="2029968"/>
            </a:xfrm>
            <a:prstGeom prst="rect">
              <a:avLst/>
            </a:prstGeom>
            <a:solidFill>
              <a:srgbClr val="EBF0FA"/>
            </a:solidFill>
            <a:ln w="12700">
              <a:solidFill>
                <a:srgbClr val="1B3A6B"/>
              </a:solidFill>
              <a:prstDash val="solid"/>
            </a:ln>
          </p:spPr>
          <p:txBody>
            <a:bodyPr/>
            <a:lstStyle/>
            <a:p>
              <a:endParaRPr lang="en-CH">
                <a:latin typeface="Gill Sans Nova Light" panose="020B0302020104020203" pitchFamily="34" charset="0"/>
              </a:endParaRPr>
            </a:p>
          </p:txBody>
        </p:sp>
        <p:sp>
          <p:nvSpPr>
            <p:cNvPr id="25" name="Shape 21">
              <a:extLst>
                <a:ext uri="{FF2B5EF4-FFF2-40B4-BE49-F238E27FC236}">
                  <a16:creationId xmlns:a16="http://schemas.microsoft.com/office/drawing/2014/main" id="{D41B6F9C-715D-1392-6AF7-244D3D0A35B0}"/>
                </a:ext>
              </a:extLst>
            </p:cNvPr>
            <p:cNvSpPr/>
            <p:nvPr/>
          </p:nvSpPr>
          <p:spPr>
            <a:xfrm>
              <a:off x="4572000" y="2798064"/>
              <a:ext cx="45720" cy="2029968"/>
            </a:xfrm>
            <a:prstGeom prst="rect">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26" name="Shape 22">
              <a:extLst>
                <a:ext uri="{FF2B5EF4-FFF2-40B4-BE49-F238E27FC236}">
                  <a16:creationId xmlns:a16="http://schemas.microsoft.com/office/drawing/2014/main" id="{16A85D84-7CEF-2626-9473-F98C32025392}"/>
                </a:ext>
              </a:extLst>
            </p:cNvPr>
            <p:cNvSpPr/>
            <p:nvPr/>
          </p:nvSpPr>
          <p:spPr>
            <a:xfrm>
              <a:off x="4681728" y="2871216"/>
              <a:ext cx="237744" cy="237744"/>
            </a:xfrm>
            <a:prstGeom prst="ellipse">
              <a:avLst/>
            </a:prstGeom>
            <a:solidFill>
              <a:srgbClr val="1B3A6B"/>
            </a:solidFill>
            <a:ln w="12700">
              <a:solidFill>
                <a:srgbClr val="1B3A6B"/>
              </a:solidFill>
              <a:prstDash val="solid"/>
            </a:ln>
          </p:spPr>
          <p:txBody>
            <a:bodyPr/>
            <a:lstStyle/>
            <a:p>
              <a:endParaRPr lang="en-CH">
                <a:latin typeface="Gill Sans Nova Light" panose="020B0302020104020203" pitchFamily="34" charset="0"/>
              </a:endParaRPr>
            </a:p>
          </p:txBody>
        </p:sp>
        <p:sp>
          <p:nvSpPr>
            <p:cNvPr id="27" name="Text 23">
              <a:extLst>
                <a:ext uri="{FF2B5EF4-FFF2-40B4-BE49-F238E27FC236}">
                  <a16:creationId xmlns:a16="http://schemas.microsoft.com/office/drawing/2014/main" id="{D4349E8D-B919-4C1D-457C-C207F86BECA3}"/>
                </a:ext>
              </a:extLst>
            </p:cNvPr>
            <p:cNvSpPr/>
            <p:nvPr/>
          </p:nvSpPr>
          <p:spPr>
            <a:xfrm>
              <a:off x="4681728" y="2871216"/>
              <a:ext cx="237744" cy="237744"/>
            </a:xfrm>
            <a:prstGeom prst="rect">
              <a:avLst/>
            </a:prstGeom>
            <a:noFill/>
            <a:ln/>
          </p:spPr>
          <p:txBody>
            <a:bodyPr wrap="square" lIns="0" tIns="0" rIns="0" bIns="0" rtlCol="0" anchor="ctr"/>
            <a:lstStyle/>
            <a:p>
              <a:pPr marL="0" indent="0" algn="ctr">
                <a:buNone/>
              </a:pPr>
              <a:r>
                <a:rPr lang="en-US" sz="1000" b="1">
                  <a:solidFill>
                    <a:srgbClr val="FFFFFF"/>
                  </a:solidFill>
                  <a:latin typeface="Gill Sans Nova Light" panose="020B0302020104020203" pitchFamily="34" charset="0"/>
                  <a:ea typeface="Calibri" pitchFamily="34" charset="-122"/>
                  <a:cs typeface="Calibri" pitchFamily="34" charset="-120"/>
                </a:rPr>
                <a:t>4</a:t>
              </a:r>
              <a:endParaRPr lang="en-US" sz="1000">
                <a:latin typeface="Gill Sans Nova Light" panose="020B0302020104020203" pitchFamily="34" charset="0"/>
              </a:endParaRPr>
            </a:p>
          </p:txBody>
        </p:sp>
        <p:sp>
          <p:nvSpPr>
            <p:cNvPr id="28" name="Text 24">
              <a:extLst>
                <a:ext uri="{FF2B5EF4-FFF2-40B4-BE49-F238E27FC236}">
                  <a16:creationId xmlns:a16="http://schemas.microsoft.com/office/drawing/2014/main" id="{D4DBB704-55D4-FD81-0056-E5B650D7D1CF}"/>
                </a:ext>
              </a:extLst>
            </p:cNvPr>
            <p:cNvSpPr/>
            <p:nvPr/>
          </p:nvSpPr>
          <p:spPr>
            <a:xfrm>
              <a:off x="4974336" y="2880360"/>
              <a:ext cx="3502152" cy="219456"/>
            </a:xfrm>
            <a:prstGeom prst="rect">
              <a:avLst/>
            </a:prstGeom>
            <a:noFill/>
            <a:ln/>
          </p:spPr>
          <p:txBody>
            <a:bodyPr wrap="square" lIns="0" tIns="0" rIns="0" bIns="0" rtlCol="0" anchor="ctr"/>
            <a:lstStyle/>
            <a:p>
              <a:pPr marL="0" indent="0">
                <a:buNone/>
              </a:pPr>
              <a:r>
                <a:rPr lang="en-US" sz="950" b="1">
                  <a:solidFill>
                    <a:srgbClr val="1A1A1A"/>
                  </a:solidFill>
                  <a:latin typeface="Gill Sans Nova Light" panose="020B0302020104020203" pitchFamily="34" charset="0"/>
                  <a:ea typeface="Calibri" pitchFamily="34" charset="-122"/>
                  <a:cs typeface="Calibri" pitchFamily="34" charset="-120"/>
                </a:rPr>
                <a:t> Deposit Ratio vs. Age65+ by System Type</a:t>
              </a:r>
              <a:endParaRPr lang="en-US" sz="950">
                <a:latin typeface="Gill Sans Nova Light" panose="020B0302020104020203" pitchFamily="34" charset="0"/>
              </a:endParaRPr>
            </a:p>
          </p:txBody>
        </p:sp>
        <p:sp>
          <p:nvSpPr>
            <p:cNvPr id="29" name="Text 25">
              <a:extLst>
                <a:ext uri="{FF2B5EF4-FFF2-40B4-BE49-F238E27FC236}">
                  <a16:creationId xmlns:a16="http://schemas.microsoft.com/office/drawing/2014/main" id="{3CF0F609-7A31-211A-6642-F29A9D438943}"/>
                </a:ext>
              </a:extLst>
            </p:cNvPr>
            <p:cNvSpPr/>
            <p:nvPr/>
          </p:nvSpPr>
          <p:spPr>
            <a:xfrm>
              <a:off x="4700016" y="3145536"/>
              <a:ext cx="3758184" cy="1609344"/>
            </a:xfrm>
            <a:prstGeom prst="rect">
              <a:avLst/>
            </a:prstGeom>
            <a:noFill/>
            <a:ln/>
          </p:spPr>
          <p:txBody>
            <a:bodyPr wrap="square" lIns="0" tIns="0" rIns="0" bIns="0" rtlCol="0" anchor="t"/>
            <a:lstStyle/>
            <a:p>
              <a:r>
                <a:rPr lang="en-US" sz="750">
                  <a:solidFill>
                    <a:srgbClr val="1A1A1A"/>
                  </a:solidFill>
                  <a:latin typeface="Gill Sans Nova Light" panose="020B0302020104020203" pitchFamily="34" charset="0"/>
                  <a:ea typeface="Calibri" pitchFamily="34" charset="-122"/>
                  <a:cs typeface="Calibri" pitchFamily="34" charset="-120"/>
                </a:rPr>
                <a:t>Deposit ratios decline with aging in both system types — but the decline is steeper in market-based systems. This reflects two competing theoretical forces:</a:t>
              </a:r>
            </a:p>
            <a:p>
              <a:pPr marL="171450" indent="-171450">
                <a:buFont typeface="Arial" panose="020B0604020202020204" pitchFamily="34" charset="0"/>
                <a:buChar char="•"/>
              </a:pPr>
              <a:r>
                <a:rPr lang="en-US" sz="750" b="1">
                  <a:solidFill>
                    <a:srgbClr val="1A1A1A"/>
                  </a:solidFill>
                  <a:latin typeface="Gill Sans Nova Light" panose="020B0302020104020203" pitchFamily="34" charset="0"/>
                  <a:ea typeface="Calibri" pitchFamily="34" charset="-122"/>
                  <a:cs typeface="Calibri" pitchFamily="34" charset="-120"/>
                </a:rPr>
                <a:t>Layer 1: Lifecycle spending effect: </a:t>
              </a:r>
              <a:r>
                <a:rPr lang="en-US" sz="750">
                  <a:solidFill>
                    <a:srgbClr val="1A1A1A"/>
                  </a:solidFill>
                  <a:latin typeface="Gill Sans Nova Light" panose="020B0302020104020203" pitchFamily="34" charset="0"/>
                  <a:ea typeface="Calibri" pitchFamily="34" charset="-122"/>
                  <a:cs typeface="Calibri" pitchFamily="34" charset="-120"/>
                </a:rPr>
                <a:t>Elderly households are net </a:t>
              </a:r>
              <a:r>
                <a:rPr lang="en-US" sz="750" err="1">
                  <a:solidFill>
                    <a:srgbClr val="1A1A1A"/>
                  </a:solidFill>
                  <a:latin typeface="Gill Sans Nova Light" panose="020B0302020104020203" pitchFamily="34" charset="0"/>
                  <a:ea typeface="Calibri" pitchFamily="34" charset="-122"/>
                  <a:cs typeface="Calibri" pitchFamily="34" charset="-120"/>
                </a:rPr>
                <a:t>dissavers</a:t>
              </a:r>
              <a:r>
                <a:rPr lang="en-US" sz="750">
                  <a:solidFill>
                    <a:srgbClr val="1A1A1A"/>
                  </a:solidFill>
                  <a:latin typeface="Gill Sans Nova Light" panose="020B0302020104020203" pitchFamily="34" charset="0"/>
                  <a:ea typeface="Calibri" pitchFamily="34" charset="-122"/>
                  <a:cs typeface="Calibri" pitchFamily="34" charset="-120"/>
                </a:rPr>
                <a:t>, drawing down deposits to fund retirement consumption. This pushes deposit ratios down in both systems.</a:t>
              </a:r>
            </a:p>
            <a:p>
              <a:pPr marL="171450" indent="-171450">
                <a:buFont typeface="Arial" panose="020B0604020202020204" pitchFamily="34" charset="0"/>
                <a:buChar char="•"/>
              </a:pPr>
              <a:r>
                <a:rPr lang="en-US" sz="750" b="1">
                  <a:solidFill>
                    <a:srgbClr val="1A1A1A"/>
                  </a:solidFill>
                  <a:latin typeface="Gill Sans Nova Light" panose="020B0302020104020203" pitchFamily="34" charset="0"/>
                  <a:ea typeface="Calibri" pitchFamily="34" charset="-122"/>
                  <a:cs typeface="Calibri" pitchFamily="34" charset="-120"/>
                </a:rPr>
                <a:t>Layer 2: Safe asset reallocation effect: </a:t>
              </a:r>
              <a:r>
                <a:rPr lang="en-US" sz="750">
                  <a:solidFill>
                    <a:srgbClr val="1A1A1A"/>
                  </a:solidFill>
                  <a:latin typeface="Gill Sans Nova Light" panose="020B0302020104020203" pitchFamily="34" charset="0"/>
                  <a:ea typeface="Calibri" pitchFamily="34" charset="-122"/>
                  <a:cs typeface="Calibri" pitchFamily="34" charset="-120"/>
                </a:rPr>
                <a:t>Simultaneously, aging households become more risk averse and shift wealth from risky assets into safe liquid instruments. In bank-based systems deposits are the natural destination, partially offsetting Layer 1 and flattening the slope. In market-based systems, bonds and money market funds serve as substitutes, so this offsetting effect is weaker and the decline is steeper.</a:t>
              </a:r>
            </a:p>
            <a:p>
              <a:endParaRPr lang="en-US" sz="750">
                <a:solidFill>
                  <a:srgbClr val="1A1A1A"/>
                </a:solidFill>
                <a:latin typeface="Gill Sans Nova Light" panose="020B0302020104020203" pitchFamily="34" charset="0"/>
                <a:ea typeface="Calibri" pitchFamily="34" charset="-122"/>
                <a:cs typeface="Calibri" pitchFamily="34" charset="-120"/>
              </a:endParaRPr>
            </a:p>
            <a:p>
              <a:r>
                <a:rPr lang="en-US" sz="750">
                  <a:solidFill>
                    <a:srgbClr val="1A1A1A"/>
                  </a:solidFill>
                  <a:latin typeface="Gill Sans Nova Light" panose="020B0302020104020203" pitchFamily="34" charset="0"/>
                  <a:ea typeface="Calibri" pitchFamily="34" charset="-122"/>
                  <a:cs typeface="Calibri" pitchFamily="34" charset="-120"/>
                </a:rPr>
                <a:t>This two-layer mechanism is the theoretical core of H1 and constitutes preliminary descriptive evidence for the interaction effect.</a:t>
              </a:r>
              <a:endParaRPr lang="en-US" sz="750">
                <a:latin typeface="Gill Sans Nova Light" panose="020B0302020104020203" pitchFamily="34" charset="0"/>
              </a:endParaRPr>
            </a:p>
          </p:txBody>
        </p:sp>
        <p:sp>
          <p:nvSpPr>
            <p:cNvPr id="31" name="Text 27">
              <a:extLst>
                <a:ext uri="{FF2B5EF4-FFF2-40B4-BE49-F238E27FC236}">
                  <a16:creationId xmlns:a16="http://schemas.microsoft.com/office/drawing/2014/main" id="{BEE92870-08C8-F2E8-50AE-44973AEF9B30}"/>
                </a:ext>
              </a:extLst>
            </p:cNvPr>
            <p:cNvSpPr/>
            <p:nvPr/>
          </p:nvSpPr>
          <p:spPr>
            <a:xfrm>
              <a:off x="231346" y="5128489"/>
              <a:ext cx="8229602" cy="164591"/>
            </a:xfrm>
            <a:prstGeom prst="rect">
              <a:avLst/>
            </a:prstGeom>
            <a:noFill/>
            <a:ln/>
          </p:spPr>
          <p:txBody>
            <a:bodyPr wrap="square" lIns="0" tIns="0" rIns="0" bIns="0" rtlCol="0" anchor="ctr"/>
            <a:lstStyle/>
            <a:p>
              <a:pPr marL="0" indent="0">
                <a:buNone/>
              </a:pPr>
              <a:r>
                <a:rPr lang="en-US" sz="800" i="1">
                  <a:solidFill>
                    <a:srgbClr val="6B7280"/>
                  </a:solidFill>
                  <a:latin typeface="Gill Sans Nova Light" panose="020B0302020104020203" pitchFamily="34" charset="0"/>
                  <a:ea typeface="Calibri" pitchFamily="34" charset="-122"/>
                  <a:cs typeface="Calibri" pitchFamily="34" charset="-120"/>
                </a:rPr>
                <a:t>Source: SNL Financial  ·  World Bank WDI  ·  Eurostat  ·  Analytical sample: n = 31,439</a:t>
              </a:r>
              <a:endParaRPr lang="en-US" sz="800">
                <a:latin typeface="Gill Sans Nova Light" panose="020B0302020104020203" pitchFamily="34" charset="0"/>
              </a:endParaRPr>
            </a:p>
          </p:txBody>
        </p:sp>
      </p:grpSp>
    </p:spTree>
    <p:extLst>
      <p:ext uri="{BB962C8B-B14F-4D97-AF65-F5344CB8AC3E}">
        <p14:creationId xmlns:p14="http://schemas.microsoft.com/office/powerpoint/2010/main" val="1704434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3D6CC-AA86-06C4-16EA-890367B90588}"/>
              </a:ext>
            </a:extLst>
          </p:cNvPr>
          <p:cNvSpPr>
            <a:spLocks noGrp="1"/>
          </p:cNvSpPr>
          <p:nvPr>
            <p:ph type="title"/>
          </p:nvPr>
        </p:nvSpPr>
        <p:spPr>
          <a:xfrm>
            <a:off x="358775" y="376238"/>
            <a:ext cx="8426450" cy="609662"/>
          </a:xfrm>
        </p:spPr>
        <p:txBody>
          <a:bodyPr/>
          <a:lstStyle/>
          <a:p>
            <a:r>
              <a:rPr lang="en-CH"/>
              <a:t>Regression output: preliminary findings</a:t>
            </a:r>
          </a:p>
        </p:txBody>
      </p:sp>
      <p:sp>
        <p:nvSpPr>
          <p:cNvPr id="4" name="Slide Number Placeholder 3">
            <a:extLst>
              <a:ext uri="{FF2B5EF4-FFF2-40B4-BE49-F238E27FC236}">
                <a16:creationId xmlns:a16="http://schemas.microsoft.com/office/drawing/2014/main" id="{AE8D8A80-B90A-B7C3-1CEF-FFEA6C70148D}"/>
              </a:ext>
            </a:extLst>
          </p:cNvPr>
          <p:cNvSpPr>
            <a:spLocks noGrp="1"/>
          </p:cNvSpPr>
          <p:nvPr>
            <p:ph type="sldNum" sz="quarter" idx="12"/>
          </p:nvPr>
        </p:nvSpPr>
        <p:spPr/>
        <p:txBody>
          <a:bodyPr/>
          <a:lstStyle/>
          <a:p>
            <a:fld id="{7559FC98-AF75-4A00-A03C-DF9FEBF6BCB9}" type="slidenum">
              <a:rPr lang="en-GB" smtClean="0"/>
              <a:t>42</a:t>
            </a:fld>
            <a:endParaRPr lang="en-GB"/>
          </a:p>
        </p:txBody>
      </p:sp>
      <p:pic>
        <p:nvPicPr>
          <p:cNvPr id="3" name="Picture 2">
            <a:extLst>
              <a:ext uri="{FF2B5EF4-FFF2-40B4-BE49-F238E27FC236}">
                <a16:creationId xmlns:a16="http://schemas.microsoft.com/office/drawing/2014/main" id="{5EF8F90A-82B3-D0B1-5551-B7C723FC0E99}"/>
              </a:ext>
            </a:extLst>
          </p:cNvPr>
          <p:cNvPicPr>
            <a:picLocks noChangeAspect="1"/>
          </p:cNvPicPr>
          <p:nvPr/>
        </p:nvPicPr>
        <p:blipFill>
          <a:blip r:embed="rId2"/>
          <a:stretch>
            <a:fillRect/>
          </a:stretch>
        </p:blipFill>
        <p:spPr>
          <a:xfrm>
            <a:off x="358775" y="1383982"/>
            <a:ext cx="3597638" cy="2991343"/>
          </a:xfrm>
          <a:prstGeom prst="rect">
            <a:avLst/>
          </a:prstGeom>
          <a:ln>
            <a:solidFill>
              <a:schemeClr val="accent1"/>
            </a:solidFill>
          </a:ln>
        </p:spPr>
      </p:pic>
      <p:sp>
        <p:nvSpPr>
          <p:cNvPr id="5" name="TextBox 4">
            <a:extLst>
              <a:ext uri="{FF2B5EF4-FFF2-40B4-BE49-F238E27FC236}">
                <a16:creationId xmlns:a16="http://schemas.microsoft.com/office/drawing/2014/main" id="{733DD4DB-4D9D-3D62-F176-96A7F08EC5AE}"/>
              </a:ext>
            </a:extLst>
          </p:cNvPr>
          <p:cNvSpPr txBox="1"/>
          <p:nvPr/>
        </p:nvSpPr>
        <p:spPr>
          <a:xfrm>
            <a:off x="358775" y="1069848"/>
            <a:ext cx="3597638" cy="276999"/>
          </a:xfrm>
          <a:prstGeom prst="rect">
            <a:avLst/>
          </a:prstGeom>
          <a:solidFill>
            <a:srgbClr val="00802F"/>
          </a:solidFill>
          <a:ln>
            <a:solidFill>
              <a:schemeClr val="accent1"/>
            </a:solidFill>
          </a:ln>
        </p:spPr>
        <p:txBody>
          <a:bodyPr wrap="square" rtlCol="0">
            <a:spAutoFit/>
          </a:bodyPr>
          <a:lstStyle/>
          <a:p>
            <a:pPr algn="ctr"/>
            <a:r>
              <a:rPr lang="en-CH" sz="1200">
                <a:solidFill>
                  <a:schemeClr val="bg1"/>
                </a:solidFill>
              </a:rPr>
              <a:t>Regression output: country-level clustering</a:t>
            </a:r>
          </a:p>
        </p:txBody>
      </p:sp>
      <p:grpSp>
        <p:nvGrpSpPr>
          <p:cNvPr id="8" name="Group 7">
            <a:extLst>
              <a:ext uri="{FF2B5EF4-FFF2-40B4-BE49-F238E27FC236}">
                <a16:creationId xmlns:a16="http://schemas.microsoft.com/office/drawing/2014/main" id="{D893D9C5-3389-73D6-41B1-049CFEB27BE4}"/>
              </a:ext>
            </a:extLst>
          </p:cNvPr>
          <p:cNvGrpSpPr/>
          <p:nvPr/>
        </p:nvGrpSpPr>
        <p:grpSpPr>
          <a:xfrm>
            <a:off x="4456546" y="2456296"/>
            <a:ext cx="230909" cy="230909"/>
            <a:chOff x="5118100" y="1824637"/>
            <a:chExt cx="230909" cy="230909"/>
          </a:xfrm>
        </p:grpSpPr>
        <p:sp>
          <p:nvSpPr>
            <p:cNvPr id="6" name="Ellipse 69">
              <a:extLst>
                <a:ext uri="{FF2B5EF4-FFF2-40B4-BE49-F238E27FC236}">
                  <a16:creationId xmlns:a16="http://schemas.microsoft.com/office/drawing/2014/main" id="{770F4E16-2F2F-0388-D068-D209ED5C00FD}"/>
                </a:ext>
              </a:extLst>
            </p:cNvPr>
            <p:cNvSpPr/>
            <p:nvPr/>
          </p:nvSpPr>
          <p:spPr bwMode="auto">
            <a:xfrm rot="5400000" flipV="1">
              <a:off x="5118100" y="1824637"/>
              <a:ext cx="230909" cy="230909"/>
            </a:xfrm>
            <a:prstGeom prst="ellipse">
              <a:avLst/>
            </a:prstGeom>
            <a:solidFill>
              <a:schemeClr val="bg1"/>
            </a:solidFill>
            <a:ln w="25400" cap="flat" cmpd="sng" algn="ctr">
              <a:solidFill>
                <a:schemeClr val="tx2"/>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sp>
          <p:nvSpPr>
            <p:cNvPr id="7" name="Flèche vers la droite 45">
              <a:extLst>
                <a:ext uri="{FF2B5EF4-FFF2-40B4-BE49-F238E27FC236}">
                  <a16:creationId xmlns:a16="http://schemas.microsoft.com/office/drawing/2014/main" id="{28D1391D-781C-436A-98DF-4525326A1B1F}"/>
                </a:ext>
              </a:extLst>
            </p:cNvPr>
            <p:cNvSpPr/>
            <p:nvPr/>
          </p:nvSpPr>
          <p:spPr bwMode="auto">
            <a:xfrm flipV="1">
              <a:off x="5175827" y="1882365"/>
              <a:ext cx="115454" cy="115455"/>
            </a:xfrm>
            <a:prstGeom prst="rightArrow">
              <a:avLst/>
            </a:prstGeom>
            <a:solidFill>
              <a:schemeClr val="tx2"/>
            </a:solid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000" i="0" u="none" strike="noStrike" cap="none" normalizeH="0" baseline="0">
                <a:ln>
                  <a:noFill/>
                </a:ln>
                <a:solidFill>
                  <a:schemeClr val="accent2"/>
                </a:solidFill>
                <a:effectLst/>
                <a:latin typeface="Lato" panose="020F0502020204030203" pitchFamily="34" charset="77"/>
              </a:endParaRPr>
            </a:p>
          </p:txBody>
        </p:sp>
      </p:grpSp>
      <p:sp>
        <p:nvSpPr>
          <p:cNvPr id="12" name="TextBox 11">
            <a:extLst>
              <a:ext uri="{FF2B5EF4-FFF2-40B4-BE49-F238E27FC236}">
                <a16:creationId xmlns:a16="http://schemas.microsoft.com/office/drawing/2014/main" id="{12C02953-9A95-BD9E-E559-2E1B6A4AE153}"/>
              </a:ext>
            </a:extLst>
          </p:cNvPr>
          <p:cNvSpPr txBox="1"/>
          <p:nvPr/>
        </p:nvSpPr>
        <p:spPr>
          <a:xfrm>
            <a:off x="5186807" y="1069848"/>
            <a:ext cx="3597638" cy="276999"/>
          </a:xfrm>
          <a:prstGeom prst="rect">
            <a:avLst/>
          </a:prstGeom>
          <a:solidFill>
            <a:srgbClr val="00802F"/>
          </a:solidFill>
          <a:ln>
            <a:solidFill>
              <a:schemeClr val="accent1"/>
            </a:solidFill>
          </a:ln>
        </p:spPr>
        <p:txBody>
          <a:bodyPr wrap="square" rtlCol="0">
            <a:spAutoFit/>
          </a:bodyPr>
          <a:lstStyle/>
          <a:p>
            <a:pPr algn="ctr"/>
            <a:r>
              <a:rPr lang="en-CH" sz="1200">
                <a:solidFill>
                  <a:schemeClr val="bg1"/>
                </a:solidFill>
              </a:rPr>
              <a:t>Robustness: wild-boostrapping</a:t>
            </a:r>
          </a:p>
        </p:txBody>
      </p:sp>
      <p:pic>
        <p:nvPicPr>
          <p:cNvPr id="13" name="Picture 12">
            <a:extLst>
              <a:ext uri="{FF2B5EF4-FFF2-40B4-BE49-F238E27FC236}">
                <a16:creationId xmlns:a16="http://schemas.microsoft.com/office/drawing/2014/main" id="{0AAB0A2C-1695-DAA7-A1FE-314DDBBA14F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86807" y="1383982"/>
            <a:ext cx="3597638" cy="3022334"/>
          </a:xfrm>
          <a:prstGeom prst="rect">
            <a:avLst/>
          </a:prstGeom>
          <a:ln>
            <a:solidFill>
              <a:schemeClr val="accent1"/>
            </a:solidFill>
          </a:ln>
        </p:spPr>
      </p:pic>
    </p:spTree>
    <p:extLst>
      <p:ext uri="{BB962C8B-B14F-4D97-AF65-F5344CB8AC3E}">
        <p14:creationId xmlns:p14="http://schemas.microsoft.com/office/powerpoint/2010/main" val="697819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482&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UNISG PPT">
  <a:themeElements>
    <a:clrScheme name="uni stgallen Colors">
      <a:dk1>
        <a:sysClr val="windowText" lastClr="000000"/>
      </a:dk1>
      <a:lt1>
        <a:sysClr val="window" lastClr="FFFFFF"/>
      </a:lt1>
      <a:dk2>
        <a:srgbClr val="0A5F2D"/>
      </a:dk2>
      <a:lt2>
        <a:srgbClr val="FFFFFF"/>
      </a:lt2>
      <a:accent1>
        <a:srgbClr val="00802F"/>
      </a:accent1>
      <a:accent2>
        <a:srgbClr val="E1D7C3"/>
      </a:accent2>
      <a:accent3>
        <a:srgbClr val="EB6969"/>
      </a:accent3>
      <a:accent4>
        <a:srgbClr val="73A5AF"/>
      </a:accent4>
      <a:accent5>
        <a:srgbClr val="FFF04B"/>
      </a:accent5>
      <a:accent6>
        <a:srgbClr val="0A5F2D"/>
      </a:accent6>
      <a:hlink>
        <a:srgbClr val="00802F"/>
      </a:hlink>
      <a:folHlink>
        <a:srgbClr val="0A5F2D"/>
      </a:folHlink>
    </a:clrScheme>
    <a:fontScheme name="uni stgallen Fonts">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_stgallen_master_01.potx" id="{30835CC8-2B5A-4E70-B341-DDAB901ED00B}" vid="{29D780FA-9373-4C8E-8A10-29358CDEA5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1870F55-7693-4BED-BB93-08298D6C04B0}">
  <we:reference id="94886107-76f9-4f92-aa81-ee726374f3e7"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TemplafySlideFormConfiguration><![CDATA[{"formFields":[],"formDataEntries":[]}]]></TemplafySlideFormConfiguration>
</file>

<file path=customXml/item2.xml><?xml version="1.0" encoding="utf-8"?>
<ct:contentTypeSchema xmlns:ct="http://schemas.microsoft.com/office/2006/metadata/contentType" xmlns:ma="http://schemas.microsoft.com/office/2006/metadata/properties/metaAttributes" ct:_="" ma:_="" ma:contentTypeName="Document" ma:contentTypeID="0x01010034C2EED3AEDAB24AB48AF05A7A255DF4" ma:contentTypeVersion="21" ma:contentTypeDescription="Create a new document." ma:contentTypeScope="" ma:versionID="274d9017fadbcc8b67afbe4b22a55600">
  <xsd:schema xmlns:xsd="http://www.w3.org/2001/XMLSchema" xmlns:xs="http://www.w3.org/2001/XMLSchema" xmlns:p="http://schemas.microsoft.com/office/2006/metadata/properties" xmlns:ns2="07c8a24f-8b40-44ca-950f-ae5db2c4fa23" xmlns:ns3="71d337dc-809a-4269-a690-d6cd31b4acd0" targetNamespace="http://schemas.microsoft.com/office/2006/metadata/properties" ma:root="true" ma:fieldsID="0b58614a3de855f8a451fa93eb2e43b4" ns2:_="" ns3:_="">
    <xsd:import namespace="07c8a24f-8b40-44ca-950f-ae5db2c4fa23"/>
    <xsd:import namespace="71d337dc-809a-4269-a690-d6cd31b4acd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c8a24f-8b40-44ca-950f-ae5db2c4fa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9a650111-7fb8-408c-8449-112adb6e2edd"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1d337dc-809a-4269-a690-d6cd31b4acd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8f3f5698-4e7b-49a9-bf00-a8b38c5133ff}" ma:internalName="TaxCatchAll" ma:showField="CatchAllData" ma:web="71d337dc-809a-4269-a690-d6cd31b4ac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slideId":"637750113834106457","enableDocumentContentUpdater":true,"version":"2.0"}]]></TemplafySlideTemplateConfiguration>
</file>

<file path=customXml/item4.xml><?xml version="1.0" encoding="utf-8"?>
<TemplafyTemplateConfiguration><![CDATA[{"elementsMetadata":[{"type":"shape","id":"8e687d5a-037f-4f24-a199-2d950c5df88f","elementConfiguration":{"binding":"{{FormatDateTime(Form.Date,Translate(\"DateFormat\"),DocumentLanguage)}}","type":"text","disableUpdates":false}},{"type":"shape","id":"8a58044d-47eb-4d6e-9ca4-af1763910190","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6f8add69-85c2-40c7-9973-8bbd2effdf02","elementConfiguration":{"binding":"{{Form.Footer}}","type":"text","disableUpdates":false}},{"type":"shape","id":"41d8c364-9428-4db7-aa0c-4eaa985a9522","elementConfiguration":{"binding":"{{UserProfile.Department.DepartmentName}}","visibility":"{{IfElse(Form.FooterLogo, VisibilityType.Hidden,VisibilityType.Visible)}}","type":"text","disableUpdates":false}},{"type":"shape","id":"83a1c2a2-c5ce-461f-94a3-7bf4eb5a6a7a","elementConfiguration":{"width":"{{UserProfile.Department.REFDepartmentLogo.WidthPNGPPT}}","height":"{{UserProfile.Department.REFDepartmentLogo.HeightPNGPPT}}","image":"{{UserProfile.Department.REFDepartmentLogo.ImagePNG}}","type":"image","disableUpdates":false}},{"type":"shape","id":"6b7dbdc9-b930-48a1-b054-0486b079e669","elementConfiguration":{"binding":"{{UserProfile.Department.DepartmentName}} \n{{UserProfile.Department.DepartmentStreet}} {{UserProfile.Department.DepartmentStreetNumber}} \n{{UserProfile.Department.DepartmentPOBox}} {{UserProfile.Department.DepartmentCity}} \n{{UserProfile.Department.DepartmentCountry}} \n{{UserProfile.Department.DepartmentWebsite}}","type":"text","disableUpdates":false}},{"type":"shape","id":"5cce6515-ac04-4d9a-8376-12efa4e71373","elementConfiguration":{"width":"{{UserProfile.Department.REFDepartmentLogo.WidthPNGPPT}}","height":"{{UserProfile.Department.REFDepartmentLogo.HeightPNGPPT}}","image":"{{UserProfile.Department.REFDepartmentLogo.ImagePNG}}","type":"image","disableUpdates":false}},{"type":"shape","id":"72a3a3be-e050-47d5-94d9-e6cb5f8c7f03","elementConfiguration":{"binding":"{{FormatDateTime(Form.Date,Translate(\"DateFormat\"),DocumentLanguage)}}","type":"text","disableUpdates":false}},{"type":"shape","id":"77e1a5e9-b037-42ca-85a0-d5636c9ac5b3","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8b77cfe1-601f-4616-9ce4-864cfa8534fd","elementConfiguration":{"binding":"{{Form.Footer}}","type":"text","disableUpdates":false}},{"type":"shape","id":"2f4be301-7db5-44d0-ae7c-4ec34c731e7b","elementConfiguration":{"binding":"{{UserProfile.Department.DepartmentName}}","visibility":"{{IfElse(Form.FooterLogo, VisibilityType.Hidden,VisibilityType.Visible)}}","type":"text","disableUpdates":false}},{"type":"shape","id":"51713646-4b5d-4189-98b0-0b0bb394ba3a","elementConfiguration":{"width":"{{UserProfile.Department.REFDepartmentLogo.WidthPNGPPT}}","height":"{{UserProfile.Department.REFDepartmentLogo.HeightPNGPPT}}","image":"{{UserProfile.Department.REFDepartmentLogo.ImagePNG}}","type":"image","disableUpdates":false}},{"type":"shape","id":"9ce69437-fe7b-4dee-8cfc-9988023a4741","elementConfiguration":{"binding":"{{FormatDateTime(Form.Date,Translate(\"DateFormat\"),DocumentLanguage)}}","type":"text","disableUpdates":false}},{"type":"shape","id":"e71f292f-c887-405d-8ce7-c2554695bcfc","elementConfiguration":{"width":"{{UserProfile.Department.REFDepartmentLogo.WidthPNGPPT}}","height":"{{UserProfile.Department.REFDepartmentLogo.HeightPNGPPT}}","image":"{{UserProfile.Department.REFDepartmentLogo.ImagePNG}}","type":"image","disableUpdates":false}},{"type":"shape","id":"a5b776ce-7578-4a04-b539-7870c0decfe5","elementConfiguration":{"binding":"{{FormatDateTime(Form.Date,Translate(\"DateFormat\"),DocumentLanguage)}}","type":"text","disableUpdates":false}},{"type":"shape","id":"a686ddd6-f847-45d7-8410-5ee4c6292e19","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d6049c18-5439-4cb6-ba74-6982f0f3a19f","elementConfiguration":{"binding":"{{Form.Footer}}","type":"text","disableUpdates":false}},{"type":"shape","id":"0bfa71f2-5450-4936-a878-527a7ee69f0e","elementConfiguration":{"binding":"{{UserProfile.Department.DepartmentName}}","visibility":"{{IfElse(Form.FooterLogo, VisibilityType.Hidden,VisibilityType.Visible)}}","type":"text","disableUpdates":false}},{"type":"shape","id":"c0c6f633-ff8e-42d8-9a55-e82bd295c373","elementConfiguration":{"binding":"{{FormatDateTime(Form.Date,Translate(\"DateFormat\"),DocumentLanguage)}}","type":"text","disableUpdates":false}},{"type":"shape","id":"3be152c8-0b65-4297-9cb0-c63496367b51","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48adc353-1a34-40df-b860-395e9b5f349d","elementConfiguration":{"binding":"{{Form.Footer}}","type":"text","disableUpdates":false}},{"type":"shape","id":"4780b9c7-75d7-49af-995d-3035d682835c","elementConfiguration":{"binding":"{{UserProfile.Department.DepartmentName}}","visibility":"{{IfElse(Form.FooterLogo, VisibilityType.Hidden,VisibilityType.Visible)}}","type":"text","disableUpdates":false}},{"type":"shape","id":"879ad7e6-7cb7-4494-9174-c3323cc290b2","elementConfiguration":{"binding":"{{FormatDateTime(Form.Date,Translate(\"DateFormat\"),DocumentLanguage)}}","type":"text","disableUpdates":false}},{"type":"shape","id":"422c643c-1be7-4851-a609-740cb9e3f0bf","elementConfiguration":{"binding":"{{FormatDateTime(Form.Date,Translate(\"DateFormat\"),DocumentLanguage)}}","type":"text","disableUpdates":false}},{"type":"shape","id":"82521580-3cb5-4a4b-8383-ffa8620c9e28","elementConfiguration":{"binding":"{{Form.Footer}}","type":"text","disableUpdates":false}},{"type":"shape","id":"98f65843-8754-4b5b-8931-09667ac59bb2","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57fa69e2-e601-4bd0-9df7-d22060b419e4","elementConfiguration":{"binding":"{{UserProfile.Department.DepartmentName}}","visibility":"{{IfElse(Form.FooterLogo, VisibilityType.Hidden,VisibilityType.Visible)}}","type":"text","disableUpdates":false}},{"type":"shape","id":"c9dac91e-5ebd-45da-9bcc-81ff89bbac85","elementConfiguration":{"binding":"{{FormatDateTime(Form.Date,Translate(\"DateFormat\"),DocumentLanguage)}}","type":"text","disableUpdates":false}},{"type":"shape","id":"b3e9e11c-3587-4ed3-8daa-a5e24e1d55f2","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3e52716e-0e5c-470b-b521-4ace67d1a08e","elementConfiguration":{"binding":"{{Form.Footer}}","type":"text","disableUpdates":false}},{"type":"shape","id":"0ff56024-4d1f-4773-bfc1-9ba6a6a51b39","elementConfiguration":{"binding":"{{UserProfile.Department.DepartmentName}}","visibility":"{{IfElse(Form.FooterLogo, VisibilityType.Hidden,VisibilityType.Visible)}}","type":"text","disableUpdates":false}}],"transformationConfigurations":[{"language":"{{UserProfile.DocumentLanguage.Language}}","disableUpdates":false,"type":"proofingLanguage"},{"propertyName":"creator","propertyValue":"{{UserProfile.FirstName}} {{UserProfile.LastName}}","disableUpdates":false,"type":"documentProperty"},{"propertyName":"title","propertyValue":"Presentation - University of St.Gallen","disableUpdates":false,"type":"documentProperty"}],"templateName":"UNISG Präsentation","templateDescription":"","enableDocumentContentUpdater":true,"version":"2.0"}]]></TemplafyTemplateConfiguration>
</file>

<file path=customXml/item5.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slideId":"637750113834106457","enableDocumentContentUpdater":true,"version":"2.0"}]]></TemplafySlideTemplate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slideId":"637750113834106457","enableDocumentContentUpdater":true,"version":"2.0"}]]></TemplafySlideTemplateConfiguration>
</file>

<file path=customXml/item8.xml><?xml version="1.0" encoding="utf-8"?>
<p:properties xmlns:p="http://schemas.microsoft.com/office/2006/metadata/properties" xmlns:xsi="http://www.w3.org/2001/XMLSchema-instance" xmlns:pc="http://schemas.microsoft.com/office/infopath/2007/PartnerControls">
  <documentManagement>
    <lcf76f155ced4ddcb4097134ff3c332f xmlns="07c8a24f-8b40-44ca-950f-ae5db2c4fa23">
      <Terms xmlns="http://schemas.microsoft.com/office/infopath/2007/PartnerControls"/>
    </lcf76f155ced4ddcb4097134ff3c332f>
    <TaxCatchAll xmlns="71d337dc-809a-4269-a690-d6cd31b4acd0" xsi:nil="true"/>
  </documentManagement>
</p:properties>
</file>

<file path=customXml/item9.xml><?xml version="1.0" encoding="utf-8"?>
<Templafy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name":"Date","value":"GWQNnVvw4p+d5nt4iqNbow=="},{"name":"Footer","value":"iK6lkyMB5lod1GJZ+MBE/w=="},{"name":"FooterLogo","value":"iTzqZGj1P6MRGUQq8ahlhA=="}]}]]></TemplafyFormConfiguration>
</file>

<file path=customXml/item10.xml><?xml version="1.0" encoding="utf-8"?>
<TemplafySlideFormConfiguration><![CDATA[{"formFields":[],"formDataEntries":[]}]]></TemplafySlideFormConfiguration>
</file>

<file path=customXml/item11.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48C696A-AA19-4204-9742-8EAD62FDE571}">
  <ds:schemaRefs/>
</ds:datastoreItem>
</file>

<file path=customXml/itemProps2.xml><?xml version="1.0" encoding="utf-8"?>
<ds:datastoreItem xmlns:ds="http://schemas.openxmlformats.org/officeDocument/2006/customXml" ds:itemID="{329B48A9-5067-463C-80F4-7C90FDDEC242}">
  <ds:schemaRefs>
    <ds:schemaRef ds:uri="07c8a24f-8b40-44ca-950f-ae5db2c4fa23"/>
    <ds:schemaRef ds:uri="71d337dc-809a-4269-a690-d6cd31b4acd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892B790-0207-4DFD-B3E0-2012788E3F76}">
  <ds:schemaRefs/>
</ds:datastoreItem>
</file>

<file path=customXml/itemProps4.xml><?xml version="1.0" encoding="utf-8"?>
<ds:datastoreItem xmlns:ds="http://schemas.openxmlformats.org/officeDocument/2006/customXml" ds:itemID="{DD23DDCC-ABAF-42D1-9CB2-07E72D883C32}">
  <ds:schemaRefs/>
</ds:datastoreItem>
</file>

<file path=customXml/itemProps5.xml><?xml version="1.0" encoding="utf-8"?>
<ds:datastoreItem xmlns:ds="http://schemas.openxmlformats.org/officeDocument/2006/customXml" ds:itemID="{9F4CC4C9-BB74-44FC-A406-BC7313C6CC46}">
  <ds:schemaRefs/>
</ds:datastoreItem>
</file>

<file path=customXml/itemProps6.xml><?xml version="1.0" encoding="utf-8"?>
<ds:datastoreItem xmlns:ds="http://schemas.openxmlformats.org/officeDocument/2006/customXml" ds:itemID="{EEC5A0E2-D785-49C7-B13F-357B56B32321}">
  <ds:schemaRefs/>
</ds:datastoreItem>
</file>

<file path=customXml/itemProps7.xml><?xml version="1.0" encoding="utf-8"?>
<ds:datastoreItem xmlns:ds="http://schemas.openxmlformats.org/officeDocument/2006/customXml" ds:itemID="{B47B41AB-5A2F-4C74-9CA0-B16FEA13DE37}">
  <ds:schemaRefs/>
</ds:datastoreItem>
</file>

<file path=customXml/itemProps8.xml><?xml version="1.0" encoding="utf-8"?>
<ds:datastoreItem xmlns:ds="http://schemas.openxmlformats.org/officeDocument/2006/customXml" ds:itemID="{6567BD5C-CC0C-4648-BED2-6CE28F06E5A9}">
  <ds:schemaRefs>
    <ds:schemaRef ds:uri="07c8a24f-8b40-44ca-950f-ae5db2c4fa23"/>
    <ds:schemaRef ds:uri="71d337dc-809a-4269-a690-d6cd31b4acd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9.xml><?xml version="1.0" encoding="utf-8"?>
<ds:datastoreItem xmlns:ds="http://schemas.openxmlformats.org/officeDocument/2006/customXml" ds:itemID="{9BA6235D-7E1A-4B9C-ADE5-24E162A87D03}">
  <ds:schemaRefs/>
</ds:datastoreItem>
</file>

<file path=customXml/itemProps10.xml><?xml version="1.0" encoding="utf-8"?>
<ds:datastoreItem xmlns:ds="http://schemas.openxmlformats.org/officeDocument/2006/customXml" ds:itemID="{9DB23DAF-A21B-4164-B129-04BB869141C9}">
  <ds:schemaRefs/>
</ds:datastoreItem>
</file>

<file path=customXml/itemProps11.xml><?xml version="1.0" encoding="utf-8"?>
<ds:datastoreItem xmlns:ds="http://schemas.openxmlformats.org/officeDocument/2006/customXml" ds:itemID="{ED2A37DE-9640-4BAD-87EB-02349D3561C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uni_stgallen_master_01</Template>
  <Application>Microsoft Office PowerPoint</Application>
  <PresentationFormat>On-screen Show (16:9)</PresentationFormat>
  <Slides>42</Slides>
  <Notes>7</Notes>
  <HiddenSlides>0</HiddenSlide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UNISG PPT</vt:lpstr>
      <vt:lpstr>Research Seminar – Question Suggestion in Financial Institutions</vt:lpstr>
      <vt:lpstr>Proposed research question &amp; hypotheses</vt:lpstr>
      <vt:lpstr>Overview of the economic intuition</vt:lpstr>
      <vt:lpstr>Academic papers supporting the theory (1/2)</vt:lpstr>
      <vt:lpstr>Academic papers supporting the theory (2/2)</vt:lpstr>
      <vt:lpstr>Academic papers on pension systems &amp; classification (1/2) </vt:lpstr>
      <vt:lpstr>Academic papers on pension systems &amp; classification (2/2)</vt:lpstr>
      <vt:lpstr>Literature review paper</vt:lpstr>
      <vt:lpstr>Datasets which may be used</vt:lpstr>
      <vt:lpstr>Components of the refined regression model</vt:lpstr>
      <vt:lpstr>Financial system structure as the key explanatory mechanism</vt:lpstr>
      <vt:lpstr>Additional considerations</vt:lpstr>
      <vt:lpstr>Controlling for pension systems: pension replacement rate</vt:lpstr>
      <vt:lpstr>Separating “where” and “how much”</vt:lpstr>
      <vt:lpstr>Revised: components of the refined regression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Paper outline (TBD)</vt:lpstr>
      <vt:lpstr>Research Seminar Financial Institutions   Proposal </vt:lpstr>
      <vt:lpstr>Proposed slides for discussion with professor</vt:lpstr>
      <vt:lpstr>Questions (WIP)</vt:lpstr>
      <vt:lpstr>FinStructure: Overview</vt:lpstr>
      <vt:lpstr>FinStructure: Comparison vs. Levine (2002)</vt:lpstr>
      <vt:lpstr>Aggregate Replacement Ratio: Overview</vt:lpstr>
      <vt:lpstr>Pension System Classification: Overview</vt:lpstr>
      <vt:lpstr>Age65: Overview</vt:lpstr>
      <vt:lpstr>Research Seminar Financial Institutions   Descriptive Statistics</vt:lpstr>
      <vt:lpstr>Step 1 - SNL Dataset: banks for EU27 + CH</vt:lpstr>
      <vt:lpstr>Step 2 - Dataset: data filtering &amp; missingness</vt:lpstr>
      <vt:lpstr>Step 2 - Dataset: key flags &amp; commentary</vt:lpstr>
      <vt:lpstr>Step 3: Variance decomposition - within vs. between Do key regressors move enough over time to survive fixed effects? All SDs computed on analytical sample (n = 31,439)</vt:lpstr>
      <vt:lpstr>Step 4a: Descriptive statistics</vt:lpstr>
      <vt:lpstr>Step 4b: Descriptive statistics by financial system type  </vt:lpstr>
      <vt:lpstr>Step 4c: Correlation matrix, key regressors</vt:lpstr>
      <vt:lpstr>Step 4d: Descriptive plots</vt:lpstr>
      <vt:lpstr>Step 4d: Descriptive plots, commentary</vt:lpstr>
      <vt:lpstr>Regression output: preliminary findings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University of St.Gallen</dc:title>
  <dc:creator>Noel Bruehlmann</dc:creator>
  <cp:revision>4</cp:revision>
  <dcterms:created xsi:type="dcterms:W3CDTF">2025-10-02T15:41:57Z</dcterms:created>
  <dcterms:modified xsi:type="dcterms:W3CDTF">2026-03-25T09:21:13Z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0x01010034C2EED3AEDAB24AB48AF05A7A255DF4</vt:lpwstr>
  </property>
  <property fmtid="{D5CDD505-2E9C-101B-9397-08002B2CF9AE}" pid="3" name="MediaServiceImageTags">
    <vt:lpwstr/>
  </property>
  <property fmtid="{D5CDD505-2E9C-101B-9397-08002B2CF9AE}" pid="4" name="TemplafyTimeStamp">
    <vt:lpwstr>2024-03-11T15:36:41</vt:lpwstr>
  </property>
  <property fmtid="{D5CDD505-2E9C-101B-9397-08002B2CF9AE}" pid="5" name="TemplafyTenantId">
    <vt:lpwstr>unisg</vt:lpwstr>
  </property>
  <property fmtid="{D5CDD505-2E9C-101B-9397-08002B2CF9AE}" pid="6" name="TemplafyTemplateId">
    <vt:lpwstr>637700762909751978</vt:lpwstr>
  </property>
  <property fmtid="{D5CDD505-2E9C-101B-9397-08002B2CF9AE}" pid="7" name="TemplafyUserProfileId">
    <vt:lpwstr>1044471381414641664</vt:lpwstr>
  </property>
  <property fmtid="{D5CDD505-2E9C-101B-9397-08002B2CF9AE}" pid="8" name="TemplafyLanguageCode">
    <vt:lpwstr>en-GB</vt:lpwstr>
  </property>
  <property fmtid="{D5CDD505-2E9C-101B-9397-08002B2CF9AE}" pid="9" name="TemplafyFromBlank">
    <vt:bool>false</vt:bool>
  </property>
</Properties>
</file>